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Jonathan" userId="0cc39b96-2237-44f8-9550-021b28199d5c" providerId="ADAL" clId="{22AA9067-9C6B-596C-B17A-28555E4EA5D1}"/>
    <pc:docChg chg="custSel mod modSld">
      <pc:chgData name="Fong, Jonathan" userId="0cc39b96-2237-44f8-9550-021b28199d5c" providerId="ADAL" clId="{22AA9067-9C6B-596C-B17A-28555E4EA5D1}" dt="2026-05-18T03:01:03.324" v="1" actId="33475"/>
      <pc:docMkLst>
        <pc:docMk/>
      </pc:docMkLst>
      <pc:sldChg chg="modSp mod">
        <pc:chgData name="Fong, Jonathan" userId="0cc39b96-2237-44f8-9550-021b28199d5c" providerId="ADAL" clId="{22AA9067-9C6B-596C-B17A-28555E4EA5D1}" dt="2026-05-18T03:00:53.275" v="0" actId="207"/>
        <pc:sldMkLst>
          <pc:docMk/>
          <pc:sldMk cId="0" sldId="256"/>
        </pc:sldMkLst>
        <pc:graphicFrameChg chg="modGraphic">
          <ac:chgData name="Fong, Jonathan" userId="0cc39b96-2237-44f8-9550-021b28199d5c" providerId="ADAL" clId="{22AA9067-9C6B-596C-B17A-28555E4EA5D1}" dt="2026-05-18T03:00:53.275" v="0" actId="207"/>
          <ac:graphicFrameMkLst>
            <pc:docMk/>
            <pc:sldMk cId="0" sldId="256"/>
            <ac:graphicFrameMk id="7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Framing: From Alation catalog to Data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C8DC"/>
                </a:solidFill>
              </a:defRPr>
            </a:pPr>
            <a:r>
              <a:t>A persona-led discovery experience on OMS — not a second metadata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FF0"/>
                </a:solidFill>
              </a:defRPr>
            </a:pPr>
            <a:r>
              <a:t>THE SHIFT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614681"/>
              </p:ext>
            </p:extLst>
          </p:nvPr>
        </p:nvGraphicFramePr>
        <p:xfrm>
          <a:off x="365760" y="1298448"/>
          <a:ext cx="27432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Was (Alation)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Is (Navigator)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8EEF5"/>
                          </a:solidFill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Passive wiki, manual curation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8EEF5"/>
                          </a:solidFill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Governed discovery — find, trust, cite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8EEF5"/>
                          </a:solidFill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Often stale vs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8EEF5"/>
                          </a:solidFill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Gold definitions + provenance on 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8EEF5"/>
                          </a:solidFill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One UI for many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E8EEF5"/>
                          </a:solidFill>
                        </a:defRPr>
                      </a:pPr>
                      <a:r>
                        <a:rPr dirty="0">
                          <a:solidFill>
                            <a:srgbClr val="FF0000"/>
                          </a:solidFill>
                        </a:rPr>
                        <a:t>Opinionated by role — consumers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063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C8DC"/>
                </a:solidFill>
              </a:defRPr>
            </a:pPr>
            <a:r>
              <a:t>Alation contract end: Oct 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051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FF0"/>
                </a:solidFill>
              </a:defRPr>
            </a:pPr>
            <a:r>
              <a:t>HOW IT FITS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53312"/>
            <a:ext cx="658368" cy="566928"/>
          </a:xfrm>
          <a:prstGeom prst="roundRect">
            <a:avLst/>
          </a:prstGeom>
          <a:solidFill>
            <a:srgbClr val="1A3A5C"/>
          </a:solidFill>
          <a:ln>
            <a:solidFill>
              <a:srgbClr val="4A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353312"/>
            <a:ext cx="658368" cy="566928"/>
          </a:xfrm>
          <a:prstGeom prst="roundRect">
            <a:avLst/>
          </a:prstGeom>
          <a:solidFill>
            <a:srgbClr val="1A3A5C"/>
          </a:solidFill>
          <a:ln>
            <a:solidFill>
              <a:srgbClr val="4A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626 / MCI</a:t>
            </a:r>
          </a:p>
          <a:p>
            <a:pPr algn="ctr">
              <a:defRPr sz="800">
                <a:solidFill>
                  <a:srgbClr val="B8C8DC"/>
                </a:solidFill>
              </a:defRPr>
            </a:pPr>
            <a:r>
              <a:t>supply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53312"/>
            <a:ext cx="658368" cy="566928"/>
          </a:xfrm>
          <a:prstGeom prst="roundRect">
            <a:avLst/>
          </a:prstGeom>
          <a:solidFill>
            <a:srgbClr val="1A3A5C"/>
          </a:solidFill>
          <a:ln>
            <a:solidFill>
              <a:srgbClr val="4A7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OMS</a:t>
            </a:r>
          </a:p>
          <a:p>
            <a:pPr algn="ctr">
              <a:defRPr sz="800">
                <a:solidFill>
                  <a:srgbClr val="B8C8DC"/>
                </a:solidFill>
              </a:defRPr>
            </a:pPr>
            <a:r>
              <a:t>store +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353312"/>
            <a:ext cx="658368" cy="566928"/>
          </a:xfrm>
          <a:prstGeom prst="roundRect">
            <a:avLst/>
          </a:prstGeom>
          <a:solidFill>
            <a:srgbClr val="6B9FF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Navigator</a:t>
            </a:r>
          </a:p>
          <a:p>
            <a:pPr algn="ctr">
              <a:defRPr sz="800">
                <a:solidFill>
                  <a:srgbClr val="B8C8DC"/>
                </a:solidFill>
              </a:defRPr>
            </a:pPr>
            <a: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536192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C8DC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536192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C8DC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1536192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C8DC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057400"/>
            <a:ext cx="2971800" cy="502920"/>
          </a:xfrm>
          <a:prstGeom prst="roundRect">
            <a:avLst/>
          </a:prstGeom>
          <a:solidFill>
            <a:srgbClr val="2A4A7A"/>
          </a:solidFill>
          <a:ln>
            <a:solidFill>
              <a:srgbClr val="6B9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 build Navigator (UI layer). 626 &amp; OMS are partner programs.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633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8C8DC"/>
                </a:solidFill>
              </a:defRPr>
            </a:pPr>
            <a:r>
              <a:t>626 → supply · OMS → store · Navigator → usable for the right persona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051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9FF0"/>
                </a:solidFill>
              </a:defRPr>
            </a:pPr>
            <a:r>
              <a:t>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5"/>
                </a:solidFill>
              </a:defRPr>
            </a:pPr>
            <a:r>
              <a:t>Help business &amp; compliance users answer: What is this data? Can I trust it? Who owns 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E0A8"/>
                </a:solidFill>
              </a:defRPr>
            </a:pPr>
            <a:r>
              <a:t>MVP serves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4203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E8EEF5"/>
                </a:solidFill>
              </a:defRPr>
            </a:pPr>
            <a:r>
              <a:t>Business / DNA consumer</a:t>
            </a:r>
          </a:p>
          <a:p>
            <a:pPr>
              <a:spcAft>
                <a:spcPts val="400"/>
              </a:spcAft>
              <a:defRPr sz="1000">
                <a:solidFill>
                  <a:srgbClr val="E8EEF5"/>
                </a:solidFill>
              </a:defRPr>
            </a:pPr>
            <a:r>
              <a:t>Data analyst / BI</a:t>
            </a:r>
          </a:p>
          <a:p>
            <a:pPr>
              <a:spcAft>
                <a:spcPts val="400"/>
              </a:spcAft>
              <a:defRPr sz="1000">
                <a:solidFill>
                  <a:srgbClr val="E8EEF5"/>
                </a:solidFill>
              </a:defRPr>
            </a:pPr>
            <a:r>
              <a:t>Steward (thin paths)</a:t>
            </a:r>
          </a:p>
          <a:p>
            <a:pPr>
              <a:spcAft>
                <a:spcPts val="400"/>
              </a:spcAft>
              <a:defRPr sz="1000">
                <a:solidFill>
                  <a:srgbClr val="E8EEF5"/>
                </a:solidFill>
              </a:defRPr>
            </a:pPr>
            <a:r>
              <a:t>Privacy / compliance (read)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118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C8DC"/>
                </a:solidFill>
              </a:defRPr>
            </a:pPr>
            <a:r>
              <a:t>Phase 2 — not this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7947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B8C8DC"/>
                </a:solidFill>
              </a:defRPr>
            </a:pPr>
            <a:r>
              <a:t>DSAR / tracker consoles</a:t>
            </a:r>
          </a:p>
          <a:p>
            <a:pPr>
              <a:spcAft>
                <a:spcPts val="400"/>
              </a:spcAft>
              <a:defRPr sz="900">
                <a:solidFill>
                  <a:srgbClr val="B8C8DC"/>
                </a:solidFill>
              </a:defRPr>
            </a:pPr>
            <a:r>
              <a:t>DRE remediation hub</a:t>
            </a:r>
          </a:p>
          <a:p>
            <a:pPr>
              <a:spcAft>
                <a:spcPts val="400"/>
              </a:spcAft>
              <a:defRPr sz="900">
                <a:solidFill>
                  <a:srgbClr val="B8C8DC"/>
                </a:solidFill>
              </a:defRPr>
            </a:pPr>
            <a:r>
              <a:t>Governance command center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A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29107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governed place to find, trust, and use your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</Words>
  <Application>Microsoft Macintosh PowerPoint</Application>
  <PresentationFormat>On-screen Show (4:3)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Fong, Jonathan</cp:lastModifiedBy>
  <cp:revision>1</cp:revision>
  <dcterms:created xsi:type="dcterms:W3CDTF">2013-01-27T09:14:16Z</dcterms:created>
  <dcterms:modified xsi:type="dcterms:W3CDTF">2026-05-18T03:01:03Z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2026-05-18T03:01:03Z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de32cf32-4797-4879-ad9e-7f9a11fbc354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50, 3, 0, 1</vt:lpwstr>
  </property>
</Properties>
</file>