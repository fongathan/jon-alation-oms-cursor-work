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-457200"/>
            <a:ext cx="3657600" cy="32004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457200" y="4114800"/>
            <a:ext cx="3657600" cy="27432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Calibri"/>
              </a:defRPr>
            </a:pPr>
            <a:r>
              <a:t>AD PLATFORMS · DATA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Data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CCCEE"/>
                </a:solidFill>
                <a:latin typeface="Calibri"/>
              </a:defRPr>
            </a:pPr>
            <a:r>
              <a:t>Governed discovery on OMS · Alation → in-house migration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AAACC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Why This Program and Data Navigator Matter to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26517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4864" cy="452628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07008"/>
            <a:ext cx="2423160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0F1A"/>
                </a:solidFill>
                <a:latin typeface="Georgia"/>
              </a:defRPr>
            </a:pPr>
            <a:r>
              <a:t>High-value business outcomes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What leadership gains.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70432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4CC16"/>
                </a:solidFill>
                <a:latin typeface="Calibri"/>
              </a:defRPr>
            </a:pPr>
            <a:r>
              <a:t>BUSINESS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Reduced regulatory and audit risk across GDPR and SOX through governed metadata on OMS.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Faster, defensible decisions backed by gold definitions, lineage context, and ownership.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Operational efficiency — fewer duplicate efforts and shadow spreadsheets after Alation exit.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Scalable foundation for AI and automation — metadata supply via 626/MCI, consumption via OMS APIs.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Improved visibility into PII and user consent signals via Navigator read paths (phase 2 Portal for ops).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115568"/>
            <a:ext cx="26517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115568"/>
            <a:ext cx="54864" cy="4526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207008"/>
            <a:ext cx="2423160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0F1A"/>
                </a:solidFill>
                <a:latin typeface="Georgia"/>
              </a:defRPr>
            </a:pPr>
            <a:r>
              <a:t>Contract-driven urgency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Alation end Oct 1, 2026.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170432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59E0B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Vendor catalog cannot carry us past renewal without a credible in-house surface.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Passive catalog drift decouples business meaning from production metadata.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2024 EY audit themes still require inspectable lineage, ownership, and documentation at scale.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Competing-program confusion — intake reset to persona-first Navigator on OMS, not “do everything.”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115568"/>
            <a:ext cx="26517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1115568"/>
            <a:ext cx="54864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207008"/>
            <a:ext cx="2423160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0F1A"/>
                </a:solidFill>
                <a:latin typeface="Georgia"/>
              </a:defRPr>
            </a:pPr>
            <a:r>
              <a:t>How we deliver the outcomes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626 + OMS + Navigator.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170432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C3AED"/>
                </a:solidFill>
                <a:latin typeface="Calibri"/>
              </a:defRPr>
            </a:pPr>
            <a:r>
              <a:t>PROGRAM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78308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OMS as system of record; Navigator as governed discovery UX for business and compliance personas.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Improved visibility into assets, gold/provenance, and ownership across Ads domains.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Stronger stewardship continuity as Alation content migrates via APIs.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Direct alignment with regulatory obligations — read API for evidence workflows.</a:t>
            </a:r>
          </a:p>
          <a:p>
            <a:pPr>
              <a:spcBef>
                <a:spcPts val="400"/>
              </a:spcBef>
              <a:defRPr sz="800">
                <a:solidFill>
                  <a:srgbClr val="0C0F1A"/>
                </a:solidFill>
                <a:latin typeface="Calibri"/>
              </a:defRPr>
            </a:pPr>
            <a:r>
              <a:t>• Lower long-term vendor lock-in; enterprise design–governed UX on internal platform.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8092440" cy="530352"/>
          </a:xfrm>
          <a:prstGeom prst="rect">
            <a:avLst/>
          </a:prstGeom>
          <a:solidFill>
            <a:srgbClr val="E0F7F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7818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C0F1A"/>
                </a:solidFill>
                <a:latin typeface="Georgia"/>
              </a:defRPr>
            </a:pPr>
            <a:r>
              <a:t>Data governance on OMS, delivered through Data Navigator, is a critical capability for managing risk, enabling growth, and supporting trusted decision-making — with a clear exit from Alation.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What Data Navigator Is and How It Supports Data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Two sides of the same story: business pressure for answers, and the governed experience on OMS.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15568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54864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20700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System of record (on OMS)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Technical inventory plus business meaning — objects, definitions, ownership, classifications; Navigator is the UX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39696"/>
            <a:ext cx="54864" cy="9326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231136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Inspectable lineage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Lineage and relationships visible for impact narratives; engineers deep-link to OMS for full technical depth.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63824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63824"/>
            <a:ext cx="54864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255264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Business-to-physical alignment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Glossary and gold definitions align reporting language to physical fields — corporate metrics federated, not duplicated.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87952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187952"/>
            <a:ext cx="54864" cy="932688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2793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Reusable via API / MCP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Same metadata fields power UI, read API, and approved Cursor MCP workflows — not re-pasted into wikis.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115568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115568"/>
            <a:ext cx="54864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120700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1. Defensible answers, fast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Leaders and DNA consumers find governed definitions and owners in minutes — not multi-day hunts.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139696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2139696"/>
            <a:ext cx="54864" cy="9326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2231136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2. Evidence-based conversations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Privacy and control discussions start from catalog facts — defined vs observed on one asset record.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163824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3163824"/>
            <a:ext cx="54864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3255264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3. Risk reduction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Gold/provenance and classifications reduce wrong-metric and PII interpretation risk.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187952"/>
            <a:ext cx="3886200" cy="9326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4187952"/>
            <a:ext cx="54864" cy="932688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42793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4. Stewardship sets the ceiling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626/MCI supply + steward habits scale the model; thin metadata limits credible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Target-State Value &amp; Data Navigator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What teams will get from governed discovery on OMS — breadth matters when curation and lineage keep 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4023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170432"/>
            <a:ext cx="3794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Centralized governed discovery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Search, browse, glossary, and gold definitions across Ads — less repeat questioning in chat and email.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78992"/>
            <a:ext cx="4023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078992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1170432"/>
            <a:ext cx="3794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Faster impact analysis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Lineage context and Open in OMS shorten impact analysis for schema and definition changes.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03120"/>
            <a:ext cx="4023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103120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194560"/>
            <a:ext cx="3794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Routes questions to owners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Ownership and stewardship visible on asset pages when fields are maintained in OMS.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103120"/>
            <a:ext cx="4023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103120"/>
            <a:ext cx="54864" cy="9144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194560"/>
            <a:ext cx="3794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Reuse via API / MCP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OMS read API and approved MCP surfaces for reviews and engineering — Navigator stays traditional UI.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3756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44728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OMS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Technical metadata backbone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Snowflake, Databricks, pipelines, reports — existing OMS inventory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3995928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333756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344728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One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Governed UX shell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Navigator for business/compliance; OMS UI for engineers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3995928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333756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44728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531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Alation users to migrate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Baseline for adoption targets post-cutover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3995928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12280" y="333756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2008" y="344728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Persona-first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MVP scope locked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Consumer primary; steward/compliance thin; engineer handoff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22008" y="3995928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AI-Enabled Use Cases with OMS Metadata and Cursor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Accelerate discovery and governance using catalog metadata — MCP reads OMS/Alation; Navigator surfaces trusted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15568"/>
            <a:ext cx="2715768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2551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Data Discovery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Plain-language search across governed metadata — certified-first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15568"/>
            <a:ext cx="2715768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188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551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Automated Impact Analysis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Predict downstream impact of schema and definition changes before release.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115568"/>
            <a:ext cx="2715768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188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463040"/>
            <a:ext cx="2551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Audit &amp; Compliance Reporting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Repeatable PII, SOX, and GDPR evidence packs from catalog posture.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41448"/>
            <a:ext cx="2715768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14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2551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Personal Data / PII Assessments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Identify classifications and gaps to accelerate audit remediation.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441448"/>
            <a:ext cx="2715768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514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788920"/>
            <a:ext cx="2551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Field-Class Definition Standardization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Standardize column classes; inherit definitions source → OMS → BI.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441448"/>
            <a:ext cx="2715768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514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788920"/>
            <a:ext cx="2551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Metadata Enrichment &amp; Documentation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AI-drafted descriptions and glossary links — human-approved, applied via 626/OMS.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Note: MCP/agentic patterns target OMS read API and catalog metadata — not built inside Navigator MVP. Separate from vendor MCP; Tony → MCI / Data 626 for AI-native supply.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What Data Navigator Provides — and the Ad Platform Governance Outcomes it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Governed experience on OMS, mapped to stewardship accountabilities.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54864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17043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Metadata search &amp; browse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Across OMS-connected sources — depth/freshness depend on 626 supply and connectors.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8483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84832"/>
            <a:ext cx="54864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17627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Glossaries &amp; articles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Migrated Alation patterns; steward workflows thin in MVP, scale in phase 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9067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090672"/>
            <a:ext cx="54864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18211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Lineage visibility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Context in Navigator; full technical lineage via Open in OMS.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9651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96512"/>
            <a:ext cx="54864" cy="89611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8795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Automated access (API / MCP)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Read API for DRE and assessments; same fields users see in Navigator.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07899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078992"/>
            <a:ext cx="54864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117043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Privacy &amp; classification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Inventory and field documentation support tagging and sensitivity 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08483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2084832"/>
            <a:ext cx="54864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217627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SOX / financial reporting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Gold metric definitions and lineage narratives for controls-heavy reporting.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09067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3090672"/>
            <a:ext cx="54864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318211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Retention &amp; lifecycle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Knowing where datasets live aligns policy discussion; enforcement stays platform-specific.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096512"/>
            <a:ext cx="3886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4096512"/>
            <a:ext cx="54864" cy="89611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4187952"/>
            <a:ext cx="3657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Ownership &amp; lineage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Explicit stewards and paths reduce orphaned assets — when maintained.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Alation Usage Today &amp; Navigator Adoption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Stewardship metrics show where to invest; engagement baselines the migration.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8092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54864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170432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Primary stewardship view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Alation Curation Metric Report today — track documentation completeness by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8092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54864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011680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Governance use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Prioritize backlog, justify 626 connector work, show progress to sponsors.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8092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5486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852928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Navigator target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Same measures on OMS post-migration — steward UAT and parallel-run adoption.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99592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~411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Avg monthly users (Alation)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Baseline for Navigator/OMS adoption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44568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40" y="388620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5768" y="399592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~7.2K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Avg page views / mo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Discovery and reference behavior to preserve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5768" y="4544568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388620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399592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~5.5K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Avg searches / mo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Search remains front door — title/description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18888" y="4544568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12280" y="388620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8" y="3995928"/>
            <a:ext cx="1783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~531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Licensed users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Migration scope for cutover planning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22008" y="4544568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406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1">
                <a:solidFill>
                  <a:srgbClr val="64748B"/>
                </a:solidFill>
                <a:latin typeface="Calibri"/>
              </a:defRPr>
            </a:pPr>
            <a:r>
              <a:t>Indicative Alation averages — refresh before sharing.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Data Governance Tools — Transition &amp; Target on OMS /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AI-enabled tooling on trusted metadata — Alation-era tools migrate to OMS spine; Navigator is consumption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2093976" cy="4434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54864" cy="4434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170432"/>
            <a:ext cx="18653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Data Lineage Finder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Alation + React · Production</a:t>
            </a:r>
            <a:br/>
            <a:br/>
            <a:r>
              <a:t>Surfaces lineage via catalog MCP — target: OMS lineage + Navigator handoff.</a:t>
            </a:r>
            <a:br/>
            <a:br/>
            <a:r>
              <a:t>Impact: Impact analysis and incident triage.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078992"/>
            <a:ext cx="2093976" cy="4434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078992"/>
            <a:ext cx="54864" cy="4434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1170432"/>
            <a:ext cx="18653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Curation Dashboard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Alation + MSTR · Production</a:t>
            </a:r>
            <a:br/>
            <a:br/>
            <a:r>
              <a:t>Schema/column completeness — target: OMS steward metrics + 626 supply signals.</a:t>
            </a:r>
            <a:br/>
            <a:br/>
            <a:r>
              <a:t>Impact: Metadata curation at scale with human oversight.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78992"/>
            <a:ext cx="2093976" cy="4434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078992"/>
            <a:ext cx="54864" cy="4434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1170432"/>
            <a:ext cx="18653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PII Detection Tool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Alation + LLM · Production</a:t>
            </a:r>
            <a:br/>
            <a:br/>
            <a:r>
              <a:t>Flags sensitive fields via MCP — target: compliance read views + pillar tools.</a:t>
            </a:r>
            <a:br/>
            <a:br/>
            <a:r>
              <a:t>Impact: Audit response and proactive risk reduction.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078992"/>
            <a:ext cx="2093976" cy="4434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1078992"/>
            <a:ext cx="54864" cy="44348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1170432"/>
            <a:ext cx="18653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Dictionary Transfer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Alation + API · In development</a:t>
            </a:r>
            <a:br/>
            <a:br/>
            <a:r>
              <a:t>Cross-system definitions — target: 626/MCI supply into OMS, surfaced in Navigator.</a:t>
            </a:r>
            <a:br/>
            <a:br/>
            <a:r>
              <a:t>Impact: Consistent business definitions without manual re-entry.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06440"/>
            <a:ext cx="8092440" cy="530352"/>
          </a:xfrm>
          <a:prstGeom prst="rect">
            <a:avLst/>
          </a:prstGeom>
          <a:solidFill>
            <a:srgbClr val="E0F7F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7818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C0F1A"/>
                </a:solidFill>
                <a:latin typeface="Georgia"/>
              </a:defRPr>
            </a:pPr>
            <a:r>
              <a:t>AI-enabled tooling on trusted metadata transforms governance from manual processes into scalable systems — Navigator surfaces outcomes; 626/MCI and OMS own supply and 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Scaling Data Governance: Foundation to Enterprise (FY26–FY28)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From Alation exit through Navigator on OMS to enterprise-scale, AI-enabled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80924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4500" y="1170432"/>
            <a:ext cx="182880" cy="18288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1576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54864" cy="461772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508760"/>
            <a:ext cx="2487168" cy="448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Navigator MVP &amp; Alation exit planning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Foundation · Buy vs Build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6304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4CC16"/>
                </a:solidFill>
                <a:latin typeface="Calibri"/>
              </a:defRPr>
            </a:pPr>
            <a:r>
              <a:t>NOW · FY26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6596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Persona-first MVP scoped — consumer primary, steward/compliance thin.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OMS + 626/MCI handoffs documented; Alation API migration path defined.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Contract end Oct 1, 2026 — parallel run and renewal narrative.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Five consumer stories + steward/compliance set validated (Sarah/Suman).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Enterprise design alignment on Navigator IA (Sage-style patterns).</a:t>
            </a:r>
          </a:p>
        </p:txBody>
      </p:sp>
      <p:sp>
        <p:nvSpPr>
          <p:cNvPr id="15" name="Oval 14"/>
          <p:cNvSpPr/>
          <p:nvPr/>
        </p:nvSpPr>
        <p:spPr>
          <a:xfrm>
            <a:off x="4503420" y="1170432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417320"/>
            <a:ext cx="271576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417320"/>
            <a:ext cx="54864" cy="4617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1508760"/>
            <a:ext cx="2487168" cy="448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Build Navigator · Migrate Alation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In progress · Cutover ~Sep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46304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6B6D4"/>
                </a:solidFill>
                <a:latin typeface="Calibri"/>
              </a:defRPr>
            </a:pPr>
            <a:r>
              <a:t>CURRENT · FY27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96596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Deliver search/browse, gold/provenance, glossary, classifications read, read API.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Migrate glossary, articles, endorsements via OMS APIs.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Scale 626/MCI metadata supply into OMS; Navigator consumes — no duplicate scrapers.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Parallel run with steward UAT; dev complete target ~Mar 2027.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Enable OMS read API and approved MCP for Cursor workflows.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Buy vs Build decision: in-house Navigator on OMS vs extend Alation.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7292340" y="1170432"/>
            <a:ext cx="182880" cy="1828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271576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417320"/>
            <a:ext cx="54864" cy="4617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1508760"/>
            <a:ext cx="2487168" cy="448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0F1A"/>
                </a:solidFill>
                <a:latin typeface="Georgia"/>
              </a:defRPr>
            </a:pPr>
            <a:r>
              <a:t>Enterprise governance on OMS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Scale &amp; maturity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46304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C3AED"/>
                </a:solidFill>
                <a:latin typeface="Calibri"/>
              </a:defRPr>
            </a:pPr>
            <a:r>
              <a:t>FUTURE · FY28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96596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Enterprise-scale governance anchored on OMS across Ad Platforms.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Governance Portal phase 2 — privacy/compliance command center adjacent to Navigator.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AI-assisted curation at scale via 626/MCI; Navigator shows steward-approved outputs.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Semantic / corporate metrics federated; coverage and time-to-answer targets met.</a:t>
            </a:r>
          </a:p>
          <a:p>
            <a:pPr>
              <a:spcBef>
                <a:spcPts val="300"/>
              </a:spcBef>
              <a:defRPr sz="700">
                <a:solidFill>
                  <a:srgbClr val="0C0F1A"/>
                </a:solidFill>
                <a:latin typeface="Calibri"/>
              </a:defRPr>
            </a:pPr>
            <a:r>
              <a:t>• Trusted foundation for analytics, AI, and audit readiness.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0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DDDDFF"/>
                </a:solidFill>
                <a:latin typeface="Calibri"/>
              </a:defRPr>
            </a:pPr>
            <a:r>
              <a:t>Use cases · metrics · strategy · socialization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AAACC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Cursor–OMS MCP Use Case — AI-Assisted Data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Plain-English questions over governed metadata return trusted assets in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47472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5760"/>
            <a:ext cx="960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UC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Days → Mins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Time to trusted data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2648" y="1773936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All Domains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Discovery scope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578608" y="1773936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Gold-first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Results prioritize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544568" y="1773936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New analysts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Onboarding accelerated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510528" y="1773936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874519"/>
            <a:ext cx="54864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The challenge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Analysts lose hours locating the right Snowflake/Databricks table or BI report — tribal knowledge of ad event schemas slows decisions.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874519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workflow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1. Natural-language query via Cursor MCP.</a:t>
            </a:r>
            <a:br/>
            <a:r>
              <a:t>2. MCP queries OMS/Alation glossary, tables, lineage.</a:t>
            </a:r>
            <a:br/>
            <a:r>
              <a:t>3. Surface ownership, freshness, certification.</a:t>
            </a:r>
            <a:br/>
            <a:r>
              <a:t>4. Hand off curated assets; Open in OMS or Navigator.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Onboarding accelerated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New analysts productive in days vs weeks.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32461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Highest-trust assets first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Gold, owned, recently refreshed assets prioritized.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9651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Reusable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26280"/>
            <a:ext cx="8092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2748" y="44074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Step 1 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Pose plain-English question via MCP.</a:t>
            </a:r>
          </a:p>
        </p:txBody>
      </p:sp>
      <p:sp>
        <p:nvSpPr>
          <p:cNvPr id="39" name="Oval 38"/>
          <p:cNvSpPr/>
          <p:nvPr/>
        </p:nvSpPr>
        <p:spPr>
          <a:xfrm>
            <a:off x="3378708" y="440740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Georgia"/>
              </a:defRPr>
            </a:pPr>
            <a:r>
              <a:t>Step 2 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Query catalog + glossary + lineage.</a:t>
            </a:r>
          </a:p>
        </p:txBody>
      </p:sp>
      <p:sp>
        <p:nvSpPr>
          <p:cNvPr id="42" name="Oval 41"/>
          <p:cNvSpPr/>
          <p:nvPr/>
        </p:nvSpPr>
        <p:spPr>
          <a:xfrm>
            <a:off x="5344668" y="44074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Georgia"/>
              </a:defRPr>
            </a:pPr>
            <a:r>
              <a:t>Step 3 Rank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Trust signals — ownership, gold, freshness.</a:t>
            </a:r>
          </a:p>
        </p:txBody>
      </p:sp>
      <p:sp>
        <p:nvSpPr>
          <p:cNvPr id="45" name="Oval 44"/>
          <p:cNvSpPr/>
          <p:nvPr/>
        </p:nvSpPr>
        <p:spPr>
          <a:xfrm>
            <a:off x="7310628" y="4407408"/>
            <a:ext cx="146304" cy="14630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4CC16"/>
                </a:solidFill>
                <a:latin typeface="Georgia"/>
              </a:defRPr>
            </a:pPr>
            <a:r>
              <a:t>Step 4 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Hand off assets; open in Navigator/OMS.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Cursor–OMS MCP Use Case — Automated 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 downstream impact across pipelines, BI, and 3P consumers before code ships.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47472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5760"/>
            <a:ext cx="960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UC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Days → Hrs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Time to impact brief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2648" y="1773936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100+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Dependencies traced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578608" y="1773936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Pre-release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Issues caught earlier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544568" y="1773936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All Domains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Lineage coverage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510528" y="1773936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874519"/>
            <a:ext cx="54864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The challenge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Schema or definition changes can silently break dashboards and feeds — manual impact analysis is slow and partial.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874519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workflow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1. Define changed asset scope.</a:t>
            </a:r>
            <a:br/>
            <a:r>
              <a:t>2. Trace lineage via MCP (OMS/Alation).</a:t>
            </a:r>
            <a:br/>
            <a:r>
              <a:t>3. Inventory downstream consumers and stewards.</a:t>
            </a:r>
            <a:br/>
            <a:r>
              <a:t>4. Generate stakeholder-ready impact brief.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Hidden consumers surfaced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Downstream assets flagged before release.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32461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Owners notified pre-deploy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Stewards identified upfront — less rework.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9651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Reusable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26280"/>
            <a:ext cx="8092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2748" y="44074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Step 1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Identify changed table/column.</a:t>
            </a:r>
          </a:p>
        </p:txBody>
      </p:sp>
      <p:sp>
        <p:nvSpPr>
          <p:cNvPr id="39" name="Oval 38"/>
          <p:cNvSpPr/>
          <p:nvPr/>
        </p:nvSpPr>
        <p:spPr>
          <a:xfrm>
            <a:off x="3378708" y="440740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Georgia"/>
              </a:defRPr>
            </a:pPr>
            <a:r>
              <a:t>Step 2 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Upstream + downstream via MCP.</a:t>
            </a:r>
          </a:p>
        </p:txBody>
      </p:sp>
      <p:sp>
        <p:nvSpPr>
          <p:cNvPr id="42" name="Oval 41"/>
          <p:cNvSpPr/>
          <p:nvPr/>
        </p:nvSpPr>
        <p:spPr>
          <a:xfrm>
            <a:off x="5344668" y="44074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Georgia"/>
              </a:defRPr>
            </a:pPr>
            <a:r>
              <a:t>Step 3 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List consumers, owners, jobs.</a:t>
            </a:r>
          </a:p>
        </p:txBody>
      </p:sp>
      <p:sp>
        <p:nvSpPr>
          <p:cNvPr id="45" name="Oval 44"/>
          <p:cNvSpPr/>
          <p:nvPr/>
        </p:nvSpPr>
        <p:spPr>
          <a:xfrm>
            <a:off x="7310628" y="4407408"/>
            <a:ext cx="146304" cy="14630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4CC16"/>
                </a:solidFill>
                <a:latin typeface="Georgia"/>
              </a:defRPr>
            </a:pPr>
            <a:r>
              <a:t>Step 4 Brief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Change-impact summary + 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Cursor–OMS MCP Use Case — Audit &amp; Compliance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Repeatable evidence packs for PII, SOX, and GDPR — from catalog metadata.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47472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5760"/>
            <a:ext cx="960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UC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Days → Hrs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Time to evidence pack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2648" y="1773936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100+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Controls evidenced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578608" y="1773936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PII·SOX·GDPR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Frameworks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544568" y="1773936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Repeatable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Every cycle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510528" y="1773936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874519"/>
            <a:ext cx="54864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The challenge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Audit cycles force stewards to manually assemble evidence across Snowflake, Databricks, Oracle, ODS, and BI — slow and inconsistent.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874519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workflow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1. Define audit scope and frameworks.</a:t>
            </a:r>
            <a:br/>
            <a:r>
              <a:t>2. MCP pulls classifications, ownership, lineage.</a:t>
            </a:r>
            <a:br/>
            <a:r>
              <a:t>3. Map metadata fields to controls.</a:t>
            </a:r>
            <a:br/>
            <a:r>
              <a:t>4. Generate repeatable evidence export.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Audit drift eliminated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Same shape every cycle — auditor confidence improves.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32461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Gaps surface pre-audit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Missing owners and untagged PII identified early.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9651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Reusable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26280"/>
            <a:ext cx="8092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2748" y="44074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Step 1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Framework + asset universe.</a:t>
            </a:r>
          </a:p>
        </p:txBody>
      </p:sp>
      <p:sp>
        <p:nvSpPr>
          <p:cNvPr id="39" name="Oval 38"/>
          <p:cNvSpPr/>
          <p:nvPr/>
        </p:nvSpPr>
        <p:spPr>
          <a:xfrm>
            <a:off x="3378708" y="440740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Georgia"/>
              </a:defRPr>
            </a:pPr>
            <a:r>
              <a:t>Step 2 Pull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Catalog posture via MCP.</a:t>
            </a:r>
          </a:p>
        </p:txBody>
      </p:sp>
      <p:sp>
        <p:nvSpPr>
          <p:cNvPr id="42" name="Oval 41"/>
          <p:cNvSpPr/>
          <p:nvPr/>
        </p:nvSpPr>
        <p:spPr>
          <a:xfrm>
            <a:off x="5344668" y="44074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Georgia"/>
              </a:defRPr>
            </a:pPr>
            <a:r>
              <a:t>Step 3 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Metadata to controls.</a:t>
            </a:r>
          </a:p>
        </p:txBody>
      </p:sp>
      <p:sp>
        <p:nvSpPr>
          <p:cNvPr id="45" name="Oval 44"/>
          <p:cNvSpPr/>
          <p:nvPr/>
        </p:nvSpPr>
        <p:spPr>
          <a:xfrm>
            <a:off x="7310628" y="4407408"/>
            <a:ext cx="146304" cy="14630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4CC16"/>
                </a:solidFill>
                <a:latin typeface="Georgia"/>
              </a:defRPr>
            </a:pPr>
            <a:r>
              <a:t>Step 4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Defensible evidence export.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Cursor–OMS MCP Use Case — Personal Data Assessment (STAQ)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AI-assisted catalog analysis for Legal compliance requests — methodology reusable on OMS.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47472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5760"/>
            <a:ext cx="960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UC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~4 hrs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Manual effort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2648" y="1773936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&lt; 30 min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With AI assist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578608" y="1773936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1,100+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Columns audited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544568" y="1773936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3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Quality issues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510528" y="1773936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874519"/>
            <a:ext cx="54864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The challenge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Legal requests assessment of personal data across large schemas — traditionally multi-day steward + Confluence + SME 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874519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workflow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1. Automated catalog scan via MCP.</a:t>
            </a:r>
            <a:br/>
            <a:r>
              <a:t>2. Cross-reference Confluence/DEEPT docs.</a:t>
            </a:r>
            <a:br/>
            <a:r>
              <a:t>3. Business SME validation.</a:t>
            </a:r>
            <a:br/>
            <a:r>
              <a:t>4. Remediation plan + Jira tracking.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Evidence at scale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Column-level classification scan across schemas.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32461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Quality gaps identified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Vendor lists and tags reconciled with SME input.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9651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Reusable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26280"/>
            <a:ext cx="8092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2748" y="44074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Step 1 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Query MCP for columns + PII fields.</a:t>
            </a:r>
          </a:p>
        </p:txBody>
      </p:sp>
      <p:sp>
        <p:nvSpPr>
          <p:cNvPr id="39" name="Oval 38"/>
          <p:cNvSpPr/>
          <p:nvPr/>
        </p:nvSpPr>
        <p:spPr>
          <a:xfrm>
            <a:off x="3378708" y="440740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Georgia"/>
              </a:defRPr>
            </a:pPr>
            <a:r>
              <a:t>Step 2 Validate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Cross-reference Confluence.</a:t>
            </a:r>
          </a:p>
        </p:txBody>
      </p:sp>
      <p:sp>
        <p:nvSpPr>
          <p:cNvPr id="42" name="Oval 41"/>
          <p:cNvSpPr/>
          <p:nvPr/>
        </p:nvSpPr>
        <p:spPr>
          <a:xfrm>
            <a:off x="5344668" y="44074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Georgia"/>
              </a:defRPr>
            </a:pPr>
            <a:r>
              <a:t>Step 3 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SME review.</a:t>
            </a:r>
          </a:p>
        </p:txBody>
      </p:sp>
      <p:sp>
        <p:nvSpPr>
          <p:cNvPr id="45" name="Oval 44"/>
          <p:cNvSpPr/>
          <p:nvPr/>
        </p:nvSpPr>
        <p:spPr>
          <a:xfrm>
            <a:off x="7310628" y="4407408"/>
            <a:ext cx="146304" cy="14630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4CC16"/>
                </a:solidFill>
                <a:latin typeface="Georgia"/>
              </a:defRPr>
            </a:pPr>
            <a:r>
              <a:t>Step 4 Remediate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OMS/Navigator updates + ticket.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Cursor–OMS MCP Use Case — Field-Class Definition Standardization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Standardize _id, _cd, _date, _timestamp — inherit from source through OMS to BI.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47472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5760"/>
            <a:ext cx="960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UC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1000+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Columns standardized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2648" y="1773936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Source → BI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Inheritance path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578608" y="1773936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Consistent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Across domains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544568" y="1773936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Reusable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Teams &amp; tools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510528" y="1773936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874519"/>
            <a:ext cx="54864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The challenge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Same column classes appear across tens of thousands of columns — defined inconsistently; manual curation cannot scale.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874519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workflow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1. Field-class scan via MCP.</a:t>
            </a:r>
            <a:br/>
            <a:r>
              <a:t>2. AI proposes candidate definitions.</a:t>
            </a:r>
            <a:br/>
            <a:r>
              <a:t>3. Propagate through lineage into OMS.</a:t>
            </a:r>
            <a:br/>
            <a:r>
              <a:t>4. Steward approval — never AI-only.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Conflicts resolved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Steward alignment on class meaning across domains.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32461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Curation scales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Approved definitions flow downstream automatically.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9651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Reusable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26280"/>
            <a:ext cx="8092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2748" y="44074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Step 1 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Identify class patterns.</a:t>
            </a:r>
          </a:p>
        </p:txBody>
      </p:sp>
      <p:sp>
        <p:nvSpPr>
          <p:cNvPr id="39" name="Oval 38"/>
          <p:cNvSpPr/>
          <p:nvPr/>
        </p:nvSpPr>
        <p:spPr>
          <a:xfrm>
            <a:off x="3378708" y="440740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Georgia"/>
              </a:defRPr>
            </a:pPr>
            <a:r>
              <a:t>Step 2 Propose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AI drafts per class.</a:t>
            </a:r>
          </a:p>
        </p:txBody>
      </p:sp>
      <p:sp>
        <p:nvSpPr>
          <p:cNvPr id="42" name="Oval 41"/>
          <p:cNvSpPr/>
          <p:nvPr/>
        </p:nvSpPr>
        <p:spPr>
          <a:xfrm>
            <a:off x="5344668" y="44074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Georgia"/>
              </a:defRPr>
            </a:pPr>
            <a:r>
              <a:t>Step 3 Inherit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Lineage propagation to OMS.</a:t>
            </a:r>
          </a:p>
        </p:txBody>
      </p:sp>
      <p:sp>
        <p:nvSpPr>
          <p:cNvPr id="45" name="Oval 44"/>
          <p:cNvSpPr/>
          <p:nvPr/>
        </p:nvSpPr>
        <p:spPr>
          <a:xfrm>
            <a:off x="7310628" y="4407408"/>
            <a:ext cx="146304" cy="14630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4CC16"/>
                </a:solidFill>
                <a:latin typeface="Georgia"/>
              </a:defRPr>
            </a:pPr>
            <a:r>
              <a:t>Step 4 Approve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Steward review and apply.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Cursor–OMS MCP Use Case — Metadata Enrichment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AI-drafted descriptions and glossary mappings — human-approved, written to OMS.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47472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65760"/>
            <a:ext cx="960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UC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C3AED"/>
                </a:solidFill>
                <a:latin typeface="Georgia"/>
              </a:defRPr>
            </a:pPr>
            <a:r>
              <a:t>1000+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Assets enriched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2648" y="1773936"/>
            <a:ext cx="502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Georgia"/>
              </a:defRPr>
            </a:pPr>
            <a:r>
              <a:t>Days → Mins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Per asset effort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578608" y="1773936"/>
            <a:ext cx="502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Georgia"/>
              </a:defRPr>
            </a:pPr>
            <a:r>
              <a:t>AI-Assisted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Human-approved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544568" y="1773936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15568"/>
            <a:ext cx="1892808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225296"/>
            <a:ext cx="17099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4CC16"/>
                </a:solidFill>
                <a:latin typeface="Georgia"/>
              </a:defRPr>
            </a:pPr>
            <a:r>
              <a:t>Scalable</a:t>
            </a:r>
          </a:p>
          <a:p>
            <a:pPr>
              <a:defRPr sz="1000" b="1">
                <a:solidFill>
                  <a:srgbClr val="0C0F1A"/>
                </a:solidFill>
                <a:latin typeface="Calibri"/>
              </a:defRPr>
            </a:pPr>
            <a:r>
              <a:t>Ad domains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510528" y="1773936"/>
            <a:ext cx="50292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874519"/>
            <a:ext cx="54864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The challenge</a:t>
            </a:r>
          </a:p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Thousands of assets lack descriptions or glossary links — limiting search, AI quality, and audit readiness.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74519"/>
            <a:ext cx="39776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874519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965959"/>
            <a:ext cx="374903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AI-assisted workflow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1. Coverage gap scan via MCP.</a:t>
            </a:r>
            <a:br/>
            <a:r>
              <a:t>2. AI draft enrichment proposals.</a:t>
            </a:r>
            <a:br/>
            <a:r>
              <a:t>3. Steward review queue.</a:t>
            </a:r>
            <a:br/>
            <a:r>
              <a:t>4. Push approved changes to OMS via API.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Sporadic → consistent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Priority domains near-full documentation.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246120"/>
            <a:ext cx="39776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32461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3337560"/>
            <a:ext cx="37490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0F1A"/>
                </a:solidFill>
                <a:latin typeface="Georgia"/>
              </a:defRPr>
            </a:pPr>
            <a:r>
              <a:t>Humans in control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Every enrichment reviewed and traceable.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9651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Reusable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26280"/>
            <a:ext cx="8092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2748" y="44074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Georgia"/>
              </a:defRPr>
            </a:pPr>
            <a:r>
              <a:t>Step 1 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Undocumented assets in priority domains.</a:t>
            </a:r>
          </a:p>
        </p:txBody>
      </p:sp>
      <p:sp>
        <p:nvSpPr>
          <p:cNvPr id="39" name="Oval 38"/>
          <p:cNvSpPr/>
          <p:nvPr/>
        </p:nvSpPr>
        <p:spPr>
          <a:xfrm>
            <a:off x="3378708" y="440740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Georgia"/>
              </a:defRPr>
            </a:pPr>
            <a:r>
              <a:t>Step 2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AI proposes descriptions + links.</a:t>
            </a:r>
          </a:p>
        </p:txBody>
      </p:sp>
      <p:sp>
        <p:nvSpPr>
          <p:cNvPr id="42" name="Oval 41"/>
          <p:cNvSpPr/>
          <p:nvPr/>
        </p:nvSpPr>
        <p:spPr>
          <a:xfrm>
            <a:off x="5344668" y="44074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Georgia"/>
              </a:defRPr>
            </a:pPr>
            <a:r>
              <a:t>Step 3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Steward approval queue.</a:t>
            </a:r>
          </a:p>
        </p:txBody>
      </p:sp>
      <p:sp>
        <p:nvSpPr>
          <p:cNvPr id="45" name="Oval 44"/>
          <p:cNvSpPr/>
          <p:nvPr/>
        </p:nvSpPr>
        <p:spPr>
          <a:xfrm>
            <a:off x="7310628" y="4407408"/>
            <a:ext cx="146304" cy="14630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617720"/>
            <a:ext cx="1911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4CC16"/>
                </a:solidFill>
                <a:latin typeface="Georgia"/>
              </a:defRPr>
            </a:pPr>
            <a:r>
              <a:t>Step 4 Apply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64608"/>
            <a:ext cx="1911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Write to OMS; surface in Navigator.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Navigator &amp; OMS — Metrics Dashboard (Target)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Stewardship and adoption telemetry on OMS — Alation Compose exports inform migration baselines.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0F1A"/>
                </a:solidFill>
                <a:latin typeface="Georgia"/>
              </a:defRPr>
            </a:pPr>
            <a:r>
              <a:t>Executive Summary · Data Navigator on OMS</a:t>
            </a:r>
          </a:p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Workspace prototype: alation-metrics-dashboard / OMS steward views</a:t>
            </a:r>
          </a:p>
          <a:p>
            <a:pPr>
              <a:spcBef>
                <a:spcPts val="800"/>
              </a:spcBef>
              <a:defRPr sz="1100" b="0">
                <a:solidFill>
                  <a:srgbClr val="0C0F1A"/>
                </a:solidFill>
                <a:latin typeface="Calibri"/>
              </a:defRPr>
            </a:pPr>
            <a:r>
              <a:t>• MONTHLY ACTIVE USERS — target ≥ Alation baseline (~411+) post-cutover</a:t>
            </a:r>
          </a:p>
          <a:p>
            <a:pPr>
              <a:spcBef>
                <a:spcPts val="800"/>
              </a:spcBef>
              <a:defRPr sz="1100" b="0">
                <a:solidFill>
                  <a:srgbClr val="0C0F1A"/>
                </a:solidFill>
                <a:latin typeface="Calibri"/>
              </a:defRPr>
            </a:pPr>
            <a:r>
              <a:t>• SEARCH SESSIONS — discovery front door; title/description quality drives success</a:t>
            </a:r>
          </a:p>
          <a:p>
            <a:pPr>
              <a:spcBef>
                <a:spcPts val="800"/>
              </a:spcBef>
              <a:defRPr sz="1100" b="0">
                <a:solidFill>
                  <a:srgbClr val="0C0F1A"/>
                </a:solidFill>
                <a:latin typeface="Calibri"/>
              </a:defRPr>
            </a:pPr>
            <a:r>
              <a:t>• TABLES ENDORSED / GOLD — trust signals visible in Navigator</a:t>
            </a:r>
          </a:p>
          <a:p>
            <a:pPr>
              <a:spcBef>
                <a:spcPts val="800"/>
              </a:spcBef>
              <a:defRPr sz="1100" b="0">
                <a:solidFill>
                  <a:srgbClr val="0C0F1A"/>
                </a:solidFill>
                <a:latin typeface="Calibri"/>
              </a:defRPr>
            </a:pPr>
            <a:r>
              <a:t>• CATALOG COVERAGE (DESCRIBED) — 626/MCI supply + steward SLAs</a:t>
            </a:r>
          </a:p>
          <a:p>
            <a:pPr>
              <a:spcBef>
                <a:spcPts val="800"/>
              </a:spcBef>
              <a:defRPr sz="1100" b="0">
                <a:solidFill>
                  <a:srgbClr val="0C0F1A"/>
                </a:solidFill>
                <a:latin typeface="Calibri"/>
              </a:defRPr>
            </a:pPr>
            <a:r>
              <a:t>• GLOSSARY TERMS — migrated + net-new on OMS</a:t>
            </a:r>
          </a:p>
          <a:p>
            <a:pPr>
              <a:spcBef>
                <a:spcPts val="800"/>
              </a:spcBef>
              <a:defRPr sz="1100" b="0">
                <a:solidFill>
                  <a:srgbClr val="0C0F1A"/>
                </a:solidFill>
                <a:latin typeface="Calibri"/>
              </a:defRPr>
            </a:pPr>
            <a:r>
              <a:t>• PAGE VIEWS — engagement parity through parallel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8092440" cy="2560320"/>
          </a:xfrm>
          <a:prstGeom prst="rect">
            <a:avLst/>
          </a:prstGeom>
          <a:solidFill>
            <a:srgbClr val="FFF7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000" b="0">
                <a:solidFill>
                  <a:srgbClr val="0C0F1A"/>
                </a:solidFill>
                <a:latin typeface="Georgia"/>
              </a:defRPr>
            </a:pPr>
            <a:r>
              <a:t>During migration: Alation Compose CSV baselines (e.g. 534 MAU, 27.9K searches/90d) — post-cutover measures shift to OMS/Navigator telemetry.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Data Catalog Strategy: Buy vs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Deep dive from Scaling Data Governance roadmap.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4160520" cy="5074920"/>
          </a:xfrm>
          <a:prstGeom prst="rect">
            <a:avLst/>
          </a:prstGeom>
          <a:solidFill>
            <a:srgbClr val="EDE9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70432"/>
            <a:ext cx="3886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0F1A"/>
                </a:solidFill>
                <a:latin typeface="Georgia"/>
              </a:defRPr>
            </a:pPr>
            <a:r>
              <a:t>Buy (Continue Alation)</a:t>
            </a:r>
          </a:p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Extend the established vendor catalog through renewal window.</a:t>
            </a:r>
          </a:p>
          <a:p>
            <a:pPr>
              <a:defRPr sz="1000" b="1">
                <a:solidFill>
                  <a:srgbClr val="84CC16"/>
                </a:solidFill>
                <a:latin typeface="Calibri"/>
              </a:defRPr>
            </a:pPr>
            <a:r>
              <a:t>Pros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Mature catalog; existing Ads footprint and connectors.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Faster near-term value; known stewardship workflows.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Vendor SLAs, certifications, and support.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Broad connector library and peer patterns.</a:t>
            </a:r>
          </a:p>
          <a:p>
            <a:pPr>
              <a:defRPr sz="1000" b="1">
                <a:solidFill>
                  <a:srgbClr val="E11D48"/>
                </a:solidFill>
                <a:latin typeface="Calibri"/>
              </a:defRPr>
            </a:pPr>
            <a:r>
              <a:t>Cons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Recurring license cost; roadmap not fully controlled.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Customization bounded by product model.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Vendor lock-in deepens with adoption.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Gaps for Disney-specific governance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078992"/>
            <a:ext cx="4160520" cy="5074920"/>
          </a:xfrm>
          <a:prstGeom prst="rect">
            <a:avLst/>
          </a:prstGeom>
          <a:solidFill>
            <a:srgbClr val="E0F7F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170432"/>
            <a:ext cx="3886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0F1A"/>
                </a:solidFill>
                <a:latin typeface="Georgia"/>
              </a:defRPr>
            </a:pPr>
            <a:r>
              <a:t>Build (Navigator on OMS)</a:t>
            </a:r>
          </a:p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In-house governed discovery — 626 supply, OMS store, Navigator UX.</a:t>
            </a:r>
          </a:p>
          <a:p>
            <a:pPr>
              <a:defRPr sz="1000" b="1">
                <a:solidFill>
                  <a:srgbClr val="84CC16"/>
                </a:solidFill>
                <a:latin typeface="Calibri"/>
              </a:defRPr>
            </a:pPr>
            <a:r>
              <a:t>Pros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Full control of Ads terminology, controls, and persona-first UX.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Direct roadmap with OMS and 626/MCI programs.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Tighter coupling with Cursor MCP on OMS read API.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Lower marginal cost at scale; exit Oct 2026 contract.</a:t>
            </a:r>
          </a:p>
          <a:p>
            <a:pPr>
              <a:defRPr sz="1000" b="1">
                <a:solidFill>
                  <a:srgbClr val="E11D48"/>
                </a:solidFill>
                <a:latin typeface="Calibri"/>
              </a:defRPr>
            </a:pPr>
            <a:r>
              <a:t>Cons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Engineering investment for parity and migration.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Multi-year delivery risk; business fields need population.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Platform/SRE/security burden internal.</a:t>
            </a:r>
          </a:p>
          <a:p>
            <a:pPr>
              <a:defRPr sz="900">
                <a:solidFill>
                  <a:srgbClr val="0C0F1A"/>
                </a:solidFill>
                <a:latin typeface="Calibri"/>
              </a:defRPr>
            </a:pPr>
            <a:r>
              <a:t>• MVP scope discipline required — no MCP/scraper creep in Navigator.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0F1A"/>
                </a:solidFill>
                <a:latin typeface="Georgia"/>
              </a:defRPr>
            </a:pPr>
            <a:r>
              <a:t>Data Navigator Socialization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Phased approach to drive alignment, awareness, and adoption across Ad Platforms.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Data Navigator · DEET Data Governance ·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164592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54864" cy="4892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170432"/>
            <a:ext cx="1417320" cy="476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0F1A"/>
                </a:solidFill>
                <a:latin typeface="Georgia"/>
              </a:defRPr>
            </a:pPr>
            <a:r>
              <a:t>Ad Platforms Data Governance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Ad Platforms DG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13385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84CC16"/>
                </a:solidFill>
                <a:latin typeface="Calibri"/>
              </a:defRPr>
            </a:pPr>
            <a:r>
              <a:t>COMPLETED – 5/18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0020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Initial team review</a:t>
            </a:r>
          </a:p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Aligned on persona-first messaging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078992"/>
            <a:ext cx="164592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03120" y="1078992"/>
            <a:ext cx="54864" cy="4892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1170432"/>
            <a:ext cx="1417320" cy="476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0F1A"/>
                </a:solidFill>
                <a:latin typeface="Georgia"/>
              </a:defRPr>
            </a:pPr>
            <a:r>
              <a:t>DEE Tech Data Governance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Disney Enterprise DG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13385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84CC16"/>
                </a:solidFill>
                <a:latin typeface="Calibri"/>
              </a:defRPr>
            </a:pPr>
            <a:r>
              <a:t>COMPLETED – 6/1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60020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1874519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Align with enterprise catalog strategy</a:t>
            </a:r>
          </a:p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Connect to OMS migration initiatives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078992"/>
            <a:ext cx="164592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4760" y="1078992"/>
            <a:ext cx="54864" cy="4892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1170432"/>
            <a:ext cx="1417320" cy="476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0F1A"/>
                </a:solidFill>
                <a:latin typeface="Georgia"/>
              </a:defRPr>
            </a:pPr>
            <a:r>
              <a:t>Engineering Alignment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OMS / platform partners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113385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  <a:latin typeface="Calibri"/>
              </a:defRPr>
            </a:pPr>
            <a:r>
              <a:t>TARGET – FY26 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160020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1874519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Validate Navigator vs OMS UI handoffs</a:t>
            </a:r>
          </a:p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Share with engineering leadership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078992"/>
            <a:ext cx="164592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1078992"/>
            <a:ext cx="54864" cy="48920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1170432"/>
            <a:ext cx="1417320" cy="476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0F1A"/>
                </a:solidFill>
                <a:latin typeface="Georgia"/>
              </a:defRPr>
            </a:pPr>
            <a:r>
              <a:t>Product Alignment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Domain product leads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13385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  <a:latin typeface="Calibri"/>
              </a:defRPr>
            </a:pPr>
            <a:r>
              <a:t>TARGET – FY26 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60020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1874519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Align data domains and MVP stories</a:t>
            </a:r>
          </a:p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Confirm business use cases for Navigator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1078992"/>
            <a:ext cx="164592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78040" y="1078992"/>
            <a:ext cx="54864" cy="4892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2" y="1170432"/>
            <a:ext cx="1417320" cy="476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0F1A"/>
                </a:solidFill>
                <a:latin typeface="Georgia"/>
              </a:defRPr>
            </a:pPr>
            <a:r>
              <a:t>Fleets &amp; Squads</a:t>
            </a:r>
          </a:p>
          <a:p>
            <a:pPr>
              <a:defRPr sz="800" b="0">
                <a:solidFill>
                  <a:srgbClr val="64748B"/>
                </a:solidFill>
                <a:latin typeface="Calibri"/>
              </a:defRPr>
            </a:pPr>
            <a:r>
              <a:t>Stewards &amp; domain teams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113385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  <a:latin typeface="Calibri"/>
              </a:defRPr>
            </a:pPr>
            <a:r>
              <a:t>TARGET – FY26 Q4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160020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1874519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Tailor messaging for stewards</a:t>
            </a:r>
          </a:p>
          <a:p>
            <a:pPr>
              <a:defRPr sz="700">
                <a:solidFill>
                  <a:srgbClr val="0C0F1A"/>
                </a:solidFill>
                <a:latin typeface="Calibri"/>
              </a:defRPr>
            </a:pPr>
            <a:r>
              <a:t>• Drive adoption as Alation parallel run begins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