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1B5F5B-D2E0-3E48-B3E8-098FA059B577}" v="63" dt="2026-06-18T16:53:59.3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96"/>
    <p:restoredTop sz="94580"/>
  </p:normalViewPr>
  <p:slideViewPr>
    <p:cSldViewPr snapToGrid="0" snapToObjects="1">
      <p:cViewPr varScale="1">
        <p:scale>
          <a:sx n="121" d="100"/>
          <a:sy n="121" d="100"/>
        </p:scale>
        <p:origin x="52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ng, Jonathan" userId="S::jonathan.fong@disney.com::0cc39b96-2237-44f8-9550-021b28199d5c" providerId="AD" clId="Web-{7E172F09-B606-95CD-FB4A-BD2F89E210AF}"/>
    <pc:docChg chg="modSld">
      <pc:chgData name="Fong, Jonathan" userId="S::jonathan.fong@disney.com::0cc39b96-2237-44f8-9550-021b28199d5c" providerId="AD" clId="Web-{7E172F09-B606-95CD-FB4A-BD2F89E210AF}" dt="2026-06-18T17:44:29.700" v="14" actId="20577"/>
      <pc:docMkLst>
        <pc:docMk/>
      </pc:docMkLst>
      <pc:sldChg chg="modSp">
        <pc:chgData name="Fong, Jonathan" userId="S::jonathan.fong@disney.com::0cc39b96-2237-44f8-9550-021b28199d5c" providerId="AD" clId="Web-{7E172F09-B606-95CD-FB4A-BD2F89E210AF}" dt="2026-06-18T17:44:29.700" v="14" actId="20577"/>
        <pc:sldMkLst>
          <pc:docMk/>
          <pc:sldMk cId="0" sldId="256"/>
        </pc:sldMkLst>
        <pc:spChg chg="mod">
          <ac:chgData name="Fong, Jonathan" userId="S::jonathan.fong@disney.com::0cc39b96-2237-44f8-9550-021b28199d5c" providerId="AD" clId="Web-{7E172F09-B606-95CD-FB4A-BD2F89E210AF}" dt="2026-06-18T17:44:20.621" v="11" actId="20577"/>
          <ac:spMkLst>
            <pc:docMk/>
            <pc:sldMk cId="0" sldId="256"/>
            <ac:spMk id="4" creationId="{00000000-0000-0000-0000-000000000000}"/>
          </ac:spMkLst>
        </pc:spChg>
        <pc:spChg chg="mod">
          <ac:chgData name="Fong, Jonathan" userId="S::jonathan.fong@disney.com::0cc39b96-2237-44f8-9550-021b28199d5c" providerId="AD" clId="Web-{7E172F09-B606-95CD-FB4A-BD2F89E210AF}" dt="2026-06-18T17:44:29.700" v="14" actId="20577"/>
          <ac:spMkLst>
            <pc:docMk/>
            <pc:sldMk cId="0" sldId="256"/>
            <ac:spMk id="5" creationId="{00000000-0000-0000-0000-000000000000}"/>
          </ac:spMkLst>
        </pc:spChg>
        <pc:spChg chg="mod">
          <ac:chgData name="Fong, Jonathan" userId="S::jonathan.fong@disney.com::0cc39b96-2237-44f8-9550-021b28199d5c" providerId="AD" clId="Web-{7E172F09-B606-95CD-FB4A-BD2F89E210AF}" dt="2026-06-18T17:43:19.151" v="0" actId="20577"/>
          <ac:spMkLst>
            <pc:docMk/>
            <pc:sldMk cId="0" sldId="256"/>
            <ac:spMk id="16" creationId="{00000000-0000-0000-0000-000000000000}"/>
          </ac:spMkLst>
        </pc:spChg>
      </pc:sldChg>
    </pc:docChg>
  </pc:docChgLst>
  <pc:docChgLst>
    <pc:chgData name="Fong, Jonathan" userId="0cc39b96-2237-44f8-9550-021b28199d5c" providerId="ADAL" clId="{2094E037-4A7F-5C4C-9C02-6D32C9564D5D}"/>
    <pc:docChg chg="undo redo custSel mod modSld">
      <pc:chgData name="Fong, Jonathan" userId="0cc39b96-2237-44f8-9550-021b28199d5c" providerId="ADAL" clId="{2094E037-4A7F-5C4C-9C02-6D32C9564D5D}" dt="2026-06-22T16:46:47.076" v="83" actId="478"/>
      <pc:docMkLst>
        <pc:docMk/>
      </pc:docMkLst>
      <pc:sldChg chg="delSp modSp mod">
        <pc:chgData name="Fong, Jonathan" userId="0cc39b96-2237-44f8-9550-021b28199d5c" providerId="ADAL" clId="{2094E037-4A7F-5C4C-9C02-6D32C9564D5D}" dt="2026-06-22T16:46:47.076" v="83" actId="478"/>
        <pc:sldMkLst>
          <pc:docMk/>
          <pc:sldMk cId="0" sldId="256"/>
        </pc:sldMkLst>
        <pc:spChg chg="mod">
          <ac:chgData name="Fong, Jonathan" userId="0cc39b96-2237-44f8-9550-021b28199d5c" providerId="ADAL" clId="{2094E037-4A7F-5C4C-9C02-6D32C9564D5D}" dt="2026-06-18T16:46:58.866" v="11" actId="20577"/>
          <ac:spMkLst>
            <pc:docMk/>
            <pc:sldMk cId="0" sldId="256"/>
            <ac:spMk id="8" creationId="{00000000-0000-0000-0000-000000000000}"/>
          </ac:spMkLst>
        </pc:spChg>
        <pc:spChg chg="mod">
          <ac:chgData name="Fong, Jonathan" userId="0cc39b96-2237-44f8-9550-021b28199d5c" providerId="ADAL" clId="{2094E037-4A7F-5C4C-9C02-6D32C9564D5D}" dt="2026-06-18T16:53:57.065" v="80" actId="113"/>
          <ac:spMkLst>
            <pc:docMk/>
            <pc:sldMk cId="0" sldId="256"/>
            <ac:spMk id="12" creationId="{00000000-0000-0000-0000-000000000000}"/>
          </ac:spMkLst>
        </pc:spChg>
        <pc:spChg chg="mod">
          <ac:chgData name="Fong, Jonathan" userId="0cc39b96-2237-44f8-9550-021b28199d5c" providerId="ADAL" clId="{2094E037-4A7F-5C4C-9C02-6D32C9564D5D}" dt="2026-06-18T16:53:59.378" v="82" actId="113"/>
          <ac:spMkLst>
            <pc:docMk/>
            <pc:sldMk cId="0" sldId="256"/>
            <ac:spMk id="16" creationId="{00000000-0000-0000-0000-000000000000}"/>
          </ac:spMkLst>
        </pc:spChg>
        <pc:spChg chg="del">
          <ac:chgData name="Fong, Jonathan" userId="0cc39b96-2237-44f8-9550-021b28199d5c" providerId="ADAL" clId="{2094E037-4A7F-5C4C-9C02-6D32C9564D5D}" dt="2026-06-22T16:46:47.076" v="83" actId="478"/>
          <ac:spMkLst>
            <pc:docMk/>
            <pc:sldMk cId="0" sldId="256"/>
            <ac:spMk id="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8578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PRINCIPLE: Alation doesn't automate our catalog processes to the level we need across all data platforms. We're migrating off to establish a single, extensible, enterprise-owned catalog with deeper customization, automation, and alignment with internal metadata and governance standards.</a:t>
            </a:r>
          </a:p>
          <a:p>
            <a:endParaRPr/>
          </a:p>
          <a:p>
            <a:r>
              <a:t>WHY (~45s): We're moving our business data catalog off Alation onto an in-house Business Data Catalog built on OMS. Alation is a legacy tool that leans on heavy manual upkeep, so descriptions go stale and lineage is limited. Owning the platform lets us tap recent AI advances and direct access to our own data that no vendor can match — and bring business metadata (glossary, ownership, tags, descriptions) together with the technical metadata already in OMS to create one single source of truth.</a:t>
            </a:r>
          </a:p>
          <a:p>
            <a:endParaRPr/>
          </a:p>
          <a:p>
            <a:r>
              <a:t>OPPORTUNITY (~45s): Not a like-for-like rebuild. This is our chance to establish a single, extensible, enterprise-owned catalog — using AI to keep it current and make search dramatically faster, with deeper customization aligned to our governance standards.</a:t>
            </a:r>
          </a:p>
          <a:p>
            <a:endParaRPr/>
          </a:p>
          <a:p>
            <a:r>
              <a:t>WHERE WE ARE / PLAN (~1.5m): We're in discovery and requirements now, documenting every Alation feature in use so we don't lose functionality. We're interviewing all stakeholder groups — stewards, analysts, engineers, governance, leadership. Then a phased rollout: MVP parity on critical features (search, glossary, lineage, ownership), then full parity, then enhancements. Migration is metadata-first and low-risk: extract from Alation, validate in the new Business Data Catalog, run both in parallel, then cut over and retire Alation after validation.</a:t>
            </a:r>
          </a:p>
          <a:p>
            <a:endParaRPr/>
          </a:p>
          <a:p>
            <a:r>
              <a:t>CLOSE / ASK (~30s): Headline — no functionality lost, minimal disruption, a modern catalog DEEPT fully owns. Over the next few weeks we'll reach out for stakeholder time; engaging now is the best way to get your team's needs captured.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88720"/>
            <a:ext cx="12191695" cy="64008"/>
          </a:xfrm>
          <a:prstGeom prst="rect">
            <a:avLst/>
          </a:prstGeom>
          <a:solidFill>
            <a:srgbClr val="2E6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146304"/>
            <a:ext cx="1115568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r>
              <a:rPr lang="en-US" sz="2900" b="1">
                <a:solidFill>
                  <a:srgbClr val="FFFFFF"/>
                </a:solidFill>
                <a:latin typeface="Calibri"/>
              </a:rPr>
              <a:t>Navigator: Migrating</a:t>
            </a:r>
            <a:r>
              <a:rPr sz="2900" b="1" i="0">
                <a:solidFill>
                  <a:srgbClr val="FFFFFF"/>
                </a:solidFill>
                <a:latin typeface="Calibri"/>
              </a:rPr>
              <a:t> from Alation → Business Data Catalog</a:t>
            </a:r>
            <a:endParaRPr lang="en-US"/>
          </a:p>
        </p:txBody>
      </p:sp>
      <p:sp>
        <p:nvSpPr>
          <p:cNvPr id="5" name="Rectangle 4"/>
          <p:cNvSpPr/>
          <p:nvPr/>
        </p:nvSpPr>
        <p:spPr>
          <a:xfrm>
            <a:off x="521207" y="731520"/>
            <a:ext cx="1115568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r>
              <a:rPr sz="1300" b="0" i="0">
                <a:solidFill>
                  <a:srgbClr val="C9D6EC"/>
                </a:solidFill>
                <a:latin typeface="Calibri"/>
              </a:rPr>
              <a:t>Consolidating onto an in-house, DEEPT-owned platform — currently in discovery &amp; requirements</a:t>
            </a:r>
            <a:endParaRPr lang="en-US" sz="1300" b="0" i="0">
              <a:solidFill>
                <a:srgbClr val="C9D6EC"/>
              </a:solidFill>
              <a:latin typeface="Calibri"/>
            </a:endParaRPr>
          </a:p>
        </p:txBody>
      </p:sp>
      <p:sp>
        <p:nvSpPr>
          <p:cNvPr id="6" name="Rectangle 5"/>
          <p:cNvSpPr/>
          <p:nvPr/>
        </p:nvSpPr>
        <p:spPr>
          <a:xfrm>
            <a:off x="502920" y="1344168"/>
            <a:ext cx="11183112" cy="749808"/>
          </a:xfrm>
          <a:prstGeom prst="rect">
            <a:avLst/>
          </a:prstGeom>
          <a:solidFill>
            <a:srgbClr val="EAF1FB"/>
          </a:solidFill>
          <a:ln w="15875">
            <a:solidFill>
              <a:srgbClr val="2E6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44168"/>
            <a:ext cx="146304" cy="749808"/>
          </a:xfrm>
          <a:prstGeom prst="rect">
            <a:avLst/>
          </a:prstGeom>
          <a:solidFill>
            <a:srgbClr val="2E6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1344168"/>
            <a:ext cx="1069848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lnSpc>
                <a:spcPct val="100000"/>
              </a:lnSpc>
              <a:spcBef>
                <a:spcPts val="0"/>
              </a:spcBef>
              <a:spcAft>
                <a:spcPts val="200"/>
              </a:spcAft>
            </a:pPr>
            <a:r>
              <a:rPr sz="1100" b="1" i="0" dirty="0">
                <a:solidFill>
                  <a:srgbClr val="2E6FD6"/>
                </a:solidFill>
                <a:latin typeface="Calibri"/>
              </a:rPr>
              <a:t>CORE PRINCIPLE</a:t>
            </a:r>
          </a:p>
          <a:p>
            <a:pPr algn="l">
              <a:lnSpc>
                <a:spcPct val="105000"/>
              </a:lnSpc>
              <a:spcBef>
                <a:spcPts val="0"/>
              </a:spcBef>
              <a:spcAft>
                <a:spcPts val="0"/>
              </a:spcAft>
            </a:pPr>
            <a:r>
              <a:rPr sz="1500" b="1" i="0" dirty="0">
                <a:solidFill>
                  <a:srgbClr val="0B1F3A"/>
                </a:solidFill>
                <a:latin typeface="Calibri"/>
              </a:rPr>
              <a:t>Alation </a:t>
            </a:r>
            <a:r>
              <a:rPr lang="en-US" sz="1500" b="1" i="0" dirty="0">
                <a:solidFill>
                  <a:srgbClr val="0B1F3A"/>
                </a:solidFill>
                <a:latin typeface="Calibri"/>
              </a:rPr>
              <a:t>is unable to</a:t>
            </a:r>
            <a:r>
              <a:rPr sz="1500" b="1" i="0" dirty="0">
                <a:solidFill>
                  <a:srgbClr val="0B1F3A"/>
                </a:solidFill>
                <a:latin typeface="Calibri"/>
              </a:rPr>
              <a:t> automate our catalog at the scale we need. We’re moving to one enterprise-owned, extensible catalog with automation and governance built in.</a:t>
            </a:r>
          </a:p>
        </p:txBody>
      </p:sp>
      <p:sp>
        <p:nvSpPr>
          <p:cNvPr id="9" name="Rectangle 8"/>
          <p:cNvSpPr/>
          <p:nvPr/>
        </p:nvSpPr>
        <p:spPr>
          <a:xfrm>
            <a:off x="502920" y="2240280"/>
            <a:ext cx="5440680" cy="3429000"/>
          </a:xfrm>
          <a:prstGeom prst="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2240280"/>
            <a:ext cx="5440680" cy="566928"/>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2240280"/>
            <a:ext cx="534924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Bef>
                <a:spcPts val="0"/>
              </a:spcBef>
              <a:spcAft>
                <a:spcPts val="0"/>
              </a:spcAft>
            </a:pPr>
            <a:r>
              <a:rPr sz="1500" b="1" i="0">
                <a:solidFill>
                  <a:srgbClr val="FFFFFF"/>
                </a:solidFill>
                <a:latin typeface="Calibri"/>
              </a:rPr>
              <a:t>WHY WE'RE DOING THIS</a:t>
            </a:r>
          </a:p>
        </p:txBody>
      </p:sp>
      <p:sp>
        <p:nvSpPr>
          <p:cNvPr id="12" name="Rectangle 11"/>
          <p:cNvSpPr/>
          <p:nvPr/>
        </p:nvSpPr>
        <p:spPr>
          <a:xfrm>
            <a:off x="822960" y="2971800"/>
            <a:ext cx="4800600" cy="2560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l">
              <a:lnSpc>
                <a:spcPct val="104000"/>
              </a:lnSpc>
              <a:spcBef>
                <a:spcPts val="0"/>
              </a:spcBef>
              <a:spcAft>
                <a:spcPts val="1100"/>
              </a:spcAft>
            </a:pPr>
            <a:r>
              <a:rPr sz="1400" i="0" dirty="0">
                <a:solidFill>
                  <a:srgbClr val="0B1F3A"/>
                </a:solidFill>
                <a:latin typeface="Calibri"/>
              </a:rPr>
              <a:t>▸  Legacy Alation leans on heavy manual upkeep — stale descriptions, limited lineage, an aging catalog</a:t>
            </a:r>
          </a:p>
          <a:p>
            <a:pPr algn="l">
              <a:lnSpc>
                <a:spcPct val="104000"/>
              </a:lnSpc>
              <a:spcBef>
                <a:spcPts val="0"/>
              </a:spcBef>
              <a:spcAft>
                <a:spcPts val="1100"/>
              </a:spcAft>
            </a:pPr>
            <a:r>
              <a:rPr sz="1400" i="0" dirty="0">
                <a:solidFill>
                  <a:srgbClr val="0B1F3A"/>
                </a:solidFill>
                <a:latin typeface="Calibri"/>
              </a:rPr>
              <a:t>▸  Owning the platform unlocks recent AI advances + direct access to our data sources no vendor can match</a:t>
            </a:r>
          </a:p>
          <a:p>
            <a:pPr algn="l">
              <a:lnSpc>
                <a:spcPct val="104000"/>
              </a:lnSpc>
              <a:spcBef>
                <a:spcPts val="0"/>
              </a:spcBef>
              <a:spcAft>
                <a:spcPts val="1100"/>
              </a:spcAft>
            </a:pPr>
            <a:r>
              <a:rPr sz="1400" i="0" dirty="0">
                <a:solidFill>
                  <a:srgbClr val="0B1F3A"/>
                </a:solidFill>
                <a:latin typeface="Calibri"/>
              </a:rPr>
              <a:t>▸  One single, extensible, enterprise-owned catalog — business + technical metadata together on OMS</a:t>
            </a:r>
          </a:p>
          <a:p>
            <a:pPr algn="l">
              <a:lnSpc>
                <a:spcPct val="104000"/>
              </a:lnSpc>
              <a:spcBef>
                <a:spcPts val="0"/>
              </a:spcBef>
              <a:spcAft>
                <a:spcPts val="1100"/>
              </a:spcAft>
            </a:pPr>
            <a:r>
              <a:rPr sz="1400" i="0" dirty="0">
                <a:solidFill>
                  <a:srgbClr val="0B1F3A"/>
                </a:solidFill>
                <a:latin typeface="Calibri"/>
              </a:rPr>
              <a:t>▸  Deeper customization &amp; automation, aligned with internal metadata &amp; governance standards</a:t>
            </a:r>
          </a:p>
        </p:txBody>
      </p:sp>
      <p:sp>
        <p:nvSpPr>
          <p:cNvPr id="13" name="Rectangle 12"/>
          <p:cNvSpPr/>
          <p:nvPr/>
        </p:nvSpPr>
        <p:spPr>
          <a:xfrm>
            <a:off x="6400800" y="2240280"/>
            <a:ext cx="5440680" cy="3429000"/>
          </a:xfrm>
          <a:prstGeom prst="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0" y="2240280"/>
            <a:ext cx="5440680" cy="566928"/>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46520" y="2240280"/>
            <a:ext cx="534924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Bef>
                <a:spcPts val="0"/>
              </a:spcBef>
              <a:spcAft>
                <a:spcPts val="0"/>
              </a:spcAft>
            </a:pPr>
            <a:r>
              <a:rPr sz="1500" b="1" i="0">
                <a:solidFill>
                  <a:srgbClr val="FFFFFF"/>
                </a:solidFill>
                <a:latin typeface="Calibri"/>
              </a:rPr>
              <a:t>HIGH-LEVEL PLAN  (WHERE WE ARE)</a:t>
            </a:r>
          </a:p>
        </p:txBody>
      </p:sp>
      <p:sp>
        <p:nvSpPr>
          <p:cNvPr id="16" name="Rectangle 15"/>
          <p:cNvSpPr/>
          <p:nvPr/>
        </p:nvSpPr>
        <p:spPr>
          <a:xfrm>
            <a:off x="6720840" y="2971800"/>
            <a:ext cx="4800600" cy="2560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l">
              <a:lnSpc>
                <a:spcPct val="104000"/>
              </a:lnSpc>
              <a:spcBef>
                <a:spcPts val="0"/>
              </a:spcBef>
              <a:spcAft>
                <a:spcPts val="1100"/>
              </a:spcAft>
            </a:pPr>
            <a:r>
              <a:rPr sz="1400" i="0" dirty="0">
                <a:solidFill>
                  <a:srgbClr val="0B1F3A"/>
                </a:solidFill>
                <a:latin typeface="Calibri"/>
              </a:rPr>
              <a:t>▸  In discovery &amp; requirements now — documenting the most important Alation features in use so </a:t>
            </a:r>
            <a:r>
              <a:rPr lang="en-US" sz="1400" i="0" dirty="0">
                <a:solidFill>
                  <a:srgbClr val="0B1F3A"/>
                </a:solidFill>
                <a:latin typeface="Calibri"/>
              </a:rPr>
              <a:t>nothing is</a:t>
            </a:r>
            <a:r>
              <a:rPr sz="1400" i="0" dirty="0">
                <a:solidFill>
                  <a:srgbClr val="0B1F3A"/>
                </a:solidFill>
                <a:latin typeface="Calibri"/>
              </a:rPr>
              <a:t> lost</a:t>
            </a:r>
          </a:p>
          <a:p>
            <a:pPr algn="l">
              <a:lnSpc>
                <a:spcPct val="104000"/>
              </a:lnSpc>
              <a:spcBef>
                <a:spcPts val="0"/>
              </a:spcBef>
              <a:spcAft>
                <a:spcPts val="1100"/>
              </a:spcAft>
            </a:pPr>
            <a:r>
              <a:rPr sz="1400" i="0" dirty="0">
                <a:solidFill>
                  <a:srgbClr val="0B1F3A"/>
                </a:solidFill>
                <a:latin typeface="Calibri"/>
              </a:rPr>
              <a:t>▸  Working with all stakeholders: stewards, analysts, engineers, governance, leadership</a:t>
            </a:r>
          </a:p>
          <a:p>
            <a:pPr algn="l">
              <a:lnSpc>
                <a:spcPct val="104000"/>
              </a:lnSpc>
              <a:spcBef>
                <a:spcPts val="0"/>
              </a:spcBef>
              <a:spcAft>
                <a:spcPts val="1100"/>
              </a:spcAft>
            </a:pPr>
            <a:r>
              <a:rPr sz="1400" i="0" dirty="0">
                <a:solidFill>
                  <a:srgbClr val="0B1F3A"/>
                </a:solidFill>
                <a:latin typeface="Calibri"/>
              </a:rPr>
              <a:t>▸  Phased delivery: MVP → desired enhancements</a:t>
            </a:r>
          </a:p>
          <a:p>
            <a:pPr algn="l">
              <a:lnSpc>
                <a:spcPct val="104000"/>
              </a:lnSpc>
              <a:spcBef>
                <a:spcPts val="0"/>
              </a:spcBef>
              <a:spcAft>
                <a:spcPts val="1100"/>
              </a:spcAft>
            </a:pPr>
            <a:r>
              <a:rPr sz="1400" i="0" dirty="0">
                <a:solidFill>
                  <a:srgbClr val="0B1F3A"/>
                </a:solidFill>
                <a:latin typeface="Calibri"/>
              </a:rPr>
              <a:t>▸  Metadata-first migration with a parallel run before cutover; Alation retired after validation</a:t>
            </a:r>
          </a:p>
        </p:txBody>
      </p:sp>
      <p:sp>
        <p:nvSpPr>
          <p:cNvPr id="17" name="Rectangle 16"/>
          <p:cNvSpPr/>
          <p:nvPr/>
        </p:nvSpPr>
        <p:spPr>
          <a:xfrm>
            <a:off x="502920" y="5833872"/>
            <a:ext cx="11183112" cy="475488"/>
          </a:xfrm>
          <a:prstGeom prst="rect">
            <a:avLst/>
          </a:prstGeom>
          <a:solidFill>
            <a:srgbClr val="F2F5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5800" y="5833872"/>
            <a:ext cx="1081735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Bef>
                <a:spcPts val="0"/>
              </a:spcBef>
              <a:spcAft>
                <a:spcPts val="0"/>
              </a:spcAft>
            </a:pPr>
            <a:r>
              <a:rPr sz="1400" b="1" i="0">
                <a:solidFill>
                  <a:srgbClr val="1B3A6B"/>
                </a:solidFill>
                <a:latin typeface="Calibri"/>
              </a:rPr>
              <a:t>Goal:  retain most valuable services  •  evolve past traditional manual catalog  •  migrate to provide minimal disruption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5760</TotalTime>
  <Words>535</Words>
  <Application>Microsoft Macintosh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Fong, Jonathan</cp:lastModifiedBy>
  <cp:revision>1</cp:revision>
  <dcterms:created xsi:type="dcterms:W3CDTF">2013-01-27T09:14:16Z</dcterms:created>
  <dcterms:modified xsi:type="dcterms:W3CDTF">2026-06-22T16:46:49Z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62e0584-010f-4004-8a6a-d5c118c8b4bd_Enabled">
    <vt:lpwstr>true</vt:lpwstr>
  </property>
  <property fmtid="{D5CDD505-2E9C-101B-9397-08002B2CF9AE}" pid="3" name="MSIP_Label_c62e0584-010f-4004-8a6a-d5c118c8b4bd_SetDate">
    <vt:lpwstr>2026-06-18T16:47:07Z</vt:lpwstr>
  </property>
  <property fmtid="{D5CDD505-2E9C-101B-9397-08002B2CF9AE}" pid="4" name="MSIP_Label_c62e0584-010f-4004-8a6a-d5c118c8b4bd_Method">
    <vt:lpwstr>Standard</vt:lpwstr>
  </property>
  <property fmtid="{D5CDD505-2E9C-101B-9397-08002B2CF9AE}" pid="5" name="MSIP_Label_c62e0584-010f-4004-8a6a-d5c118c8b4bd_Name">
    <vt:lpwstr>Internal</vt:lpwstr>
  </property>
  <property fmtid="{D5CDD505-2E9C-101B-9397-08002B2CF9AE}" pid="6" name="MSIP_Label_c62e0584-010f-4004-8a6a-d5c118c8b4bd_SiteId">
    <vt:lpwstr>56b731a8-a2ac-4c32-bf6b-616810e913c6</vt:lpwstr>
  </property>
  <property fmtid="{D5CDD505-2E9C-101B-9397-08002B2CF9AE}" pid="7" name="MSIP_Label_c62e0584-010f-4004-8a6a-d5c118c8b4bd_ActionId">
    <vt:lpwstr>aec19838-597c-4e5d-8d1b-324aedec3101</vt:lpwstr>
  </property>
  <property fmtid="{D5CDD505-2E9C-101B-9397-08002B2CF9AE}" pid="8" name="MSIP_Label_c62e0584-010f-4004-8a6a-d5c118c8b4bd_ContentBits">
    <vt:lpwstr>0</vt:lpwstr>
  </property>
  <property fmtid="{D5CDD505-2E9C-101B-9397-08002B2CF9AE}" pid="9" name="MSIP_Label_c62e0584-010f-4004-8a6a-d5c118c8b4bd_Tag">
    <vt:lpwstr>50, 3, 0, 1</vt:lpwstr>
  </property>
</Properties>
</file>