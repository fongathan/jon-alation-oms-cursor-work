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094E037-4A7F-5C4C-9C02-6D32C9564D5D}"/>
    <pc:docChg chg="undo custSel mod modSld">
      <pc:chgData name="Fong, Jonathan" userId="0cc39b96-2237-44f8-9550-021b28199d5c" providerId="ADAL" clId="{2094E037-4A7F-5C4C-9C02-6D32C9564D5D}" dt="2026-07-21T14:56:07.284" v="37" actId="33475"/>
      <pc:docMkLst>
        <pc:docMk/>
      </pc:docMkLst>
      <pc:sldChg chg="modSp mod">
        <pc:chgData name="Fong, Jonathan" userId="0cc39b96-2237-44f8-9550-021b28199d5c" providerId="ADAL" clId="{2094E037-4A7F-5C4C-9C02-6D32C9564D5D}" dt="2026-07-21T14:55:58.906" v="36" actId="1036"/>
        <pc:sldMkLst>
          <pc:docMk/>
          <pc:sldMk cId="0" sldId="259"/>
        </pc:sldMkLst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14:55:58.906" v="36" actId="1036"/>
          <ac:spMkLst>
            <pc:docMk/>
            <pc:sldMk cId="0" sldId="259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PPIbiore1hCrWVSgmGtvCBqVYW4AzB5LzugbKPrCGo4/edit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gradFill rotWithShape="1">
            <a:gsLst>
              <a:gs pos="0">
                <a:srgbClr val="1E2B52"/>
              </a:gs>
              <a:gs pos="100000">
                <a:srgbClr val="2C478C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77639" y="0"/>
            <a:ext cx="54864" cy="6858000"/>
          </a:xfrm>
          <a:prstGeom prst="rect">
            <a:avLst/>
          </a:prstGeom>
          <a:solidFill>
            <a:srgbClr val="10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325880"/>
            <a:ext cx="1874519" cy="1874519"/>
          </a:xfrm>
          <a:prstGeom prst="ellipse">
            <a:avLst/>
          </a:prstGeom>
          <a:noFill/>
          <a:ln w="28575">
            <a:solidFill>
              <a:srgbClr val="109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7800" b="1" i="0">
                <a:solidFill>
                  <a:srgbClr val="FFFFFF"/>
                </a:solidFill>
                <a:latin typeface="Helvetica Neue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N A V I G A T O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58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B9C6E6"/>
                </a:solidFill>
                <a:latin typeface="Helvetica Neue"/>
              </a:rPr>
              <a:t>Business Data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09AA6"/>
                </a:solidFill>
                <a:latin typeface="Helvetica Neue"/>
              </a:rPr>
              <a:t>DESCRIPTIONS &amp; BUSINESS METADATA  ·  MVP VS. FUTURE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517904"/>
            <a:ext cx="73152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D6CE0"/>
                </a:solidFill>
                <a:latin typeface="Helvetica Neue"/>
              </a:rPr>
              <a:t>Table / Column Descriptions &amp; Other Business Metadata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2C478C"/>
                </a:solidFill>
                <a:latin typeface="Helvetica Neue"/>
              </a:rPr>
              <a:t>MVP vs. Future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977639"/>
            <a:ext cx="71780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1">
                <a:solidFill>
                  <a:srgbClr val="33405C"/>
                </a:solidFill>
                <a:latin typeface="Helvetica Neue"/>
              </a:rPr>
              <a:t>What we migrate from Alation for MVP — and how descriptions and other business metadata can be prepopulated automatically in the future.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6199632"/>
            <a:ext cx="7178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09AA6"/>
                </a:solidFill>
                <a:latin typeface="Helvetica Neue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09AA6"/>
                </a:solidFill>
                <a:latin typeface="Helvetica Neue"/>
              </a:rPr>
              <a:t>BUSINESS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0350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101A2E"/>
                </a:solidFill>
                <a:latin typeface="Helvetica Neue"/>
              </a:rPr>
              <a:t>What are descriptions and other business metadata?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1">
                <a:solidFill>
                  <a:srgbClr val="6B778C"/>
                </a:solidFill>
                <a:latin typeface="Helvetica Neue"/>
              </a:rPr>
              <a:t>Types we use today in Alation — and the same business metadata surface in the Business Data Catalog on OMS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54406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5440680" cy="566928"/>
          </a:xfrm>
          <a:prstGeom prst="rect">
            <a:avLst/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B778C"/>
                </a:solidFill>
                <a:latin typeface="Helvetica Neue"/>
              </a:rPr>
              <a:t>IN ALATION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04872"/>
            <a:ext cx="4855464" cy="3611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Table &amp; column descriptions (business context, formulas, examples)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Business titles, synonyms, and glossary term links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Business glossary — term definitions, aliases, business formulas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Articles &amp; knowledge pages linked to catalog objects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Custom fields — business steward, data domain, business segment, etc.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Tags, domains, and compliance classifications (e.g. GDPR / CCPA scoped)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Trust flags — endorse, warn, deprecate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33405C"/>
                </a:solidFill>
                <a:latin typeface="Helvetica Neue"/>
              </a:rPr>
              <a:t>•  Ownership — business &amp; technical stewards on tables, columns, and terms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627632"/>
            <a:ext cx="544068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91072" y="1627632"/>
            <a:ext cx="5440680" cy="566928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62763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IN BUSINESS DATA CATALOG (VIA OMS)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04872"/>
            <a:ext cx="4855464" cy="3611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Table &amp; column descriptions on asset detail (business + technical layers)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Business glossary — terms, definitions, synonyms, linked to catalog assets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Ownership &amp; stewardship — owners, stewards, escalation paths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Tags &amp; classifications — domain, sensitivity, compliance scope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Trust signals — endorse / warn / deprecate on assets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Custom business fields carried from OMS / migration (where modeled)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Provenance badges — who wrote it, when updated, migration vs curated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09AA6"/>
                </a:solidFill>
                <a:latin typeface="Helvetica Neue"/>
              </a:rPr>
              <a:t>▸  </a:t>
            </a:r>
            <a:r>
              <a:rPr sz="1150" b="0" i="0">
                <a:solidFill>
                  <a:srgbClr val="101A2E"/>
                </a:solidFill>
                <a:latin typeface="Helvetica Neue"/>
              </a:rPr>
              <a:t>Policies &amp; defined-vs-observed context (where governance is modeled)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2764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6B778C"/>
                </a:solidFill>
                <a:latin typeface="Helvetica Neue"/>
              </a:rPr>
              <a:t>Navigator  ·  Business Data Catalog  ·  Data Governance  ·  DEEPT ·  2026   | 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6CE0"/>
                </a:solidFill>
                <a:latin typeface="Helvetica Neue"/>
              </a:rP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0350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101A2E"/>
                </a:solidFill>
                <a:latin typeface="Helvetica Neue"/>
              </a:rPr>
              <a:t>MVP: Alation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3739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28016" cy="4526280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B778C"/>
                </a:solidFill>
                <a:latin typeface="Helvetica Neue"/>
              </a:rPr>
              <a:t>Alation Metadata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2764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6B778C"/>
                </a:solidFill>
                <a:latin typeface="Helvetica Neue"/>
              </a:rPr>
              <a:t>Navigator  ·  Business Data Catalog  ·  Data Governance  ·  DEEPT ·  2026   | 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A57D6"/>
                </a:solidFill>
                <a:latin typeface="Helvetica Neue"/>
              </a:rPr>
              <a:t>FUTURE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0350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101A2E"/>
                </a:solidFill>
                <a:latin typeface="Helvetica Neue"/>
              </a:rPr>
              <a:t>Future: Prepopulated descriptions and other metadata automatically from scanning the data sources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4402"/>
            <a:ext cx="11137392" cy="749808"/>
          </a:xfrm>
          <a:prstGeom prst="rect">
            <a:avLst/>
          </a:prstGeom>
          <a:solidFill>
            <a:srgbClr val="EAF0FB"/>
          </a:solidFill>
          <a:ln w="12700">
            <a:solidFill>
              <a:srgbClr val="6A5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04402"/>
            <a:ext cx="128016" cy="749808"/>
          </a:xfrm>
          <a:prstGeom prst="rect">
            <a:avLst/>
          </a:prstGeom>
          <a:solidFill>
            <a:srgbClr val="6A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04402"/>
            <a:ext cx="1060704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 dirty="0">
                <a:solidFill>
                  <a:srgbClr val="101A2E"/>
                </a:solidFill>
                <a:latin typeface="Helvetica Neue"/>
              </a:rPr>
              <a:t>Beyond migration: metadata supply scans source systems and repositories </a:t>
            </a:r>
            <a:r>
              <a:rPr sz="1450" b="0" i="0" dirty="0">
                <a:solidFill>
                  <a:srgbClr val="33405C"/>
                </a:solidFill>
                <a:latin typeface="Helvetica Neue"/>
              </a:rPr>
              <a:t>so stewards start from suggested descriptions and context — not blank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1682"/>
            <a:ext cx="11137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801682"/>
            <a:ext cx="109728" cy="868680"/>
          </a:xfrm>
          <a:prstGeom prst="rect">
            <a:avLst/>
          </a:prstGeom>
          <a:solidFill>
            <a:srgbClr val="2D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0168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 dirty="0">
                <a:solidFill>
                  <a:srgbClr val="101A2E"/>
                </a:solidFill>
                <a:latin typeface="Helvetica Neue"/>
              </a:rPr>
              <a:t>1.  </a:t>
            </a:r>
            <a:r>
              <a:rPr sz="1600" b="0" i="0">
                <a:solidFill>
                  <a:srgbClr val="101A2E"/>
                </a:solidFill>
                <a:latin typeface="Helvetica Neue"/>
              </a:rPr>
              <a:t>Alation Suggest Description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53242"/>
            <a:ext cx="11137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853242"/>
            <a:ext cx="109728" cy="868680"/>
          </a:xfrm>
          <a:prstGeom prst="rect">
            <a:avLst/>
          </a:prstGeom>
          <a:solidFill>
            <a:srgbClr val="10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5324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01A2E"/>
                </a:solidFill>
                <a:latin typeface="Helvetica Neue"/>
              </a:rPr>
              <a:t>2.  626 as possible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04802"/>
            <a:ext cx="111373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904802"/>
            <a:ext cx="109728" cy="868680"/>
          </a:xfrm>
          <a:prstGeom prst="rect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0480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01A2E"/>
                </a:solidFill>
                <a:latin typeface="Helvetica Neue"/>
              </a:rPr>
              <a:t>3.  Other possible options (Tech team — TBD)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614730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6B778C"/>
                </a:solidFill>
                <a:latin typeface="Helvetica Neue"/>
              </a:rPr>
              <a:t>Navigator  ·  Business Data Catalog  ·  Data Governance  ·  DEEPT ·  2026   | 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F9D6B"/>
                </a:solidFill>
                <a:latin typeface="Helvetica Neue"/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0350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101A2E"/>
                </a:solidFill>
                <a:latin typeface="Helvetica Neue"/>
              </a:rPr>
              <a:t>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13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28016" cy="4160520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405C"/>
                </a:solidFill>
                <a:latin typeface="Helvetica Neue"/>
              </a:rPr>
              <a:t>Prioritized issues, use cases, and persona context from Alation interviews and OMS migration discussions.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01A2E"/>
                </a:solidFill>
                <a:latin typeface="Helvetica Neue"/>
              </a:rPr>
              <a:t>Full personas &amp; use-case 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2D6CE0"/>
                </a:solidFill>
                <a:latin typeface="Helvetica Neue"/>
                <a:hlinkClick r:id="rId2"/>
              </a:rPr>
              <a:t>Alation_Prioritized_Issues_and_Use_Cases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B778C"/>
                </a:solidFill>
                <a:latin typeface="Helvetica Neue"/>
                <a:hlinkClick r:id="rId2"/>
              </a:rPr>
              <a:t>https://docs.google.com/document/d/1PPIbiore1hCrWVSgmGtvCBqVYW4AzB5LzugbKPrCGo4/edit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2764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6B778C"/>
                </a:solidFill>
                <a:latin typeface="Helvetica Neue"/>
              </a:rPr>
              <a:t>Navigator  ·  Business Data Catalog  ·  Data Governance  ·  DEEPT ·  2026   | 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109728"/>
          </a:xfrm>
          <a:prstGeom prst="rect">
            <a:avLst/>
          </a:prstGeom>
          <a:solidFill>
            <a:srgbClr val="10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23317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5400" b="1" i="0">
                <a:solidFill>
                  <a:srgbClr val="101A2E"/>
                </a:solidFill>
                <a:latin typeface="Helvetica Neue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3112" cy="12700"/>
          </a:xfrm>
          <a:prstGeom prst="rect">
            <a:avLst/>
          </a:prstGeom>
          <a:solidFill>
            <a:srgbClr val="DD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6B778C"/>
                </a:solidFill>
                <a:latin typeface="Helvetica Neue"/>
              </a:rPr>
              <a:t>Navigator  ·  Business Data Catalog  ·  Data Governance  ·  DEEPT ·  2026   |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Macintosh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Fong, Jonathan</cp:lastModifiedBy>
  <cp:revision>1</cp:revision>
  <dcterms:created xsi:type="dcterms:W3CDTF">2013-01-27T09:14:16Z</dcterms:created>
  <dcterms:modified xsi:type="dcterms:W3CDTF">2026-07-21T14:56:07Z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2026-07-21T14:56:07Z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74d11b00-87bb-448b-b52d-6e86f033acaa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