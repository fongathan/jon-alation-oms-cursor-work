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4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57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965C1-12A9-C747-8150-51A95FB47D43}" v="5" dt="2026-07-20T21:12:47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1"/>
    <p:restoredTop sz="94556"/>
  </p:normalViewPr>
  <p:slideViewPr>
    <p:cSldViewPr snapToGrid="0" snapToObjects="1">
      <p:cViewPr varScale="1">
        <p:scale>
          <a:sx n="82" d="100"/>
          <a:sy n="82" d="100"/>
        </p:scale>
        <p:origin x="192" y="8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Jonathan" userId="0cc39b96-2237-44f8-9550-021b28199d5c" providerId="ADAL" clId="{2094E037-4A7F-5C4C-9C02-6D32C9564D5D}"/>
    <pc:docChg chg="undo redo custSel mod addSld modSld sldOrd">
      <pc:chgData name="Fong, Jonathan" userId="0cc39b96-2237-44f8-9550-021b28199d5c" providerId="ADAL" clId="{2094E037-4A7F-5C4C-9C02-6D32C9564D5D}" dt="2026-07-20T21:13:33.513" v="1128" actId="20577"/>
      <pc:docMkLst>
        <pc:docMk/>
      </pc:docMkLst>
      <pc:sldChg chg="modSp mod">
        <pc:chgData name="Fong, Jonathan" userId="0cc39b96-2237-44f8-9550-021b28199d5c" providerId="ADAL" clId="{2094E037-4A7F-5C4C-9C02-6D32C9564D5D}" dt="2026-07-20T21:03:15.790" v="736" actId="1035"/>
        <pc:sldMkLst>
          <pc:docMk/>
          <pc:sldMk cId="0" sldId="256"/>
        </pc:sldMkLst>
        <pc:spChg chg="mod">
          <ac:chgData name="Fong, Jonathan" userId="0cc39b96-2237-44f8-9550-021b28199d5c" providerId="ADAL" clId="{2094E037-4A7F-5C4C-9C02-6D32C9564D5D}" dt="2026-07-20T21:02:20.473" v="59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03:15.790" v="736" actId="1035"/>
          <ac:spMkLst>
            <pc:docMk/>
            <pc:sldMk cId="0" sldId="256"/>
            <ac:spMk id="4" creationId="{00000000-0000-0000-0000-000000000000}"/>
          </ac:spMkLst>
        </pc:spChg>
      </pc:sldChg>
      <pc:sldChg chg="ord">
        <pc:chgData name="Fong, Jonathan" userId="0cc39b96-2237-44f8-9550-021b28199d5c" providerId="ADAL" clId="{2094E037-4A7F-5C4C-9C02-6D32C9564D5D}" dt="2026-07-20T20:51:13.006" v="5" actId="20578"/>
        <pc:sldMkLst>
          <pc:docMk/>
          <pc:sldMk cId="0" sldId="257"/>
        </pc:sldMkLst>
      </pc:sldChg>
      <pc:sldChg chg="modSp mod ord">
        <pc:chgData name="Fong, Jonathan" userId="0cc39b96-2237-44f8-9550-021b28199d5c" providerId="ADAL" clId="{2094E037-4A7F-5C4C-9C02-6D32C9564D5D}" dt="2026-07-20T21:11:08.614" v="993" actId="1076"/>
        <pc:sldMkLst>
          <pc:docMk/>
          <pc:sldMk cId="0" sldId="259"/>
        </pc:sldMkLst>
        <pc:spChg chg="mod">
          <ac:chgData name="Fong, Jonathan" userId="0cc39b96-2237-44f8-9550-021b28199d5c" providerId="ADAL" clId="{2094E037-4A7F-5C4C-9C02-6D32C9564D5D}" dt="2026-07-20T21:11:08.614" v="993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06:50.941" v="977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Fong, Jonathan" userId="0cc39b96-2237-44f8-9550-021b28199d5c" providerId="ADAL" clId="{2094E037-4A7F-5C4C-9C02-6D32C9564D5D}" dt="2026-07-20T21:12:08.161" v="1037" actId="20577"/>
        <pc:sldMkLst>
          <pc:docMk/>
          <pc:sldMk cId="0" sldId="261"/>
        </pc:sldMkLst>
        <pc:spChg chg="mod">
          <ac:chgData name="Fong, Jonathan" userId="0cc39b96-2237-44f8-9550-021b28199d5c" providerId="ADAL" clId="{2094E037-4A7F-5C4C-9C02-6D32C9564D5D}" dt="2026-07-20T21:12:08.161" v="1037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11:39.662" v="1015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11:55.453" v="1028" actId="103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11:51.564" v="1025" actId="103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11:51.564" v="1025" actId="1036"/>
          <ac:spMkLst>
            <pc:docMk/>
            <pc:sldMk cId="0" sldId="261"/>
            <ac:spMk id="16" creationId="{00000000-0000-0000-0000-000000000000}"/>
          </ac:spMkLst>
        </pc:spChg>
      </pc:sldChg>
      <pc:sldChg chg="addSp delSp modSp add mod">
        <pc:chgData name="Fong, Jonathan" userId="0cc39b96-2237-44f8-9550-021b28199d5c" providerId="ADAL" clId="{2094E037-4A7F-5C4C-9C02-6D32C9564D5D}" dt="2026-07-20T21:07:23.257" v="985" actId="1036"/>
        <pc:sldMkLst>
          <pc:docMk/>
          <pc:sldMk cId="3763815092" sldId="274"/>
        </pc:sldMkLst>
        <pc:spChg chg="mod">
          <ac:chgData name="Fong, Jonathan" userId="0cc39b96-2237-44f8-9550-021b28199d5c" providerId="ADAL" clId="{2094E037-4A7F-5C4C-9C02-6D32C9564D5D}" dt="2026-07-20T21:03:30.788" v="755" actId="20577"/>
          <ac:spMkLst>
            <pc:docMk/>
            <pc:sldMk cId="3763815092" sldId="274"/>
            <ac:spMk id="3" creationId="{28531398-A7AC-EE4D-6309-701CADCC8755}"/>
          </ac:spMkLst>
        </pc:spChg>
        <pc:spChg chg="del">
          <ac:chgData name="Fong, Jonathan" userId="0cc39b96-2237-44f8-9550-021b28199d5c" providerId="ADAL" clId="{2094E037-4A7F-5C4C-9C02-6D32C9564D5D}" dt="2026-07-20T21:04:39.765" v="824" actId="478"/>
          <ac:spMkLst>
            <pc:docMk/>
            <pc:sldMk cId="3763815092" sldId="274"/>
            <ac:spMk id="5" creationId="{1637BAE6-5386-5218-1A47-22318003D58A}"/>
          </ac:spMkLst>
        </pc:spChg>
        <pc:spChg chg="mod">
          <ac:chgData name="Fong, Jonathan" userId="0cc39b96-2237-44f8-9550-021b28199d5c" providerId="ADAL" clId="{2094E037-4A7F-5C4C-9C02-6D32C9564D5D}" dt="2026-07-20T20:57:27.884" v="131" actId="20577"/>
          <ac:spMkLst>
            <pc:docMk/>
            <pc:sldMk cId="3763815092" sldId="274"/>
            <ac:spMk id="7" creationId="{34F9BAC8-FB01-6AD8-D637-DE280680536E}"/>
          </ac:spMkLst>
        </pc:spChg>
        <pc:spChg chg="mod">
          <ac:chgData name="Fong, Jonathan" userId="0cc39b96-2237-44f8-9550-021b28199d5c" providerId="ADAL" clId="{2094E037-4A7F-5C4C-9C02-6D32C9564D5D}" dt="2026-07-20T20:58:35.529" v="159" actId="20577"/>
          <ac:spMkLst>
            <pc:docMk/>
            <pc:sldMk cId="3763815092" sldId="274"/>
            <ac:spMk id="8" creationId="{8DBCAA41-91DD-929A-B181-00F0DDB0BE9D}"/>
          </ac:spMkLst>
        </pc:spChg>
        <pc:spChg chg="mod">
          <ac:chgData name="Fong, Jonathan" userId="0cc39b96-2237-44f8-9550-021b28199d5c" providerId="ADAL" clId="{2094E037-4A7F-5C4C-9C02-6D32C9564D5D}" dt="2026-07-20T21:03:52.553" v="808" actId="20577"/>
          <ac:spMkLst>
            <pc:docMk/>
            <pc:sldMk cId="3763815092" sldId="274"/>
            <ac:spMk id="9" creationId="{969C85D5-5685-28E2-6B8D-A6322263D3D9}"/>
          </ac:spMkLst>
        </pc:spChg>
        <pc:spChg chg="mod">
          <ac:chgData name="Fong, Jonathan" userId="0cc39b96-2237-44f8-9550-021b28199d5c" providerId="ADAL" clId="{2094E037-4A7F-5C4C-9C02-6D32C9564D5D}" dt="2026-07-20T20:58:53.725" v="195" actId="20577"/>
          <ac:spMkLst>
            <pc:docMk/>
            <pc:sldMk cId="3763815092" sldId="274"/>
            <ac:spMk id="11" creationId="{2021D509-EC17-9BA5-8373-188409BBA338}"/>
          </ac:spMkLst>
        </pc:spChg>
        <pc:spChg chg="del mod">
          <ac:chgData name="Fong, Jonathan" userId="0cc39b96-2237-44f8-9550-021b28199d5c" providerId="ADAL" clId="{2094E037-4A7F-5C4C-9C02-6D32C9564D5D}" dt="2026-07-20T21:04:10.327" v="812"/>
          <ac:spMkLst>
            <pc:docMk/>
            <pc:sldMk cId="3763815092" sldId="274"/>
            <ac:spMk id="12" creationId="{783081EF-3740-CF00-7C8D-113CC5BFE81F}"/>
          </ac:spMkLst>
        </pc:spChg>
        <pc:spChg chg="mod">
          <ac:chgData name="Fong, Jonathan" userId="0cc39b96-2237-44f8-9550-021b28199d5c" providerId="ADAL" clId="{2094E037-4A7F-5C4C-9C02-6D32C9564D5D}" dt="2026-07-20T20:59:25.825" v="253" actId="20577"/>
          <ac:spMkLst>
            <pc:docMk/>
            <pc:sldMk cId="3763815092" sldId="274"/>
            <ac:spMk id="13" creationId="{6886A080-F4E0-8789-A2D5-12E478B71BA4}"/>
          </ac:spMkLst>
        </pc:spChg>
        <pc:spChg chg="mod">
          <ac:chgData name="Fong, Jonathan" userId="0cc39b96-2237-44f8-9550-021b28199d5c" providerId="ADAL" clId="{2094E037-4A7F-5C4C-9C02-6D32C9564D5D}" dt="2026-07-20T21:04:44.262" v="838" actId="20577"/>
          <ac:spMkLst>
            <pc:docMk/>
            <pc:sldMk cId="3763815092" sldId="274"/>
            <ac:spMk id="15" creationId="{D04197F9-9FA5-F5A9-082F-4AB658F40738}"/>
          </ac:spMkLst>
        </pc:spChg>
        <pc:spChg chg="mod">
          <ac:chgData name="Fong, Jonathan" userId="0cc39b96-2237-44f8-9550-021b28199d5c" providerId="ADAL" clId="{2094E037-4A7F-5C4C-9C02-6D32C9564D5D}" dt="2026-07-20T21:05:17.734" v="908" actId="20577"/>
          <ac:spMkLst>
            <pc:docMk/>
            <pc:sldMk cId="3763815092" sldId="274"/>
            <ac:spMk id="16" creationId="{AAC5FDD7-D6D9-3CCE-D66B-87B17E530270}"/>
          </ac:spMkLst>
        </pc:spChg>
        <pc:spChg chg="mod">
          <ac:chgData name="Fong, Jonathan" userId="0cc39b96-2237-44f8-9550-021b28199d5c" providerId="ADAL" clId="{2094E037-4A7F-5C4C-9C02-6D32C9564D5D}" dt="2026-07-20T21:07:23.257" v="985" actId="1036"/>
          <ac:spMkLst>
            <pc:docMk/>
            <pc:sldMk cId="3763815092" sldId="274"/>
            <ac:spMk id="17" creationId="{BA17A7AD-DACC-8984-5F9F-540ADF35A7C7}"/>
          </ac:spMkLst>
        </pc:spChg>
        <pc:spChg chg="mod">
          <ac:chgData name="Fong, Jonathan" userId="0cc39b96-2237-44f8-9550-021b28199d5c" providerId="ADAL" clId="{2094E037-4A7F-5C4C-9C02-6D32C9564D5D}" dt="2026-07-20T21:05:47.821" v="973" actId="20577"/>
          <ac:spMkLst>
            <pc:docMk/>
            <pc:sldMk cId="3763815092" sldId="274"/>
            <ac:spMk id="19" creationId="{E5AFE10E-746A-059D-F836-A9E72522294E}"/>
          </ac:spMkLst>
        </pc:spChg>
        <pc:spChg chg="add mod">
          <ac:chgData name="Fong, Jonathan" userId="0cc39b96-2237-44f8-9550-021b28199d5c" providerId="ADAL" clId="{2094E037-4A7F-5C4C-9C02-6D32C9564D5D}" dt="2026-07-20T21:04:25.381" v="823" actId="20577"/>
          <ac:spMkLst>
            <pc:docMk/>
            <pc:sldMk cId="3763815092" sldId="274"/>
            <ac:spMk id="20" creationId="{FEA08D20-A2E9-11CA-C172-166A85C5F878}"/>
          </ac:spMkLst>
        </pc:spChg>
      </pc:sldChg>
      <pc:sldChg chg="modSp add mod">
        <pc:chgData name="Fong, Jonathan" userId="0cc39b96-2237-44f8-9550-021b28199d5c" providerId="ADAL" clId="{2094E037-4A7F-5C4C-9C02-6D32C9564D5D}" dt="2026-07-20T21:13:33.513" v="1128" actId="20577"/>
        <pc:sldMkLst>
          <pc:docMk/>
          <pc:sldMk cId="290946349" sldId="275"/>
        </pc:sldMkLst>
        <pc:spChg chg="mod">
          <ac:chgData name="Fong, Jonathan" userId="0cc39b96-2237-44f8-9550-021b28199d5c" providerId="ADAL" clId="{2094E037-4A7F-5C4C-9C02-6D32C9564D5D}" dt="2026-07-20T21:12:53.668" v="1050" actId="20577"/>
          <ac:spMkLst>
            <pc:docMk/>
            <pc:sldMk cId="290946349" sldId="275"/>
            <ac:spMk id="3" creationId="{29A0FCB6-9459-D389-2BEF-35C7DE165B92}"/>
          </ac:spMkLst>
        </pc:spChg>
        <pc:spChg chg="mod">
          <ac:chgData name="Fong, Jonathan" userId="0cc39b96-2237-44f8-9550-021b28199d5c" providerId="ADAL" clId="{2094E037-4A7F-5C4C-9C02-6D32C9564D5D}" dt="2026-07-20T21:12:59.285" v="1064" actId="20577"/>
          <ac:spMkLst>
            <pc:docMk/>
            <pc:sldMk cId="290946349" sldId="275"/>
            <ac:spMk id="7" creationId="{5D07E49B-5650-56EE-DF0D-C1072853903A}"/>
          </ac:spMkLst>
        </pc:spChg>
        <pc:spChg chg="mod">
          <ac:chgData name="Fong, Jonathan" userId="0cc39b96-2237-44f8-9550-021b28199d5c" providerId="ADAL" clId="{2094E037-4A7F-5C4C-9C02-6D32C9564D5D}" dt="2026-07-20T21:13:33.513" v="1128" actId="20577"/>
          <ac:spMkLst>
            <pc:docMk/>
            <pc:sldMk cId="290946349" sldId="275"/>
            <ac:spMk id="8" creationId="{3833C9AE-4F7F-A8F9-FF1B-3F32E759C13D}"/>
          </ac:spMkLst>
        </pc:spChg>
        <pc:spChg chg="mod">
          <ac:chgData name="Fong, Jonathan" userId="0cc39b96-2237-44f8-9550-021b28199d5c" providerId="ADAL" clId="{2094E037-4A7F-5C4C-9C02-6D32C9564D5D}" dt="2026-07-20T21:13:09.731" v="1069" actId="20577"/>
          <ac:spMkLst>
            <pc:docMk/>
            <pc:sldMk cId="290946349" sldId="275"/>
            <ac:spMk id="11" creationId="{A3E9A7B7-A825-4DB5-00B6-52F09AB7B5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84133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0">
                <a:solidFill>
                  <a:srgbClr val="FFFFFF"/>
                </a:solidFill>
                <a:latin typeface="Calibri Light"/>
              </a:defRPr>
            </a:pPr>
            <a:r>
              <a:rPr lang="en-US" dirty="0"/>
              <a:t>Clarifying Unity Catalog and Internal systems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02427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4748B"/>
                </a:solidFill>
                <a:latin typeface="Calibri"/>
              </a:defRPr>
            </a:pPr>
            <a:r>
              <a:rPr lang="en-US" dirty="0"/>
              <a:t>Why integration is preferred to using Unity Catalog in place of internal systems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E2C1B-F070-AC75-A828-E8FD223F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ED826F-9416-3F78-A08E-5FE8205969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0FCB6-9459-D389-2BEF-35C7DE165B92}"/>
              </a:ext>
            </a:extLst>
          </p:cNvPr>
          <p:cNvSpPr txBox="1"/>
          <p:nvPr/>
        </p:nvSpPr>
        <p:spPr>
          <a:xfrm>
            <a:off x="411480" y="256032"/>
            <a:ext cx="182030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 lang="en-US" dirty="0"/>
              <a:t>Three Points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67412-094E-F06F-2AAA-63DF00C89287}"/>
              </a:ext>
            </a:extLst>
          </p:cNvPr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D0A157-C8C3-3506-6990-5E019211AB23}"/>
              </a:ext>
            </a:extLst>
          </p:cNvPr>
          <p:cNvSpPr/>
          <p:nvPr/>
        </p:nvSpPr>
        <p:spPr>
          <a:xfrm>
            <a:off x="411480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7E49B-5650-56EE-DF0D-C1072853903A}"/>
              </a:ext>
            </a:extLst>
          </p:cNvPr>
          <p:cNvSpPr txBox="1"/>
          <p:nvPr/>
        </p:nvSpPr>
        <p:spPr>
          <a:xfrm>
            <a:off x="539496" y="1252728"/>
            <a:ext cx="14389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Vendor Lock in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3C9AE-4F7F-A8F9-FF1B-3F32E759C13D}"/>
              </a:ext>
            </a:extLst>
          </p:cNvPr>
          <p:cNvSpPr txBox="1"/>
          <p:nvPr/>
        </p:nvSpPr>
        <p:spPr>
          <a:xfrm>
            <a:off x="539496" y="1600200"/>
            <a:ext cx="3355848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Unity Catalog is one platform of many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lang="en-US"/>
              <a:t>Integration 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Governed Data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4260A-9556-F635-1F49-81EEF8262301}"/>
              </a:ext>
            </a:extLst>
          </p:cNvPr>
          <p:cNvSpPr txBox="1"/>
          <p:nvPr/>
        </p:nvSpPr>
        <p:spPr>
          <a:xfrm>
            <a:off x="502920" y="4160520"/>
            <a:ext cx="24559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Low Adoption on single platform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3E0630-B3F9-A0E3-16A2-8F1F5D8024BD}"/>
              </a:ext>
            </a:extLst>
          </p:cNvPr>
          <p:cNvSpPr/>
          <p:nvPr/>
        </p:nvSpPr>
        <p:spPr>
          <a:xfrm>
            <a:off x="4297680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9A7B7-A825-4DB5-00B6-52F09AB7B589}"/>
              </a:ext>
            </a:extLst>
          </p:cNvPr>
          <p:cNvSpPr txBox="1"/>
          <p:nvPr/>
        </p:nvSpPr>
        <p:spPr>
          <a:xfrm>
            <a:off x="4425696" y="1252728"/>
            <a:ext cx="6479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rPr lang="en-US" dirty="0"/>
              <a:t>Unity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54E5FF-F173-5E0E-A952-6BA888CDB1A1}"/>
              </a:ext>
            </a:extLst>
          </p:cNvPr>
          <p:cNvSpPr txBox="1"/>
          <p:nvPr/>
        </p:nvSpPr>
        <p:spPr>
          <a:xfrm>
            <a:off x="4425696" y="1661362"/>
            <a:ext cx="33558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No visibility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No search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No context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3F8654-A224-3F2E-9051-E0724703D0F4}"/>
              </a:ext>
            </a:extLst>
          </p:cNvPr>
          <p:cNvSpPr/>
          <p:nvPr/>
        </p:nvSpPr>
        <p:spPr>
          <a:xfrm>
            <a:off x="8183879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CBD0A-3F9B-F554-992D-2EB74456DBF8}"/>
              </a:ext>
            </a:extLst>
          </p:cNvPr>
          <p:cNvSpPr txBox="1"/>
          <p:nvPr/>
        </p:nvSpPr>
        <p:spPr>
          <a:xfrm>
            <a:off x="8311895" y="1252728"/>
            <a:ext cx="14373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rPr lang="en-US" dirty="0"/>
              <a:t>Business Users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E4B820-3861-5C6E-B0A4-76D3B43718C4}"/>
              </a:ext>
            </a:extLst>
          </p:cNvPr>
          <p:cNvSpPr txBox="1"/>
          <p:nvPr/>
        </p:nvSpPr>
        <p:spPr>
          <a:xfrm>
            <a:off x="8311895" y="1600200"/>
            <a:ext cx="3355848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Analysts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</a:t>
            </a:r>
            <a:r>
              <a:rPr lang="en-US" dirty="0"/>
              <a:t> Data Scientists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lang="en-US" dirty="0"/>
              <a:t>• Business Managers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06384-4882-35D1-8238-549812DB5550}"/>
              </a:ext>
            </a:extLst>
          </p:cNvPr>
          <p:cNvSpPr txBox="1"/>
          <p:nvPr/>
        </p:nvSpPr>
        <p:spPr>
          <a:xfrm>
            <a:off x="8311895" y="4133628"/>
            <a:ext cx="89018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Lost Value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94EEC0E-E77D-9FF2-A9E3-40C3A75F9A22}"/>
              </a:ext>
            </a:extLst>
          </p:cNvPr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9B956-4372-F2D5-66EB-CF847438B607}"/>
              </a:ext>
            </a:extLst>
          </p:cNvPr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rPr lang="en-US" dirty="0"/>
              <a:t>If they can’t find it, it does not exist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294A2-05E8-9E7F-3A88-31C6D0B6F8A8}"/>
              </a:ext>
            </a:extLst>
          </p:cNvPr>
          <p:cNvSpPr txBox="1"/>
          <p:nvPr/>
        </p:nvSpPr>
        <p:spPr>
          <a:xfrm>
            <a:off x="4434840" y="4160520"/>
            <a:ext cx="107439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Unused Data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94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0B5E-30A9-BAB0-0092-F0680ACC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A5771-C20E-0FAB-2D60-7E6B3ACECE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31398-A7AC-EE4D-6309-701CADCC8755}"/>
              </a:ext>
            </a:extLst>
          </p:cNvPr>
          <p:cNvSpPr txBox="1"/>
          <p:nvPr/>
        </p:nvSpPr>
        <p:spPr>
          <a:xfrm>
            <a:off x="411480" y="256032"/>
            <a:ext cx="553510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 lang="en-US" dirty="0"/>
              <a:t>Main Issue: Data Needs to be Discovered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7E7FA-0737-CA46-071B-AE2309352B71}"/>
              </a:ext>
            </a:extLst>
          </p:cNvPr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88A4EE-D4F1-1619-5196-0135AE6F7750}"/>
              </a:ext>
            </a:extLst>
          </p:cNvPr>
          <p:cNvSpPr/>
          <p:nvPr/>
        </p:nvSpPr>
        <p:spPr>
          <a:xfrm>
            <a:off x="411480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9BAC8-FB01-6AD8-D637-DE280680536E}"/>
              </a:ext>
            </a:extLst>
          </p:cNvPr>
          <p:cNvSpPr txBox="1"/>
          <p:nvPr/>
        </p:nvSpPr>
        <p:spPr>
          <a:xfrm>
            <a:off x="539496" y="1252728"/>
            <a:ext cx="18716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Lakehouse Platform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CAA41-91DD-929A-B181-00F0DDB0BE9D}"/>
              </a:ext>
            </a:extLst>
          </p:cNvPr>
          <p:cNvSpPr txBox="1"/>
          <p:nvPr/>
        </p:nvSpPr>
        <p:spPr>
          <a:xfrm>
            <a:off x="539496" y="1600200"/>
            <a:ext cx="33558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Tables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Pipelines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Governed Data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C85D5-5685-28E2-6B8D-A6322263D3D9}"/>
              </a:ext>
            </a:extLst>
          </p:cNvPr>
          <p:cNvSpPr txBox="1"/>
          <p:nvPr/>
        </p:nvSpPr>
        <p:spPr>
          <a:xfrm>
            <a:off x="502920" y="4160520"/>
            <a:ext cx="24559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Low Adoption on single platform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1F28A2-4594-A609-FACA-89C2D722A898}"/>
              </a:ext>
            </a:extLst>
          </p:cNvPr>
          <p:cNvSpPr/>
          <p:nvPr/>
        </p:nvSpPr>
        <p:spPr>
          <a:xfrm>
            <a:off x="4297680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1D509-EC17-9BA5-8373-188409BBA338}"/>
              </a:ext>
            </a:extLst>
          </p:cNvPr>
          <p:cNvSpPr txBox="1"/>
          <p:nvPr/>
        </p:nvSpPr>
        <p:spPr>
          <a:xfrm>
            <a:off x="4425696" y="1252728"/>
            <a:ext cx="225792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rPr lang="en-US" dirty="0"/>
              <a:t>Issue with not Discovery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6A080-F4E0-8789-A2D5-12E478B71BA4}"/>
              </a:ext>
            </a:extLst>
          </p:cNvPr>
          <p:cNvSpPr txBox="1"/>
          <p:nvPr/>
        </p:nvSpPr>
        <p:spPr>
          <a:xfrm>
            <a:off x="4425696" y="1661362"/>
            <a:ext cx="33558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No visibility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No search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No context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05E1D7D-1185-21CD-F750-A2982A067599}"/>
              </a:ext>
            </a:extLst>
          </p:cNvPr>
          <p:cNvSpPr/>
          <p:nvPr/>
        </p:nvSpPr>
        <p:spPr>
          <a:xfrm>
            <a:off x="8183879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197F9-9FA5-F5A9-082F-4AB658F40738}"/>
              </a:ext>
            </a:extLst>
          </p:cNvPr>
          <p:cNvSpPr txBox="1"/>
          <p:nvPr/>
        </p:nvSpPr>
        <p:spPr>
          <a:xfrm>
            <a:off x="8311895" y="1252728"/>
            <a:ext cx="14373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rPr lang="en-US" dirty="0"/>
              <a:t>Business Users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C5FDD7-D6D9-3CCE-D66B-87B17E530270}"/>
              </a:ext>
            </a:extLst>
          </p:cNvPr>
          <p:cNvSpPr txBox="1"/>
          <p:nvPr/>
        </p:nvSpPr>
        <p:spPr>
          <a:xfrm>
            <a:off x="8311895" y="1600200"/>
            <a:ext cx="3355848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</a:t>
            </a:r>
            <a:r>
              <a:rPr lang="en-US" dirty="0"/>
              <a:t>Analysts</a:t>
            </a:r>
            <a:endParaRPr dirty="0"/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</a:t>
            </a:r>
            <a:r>
              <a:rPr lang="en-US" dirty="0"/>
              <a:t> Data Scientists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lang="en-US" dirty="0"/>
              <a:t>• Business Managers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17A7AD-DACC-8984-5F9F-540ADF35A7C7}"/>
              </a:ext>
            </a:extLst>
          </p:cNvPr>
          <p:cNvSpPr txBox="1"/>
          <p:nvPr/>
        </p:nvSpPr>
        <p:spPr>
          <a:xfrm>
            <a:off x="8311895" y="4133628"/>
            <a:ext cx="89018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Lost Value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D63D4CB-C6B5-322A-514F-691340C81FCC}"/>
              </a:ext>
            </a:extLst>
          </p:cNvPr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AFE10E-746A-059D-F836-A9E72522294E}"/>
              </a:ext>
            </a:extLst>
          </p:cNvPr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rPr lang="en-US" dirty="0"/>
              <a:t>If they can’t find it, it does not exist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08D20-A2E9-11CA-C172-166A85C5F878}"/>
              </a:ext>
            </a:extLst>
          </p:cNvPr>
          <p:cNvSpPr txBox="1"/>
          <p:nvPr/>
        </p:nvSpPr>
        <p:spPr>
          <a:xfrm>
            <a:off x="4434840" y="4160520"/>
            <a:ext cx="107439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lang="en-US" dirty="0"/>
              <a:t>Unused Data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381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From Manual Discovery to Automated Data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89611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Lakehouse · Pipelines · Data Assets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9496" y="125272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Manual Discovery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00200"/>
            <a:ext cx="335584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Manual Wikis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Documentation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Word of Mouth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875661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Calibri"/>
              </a:defRPr>
            </a:pPr>
            <a:r>
              <a:rPr dirty="0"/>
              <a:t>Stale, Incomplete, Non-Scalable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5696" y="125272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Unity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60020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2563EB"/>
                </a:solidFill>
                <a:latin typeface="Calibri"/>
              </a:defRPr>
            </a:pPr>
            <a:r>
              <a:t>CONTROL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856232"/>
            <a:ext cx="335584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Metadata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Access Policies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143000"/>
            <a:ext cx="3611880" cy="3520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5" y="125272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Automated Discovery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5" y="1600200"/>
            <a:ext cx="33558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Alation — Search · Glossary ·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79476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Real-Time · Governed · Searchable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Automated Discovery Replaces Manual Knowledge with Governed Metadata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0">
                <a:solidFill>
                  <a:srgbClr val="FFFFFF"/>
                </a:solidFill>
                <a:latin typeface="Calibri Light"/>
              </a:defRPr>
            </a:pPr>
            <a:r>
              <a:t>Automated Data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4748B"/>
                </a:solidFill>
                <a:latin typeface="Calibri"/>
              </a:defRPr>
            </a:pPr>
            <a:r>
              <a:t>How Unity Catalog generates metadata — and why that still feeds enterprise catalogs.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What Automated Data Discovery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DATA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Tables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Pipelines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AUTOMATED DISCOVERY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Active Metadata Engine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 Capture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Recording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Classification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Asset Indexing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ORGANIZATIONAL KNOWLEDGE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Searchable Data Ecosystem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Discovered Assets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Trusted 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Business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Continuous Discovery · Context-Aware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Discovery Transforms Technical Assets into Organizational Knowledge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Convergence: Platform Governance vs Enterprise Catalogs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5349240" cy="2697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509320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Unity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5093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 Management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Access Control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Tracking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Auditing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28232" y="960120"/>
            <a:ext cx="5349240" cy="2697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248" y="1069848"/>
            <a:ext cx="8463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lang="en-US" dirty="0"/>
              <a:t> </a:t>
            </a:r>
            <a:r>
              <a:rPr dirty="0"/>
              <a:t>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417320"/>
            <a:ext cx="509320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Glossary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Search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Discovery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3840479"/>
            <a:ext cx="6080760" cy="1600201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3959352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Calibri"/>
              </a:defRPr>
            </a:pPr>
            <a:r>
              <a:t>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25112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5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Metadata</a:t>
            </a:r>
          </a:p>
          <a:p>
            <a:pPr>
              <a:spcBef>
                <a:spcPts val="300"/>
              </a:spcBef>
              <a:defRPr sz="15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Lineage</a:t>
            </a:r>
          </a:p>
          <a:p>
            <a:pPr>
              <a:spcBef>
                <a:spcPts val="300"/>
              </a:spcBef>
              <a:defRPr sz="1500" b="0">
                <a:solidFill>
                  <a:srgbClr val="1E293B"/>
                </a:solidFill>
                <a:latin typeface="Calibri"/>
              </a:defRPr>
            </a:pPr>
            <a:r>
              <a:rPr dirty="0"/>
              <a:t>• Discovery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138771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alibri"/>
              </a:defRPr>
            </a:pPr>
            <a:r>
              <a:rPr dirty="0"/>
              <a:t>Growing Capability Convergence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604957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" y="574699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Platform-Native Governance Begins to Overlap with External Catalog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Data Discovery with Trust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DATA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Datasets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Dashboards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ML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SEARCH &amp; DISCOVERY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Enterprise Search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Unified Search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TRUST EVALUATION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Certifications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Popularity Metrics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5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Trust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Reliable Data Selection · Confidence in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Discovery is Guided by Trust Signals — Not Just Search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Turning Data into Business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DISCOVERED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Assets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Datasets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Tables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CONTEXT ENRICHMENT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Business Context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Domains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Tags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Descriptions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USER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Business-Friendly 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Clear Meaning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Usable Insights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Context-Aware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Improved Understanding · Faster Decision-Making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Context Transforms Data into Meaningful Knowledge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Active Metadata: From Internal Signals to Enterprise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DATA PLATFORM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Query Execution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Table Usage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Schema 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Operational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UNITY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41732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9488"/>
                </a:solidFill>
                <a:latin typeface="Calibri"/>
              </a:defRPr>
            </a:pPr>
            <a:r>
              <a:t>ACTIVE METADATA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673352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Continuous Metadata Generation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Usage Signals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Access Patterns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Automated Metadata Synchronization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ENTERPRISE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Atlan / Alation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Governance Systems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Discovery Platforms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5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Enterprise Metadata Consumers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200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Real-time Visibility · Enterprise-Wide Discovery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Metadata Becomes Valuable Only When Activated Beyond the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0">
                <a:solidFill>
                  <a:srgbClr val="FFFFFF"/>
                </a:solidFill>
                <a:latin typeface="Calibri Light"/>
              </a:defRPr>
            </a:pPr>
            <a:r>
              <a:t>Why Dedicated Enterprise Catalog?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4748B"/>
                </a:solidFill>
                <a:latin typeface="Calibri"/>
              </a:defRPr>
            </a:pPr>
            <a:r>
              <a:t>What external catalogs solve that Unity Catalog alone does not — federation, adoption, workflows, and end-to-end lineage.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Do We Still Need Enterprise Data Catalogs?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977639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7216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Unity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72160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Access Control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Auditing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3858768"/>
            <a:ext cx="372160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Platform-Native 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9831" y="960120"/>
            <a:ext cx="3977639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27847" y="1069848"/>
            <a:ext cx="372160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Atlan / 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417320"/>
            <a:ext cx="372160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Search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Discovery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Glossary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7" y="3858768"/>
            <a:ext cx="372160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External Catalog Platforms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463040"/>
            <a:ext cx="2926080" cy="141732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618488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Why Both?</a:t>
            </a:r>
          </a:p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What Problem Do External Catalogs Solve?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017520"/>
            <a:ext cx="2926080" cy="50292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3108960"/>
            <a:ext cx="2651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alibri"/>
              </a:defRPr>
            </a:pPr>
            <a:r>
              <a:t>Capability Overlap Emerging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07492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184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Architectural Decisions Begin with the Right Question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Why Enterprise Catalogs Were Created: Federation of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Distributed Enterprise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SAP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Oracle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Snowflake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ETL Tools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BI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Fragmented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Enterprise Data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41732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9488"/>
                </a:solidFill>
                <a:latin typeface="Calibri"/>
              </a:defRPr>
            </a:pPr>
            <a:r>
              <a:t>Federation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673352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 Aggregation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Cross-System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Federation — Not Just Governance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Unified Metadata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Cross-Platform Discovery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End-to-End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5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Complete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No Single System Could See Everything — Federation Solves That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The Adoption Gap: Technical Platforms vs Business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DATABRICKS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2563EB"/>
                </a:solidFill>
                <a:latin typeface="Calibri"/>
              </a:defRPr>
            </a:pPr>
            <a:r>
              <a:t>Lakehouse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73352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Notebooks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SQL Workspaces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Catalog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Technical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Usability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Technical Complexity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Navigation Friction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Low Adoption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Limited Accessibility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Underutilized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BUSINESS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Business Analysts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Product Managers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Compliance Officers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5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Non-Technical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Technical Interfaces Limit Business Adoption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Enterprise Catalogs as the Collaboration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703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TECHNICAL METADATA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3703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COLLABORATION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41732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D9488"/>
                </a:solidFill>
                <a:latin typeface="Calibri"/>
              </a:defRPr>
            </a:pPr>
            <a:r>
              <a:t>Atlan / 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673352"/>
            <a:ext cx="3355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Atlan / Alation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Business-Friendly Interface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Business Glossary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Stewardship Workflows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Product Marketplace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Certification &amp; Badges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Certified for Financial Audits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960120"/>
            <a:ext cx="3611880" cy="3703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BUSINESS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5" y="1417320"/>
            <a:ext cx="33558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Analysts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Managers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Compliance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Accessible Data · Trusted Assets · Self-Service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507492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184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Enterprise Catalogs Translate Technical Metadata into Business Value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Logging Changes Is Not the Same as Governing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DATA CHANGE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Schema / Data Change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Definition Update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Structural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UNITY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Change Logging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Updates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Audit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Calibri"/>
              </a:defRPr>
            </a:pPr>
            <a:r>
              <a:t>MISSING GOVERNANCE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Ownership Notification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Approval Processes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Compliance Sign-Off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Quality Discussions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5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Not Natively Orchestrated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7744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97706"/>
                </a:solidFill>
                <a:latin typeface="Calibri"/>
              </a:defRPr>
            </a:pPr>
            <a:r>
              <a:t>Workflow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Capturing Changes Does Not Ensure Governance Execution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Enterprise Catalogs as the Governance Workflow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METADATA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Change Events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60120"/>
            <a:ext cx="3611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WORKFLOW ORCHESTRATION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417320"/>
            <a:ext cx="3355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Atlan / Alation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Governance Workflows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Ownership Assignment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Approval Workflows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Documentation Tracking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Stewardship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960120"/>
            <a:ext cx="3611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TRUSTED DATA PUBLICATION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5" y="1417320"/>
            <a:ext cx="335584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Certified Data Assets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Approved Data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Documented Assets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Policy-Compliant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Controlled Releases · Accountability · Compliance-Ready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07492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184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Governance Requires Workflows — Not Just Metadata Visibility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Limitation: Lineage Visibility Stops at the Lakehouse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UPSTREAM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2563EB"/>
                </a:solidFill>
                <a:latin typeface="Calibri"/>
              </a:defRPr>
            </a:pPr>
            <a:r>
              <a:t>Data Ingestion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73352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Fivetran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External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Databricks Lakehouse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Tables → Lineage →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DOWNSTREAM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5" y="1417320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059669"/>
                </a:solidFill>
                <a:latin typeface="Calibri"/>
              </a:defRPr>
            </a:pPr>
            <a:r>
              <a:t>Consumption &amp; Distribution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1673352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dbt Transformations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Snowflake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BI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28016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Partial Lineage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20624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DC2626"/>
                </a:solidFill>
                <a:latin typeface="Calibri"/>
              </a:defRPr>
            </a:pPr>
            <a:r>
              <a:t>Partial Lineage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Platform-Native Lineage Does Not Extend Across the Enterprise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Enterprise Catalogs as the End-to-End Lineage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11365992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24128"/>
            <a:ext cx="11109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ENTERPRISE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371600"/>
            <a:ext cx="11109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Atlan / Alation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Lineage Ingestion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Cross-System Stitching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Metadata Federation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11680"/>
            <a:ext cx="2715768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2121408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UPSTREAM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468880"/>
            <a:ext cx="24597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Fivetran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External Databases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011680"/>
            <a:ext cx="2715768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8416" y="2121408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DATABRICKS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468880"/>
            <a:ext cx="24597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Lakehouse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 Lineage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011680"/>
            <a:ext cx="2715768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17336" y="2121408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TRANSFORMATION &amp;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468880"/>
            <a:ext cx="24597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dbt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Snowflake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Data Pipelines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011680"/>
            <a:ext cx="2715768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06256" y="2121408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CONSUMPTION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468880"/>
            <a:ext cx="245973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Tableau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805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Calibri"/>
              </a:defRPr>
            </a:pPr>
            <a:r>
              <a:t>✓  End-to-End Lineage · Cross-Platform Visibility · Single Source of Truth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Enterprise Visibility Requires Federated Metadata Across All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A Shift in the Architecture: Bring Your Own Lineage (BYOL)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ArchitectMindset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BEFORE: PREVIOUS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Atlan / Alation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Strong Federation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960120"/>
            <a:ext cx="3611880" cy="342900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Calibri"/>
              </a:defRPr>
            </a:pPr>
            <a:r>
              <a:t>Architectural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64748B"/>
                </a:solidFill>
                <a:latin typeface="Calibri"/>
              </a:defRPr>
            </a:pPr>
            <a:r>
              <a:t>June 8, 2026 — GA 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960120"/>
            <a:ext cx="361188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5" y="1069848"/>
            <a:ext cx="33558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NOW: EVOLVING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5" y="1417320"/>
            <a:ext cx="335584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Unity Catalog</a:t>
            </a:r>
          </a:p>
          <a:p>
            <a:pPr>
              <a:spcBef>
                <a:spcPts val="300"/>
              </a:spcBef>
              <a:defRPr sz="1700" b="0">
                <a:solidFill>
                  <a:srgbClr val="1E293B"/>
                </a:solidFill>
                <a:latin typeface="Calibri"/>
              </a:defRPr>
            </a:pPr>
            <a:r>
              <a:t>• New Capability: BYOL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4041648"/>
            <a:ext cx="33558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Calibri"/>
              </a:defRPr>
            </a:pPr>
            <a:r>
              <a:t>Expanding Beyond Native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92040"/>
            <a:ext cx="11365992" cy="530352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0017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 Light"/>
              </a:defRPr>
            </a:pPr>
            <a:r>
              <a:t>Platform Capabilities Are Rapidly Expanding Into Enterprise Territory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1145</Words>
  <Application>Microsoft Macintosh PowerPoint</Application>
  <PresentationFormat>Widescreen</PresentationFormat>
  <Paragraphs>325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Fong, Jonathan</cp:lastModifiedBy>
  <cp:revision>1</cp:revision>
  <dcterms:created xsi:type="dcterms:W3CDTF">2013-01-27T09:14:16Z</dcterms:created>
  <dcterms:modified xsi:type="dcterms:W3CDTF">2026-07-20T21:13:37Z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2026-07-20T20:50:56Z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41b3e54b-233c-4e90-bd96-513195d19b25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