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109AA6"/>
                </a:solidFill>
                <a:latin typeface="Helvetica Neue"/>
              </a:rPr>
              <a:t>PERSONA REVIEW  ·  DATA GOVERNANCE VS. DATA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566928"/>
            <a:ext cx="1115568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>
                <a:solidFill>
                  <a:srgbClr val="101A2E"/>
                </a:solidFill>
                <a:latin typeface="Helvetica Neue"/>
              </a:rPr>
              <a:t>BDC on OMS — why one store, two optimized experiences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137392" cy="566928"/>
          </a:xfrm>
          <a:prstGeom prst="rect">
            <a:avLst/>
          </a:prstGeom>
          <a:solidFill>
            <a:srgbClr val="EAF0FB"/>
          </a:solidFill>
          <a:ln w="12700">
            <a:solidFill>
              <a:srgbClr val="2D6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09728" cy="566928"/>
          </a:xfrm>
          <a:prstGeom prst="rect">
            <a:avLst/>
          </a:prstGeom>
          <a:solidFill>
            <a:srgbClr val="2D6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170432"/>
            <a:ext cx="10698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01A2E"/>
                </a:solidFill>
                <a:latin typeface="Helvetica Neue"/>
              </a:rPr>
              <a:t>Not a second metadata store. </a:t>
            </a:r>
            <a:r>
              <a:rPr sz="1350" b="0">
                <a:solidFill>
                  <a:srgbClr val="33405C"/>
                </a:solidFill>
                <a:latin typeface="Helvetica Neue"/>
              </a:rPr>
              <a:t>OMS = system of record + APIs. Question = who owns the </a:t>
            </a:r>
            <a:r>
              <a:rPr sz="1350" b="1">
                <a:solidFill>
                  <a:srgbClr val="2D6CE0"/>
                </a:solidFill>
                <a:latin typeface="Helvetica Neue"/>
              </a:rPr>
              <a:t>business &amp; governance experience</a:t>
            </a:r>
            <a:r>
              <a:rPr sz="1350" b="0">
                <a:solidFill>
                  <a:srgbClr val="33405C"/>
                </a:solidFill>
                <a:latin typeface="Helvetica Neue"/>
              </a:rPr>
              <a:t> for Alation exit.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40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40680" cy="475488"/>
          </a:xfrm>
          <a:prstGeom prst="rect">
            <a:avLst/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74519"/>
            <a:ext cx="4928616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6B778C"/>
                </a:solidFill>
                <a:latin typeface="Helvetica Neue"/>
              </a:rPr>
              <a:t>OMS  ·  DATA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41447"/>
            <a:ext cx="4892040" cy="2377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33405C"/>
                </a:solidFill>
                <a:latin typeface="Helvetica Neue"/>
              </a:rPr>
              <a:t>•  Primary: engineers, platform, integrators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33405C"/>
                </a:solidFill>
                <a:latin typeface="Helvetica Neue"/>
              </a:rPr>
              <a:t>•  Job: How built? Lineage? SQL? Ops metadata?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33405C"/>
                </a:solidFill>
                <a:latin typeface="Helvetica Neue"/>
              </a:rPr>
              <a:t>•  Win: platform completeness, one technical 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874519"/>
            <a:ext cx="544068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874519"/>
            <a:ext cx="5440680" cy="475488"/>
          </a:xfrm>
          <a:prstGeom prst="rect">
            <a:avLst/>
          </a:prstGeom>
          <a:solidFill>
            <a:srgbClr val="2D6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1874519"/>
            <a:ext cx="4928616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</a:rPr>
              <a:t>BDC  ·  DATA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441447"/>
            <a:ext cx="4892040" cy="2377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109AA6"/>
                </a:solidFill>
                <a:latin typeface="Helvetica Neue"/>
              </a:rPr>
              <a:t>▸  </a:t>
            </a:r>
            <a:r>
              <a:rPr sz="1150" b="0">
                <a:solidFill>
                  <a:srgbClr val="101A2E"/>
                </a:solidFill>
                <a:latin typeface="Helvetica Neue"/>
              </a:rPr>
              <a:t>Primary: business users, stewards, privacy/compliance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109AA6"/>
                </a:solidFill>
                <a:latin typeface="Helvetica Neue"/>
              </a:rPr>
              <a:t>▸  </a:t>
            </a:r>
            <a:r>
              <a:rPr sz="1150" b="0">
                <a:solidFill>
                  <a:srgbClr val="101A2E"/>
                </a:solidFill>
                <a:latin typeface="Helvetica Neue"/>
              </a:rPr>
              <a:t>Job: What does it mean? Trusted? Who owns it?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109AA6"/>
                </a:solidFill>
                <a:latin typeface="Helvetica Neue"/>
              </a:rPr>
              <a:t>▸  </a:t>
            </a:r>
            <a:r>
              <a:rPr sz="1150" b="0">
                <a:solidFill>
                  <a:srgbClr val="101A2E"/>
                </a:solidFill>
                <a:latin typeface="Helvetica Neue"/>
              </a:rPr>
              <a:t>Win: Alation-exit adoption, glossary, trust, stewardship UX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74920"/>
            <a:ext cx="11137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9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074920"/>
            <a:ext cx="109728" cy="1051560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193792"/>
            <a:ext cx="1069848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9D6B"/>
                </a:solidFill>
                <a:latin typeface="Helvetica Neue"/>
              </a:rPr>
              <a:t>THE ASK: </a:t>
            </a:r>
            <a:r>
              <a:rPr sz="1200" b="0">
                <a:solidFill>
                  <a:srgbClr val="33405C"/>
                </a:solidFill>
                <a:latin typeface="Helvetica Neue"/>
              </a:rPr>
              <a:t>Foundations owns </a:t>
            </a:r>
            <a:r>
              <a:rPr sz="1200" b="1">
                <a:solidFill>
                  <a:srgbClr val="101A2E"/>
                </a:solidFill>
                <a:latin typeface="Helvetica Neue"/>
              </a:rPr>
              <a:t>store &amp; serve</a:t>
            </a:r>
            <a:r>
              <a:rPr sz="1200" b="0">
                <a:solidFill>
                  <a:srgbClr val="33405C"/>
                </a:solidFill>
                <a:latin typeface="Helvetica Neue"/>
              </a:rPr>
              <a:t>  ·  Governance owns </a:t>
            </a:r>
            <a:r>
              <a:rPr sz="1200" b="1">
                <a:solidFill>
                  <a:srgbClr val="2D6CE0"/>
                </a:solidFill>
                <a:latin typeface="Helvetica Neue"/>
              </a:rPr>
              <a:t>business-metadata experience</a:t>
            </a:r>
            <a:r>
              <a:rPr sz="1200" b="0">
                <a:solidFill>
                  <a:srgbClr val="33405C"/>
                </a:solidFill>
                <a:latin typeface="Helvetica Neue"/>
              </a:rPr>
              <a:t> on OMS  ·  </a:t>
            </a:r>
            <a:r>
              <a:rPr sz="1200" b="1">
                <a:solidFill>
                  <a:srgbClr val="109AA6"/>
                </a:solidFill>
                <a:latin typeface="Helvetica Neue"/>
              </a:rPr>
              <a:t>Open in OMS</a:t>
            </a:r>
            <a:r>
              <a:rPr sz="1200" b="0">
                <a:solidFill>
                  <a:srgbClr val="33405C"/>
                </a:solidFill>
                <a:latin typeface="Helvetica Neue"/>
              </a:rPr>
              <a:t> for full technical detail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B778C"/>
                </a:solidFill>
                <a:latin typeface="Helvetica Neue"/>
              </a:rPr>
              <a:t>If one UI only: OMS must commit to business-first defaults + Alation-exit metrics with Governance in the design loop.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27648"/>
            <a:ext cx="11183112" cy="12700"/>
          </a:xfrm>
          <a:prstGeom prst="rect">
            <a:avLst/>
          </a:prstGeom>
          <a:solidFill>
            <a:srgbClr val="DD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11183112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850" b="0">
                <a:solidFill>
                  <a:srgbClr val="6B778C"/>
                </a:solidFill>
                <a:latin typeface="Helvetica Neue"/>
              </a:rPr>
              <a:t>626 = supply  ·  OMS = store  ·  BDC = governed business experience  ·  DEEPT ·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