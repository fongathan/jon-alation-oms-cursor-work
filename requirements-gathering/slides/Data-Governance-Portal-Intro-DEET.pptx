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7D0FD-7A58-B3E3-CCEB-1246F63999D5}" v="18" dt="2026-05-22T22:18:36.993"/>
    <p1510:client id="{DE0542D5-B584-4A64-8824-558FADC6D80F}" v="6" dt="2026-05-22T22:17:45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03757-8C7A-4276-93FF-E886BFC24DE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122CD-B26A-4E2E-BD15-1DEF694C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9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194560"/>
            <a:ext cx="12192000" cy="54864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0">
                <a:solidFill>
                  <a:srgbClr val="152342"/>
                </a:solidFill>
                <a:latin typeface="Calibri Light"/>
              </a:defRPr>
            </a:pPr>
            <a:r>
              <a:t>Data Governance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Calibri"/>
              </a:defRPr>
            </a:pPr>
            <a:r>
              <a:t>One place to see privacy, security, and compliance posture — and what needs attention 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Governance Portal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What is the Governance Portal?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A command center for privacy and data governance — not a replacement for the tools you already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Governance Portal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5522976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55648"/>
            <a:ext cx="384048" cy="384048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82496"/>
            <a:ext cx="4654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One front door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Consent, privacy requests, access reviews, and compliance each have their own dashboard today. The Portal brings the big picture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72768"/>
            <a:ext cx="5522976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755648"/>
            <a:ext cx="384048" cy="384048"/>
          </a:xfrm>
          <a:prstGeom prst="ellipse">
            <a:avLst/>
          </a:prstGeom>
          <a:solidFill>
            <a:srgbClr val="0E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682496"/>
            <a:ext cx="4654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See posture at a glance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Governance Overview with simple scores for Privacy, Platform, Security, and Regulatory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0168"/>
            <a:ext cx="5522976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813048"/>
            <a:ext cx="384048" cy="384048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39896"/>
            <a:ext cx="4654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Know what needs action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Work queues surface overdue items and route you to the right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30168"/>
            <a:ext cx="5522976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3813048"/>
            <a:ext cx="384048" cy="384048"/>
          </a:xfrm>
          <a:prstGeom prst="ellipse">
            <a:avLst/>
          </a:prstGeom>
          <a:solidFill>
            <a:srgbClr val="15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739896"/>
            <a:ext cx="4654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Prove it for audits</a:t>
            </a:r>
          </a:p>
          <a:p>
            <a:pPr>
              <a:defRPr sz="1100" b="0">
                <a:solidFill>
                  <a:srgbClr val="334155"/>
                </a:solidFill>
                <a:latin typeface="Calibri"/>
              </a:defRPr>
            </a:pPr>
            <a:r>
              <a:t>Evidence packages tied to real catalog assets for legal and audit requests.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74552" cy="53035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Unified experience, federated execution — one portal for the story; specialist systems stay authoritative for deep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Organized around four areas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Grouped by what you need to do — not by org chart names.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Governance Portal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55229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D8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5248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342"/>
                </a:solidFill>
                <a:latin typeface="Calibri Light"/>
              </a:defRPr>
            </a:pPr>
            <a:r>
              <a:t>Privacy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Consent · guest data requests · tracker remediation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5229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82496"/>
            <a:ext cx="5248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342"/>
                </a:solidFill>
                <a:latin typeface="Calibri Light"/>
              </a:defRPr>
            </a:pPr>
            <a:r>
              <a:t>Platform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Stewards · classifications ·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44368"/>
            <a:ext cx="55229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054096"/>
            <a:ext cx="5248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342"/>
                </a:solidFill>
                <a:latin typeface="Calibri Light"/>
              </a:defRPr>
            </a:pPr>
            <a:r>
              <a:t>Security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Access reviews · GIS · data use approvals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44368"/>
            <a:ext cx="55229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054096"/>
            <a:ext cx="5248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2342"/>
                </a:solidFill>
                <a:latin typeface="Calibri Light"/>
              </a:defRPr>
            </a:pPr>
            <a:r>
              <a:t>Regulatory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Laws · incidents · audits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53128"/>
            <a:ext cx="11274552" cy="53035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44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Portal = govern &amp; prove  ·  Business Data Navigator = discover &amp; steward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9320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 Light"/>
              </a:defRPr>
            </a:pPr>
            <a:r>
              <a:t>Same OMS metadata underneath — two modes in one shell, one source of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Why we're building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Dashboard sprawl makes it hard to see overall risk or know what needs a human this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Governance Portal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35935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3429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530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52342"/>
                </a:solidFill>
                <a:latin typeface="Calibri Light"/>
              </a:defRPr>
            </a:pPr>
            <a:r>
              <a:t>Too many disconnected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3429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One front door — consent, privacy requests, access, and compliance in one shared experience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Governance Overview — simple scores for Privacy, Platform, Security, and Regulatory posture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Work queues — surface what needs a human and route to the right downstream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72768"/>
            <a:ext cx="35935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682496"/>
            <a:ext cx="3429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Calibri"/>
              </a:defRPr>
            </a:pPr>
            <a:r>
              <a:t>WHO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92024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52342"/>
                </a:solidFill>
                <a:latin typeface="Calibri Light"/>
              </a:defRPr>
            </a:pPr>
            <a:r>
              <a:t>One map for many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487168"/>
            <a:ext cx="3429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Privacy, legal &amp; GIS get one map of consent, requests, and remediation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Executives get posture indices and exportable evidence for council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572768"/>
            <a:ext cx="35935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1682496"/>
            <a:ext cx="3429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6F4A"/>
                </a:solidFill>
                <a:latin typeface="Calibri"/>
              </a:defRPr>
            </a:pPr>
            <a:r>
              <a:t>BEFORE →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192024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52342"/>
                </a:solidFill>
                <a:latin typeface="Calibri Light"/>
              </a:defRPr>
            </a:pPr>
            <a:r>
              <a:t>From sprawl to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487168"/>
            <a:ext cx="3429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5+ URLs → one Overview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Hunt for SLA breaches → unified queues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Manual audit assembly → Portal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Where we're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Phased delivery alongside the Navigator catalog migration.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Governance Portal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3593592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Calibri"/>
              </a:defRPr>
            </a:pPr>
            <a:r>
              <a:t>NOW</a:t>
            </a:r>
          </a:p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Shell &amp; prototypes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Dimension hubs + work queues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KPI cards with privacy &amp; legal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Clear Portal vs Navigator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72768"/>
            <a:ext cx="3593592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682496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949A"/>
                </a:solidFill>
                <a:latin typeface="Calibri"/>
              </a:defRPr>
            </a:pPr>
            <a:r>
              <a:t>NEXT</a:t>
            </a:r>
          </a:p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Live data &amp; routing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Real feeds from downstream systems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Role-based landing pages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Navigator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572768"/>
            <a:ext cx="3593592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1682496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SCALE</a:t>
            </a:r>
          </a:p>
          <a:p>
            <a:pPr>
              <a:defRPr sz="1600" b="0">
                <a:solidFill>
                  <a:srgbClr val="152342"/>
                </a:solidFill>
                <a:latin typeface="Calibri Light"/>
              </a:defRPr>
            </a:pPr>
            <a:r>
              <a:t>Prove &amp; expand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Evidence automation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OMS integration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Enterprise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Calibri"/>
              </a:defRPr>
            </a:pPr>
            <a:r>
              <a:t>How we'll know it's working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92040"/>
            <a:ext cx="2715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83480"/>
            <a:ext cx="25328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40AF"/>
                </a:solidFill>
                <a:latin typeface="Calibri Light"/>
              </a:defRPr>
            </a:pPr>
            <a:r>
              <a:t>Posture scores</a:t>
            </a:r>
          </a:p>
          <a:p>
            <a:pPr>
              <a:defRPr sz="800" b="0">
                <a:solidFill>
                  <a:srgbClr val="475569"/>
                </a:solidFill>
                <a:latin typeface="Calibri"/>
              </a:defRPr>
            </a:pPr>
            <a:r>
              <a:t>Privacy &amp; section indices trend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4892040"/>
            <a:ext cx="2715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4983480"/>
            <a:ext cx="25328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949A"/>
                </a:solidFill>
                <a:latin typeface="Calibri Light"/>
              </a:defRPr>
            </a:pPr>
            <a:r>
              <a:t>SLA closure</a:t>
            </a:r>
          </a:p>
          <a:p>
            <a:pPr>
              <a:defRPr sz="800" b="0">
                <a:solidFill>
                  <a:srgbClr val="475569"/>
                </a:solidFill>
                <a:latin typeface="Calibri"/>
              </a:defRPr>
            </a:pPr>
            <a:r>
              <a:t>Queue items closed 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892040"/>
            <a:ext cx="2715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4983480"/>
            <a:ext cx="25328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45309"/>
                </a:solidFill>
                <a:latin typeface="Calibri Light"/>
              </a:defRPr>
            </a:pPr>
            <a:r>
              <a:t>Adoption</a:t>
            </a:r>
          </a:p>
          <a:p>
            <a:pPr>
              <a:defRPr sz="800" b="0">
                <a:solidFill>
                  <a:srgbClr val="475569"/>
                </a:solidFill>
                <a:latin typeface="Calibri"/>
              </a:defRPr>
            </a:pPr>
            <a:r>
              <a:t>Weekly use by privacy &amp; stewardship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4892040"/>
            <a:ext cx="2715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4983480"/>
            <a:ext cx="25328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6F4A"/>
                </a:solidFill>
                <a:latin typeface="Calibri Light"/>
              </a:defRPr>
            </a:pPr>
            <a:r>
              <a:t>Evidence speed</a:t>
            </a:r>
          </a:p>
          <a:p>
            <a:pPr>
              <a:defRPr sz="800" b="0">
                <a:solidFill>
                  <a:srgbClr val="475569"/>
                </a:solidFill>
                <a:latin typeface="Calibri"/>
              </a:defRPr>
            </a:pPr>
            <a:r>
              <a:t>Audit packages produced faster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F856850F6A843AF0F16BBFE19DB32" ma:contentTypeVersion="3" ma:contentTypeDescription="Create a new document." ma:contentTypeScope="" ma:versionID="e0ac05a8eda076f795f2d92f55cc1200">
  <xsd:schema xmlns:xsd="http://www.w3.org/2001/XMLSchema" xmlns:xs="http://www.w3.org/2001/XMLSchema" xmlns:p="http://schemas.microsoft.com/office/2006/metadata/properties" xmlns:ns2="3ca77e74-c691-41bf-a657-2854de531fa0" targetNamespace="http://schemas.microsoft.com/office/2006/metadata/properties" ma:root="true" ma:fieldsID="49e797650b4ef6f9d02a6f06596e6bd1" ns2:_="">
    <xsd:import namespace="3ca77e74-c691-41bf-a657-2854de531f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a77e74-c691-41bf-a657-2854de531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D9DFD2-EB20-4911-94EE-229B9DD3DBD5}">
  <ds:schemaRefs>
    <ds:schemaRef ds:uri="3ca77e74-c691-41bf-a657-2854de531f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3C92F7E-A76F-4791-B4E7-9132230C2610}">
  <ds:schemaRefs>
    <ds:schemaRef ds:uri="3ca77e74-c691-41bf-a657-2854de531f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ADF908E-D038-4FE4-9D7E-1B2904E82F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Kushawaha, Vinod</dc:creator>
  <cp:keywords/>
  <dc:description>generated using python-pptx</dc:description>
  <cp:revision>2</cp:revision>
  <dcterms:created xsi:type="dcterms:W3CDTF">2013-01-27T09:14:16Z</dcterms:created>
  <dcterms:modified xsi:type="dcterms:W3CDTF">2026-05-27T19:02:02Z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2026-05-08T00:20:12Z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55a3d93b-387a-4d11-8f9a-7f2c2dc1d1cf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10, 3, 0, 1</vt:lpwstr>
  </property>
  <property fmtid="{D5CDD505-2E9C-101B-9397-08002B2CF9AE}" pid="10" name="ContentTypeId">
    <vt:lpwstr>0x010100DA4F856850F6A843AF0F16BBFE19DB32</vt:lpwstr>
  </property>
</Properties>
</file>