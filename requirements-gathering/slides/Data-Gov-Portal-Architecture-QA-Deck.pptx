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2194560"/>
            <a:ext cx="12192000" cy="54864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0">
                <a:solidFill>
                  <a:srgbClr val="152342"/>
                </a:solidFill>
                <a:latin typeface="Calibri Light"/>
              </a:defRPr>
            </a:pPr>
            <a:r>
              <a:t>Data Governance Portal — Architecture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75569"/>
                </a:solidFill>
                <a:latin typeface="Calibri"/>
              </a:defRPr>
            </a:pPr>
            <a:r>
              <a:t>Personas · Separation from DFP · Integration · Dev ownership</a:t>
            </a:r>
            <a:br/>
            <a:r>
              <a:t>June 29, 2026 · INTERNAL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1 — Which personas does the Portal serve?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Primary = govern, triage, attest. Secondary = discover via Navigator. Engineers → OMS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Privacy &amp; compliance</a:t>
            </a:r>
          </a:p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DSR, consent, tracker queues, compliance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72768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6420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Governance leads &amp; execs</a:t>
            </a:r>
          </a:p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Overview indices, metrics gov, evidence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72768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6420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Data stewards / DPMs</a:t>
            </a:r>
          </a:p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Classifications, tag &amp; policy workflows,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07208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986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Access &amp; GIS / security</a:t>
            </a:r>
          </a:p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Access manager, data-use approvals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807208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986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Partner &amp; inventory owners</a:t>
            </a:r>
          </a:p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Partner API mgmt, business inventory, DLM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07208"/>
            <a:ext cx="3611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89864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Audit &amp; legal</a:t>
            </a:r>
          </a:p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Evidence packages, auditor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78808"/>
            <a:ext cx="11274552" cy="457200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Not primary Portal users: business/analyst consumers (Navigator MVP) · data engineers (Foundations OMS UI)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74920"/>
            <a:ext cx="11274552" cy="457200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48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Portal IA = Privacy · Platform · Security · Regulatory — how DEEPT runs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2 — Separate from Data Foundation Platform?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Logically yes. One product family in a shared shell — not one monolith owned by Foundations.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Different jobs — posture &amp; triage vs technical metadata &amp; pipelines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Different SoR — Governance Postgres vs OMS operational store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Different personas — stewards ≠ daily OMS operators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Program independence — not captive to Foundations OMS UI roadmap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Federated execution — unify story; keep specialist tools authoritative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572768"/>
            <a:ext cx="5650992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09928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“Separate” does NOT mean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• Second metadata store — one spine: 626 → OMS → governance repo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• Five URLs forever — shared shell, deep links, same asset IDs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• Duplicating Navigator — Portal = govern &amp; prove; Navigator = discover &amp; steward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74552" cy="530352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69671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Risk if merged: Navigator becomes “the OMS app” — Foundations owns our Alation exit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3 — How to incorporate: dual product, single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Unified experience · federated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2011680" cy="713232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82496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Governance Console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572768"/>
            <a:ext cx="5029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64208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Portal + workflow UIs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572768"/>
            <a:ext cx="3959352" cy="713232"/>
          </a:xfrm>
          <a:prstGeom prst="roundRect">
            <a:avLst/>
          </a:prstGeom>
          <a:solidFill>
            <a:srgbClr val="E8F5E9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66420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56F4A"/>
                </a:solidFill>
                <a:latin typeface="Calibri"/>
              </a:defRPr>
            </a:pPr>
            <a:r>
              <a:t>Gov App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2011680" cy="713232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51176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Gov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441448"/>
            <a:ext cx="5029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532888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Backend, evidence,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441448"/>
            <a:ext cx="3959352" cy="713232"/>
          </a:xfrm>
          <a:prstGeom prst="roundRect">
            <a:avLst/>
          </a:prstGeom>
          <a:solidFill>
            <a:srgbClr val="E8F5E9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53288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56F4A"/>
                </a:solidFill>
                <a:latin typeface="Calibri"/>
              </a:defRPr>
            </a:pPr>
            <a:r>
              <a:t>APIs for Portal &amp; Navigator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10128"/>
            <a:ext cx="2011680" cy="713232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19856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Governance repo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3310128"/>
            <a:ext cx="5029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401568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Postgres — policies, tags, taxonomies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310128"/>
            <a:ext cx="3959352" cy="713232"/>
          </a:xfrm>
          <a:prstGeom prst="roundRect">
            <a:avLst/>
          </a:prstGeom>
          <a:solidFill>
            <a:srgbClr val="E8F5E9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340156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56F4A"/>
                </a:solidFill>
                <a:latin typeface="Calibri"/>
              </a:defRPr>
            </a:pPr>
            <a:r>
              <a:t>SoR (not OMS)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78808"/>
            <a:ext cx="2011680" cy="713232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88536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OMS + platforms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4178808"/>
            <a:ext cx="5029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270248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Catalog APIs, SF/DBX, Horizon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178808"/>
            <a:ext cx="3959352" cy="713232"/>
          </a:xfrm>
          <a:prstGeom prst="roundRect">
            <a:avLst/>
          </a:prstGeom>
          <a:solidFill>
            <a:srgbClr val="E8F5E9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427024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56F4A"/>
                </a:solidFill>
                <a:latin typeface="Calibri"/>
              </a:defRPr>
            </a:pPr>
            <a:r>
              <a:t>Navigator reads; engineers use OMS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47488"/>
            <a:ext cx="2011680" cy="713232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57216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Compliance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5047488"/>
            <a:ext cx="5029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138928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Scanning, DSR, anonymization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5047488"/>
            <a:ext cx="3959352" cy="713232"/>
          </a:xfrm>
          <a:prstGeom prst="roundRect">
            <a:avLst/>
          </a:prstGeom>
          <a:solidFill>
            <a:srgbClr val="E8F5E9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513892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56F4A"/>
                </a:solidFill>
                <a:latin typeface="Calibri"/>
              </a:defRPr>
            </a:pPr>
            <a:r>
              <a:t>Portal aggregates; tools stay deep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486400"/>
            <a:ext cx="11274552" cy="457200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559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Phasing: Now = Navigator/BDC MVP · Phase 2 = Portal hub · Phase 3 = metrics gov + evidence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4 — Which dev team builds which parts?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Clear RACI protects Alation exit scope and prevents scope collision with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552297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64208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Data Governance (DEET)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Governance Portal, Navigator/BDC UX, program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552297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64208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OMS Foundations (DFP)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OMS store, APIs, connectors, engineer OMS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07208"/>
            <a:ext cx="552297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898648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SISU + DG program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Governance Postgres repo, Gov App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07208"/>
            <a:ext cx="552297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898648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Data 626 / MCI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Metadata supply — feeds OMS; Navigator surfaces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41648"/>
            <a:ext cx="552297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133088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Privacy / compliance eng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Consent, DSR, tracker tools — Portal integrates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41648"/>
            <a:ext cx="552297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133088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Inventory program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Kronos UI on SISU Postgres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76088"/>
            <a:ext cx="5522976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367528"/>
            <a:ext cx="52486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Compliance / security eng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Scanning, policy engines, monitoring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32120"/>
            <a:ext cx="11274552" cy="566928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6052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Escalation: metadata WG when Foundations &amp; Navigator scope collide · Open: OMS reads governance repo directly or via Gov API?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Summary — four answers in one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52297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0744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342"/>
                </a:solidFill>
                <a:latin typeface="Calibri Light"/>
              </a:defRPr>
            </a:pPr>
            <a:r>
              <a:t>1 Personas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Privacy, stewards, access, partners, inventory, audit — plus exec overview. Consumers &amp; engineers use Navigator / 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43584"/>
            <a:ext cx="552297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0744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342"/>
                </a:solidFill>
                <a:latin typeface="Calibri Light"/>
              </a:defRPr>
            </a:pPr>
            <a:r>
              <a:t>2 Separate?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Yes logically — different job, SoR, persona, and program ownership. No second metadata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92424"/>
            <a:ext cx="552297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9584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342"/>
                </a:solidFill>
                <a:latin typeface="Calibri Light"/>
              </a:defRPr>
            </a:pPr>
            <a:r>
              <a:t>3 How?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Shared shell + deep links + API boundaries. 626 → OMS → governance repo. Portal phase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92424"/>
            <a:ext cx="5522976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529584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342"/>
                </a:solidFill>
                <a:latin typeface="Calibri Light"/>
              </a:defRPr>
            </a:pPr>
            <a:r>
              <a:t>4 Dev teams</a:t>
            </a:r>
          </a:p>
          <a:p>
            <a:pPr>
              <a:defRPr sz="1000" b="0">
                <a:solidFill>
                  <a:srgbClr val="334155"/>
                </a:solidFill>
                <a:latin typeface="Calibri"/>
              </a:defRPr>
            </a:pPr>
            <a:r>
              <a:t>DG = Portal &amp; Navigator UX · Foundations = OMS · SISU = gov repo/backend · pillar teams own specialist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UI walkthrough — three doors, one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Same chrome and asset IDs · different default landing by persona · specialist tools open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2331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148840" cy="256032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00784"/>
            <a:ext cx="2057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475569"/>
                </a:solidFill>
                <a:latin typeface="Calibri"/>
              </a:defRPr>
            </a:pPr>
            <a:r>
              <a:t>Navigator  /  Search  /  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658368" cy="3447287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2084832"/>
            <a:ext cx="548640" cy="420624"/>
          </a:xfrm>
          <a:prstGeom prst="roundRect">
            <a:avLst/>
          </a:prstGeom>
          <a:solidFill>
            <a:srgbClr val="DBEAF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52342"/>
                </a:solidFill>
                <a:latin typeface="Calibri"/>
              </a:defRPr>
            </a:pPr>
            <a:r>
              <a:t>BDC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587752"/>
            <a:ext cx="548640" cy="420624"/>
          </a:xfrm>
          <a:prstGeom prst="roundRect">
            <a:avLst/>
          </a:prstGeom>
          <a:solidFill>
            <a:srgbClr val="CCFBF1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52342"/>
                </a:solidFill>
                <a:latin typeface="Calibri"/>
              </a:defRPr>
            </a:pPr>
            <a:r>
              <a:t>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90672"/>
            <a:ext cx="548640" cy="420624"/>
          </a:xfrm>
          <a:prstGeom prst="roundRect">
            <a:avLst/>
          </a:prstGeom>
          <a:solidFill>
            <a:srgbClr val="FEF3C7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52342"/>
                </a:solidFill>
                <a:latin typeface="Calibri"/>
              </a:defRPr>
            </a:pPr>
            <a:r>
              <a:t>OMS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011680"/>
            <a:ext cx="1417320" cy="3447287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121408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34155"/>
                </a:solidFill>
                <a:latin typeface="Calibri"/>
              </a:defRPr>
            </a:pPr>
            <a:r>
              <a:t>Main content swaps by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14600"/>
            <a:ext cx="1234440" cy="2852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475569"/>
                </a:solidFill>
                <a:latin typeface="Calibri"/>
              </a:defRPr>
            </a:pPr>
            <a:r>
              <a:t>Catalog grid / asset detail</a:t>
            </a:r>
          </a:p>
          <a:p>
            <a:pPr>
              <a:defRPr sz="700">
                <a:solidFill>
                  <a:srgbClr val="475569"/>
                </a:solidFill>
                <a:latin typeface="Calibri"/>
              </a:defRPr>
            </a:pPr>
            <a:r>
              <a:t>— or —</a:t>
            </a:r>
          </a:p>
          <a:p>
            <a:pPr>
              <a:defRPr sz="700">
                <a:solidFill>
                  <a:srgbClr val="475569"/>
                </a:solidFill>
                <a:latin typeface="Calibri"/>
              </a:defRPr>
            </a:pPr>
            <a:r>
              <a:t>Governance Overview + queues</a:t>
            </a:r>
          </a:p>
          <a:p>
            <a:pPr>
              <a:defRPr sz="700">
                <a:solidFill>
                  <a:srgbClr val="475569"/>
                </a:solidFill>
                <a:latin typeface="Calibri"/>
              </a:defRPr>
            </a:pPr>
            <a:r>
              <a:t>— or deep link —</a:t>
            </a:r>
          </a:p>
          <a:p>
            <a:pPr>
              <a:defRPr sz="700">
                <a:solidFill>
                  <a:srgbClr val="475569"/>
                </a:solidFill>
                <a:latin typeface="Calibri"/>
              </a:defRPr>
            </a:pPr>
            <a:r>
              <a:t>OMS technical tabs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1572768"/>
            <a:ext cx="2880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dc-catalog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645920"/>
            <a:ext cx="2734056" cy="34838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63240" y="516635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2342"/>
                </a:solidFill>
                <a:latin typeface="Calibri Light"/>
              </a:defRPr>
            </a:pPr>
            <a:r>
              <a:t>Business Data Catalog</a:t>
            </a:r>
            <a:br/>
            <a:r>
              <a:t>Discover &amp; steward · Catalog · Glossary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1032" y="1572768"/>
            <a:ext cx="2880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2-governanc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1645920"/>
            <a:ext cx="2734056" cy="34838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2472" y="516635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2342"/>
                </a:solidFill>
                <a:latin typeface="Calibri Light"/>
              </a:defRPr>
            </a:pPr>
            <a:r>
              <a:t>Data Governance Portal</a:t>
            </a:r>
            <a:br/>
            <a:r>
              <a:t>Govern &amp; prove · Overview · Queues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4" y="1572768"/>
            <a:ext cx="2880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oms-engineer-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1645920"/>
            <a:ext cx="2734056" cy="34838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61704" y="516635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2342"/>
                </a:solidFill>
                <a:latin typeface="Calibri Light"/>
              </a:defRPr>
            </a:pPr>
            <a:r>
              <a:t>Foundations OMS UI</a:t>
            </a:r>
            <a:br/>
            <a:r>
              <a:t>Engineer path · SQL · Lineage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32120"/>
            <a:ext cx="11274552" cy="438912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6052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Deep link chain: Portal exception → Catalog asset → Open in OMS (one asset ID end to end)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Navigation IA — v1 vs v2 (recommendation)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  <a:latin typeface="Calibri"/>
              </a:defRPr>
            </a:pPr>
            <a:r>
              <a:t>Both use the same shell and APIs · choice is default landing and left-rail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DEET Data Governance  |  June 2026  |  Data Gov Portal Architecture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54406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82496"/>
            <a:ext cx="51114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v1 — Two top-level tabs</a:t>
            </a:r>
          </a:p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Simpler MVP · clear mode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31136"/>
            <a:ext cx="51114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Left rail: Business Data Catalog | Data Governance Portal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Click tab → entire main panel swaps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Best for: catalog-first users during Alation exit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Prototype: data-navigator-governance/index.html</a:t>
            </a:r>
          </a:p>
        </p:txBody>
      </p:sp>
      <p:pic>
        <p:nvPicPr>
          <p:cNvPr id="10" name="Picture 9" descr="v1-governance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721608"/>
            <a:ext cx="5111496" cy="1828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572768"/>
            <a:ext cx="54406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82496"/>
            <a:ext cx="51114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v2 — Governance-first (recommended for Portal)</a:t>
            </a:r>
          </a:p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Privacy/compliance default · exec posture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31136"/>
            <a:ext cx="51114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Left rail: Overview + Privacy / Platform / Security / Regulatory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BDC under Platform → opens nested catalog shell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Best for: governance program operators &amp; leadership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• Prototype: navigator-version-2/index.html</a:t>
            </a:r>
          </a:p>
        </p:txBody>
      </p:sp>
      <p:pic>
        <p:nvPicPr>
          <p:cNvPr id="14" name="Picture 13" descr="v2-governanc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721608"/>
            <a:ext cx="5111496" cy="1828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5532120"/>
            <a:ext cx="11274552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605272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Recommendation: v1 for Navigator MVP (catalog) · v2 for Governance Portal phase 2 · shared search, breadcrumbs, and deep links in both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