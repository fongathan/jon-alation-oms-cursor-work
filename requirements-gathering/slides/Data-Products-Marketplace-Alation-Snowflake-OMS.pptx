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109AA6"/>
                </a:solidFill>
                <a:latin typeface="Helvetica Neue"/>
              </a:rPr>
              <a:t>DATA PRODUCTS &amp; MARKETPLACE  ·  PLATFORM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566928"/>
            <a:ext cx="1115568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01A2E"/>
                </a:solidFill>
                <a:latin typeface="Helvetica Neue"/>
              </a:rPr>
              <a:t>Alation vs Snowflake vs OMS/Navigator — who does what?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137392" cy="530352"/>
          </a:xfrm>
          <a:prstGeom prst="rect">
            <a:avLst/>
          </a:prstGeom>
          <a:solidFill>
            <a:srgbClr val="EAF0FB"/>
          </a:solidFill>
          <a:ln w="12700">
            <a:solidFill>
              <a:srgbClr val="2D6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09728" cy="530352"/>
          </a:xfrm>
          <a:prstGeom prst="rect">
            <a:avLst/>
          </a:prstGeom>
          <a:solidFill>
            <a:srgbClr val="2D6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170432"/>
            <a:ext cx="10698480" cy="5303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01A2E"/>
                </a:solidFill>
                <a:latin typeface="Helvetica Neue"/>
              </a:rPr>
              <a:t>Different layers, not substitutes. </a:t>
            </a:r>
            <a:r>
              <a:rPr sz="1300" b="0">
                <a:solidFill>
                  <a:srgbClr val="33405C"/>
                </a:solidFill>
                <a:latin typeface="Helvetica Neue"/>
              </a:rPr>
              <a:t>Alation = business trust &amp; discovery  ·  Snowflake = access &amp; delivery  ·  </a:t>
            </a:r>
            <a:r>
              <a:rPr sz="1300" b="1">
                <a:solidFill>
                  <a:srgbClr val="2D6CE0"/>
                </a:solidFill>
                <a:latin typeface="Helvetica Neue"/>
              </a:rPr>
              <a:t>OMS/Navigator = our target federated experience</a:t>
            </a:r>
            <a:r>
              <a:rPr sz="1300" b="0">
                <a:solidFill>
                  <a:srgbClr val="33405C"/>
                </a:solidFill>
                <a:latin typeface="Helvetica Neue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47088"/>
            <a:ext cx="361188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47088"/>
            <a:ext cx="3611880" cy="512064"/>
          </a:xfrm>
          <a:prstGeom prst="rect">
            <a:avLst/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47088"/>
            <a:ext cx="324612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01A2E"/>
                </a:solidFill>
                <a:latin typeface="Helvetica Neue"/>
              </a:rPr>
              <a:t>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50592"/>
            <a:ext cx="3209544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6B778C"/>
                </a:solidFill>
                <a:latin typeface="Helvetica Neue"/>
              </a:rPr>
              <a:t>Catalog-native: use-case offerings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61488"/>
            <a:ext cx="3209544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1">
                <a:solidFill>
                  <a:srgbClr val="6B778C"/>
                </a:solidFill>
                <a:latin typeface="Helvetica Neue"/>
              </a:rPr>
              <a:t>Data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44368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YAML-defined, governed package for a business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73552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Links catalog assets + stewards + usage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602736"/>
            <a:ext cx="3209544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1">
                <a:solidFill>
                  <a:srgbClr val="6B778C"/>
                </a:solidFill>
                <a:latin typeface="Helvetica Neue"/>
              </a:rPr>
              <a:t>Marketplace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85616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Internal storefront: browse, badges, request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114800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Built for humans and AI agents to find trusted 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443984"/>
            <a:ext cx="3209544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1">
                <a:solidFill>
                  <a:srgbClr val="6B778C"/>
                </a:solidFill>
                <a:latin typeface="Helvetica Neue"/>
              </a:rPr>
              <a:t>Disney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626864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360s = domain containers (not always Data Products App)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56048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Marketplace capability only partially adopted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1847088"/>
            <a:ext cx="361188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1847088"/>
            <a:ext cx="3611880" cy="512064"/>
          </a:xfrm>
          <a:prstGeom prst="rect">
            <a:avLst/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1847088"/>
            <a:ext cx="324612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01A2E"/>
                </a:solidFill>
                <a:latin typeface="Helvetica Neue"/>
              </a:rPr>
              <a:t>SNOWFLAKE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450592"/>
            <a:ext cx="3209544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09AA6"/>
                </a:solidFill>
                <a:latin typeface="Helvetica Neue"/>
              </a:rPr>
              <a:t>Platform-native: shareable packages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761488"/>
            <a:ext cx="3209544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1">
                <a:solidFill>
                  <a:srgbClr val="6B778C"/>
                </a:solidFill>
                <a:latin typeface="Helvetica Neue"/>
              </a:rPr>
              <a:t>Data 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944368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Listing backed by secure share, Native App, or Connected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73552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Technical package consumers install or request access 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602736"/>
            <a:ext cx="3209544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1">
                <a:solidFill>
                  <a:srgbClr val="6B778C"/>
                </a:solidFill>
                <a:latin typeface="Helvetica Neue"/>
              </a:rPr>
              <a:t>Marketplace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785616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Internal Marketplace = intra-org discovery &amp; sharing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114800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Public Marketplace = external/partner/paid 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443984"/>
            <a:ext cx="3209544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1">
                <a:solidFill>
                  <a:srgbClr val="6B778C"/>
                </a:solidFill>
                <a:latin typeface="Helvetica Neue"/>
              </a:rPr>
              <a:t>Strength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626864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RBAC, masking, row policies, actual data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956048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Scoped to Snowflake accounts and listings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0144" y="1847088"/>
            <a:ext cx="3611880" cy="3401568"/>
          </a:xfrm>
          <a:prstGeom prst="rect">
            <a:avLst/>
          </a:prstGeom>
          <a:solidFill>
            <a:srgbClr val="FFFFFF"/>
          </a:solidFill>
          <a:ln w="19050">
            <a:solidFill>
              <a:srgbClr val="2D6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10144" y="1847088"/>
            <a:ext cx="3611880" cy="512064"/>
          </a:xfrm>
          <a:prstGeom prst="rect">
            <a:avLst/>
          </a:prstGeom>
          <a:solidFill>
            <a:srgbClr val="2D6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3024" y="1847088"/>
            <a:ext cx="324612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</a:rPr>
              <a:t>OMS / NAVIGATOR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2450592"/>
            <a:ext cx="3209544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2D6CE0"/>
                </a:solidFill>
                <a:latin typeface="Helvetica Neue"/>
              </a:rPr>
              <a:t>Target: federated business experience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2761488"/>
            <a:ext cx="3209544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1">
                <a:solidFill>
                  <a:srgbClr val="6B778C"/>
                </a:solidFill>
                <a:latin typeface="Helvetica Neue"/>
              </a:rPr>
              <a:t>Data product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2944368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Governed product pages on 360/domain taxonomy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3273552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Glossary, stewards, trust signals, cross-platform assets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602736"/>
            <a:ext cx="3209544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1">
                <a:solidFill>
                  <a:srgbClr val="6B778C"/>
                </a:solidFill>
                <a:latin typeface="Helvetica Neue"/>
              </a:rPr>
              <a:t>Marketplace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3785616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Navigator browse/search/trust UX for business users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4114800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Federate access requests to Snowflake Internal Marketplace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312" y="4443984"/>
            <a:ext cx="3209544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1">
                <a:solidFill>
                  <a:srgbClr val="6B778C"/>
                </a:solidFill>
                <a:latin typeface="Helvetica Neue"/>
              </a:rPr>
              <a:t>Pattern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4626864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Discover &amp; trust in Navigator; consume via Snowflake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4956048"/>
            <a:ext cx="3209544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405C"/>
                </a:solidFill>
                <a:latin typeface="Helvetica Neue"/>
              </a:rPr>
              <a:t>•  OMS = metadata store; not a second delivery plane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376672"/>
            <a:ext cx="111373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5468112"/>
            <a:ext cx="15087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1">
                <a:solidFill>
                  <a:srgbClr val="6B778C"/>
                </a:solidFill>
                <a:latin typeface="Helvetica Neue"/>
              </a:rPr>
              <a:t>Dimension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1720" y="5468112"/>
            <a:ext cx="2423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1">
                <a:solidFill>
                  <a:srgbClr val="6B778C"/>
                </a:solidFill>
                <a:latin typeface="Helvetica Neue"/>
              </a:rPr>
              <a:t>Alation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2040" y="5468112"/>
            <a:ext cx="2423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1">
                <a:solidFill>
                  <a:srgbClr val="6B778C"/>
                </a:solidFill>
                <a:latin typeface="Helvetica Neue"/>
              </a:rPr>
              <a:t>Snowflake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5468112"/>
            <a:ext cx="3977639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1">
                <a:solidFill>
                  <a:srgbClr val="6B778C"/>
                </a:solidFill>
                <a:latin typeface="Helvetica Neue"/>
              </a:rPr>
              <a:t>OMS / Navigator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669280"/>
            <a:ext cx="150876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01A2E"/>
                </a:solidFill>
                <a:latin typeface="Helvetica Neue"/>
              </a:rPr>
              <a:t>Starts from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31720" y="5669280"/>
            <a:ext cx="242316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33405C"/>
                </a:solidFill>
                <a:latin typeface="Helvetica Neue"/>
              </a:rPr>
              <a:t>Business use case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92040" y="5669280"/>
            <a:ext cx="242316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33405C"/>
                </a:solidFill>
                <a:latin typeface="Helvetica Neue"/>
              </a:rPr>
              <a:t>Technical share/listing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5669280"/>
            <a:ext cx="3977639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33405C"/>
                </a:solidFill>
                <a:latin typeface="Helvetica Neue"/>
              </a:rPr>
              <a:t>Consumer trust + federation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" y="5815584"/>
            <a:ext cx="150876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01A2E"/>
                </a:solidFill>
                <a:latin typeface="Helvetica Neue"/>
              </a:rPr>
              <a:t>Access enforced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31720" y="5815584"/>
            <a:ext cx="242316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33405C"/>
                </a:solidFill>
                <a:latin typeface="Helvetica Neue"/>
              </a:rPr>
              <a:t>Request workflow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92040" y="5815584"/>
            <a:ext cx="242316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33405C"/>
                </a:solidFill>
                <a:latin typeface="Helvetica Neue"/>
              </a:rPr>
              <a:t>Snowflake RBAC &amp; grants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5815584"/>
            <a:ext cx="3977639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33405C"/>
                </a:solidFill>
                <a:latin typeface="Helvetica Neue"/>
              </a:rPr>
              <a:t>Hand off to Snowflake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" y="5961888"/>
            <a:ext cx="150876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01A2E"/>
                </a:solidFill>
                <a:latin typeface="Helvetica Neue"/>
              </a:rPr>
              <a:t>Scope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5961888"/>
            <a:ext cx="242316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33405C"/>
                </a:solidFill>
                <a:latin typeface="Helvetica Neue"/>
              </a:rPr>
              <a:t>Cross-platform catalog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92040" y="5961888"/>
            <a:ext cx="242316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33405C"/>
                </a:solidFill>
                <a:latin typeface="Helvetica Neue"/>
              </a:rPr>
              <a:t>Snowflake estate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52360" y="5961888"/>
            <a:ext cx="3977639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33405C"/>
                </a:solidFill>
                <a:latin typeface="Helvetica Neue"/>
              </a:rPr>
              <a:t>Enterprise catalog on OMS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6108192"/>
            <a:ext cx="11137392" cy="384048"/>
          </a:xfrm>
          <a:prstGeom prst="rect">
            <a:avLst/>
          </a:prstGeom>
          <a:solidFill>
            <a:srgbClr val="EAF0FB"/>
          </a:solidFill>
          <a:ln w="12700">
            <a:solidFill>
              <a:srgbClr val="1F9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" y="6108192"/>
            <a:ext cx="109728" cy="384048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" y="6108192"/>
            <a:ext cx="10698480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9D6B"/>
                </a:solidFill>
                <a:latin typeface="Helvetica Neue"/>
              </a:rPr>
              <a:t>TARGET PATTERN: </a:t>
            </a:r>
            <a:r>
              <a:rPr sz="1050" b="1">
                <a:solidFill>
                  <a:srgbClr val="101A2E"/>
                </a:solidFill>
                <a:latin typeface="Helvetica Neue"/>
              </a:rPr>
              <a:t>Navigator = discover &amp; trust</a:t>
            </a:r>
            <a:r>
              <a:rPr sz="1050" b="0">
                <a:solidFill>
                  <a:srgbClr val="6B778C"/>
                </a:solidFill>
                <a:latin typeface="Helvetica Neue"/>
              </a:rPr>
              <a:t>  ·  </a:t>
            </a:r>
            <a:r>
              <a:rPr sz="1050" b="1">
                <a:solidFill>
                  <a:srgbClr val="101A2E"/>
                </a:solidFill>
                <a:latin typeface="Helvetica Neue"/>
              </a:rPr>
              <a:t>Snowflake Internal Marketplace = access delivery</a:t>
            </a:r>
            <a:r>
              <a:rPr sz="1050" b="0">
                <a:solidFill>
                  <a:srgbClr val="6B778C"/>
                </a:solidFill>
                <a:latin typeface="Helvetica Neue"/>
              </a:rPr>
              <a:t>  ·  </a:t>
            </a:r>
            <a:r>
              <a:rPr sz="1050" b="0">
                <a:solidFill>
                  <a:srgbClr val="33405C"/>
                </a:solidFill>
                <a:latin typeface="Helvetica Neue"/>
              </a:rPr>
              <a:t>360/domain taxonomy = accountability layer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6510528"/>
            <a:ext cx="11183112" cy="12700"/>
          </a:xfrm>
          <a:prstGeom prst="rect">
            <a:avLst/>
          </a:prstGeom>
          <a:solidFill>
            <a:srgbClr val="DD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6565392"/>
            <a:ext cx="11183112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50" b="0">
                <a:solidFill>
                  <a:srgbClr val="6B778C"/>
                </a:solidFill>
                <a:latin typeface="Helvetica Neue"/>
              </a:rPr>
              <a:t>Business Data Catalog  ·  Alation exit  ·  DEEPT  · 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