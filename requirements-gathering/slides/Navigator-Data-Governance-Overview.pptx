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77639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Navigator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C5D4E3"/>
                </a:solidFill>
                <a:latin typeface="Calibri"/>
              </a:rPr>
              <a:t>The collective data governance product family for DEEPT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BCD4"/>
                </a:solidFill>
                <a:latin typeface="Calibri"/>
              </a:rPr>
              <a:t>Programs · Catalog · Policy · Inventory ·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43400"/>
            <a:ext cx="10515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One umbrella story connecting the governance portal, Business Data Catalog on OMS, the Policy Drive Governance Framework, and Kronos business inventory—without duplicating platform stores or blurring build ownership.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D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Disney Entertainment &amp; ESPN Technology · Data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Why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011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2744"/>
                </a:solidFill>
                <a:latin typeface="Calibri"/>
              </a:rPr>
              <a:t>Alation exit and OMS maturation require a coherent governance product—not another disconnected toolset.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611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73152" cy="2148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0992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Continuity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39112"/>
            <a:ext cx="3337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Stewards and analysts need search, glossary, ownership, and tags on OMS—not a return to spreadsheets and Slack threads when Alation sunsets.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611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00200"/>
            <a:ext cx="73152" cy="2148840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70992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Coherence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039112"/>
            <a:ext cx="3337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Privacy, security, regulatory, and catalog work already span PULS, Access Manager, Kronos, and program queues. Navigator orients users across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600200"/>
            <a:ext cx="3611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600200"/>
            <a:ext cx="73152" cy="214884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70992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Clarity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039112"/>
            <a:ext cx="3337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OMS Foundations owns the store and APIs. Data Governance owns business-facing shells. Navigator makes that boundary explicit and defensible.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77639"/>
            <a:ext cx="11018520" cy="960120"/>
          </a:xfrm>
          <a:prstGeom prst="roundRect">
            <a:avLst/>
          </a:prstGeom>
          <a:solidFill>
            <a:srgbClr val="E4EEF8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744"/>
                </a:solidFill>
                <a:latin typeface="Calibri"/>
              </a:rPr>
              <a:t>Navigator answers two questions for every user:  Where is my program work?   and   Where is the governed data?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D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DEEPT · Data Governance · Navigator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One product family, four named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011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Oval 5"/>
          <p:cNvSpPr/>
          <p:nvPr/>
        </p:nvSpPr>
        <p:spPr>
          <a:xfrm>
            <a:off x="4709160" y="2331720"/>
            <a:ext cx="2743200" cy="1417320"/>
          </a:xfrm>
          <a:prstGeom prst="ellipse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274320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Navigator</a:t>
            </a:r>
            <a:br/>
            <a:r>
              <a:t>(umbrella)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73152" cy="1417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34416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Navigator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673352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Governance home &amp; program operations</a:t>
            </a:r>
            <a:br/>
            <a:r>
              <a:t>Privacy · Platform · Security · Regulatory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23444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234440"/>
            <a:ext cx="73152" cy="1417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134416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Business Data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1673352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Business-first UI on OMS APIs</a:t>
            </a:r>
            <a:br/>
            <a:r>
              <a:t>Discovery · Glossary · Stewardship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16052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160520"/>
            <a:ext cx="73152" cy="1417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27024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Policy Drive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599432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PULS · Access Manager · Gov App backend</a:t>
            </a:r>
            <a:br/>
            <a:r>
              <a:t>Classifications · Policies · 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416052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4160520"/>
            <a:ext cx="73152" cy="1417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67928" y="427024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Kronos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4599432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Business inventory (SISU Postgres)</a:t>
            </a:r>
            <a:br/>
            <a:r>
              <a:t>Regulatory · Inventory deep link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1920240"/>
            <a:ext cx="86868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920240"/>
            <a:ext cx="86868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0" y="4846320"/>
            <a:ext cx="86868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4846320"/>
            <a:ext cx="86868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D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DEEPT · Data Governance · Navigator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Navigator portal — program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011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6570"/>
                </a:solidFill>
                <a:latin typeface="Calibri"/>
              </a:rPr>
              <a:t>Formerly Governance Portal. Orients governance operators; does not replace Kronos or PULS.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5440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73152" cy="1600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18488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47672"/>
            <a:ext cx="5166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Consent · DSRs · Tracker remediation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440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73152" cy="1600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618488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947672"/>
            <a:ext cx="5166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Stewards → BDC · Classifications · Policies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383279"/>
            <a:ext cx="5440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383279"/>
            <a:ext cx="73152" cy="1600200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493007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822191"/>
            <a:ext cx="5166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Access · GIS · Data 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83279"/>
            <a:ext cx="5440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383279"/>
            <a:ext cx="73152" cy="16002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493007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Regulatory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822191"/>
            <a:ext cx="5166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Laws &amp; regulations · Incidents · Inventory → Kronos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49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Governance Overview aggregates posture metrics for leadership reporting.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Workflow UIs connect to Gov App backend; evidence export supports audit cycles.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D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DEEPT · Data Governance · Navigator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Business Data Catalog — governed metadata on 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011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6858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Calibri"/>
              </a:rPr>
              <a:t>The daily workspace for stewards, analysts, and engineers. Consumes OMS—it does not re-implement ingestion or the graph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Data Sources, Catalog browse, Glossary, asset detail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Ownership, tags/classifications, lineage (where OMS graph supports)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Opened from left nav or Navigator Platform → Stewards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MVP: high-value Alation workflow parity for in-scope domains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234440"/>
            <a:ext cx="50292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4173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744"/>
                </a:solidFill>
                <a:latin typeface="Calibri"/>
              </a:rPr>
              <a:t>Build ownership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8288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565C0"/>
                </a:solidFill>
                <a:latin typeface="Calibri"/>
              </a:rPr>
              <a:t>Data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82880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BDC product, UX, stewardship 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5146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565C0"/>
                </a:solidFill>
                <a:latin typeface="Calibri"/>
              </a:rPr>
              <a:t>OMS 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51460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Store, connectors, APIs,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2004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565C0"/>
                </a:solidFill>
                <a:latin typeface="Calibri"/>
              </a:rPr>
              <a:t>Not in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20040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Duplicate ingestion or second catalog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977639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744"/>
                </a:solidFill>
                <a:latin typeface="Calibri"/>
              </a:rPr>
              <a:t>OMS is the engine. BDC is how the governance program experiences catalog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D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DEEPT · Data Governance · Navigator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Policy Drive Governance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011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6570"/>
                </a:solidFill>
                <a:latin typeface="Calibri"/>
              </a:rPr>
              <a:t>Authoritative policy and control metadata behind Navigator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303520" cy="397763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PULS Postgres (system of record)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Classifications &amp; tag definitions — sensitivity, domain, control labels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Policies — obligations and control mappings to asset populations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Metrics — governance KPIs feeding Governance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1234440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52704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Access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856232"/>
            <a:ext cx="5074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Bidirectional read/update with PULS classifications. Where governance meets access enforcement.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834640"/>
            <a:ext cx="5349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834640"/>
            <a:ext cx="73152" cy="1234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294436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Gov App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273552"/>
            <a:ext cx="5074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API layer for Navigator workflow UIs. Read/update policies and metrics with audit logging.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251960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4251960"/>
            <a:ext cx="73152" cy="1143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436168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Open design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4690872"/>
            <a:ext cx="5074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OMS → PULS read path (direct vs. via Gov App API) — affects BDC classification display.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D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DEEPT · Data Governance · Navigator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Kronos — business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011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Calibri"/>
              </a:rPr>
              <a:t>Business context lives here—not in OMS technical metadata. Navigator links out; it does not fork inventory.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5394960" cy="356616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1E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What Kronos 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Authoritative business inventory on SISU Postgres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Business purpose, obligations, and inventory completeness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Complements OMS tables, columns, and lineage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Regulatory-facing; edited in Kronos, not duplicated in Navigator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73152" cy="14630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6642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Navigator 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993392"/>
            <a:ext cx="4937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Regulatory dimension → Inventory opens Kronos (dcf.corp.dig.com/vista/kronos/).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4612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246120"/>
            <a:ext cx="73152" cy="146304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335584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Future posture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685032"/>
            <a:ext cx="4937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Inventory completeness metrics may appear on Governance Overview; curation stays in Kronos.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D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DEEPT · Data Governance · Navigator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Architecture — three platform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011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204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744"/>
                </a:solidFill>
                <a:latin typeface="Calibri"/>
              </a:rPr>
              <a:t>SISU / Kronos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Business inventory</a:t>
            </a:r>
            <a:br/>
            <a:r>
              <a:t>(Postgres)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17320"/>
            <a:ext cx="35204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0020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744"/>
                </a:solidFill>
                <a:latin typeface="Calibri"/>
              </a:rPr>
              <a:t>Governance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PULS · Access Mgr · Gov App</a:t>
            </a:r>
            <a:br/>
            <a:r>
              <a:t>Classifications · Policies ·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5204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60020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744"/>
                </a:solidFill>
                <a:latin typeface="Calibri"/>
              </a:rPr>
              <a:t>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05740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Technical metadata hub</a:t>
            </a:r>
            <a:br/>
            <a:r>
              <a:t>APIs · Graph · Warehouses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977639"/>
            <a:ext cx="2011680" cy="6858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41148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2744"/>
                </a:solidFill>
                <a:latin typeface="Calibri"/>
              </a:rPr>
              <a:t>Business Data</a:t>
            </a:r>
            <a:br/>
            <a:r>
              <a:t>Catalog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3977639"/>
            <a:ext cx="2194560" cy="6858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1E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41148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2744"/>
                </a:solidFill>
                <a:latin typeface="Calibri"/>
              </a:rPr>
              <a:t>Navigator</a:t>
            </a:r>
            <a:br/>
            <a:r>
              <a:t>portal UIs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977639"/>
            <a:ext cx="1645920" cy="6858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60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2744"/>
                </a:solidFill>
                <a:latin typeface="Calibri"/>
              </a:rPr>
              <a:t>Kronos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92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C6570"/>
                </a:solidFill>
                <a:latin typeface="Calibri"/>
              </a:rPr>
              <a:t>UI layers read from their authoritative stores. Navigator orchestrates; it does not collapse three platforms into one database.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D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DEEPT · Data Governance · Navigator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Who builds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011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110185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657600"/>
                <a:gridCol w="4069080"/>
              </a:tblGrid>
              <a:tr h="5105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Product / program owner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Platform owner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Navigator portal &amp;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Data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Gov App backend with SISU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Business Data Catalog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Data Governance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OMS APIs (OMS Foundations)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PULS / classifications / policies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Data Governance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SISU relational stack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Kronos inventory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Inventory program operators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SISU Postgres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OMS store &amp; 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OMS Foundations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6177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744"/>
                </a:solidFill>
                <a:latin typeface="Calibri"/>
              </a:rPr>
              <a:t>Clear ownership prevents “another OMS” scope creep and keeps migration delivery credible.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D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DEEPT · Data Governance · Navigator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Phased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011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64592" cy="10515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744"/>
                </a:solidFill>
                <a:latin typeface="Calibri"/>
              </a:rPr>
              <a:t>Phase 1 —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1848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BDC MVP on OMS APIs · Navigator IA &amp; wireframes · Kronos inventory link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164592" cy="1051560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744"/>
                </a:solidFill>
                <a:latin typeface="Calibri"/>
              </a:rPr>
              <a:t>Phase 2 —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3580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Gov App backend + PULS paths · Classifications &amp; policy workflows in Navigator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069080"/>
            <a:ext cx="164592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744"/>
                </a:solidFill>
                <a:latin typeface="Calibri"/>
              </a:rPr>
              <a:t>Phase 3 — Mature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531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Metrics governance UI · OMS↔PULS read model · executive reporting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92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5C6570"/>
                </a:solidFill>
                <a:latin typeface="Calibri"/>
              </a:rPr>
              <a:t>Front-load catalog continuity to de-risk Alation exit.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5C6570"/>
                </a:solidFill>
                <a:latin typeface="Calibri"/>
              </a:rPr>
              <a:t>Sequence PULS integration without blocking BDC on OMS.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5C6570"/>
                </a:solidFill>
                <a:latin typeface="Calibri"/>
              </a:rPr>
              <a:t>Defer low-adoption features until migration must-haves are proven.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D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DEEPT · Data Governance · Navigator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C5D4E3"/>
                </a:solidFill>
                <a:latin typeface="Calibri"/>
              </a:rPr>
              <a:t>One governance program. Clear platform boundaries. Coordinated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A8BCD4"/>
                </a:solidFill>
                <a:latin typeface="Calibri"/>
              </a:rPr>
              <a:t>Wireframes · PRD · Architecture diagram available in program 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