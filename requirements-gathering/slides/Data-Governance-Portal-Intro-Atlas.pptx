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sldIdLst>
    <p:sldId id="256" r:id="rId10"/>
    <p:sldId id="257" r:id="rId11"/>
    <p:sldId id="258" r:id="rId12"/>
    <p:sldId id="259" r:id="rId9"/>
    <p:sldId id="260" r:id="rId8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8" Type="http://schemas.openxmlformats.org/officeDocument/2006/relationships/slide" Target="slides/slide5.xml"/><Relationship Id="rId9" Type="http://schemas.openxmlformats.org/officeDocument/2006/relationships/slide" Target="slides/slide4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90E351CB-6266-4260-AFA3-2A1CB56EF935}" type="datetimeFigureOut">
              <a:rPr lang="en-US" smtClean="0"/>
              <a:t>2/5/2026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6D1B59E4-3D55-4BBD-91CA-A34BEA30CD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130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image" Target="../media/image19.png"/><Relationship Id="rId17" Type="http://schemas.openxmlformats.org/officeDocument/2006/relationships/image" Target="../media/image20.png"/><Relationship Id="rId18" Type="http://schemas.openxmlformats.org/officeDocument/2006/relationships/image" Target="../media/image21.png"/><Relationship Id="rId19" Type="http://schemas.openxmlformats.org/officeDocument/2006/relationships/image" Target="../media/image22.png"/><Relationship Id="rId20" Type="http://schemas.openxmlformats.org/officeDocument/2006/relationships/image" Target="../media/image23.png"/><Relationship Id="rId21" Type="http://schemas.openxmlformats.org/officeDocument/2006/relationships/image" Target="../media/image24.png"/><Relationship Id="rId22" Type="http://schemas.openxmlformats.org/officeDocument/2006/relationships/image" Target="../media/image25.png"/><Relationship Id="rId23" Type="http://schemas.openxmlformats.org/officeDocument/2006/relationships/image" Target="../media/image26.png"/><Relationship Id="rId24" Type="http://schemas.openxmlformats.org/officeDocument/2006/relationships/image" Target="../media/image27.png"/><Relationship Id="rId25" Type="http://schemas.openxmlformats.org/officeDocument/2006/relationships/image" Target="../media/image28.png"/><Relationship Id="rId26" Type="http://schemas.openxmlformats.org/officeDocument/2006/relationships/image" Target="../media/image29.png"/><Relationship Id="rId27" Type="http://schemas.openxmlformats.org/officeDocument/2006/relationships/image" Target="../media/image30.png"/><Relationship Id="rId28" Type="http://schemas.openxmlformats.org/officeDocument/2006/relationships/image" Target="../media/image31.png"/><Relationship Id="rId29" Type="http://schemas.openxmlformats.org/officeDocument/2006/relationships/image" Target="../media/image32.png"/><Relationship Id="rId30" Type="http://schemas.openxmlformats.org/officeDocument/2006/relationships/image" Target="../media/image33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.bin"/><Relationship Id="rId4" Type="http://schemas.openxmlformats.org/officeDocument/2006/relationships/image" Target="../media/image34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 preserve="1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5611" y="992767"/>
            <a:ext cx="11360800" cy="273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>
                <a:solidFill>
                  <a:schemeClr val="tx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5600" y="3778833"/>
            <a:ext cx="11360800" cy="10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CONFIDENTIAL   |   THE WALT DISNEY COMPANY</a:t>
            </a:r>
          </a:p>
        </p:txBody>
      </p:sp>
    </p:spTree>
    <p:extLst>
      <p:ext uri="{BB962C8B-B14F-4D97-AF65-F5344CB8AC3E}">
        <p14:creationId xmlns:p14="http://schemas.microsoft.com/office/powerpoint/2010/main" val="2560245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 preserve="1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CONFIDENTIAL   |   THE WALT DISNEY COMPANY</a:t>
            </a:r>
          </a:p>
        </p:txBody>
      </p:sp>
      <p:sp>
        <p:nvSpPr>
          <p:cNvPr id="7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11560048" y="6356350"/>
            <a:ext cx="7316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"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00000000-1234-1234-1234-123412341234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8410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 preserve="1">
  <p:cSld name="Title 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CONFIDENTIAL   |   THE WALT DISNEY COMPANY</a:t>
            </a:r>
          </a:p>
        </p:txBody>
      </p:sp>
      <p:sp>
        <p:nvSpPr>
          <p:cNvPr id="2" name="Google Shape;12;p2">
            <a:extLst>
              <a:ext uri="{FF2B5EF4-FFF2-40B4-BE49-F238E27FC236}">
                <a16:creationId xmlns:a16="http://schemas.microsoft.com/office/drawing/2014/main" id="{1FC84697-FB36-BD58-43A8-07926954B41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60048" y="6356350"/>
            <a:ext cx="7316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"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00000000-1234-1234-1234-123412341234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291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CONFIDENTIAL   |   THE WALT DISNEY COMPANY</a:t>
            </a:r>
          </a:p>
        </p:txBody>
      </p:sp>
      <p:sp>
        <p:nvSpPr>
          <p:cNvPr id="2" name="Google Shape;12;p2">
            <a:extLst>
              <a:ext uri="{FF2B5EF4-FFF2-40B4-BE49-F238E27FC236}">
                <a16:creationId xmlns:a16="http://schemas.microsoft.com/office/drawing/2014/main" id="{309C7193-347F-6B86-67BB-C09B4C4577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1560048" y="6356350"/>
            <a:ext cx="7316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" sz="1200" smtClea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/>
            <a:fld id="{00000000-1234-1234-1234-123412341234}" type="slidenum">
              <a:rPr lang="en-US" smtClean="0"/>
              <a:pPr algn="ctr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647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ag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luer Background Brighter_MAGIC 3.png" descr="Bluer Background Brighter_MAGIC 3.png">
            <a:extLst>
              <a:ext uri="{FF2B5EF4-FFF2-40B4-BE49-F238E27FC236}">
                <a16:creationId xmlns:a16="http://schemas.microsoft.com/office/drawing/2014/main" id="{F691F5EE-D07A-9DAE-ED5D-D579AB2AD5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-1" y="0"/>
            <a:ext cx="12192001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5" name="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603250" y="5893012"/>
            <a:ext cx="10985500" cy="520814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1700" b="0" i="0" cap="all">
                <a:solidFill>
                  <a:srgbClr val="FFFFFF"/>
                </a:solidFill>
                <a:latin typeface="InspireTWDC" pitchFamily="2" charset="77"/>
              </a:defRPr>
            </a:lvl1pPr>
          </a:lstStyle>
          <a:p>
            <a:r>
              <a:rPr lang="en-US"/>
              <a:t>Date</a:t>
            </a:r>
            <a:endParaRPr/>
          </a:p>
        </p:txBody>
      </p:sp>
      <p:sp>
        <p:nvSpPr>
          <p:cNvPr id="36" name="With Subheader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603250" y="4182083"/>
            <a:ext cx="10985500" cy="520814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412750">
              <a:lnSpc>
                <a:spcPct val="100000"/>
              </a:lnSpc>
              <a:spcBef>
                <a:spcPts val="0"/>
              </a:spcBef>
              <a:buSzTx/>
              <a:buNone/>
              <a:defRPr sz="2000" b="0" i="0" cap="all" spc="300">
                <a:solidFill>
                  <a:srgbClr val="FFFFFF"/>
                </a:solidFill>
                <a:latin typeface="InspireTWDC" pitchFamily="2" charset="77"/>
              </a:defRPr>
            </a:lvl1pPr>
          </a:lstStyle>
          <a:p>
            <a:r>
              <a:rPr lang="en-US"/>
              <a:t>With </a:t>
            </a:r>
            <a:r>
              <a:rPr lang="en-US" err="1"/>
              <a:t>Subheader</a:t>
            </a:r>
            <a:endParaRPr/>
          </a:p>
        </p:txBody>
      </p:sp>
      <p:sp>
        <p:nvSpPr>
          <p:cNvPr id="38" name="CONFIDENTIAL"/>
          <p:cNvSpPr txBox="1"/>
          <p:nvPr/>
        </p:nvSpPr>
        <p:spPr>
          <a:xfrm>
            <a:off x="4770760" y="6573062"/>
            <a:ext cx="2650480" cy="3426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2860" rIns="22860"/>
          <a:lstStyle>
            <a:lvl1pPr defTabSz="825500">
              <a:lnSpc>
                <a:spcPct val="80000"/>
              </a:lnSpc>
              <a:defRPr sz="1600" spc="480">
                <a:solidFill>
                  <a:srgbClr val="FFFFFF"/>
                </a:solidFill>
              </a:defRPr>
            </a:lvl1pPr>
          </a:lstStyle>
          <a:p>
            <a:pPr algn="ctr"/>
            <a:r>
              <a:rPr lang="en-US" sz="800" b="0" i="0" spc="300">
                <a:latin typeface="InspireTWDC" pitchFamily="2" charset="77"/>
              </a:rPr>
              <a:t>CONFIDENTIAL</a:t>
            </a:r>
          </a:p>
        </p:txBody>
      </p:sp>
      <p:pic>
        <p:nvPicPr>
          <p:cNvPr id="40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4374" y="1391274"/>
            <a:ext cx="3743254" cy="566687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InspireTWDC" pitchFamily="2" charset="77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564DB422-8C8B-A846-980F-04D24870533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02457" y="2140744"/>
            <a:ext cx="11006138" cy="1896269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000" b="0" i="0">
                <a:solidFill>
                  <a:srgbClr val="FFFFFF"/>
                </a:solidFill>
                <a:latin typeface="InspireTWDC Medium" pitchFamily="2" charset="77"/>
              </a:defRPr>
            </a:lvl1pPr>
          </a:lstStyle>
          <a:p>
            <a:pPr lvl="0"/>
            <a:r>
              <a:rPr lang="en-US"/>
              <a:t>TWO-LINE </a:t>
            </a:r>
            <a:br>
              <a:rPr lang="en-US"/>
            </a:br>
            <a:r>
              <a:rPr lang="en-US"/>
              <a:t>PRESENTATION TITLE</a:t>
            </a:r>
          </a:p>
        </p:txBody>
      </p:sp>
      <p:sp>
        <p:nvSpPr>
          <p:cNvPr id="4" name="© Disney">
            <a:extLst>
              <a:ext uri="{FF2B5EF4-FFF2-40B4-BE49-F238E27FC236}">
                <a16:creationId xmlns:a16="http://schemas.microsoft.com/office/drawing/2014/main" id="{3D7B9CB3-9A9F-8F87-6049-9C2FBDF2BC41}"/>
              </a:ext>
            </a:extLst>
          </p:cNvPr>
          <p:cNvSpPr txBox="1"/>
          <p:nvPr userDrawn="1"/>
        </p:nvSpPr>
        <p:spPr>
          <a:xfrm>
            <a:off x="11408448" y="6572555"/>
            <a:ext cx="696911" cy="2058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2860" rIns="22860">
            <a:normAutofit lnSpcReduction="10000"/>
          </a:bodyPr>
          <a:lstStyle/>
          <a:p>
            <a:pPr algn="r" defTabSz="412750">
              <a:defRPr sz="1300" cap="all">
                <a:solidFill>
                  <a:srgbClr val="FFFFFF"/>
                </a:solidFill>
              </a:defRPr>
            </a:pPr>
            <a:r>
              <a:rPr lang="en-US" sz="800" b="0" i="0" spc="150">
                <a:solidFill>
                  <a:srgbClr val="FFFFFF">
                    <a:alpha val="35000"/>
                  </a:srgbClr>
                </a:solidFill>
                <a:latin typeface="InspireTWDC" pitchFamily="2" charset="77"/>
              </a:rPr>
              <a:t>©D</a:t>
            </a:r>
            <a:r>
              <a:rPr sz="800" b="0" i="0" spc="150">
                <a:solidFill>
                  <a:srgbClr val="FFFFFF">
                    <a:alpha val="35000"/>
                  </a:srgbClr>
                </a:solidFill>
                <a:latin typeface="InspireTWDC" pitchFamily="2" charset="77"/>
              </a:rPr>
              <a:t>isney</a:t>
            </a:r>
          </a:p>
        </p:txBody>
      </p:sp>
    </p:spTree>
    <p:extLst>
      <p:ext uri="{BB962C8B-B14F-4D97-AF65-F5344CB8AC3E}">
        <p14:creationId xmlns:p14="http://schemas.microsoft.com/office/powerpoint/2010/main" val="2339554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 preserve="1">
  <p:cSld name="Icons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uer Background Brighter_Blank.png" descr="Bluer Background Brighter_Blank.png">
            <a:extLst>
              <a:ext uri="{FF2B5EF4-FFF2-40B4-BE49-F238E27FC236}">
                <a16:creationId xmlns:a16="http://schemas.microsoft.com/office/drawing/2014/main" id="{F36811A7-2B4E-1BD7-A246-B7D80D9C80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68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7599" y="3748511"/>
            <a:ext cx="744959" cy="746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686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0484" y="824471"/>
            <a:ext cx="604115" cy="689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687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6777" y="3757959"/>
            <a:ext cx="689903" cy="689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688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15162" y="3757959"/>
            <a:ext cx="689903" cy="689903"/>
          </a:xfrm>
          <a:prstGeom prst="rect">
            <a:avLst/>
          </a:prstGeom>
          <a:ln w="12700">
            <a:miter lim="400000"/>
          </a:ln>
        </p:spPr>
      </p:pic>
      <p:pic>
        <p:nvPicPr>
          <p:cNvPr id="689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2188" y="887413"/>
            <a:ext cx="639080" cy="639080"/>
          </a:xfrm>
          <a:prstGeom prst="rect">
            <a:avLst/>
          </a:prstGeom>
          <a:ln w="12700">
            <a:miter lim="400000"/>
          </a:ln>
        </p:spPr>
      </p:pic>
      <p:pic>
        <p:nvPicPr>
          <p:cNvPr id="690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0047" y="922229"/>
            <a:ext cx="660064" cy="644691"/>
          </a:xfrm>
          <a:prstGeom prst="rect">
            <a:avLst/>
          </a:prstGeom>
          <a:ln w="12700">
            <a:miter lim="400000"/>
          </a:ln>
        </p:spPr>
      </p:pic>
      <p:pic>
        <p:nvPicPr>
          <p:cNvPr id="691" name="Image" descr="Imag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98997" y="911818"/>
            <a:ext cx="643935" cy="665512"/>
          </a:xfrm>
          <a:prstGeom prst="rect">
            <a:avLst/>
          </a:prstGeom>
          <a:ln w="12700">
            <a:miter lim="400000"/>
          </a:ln>
        </p:spPr>
      </p:pic>
      <p:pic>
        <p:nvPicPr>
          <p:cNvPr id="692" name="Image" descr="Image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31009" y="987044"/>
            <a:ext cx="597841" cy="515062"/>
          </a:xfrm>
          <a:prstGeom prst="rect">
            <a:avLst/>
          </a:prstGeom>
          <a:ln w="12700">
            <a:miter lim="400000"/>
          </a:ln>
        </p:spPr>
      </p:pic>
      <p:pic>
        <p:nvPicPr>
          <p:cNvPr id="693" name="Image" descr="Imag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46749" y="917028"/>
            <a:ext cx="654229" cy="655092"/>
          </a:xfrm>
          <a:prstGeom prst="rect">
            <a:avLst/>
          </a:prstGeom>
          <a:ln w="12700">
            <a:miter lim="400000"/>
          </a:ln>
        </p:spPr>
      </p:pic>
      <p:pic>
        <p:nvPicPr>
          <p:cNvPr id="694" name="Image" descr="Imag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47081" y="2341775"/>
            <a:ext cx="610919" cy="630853"/>
          </a:xfrm>
          <a:prstGeom prst="rect">
            <a:avLst/>
          </a:prstGeom>
          <a:ln w="12700">
            <a:miter lim="400000"/>
          </a:ln>
        </p:spPr>
      </p:pic>
      <p:pic>
        <p:nvPicPr>
          <p:cNvPr id="695" name="Image" descr="Image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80012" y="5084089"/>
            <a:ext cx="639484" cy="625376"/>
          </a:xfrm>
          <a:prstGeom prst="rect">
            <a:avLst/>
          </a:prstGeom>
          <a:ln w="12700">
            <a:miter lim="400000"/>
          </a:ln>
        </p:spPr>
      </p:pic>
      <p:pic>
        <p:nvPicPr>
          <p:cNvPr id="696" name="Image" descr="Image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541752" y="2381126"/>
            <a:ext cx="624368" cy="595249"/>
          </a:xfrm>
          <a:prstGeom prst="rect">
            <a:avLst/>
          </a:prstGeom>
          <a:ln w="12700">
            <a:miter lim="400000"/>
          </a:ln>
        </p:spPr>
      </p:pic>
      <p:pic>
        <p:nvPicPr>
          <p:cNvPr id="697" name="Image" descr="Image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48901" y="2363019"/>
            <a:ext cx="529099" cy="588364"/>
          </a:xfrm>
          <a:prstGeom prst="rect">
            <a:avLst/>
          </a:prstGeom>
          <a:ln w="12700">
            <a:miter lim="400000"/>
          </a:ln>
        </p:spPr>
      </p:pic>
      <p:pic>
        <p:nvPicPr>
          <p:cNvPr id="698" name="Image" descr="Imag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25160" y="2347340"/>
            <a:ext cx="534284" cy="6628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99" name="Image" descr="Image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083790" y="2414714"/>
            <a:ext cx="652228" cy="484975"/>
          </a:xfrm>
          <a:prstGeom prst="rect">
            <a:avLst/>
          </a:prstGeom>
          <a:ln w="12700">
            <a:miter lim="400000"/>
          </a:ln>
        </p:spPr>
      </p:pic>
      <p:pic>
        <p:nvPicPr>
          <p:cNvPr id="700" name="Image" descr="Image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5716915" y="3836461"/>
            <a:ext cx="593071" cy="571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701" name="Image" descr="Image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373535" y="2334442"/>
            <a:ext cx="652438" cy="547561"/>
          </a:xfrm>
          <a:prstGeom prst="rect">
            <a:avLst/>
          </a:prstGeom>
          <a:ln w="12700">
            <a:miter lim="400000"/>
          </a:ln>
        </p:spPr>
      </p:pic>
      <p:pic>
        <p:nvPicPr>
          <p:cNvPr id="702" name="Image" descr="Image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072893" y="3804208"/>
            <a:ext cx="438818" cy="597406"/>
          </a:xfrm>
          <a:prstGeom prst="rect">
            <a:avLst/>
          </a:prstGeom>
          <a:ln w="12700">
            <a:miter lim="400000"/>
          </a:ln>
        </p:spPr>
      </p:pic>
      <p:pic>
        <p:nvPicPr>
          <p:cNvPr id="703" name="Image" descr="Image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183396" y="3812443"/>
            <a:ext cx="580935" cy="580935"/>
          </a:xfrm>
          <a:prstGeom prst="rect">
            <a:avLst/>
          </a:prstGeom>
          <a:ln w="12700">
            <a:miter lim="400000"/>
          </a:ln>
        </p:spPr>
      </p:pic>
      <p:pic>
        <p:nvPicPr>
          <p:cNvPr id="704" name="Image" descr="Image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409105" y="3843888"/>
            <a:ext cx="581298" cy="5180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05" name="Image" descr="Image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979016" y="5129711"/>
            <a:ext cx="562195" cy="591668"/>
          </a:xfrm>
          <a:prstGeom prst="rect">
            <a:avLst/>
          </a:prstGeom>
          <a:ln w="12700">
            <a:miter lim="400000"/>
          </a:ln>
        </p:spPr>
      </p:pic>
      <p:pic>
        <p:nvPicPr>
          <p:cNvPr id="706" name="Image" descr="Image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198960" y="5195662"/>
            <a:ext cx="585537" cy="459765"/>
          </a:xfrm>
          <a:prstGeom prst="rect">
            <a:avLst/>
          </a:prstGeom>
          <a:ln w="12700">
            <a:miter lim="400000"/>
          </a:ln>
        </p:spPr>
      </p:pic>
      <p:pic>
        <p:nvPicPr>
          <p:cNvPr id="707" name="Image" descr="Image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529550" y="5136366"/>
            <a:ext cx="444747" cy="578357"/>
          </a:xfrm>
          <a:prstGeom prst="rect">
            <a:avLst/>
          </a:prstGeom>
          <a:ln w="12700">
            <a:miter lim="400000"/>
          </a:ln>
        </p:spPr>
      </p:pic>
      <p:pic>
        <p:nvPicPr>
          <p:cNvPr id="708" name="Image" descr="Image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5742923" y="5129393"/>
            <a:ext cx="556084" cy="592303"/>
          </a:xfrm>
          <a:prstGeom prst="rect">
            <a:avLst/>
          </a:prstGeom>
          <a:ln w="12700">
            <a:miter lim="400000"/>
          </a:ln>
        </p:spPr>
      </p:pic>
      <p:pic>
        <p:nvPicPr>
          <p:cNvPr id="709" name="Image" descr="Image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034755" y="5112919"/>
            <a:ext cx="515093" cy="625251"/>
          </a:xfrm>
          <a:prstGeom prst="rect">
            <a:avLst/>
          </a:prstGeom>
          <a:ln w="12700">
            <a:miter lim="400000"/>
          </a:ln>
        </p:spPr>
      </p:pic>
      <p:pic>
        <p:nvPicPr>
          <p:cNvPr id="710" name="Image" descr="Image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8257433" y="5118735"/>
            <a:ext cx="556084" cy="556084"/>
          </a:xfrm>
          <a:prstGeom prst="rect">
            <a:avLst/>
          </a:prstGeom>
          <a:ln w="12700">
            <a:miter lim="400000"/>
          </a:ln>
        </p:spPr>
      </p:pic>
      <p:pic>
        <p:nvPicPr>
          <p:cNvPr id="711" name="Image" descr="Image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3322839" y="2385517"/>
            <a:ext cx="337779" cy="586466"/>
          </a:xfrm>
          <a:prstGeom prst="rect">
            <a:avLst/>
          </a:prstGeom>
          <a:ln w="12700">
            <a:miter lim="400000"/>
          </a:ln>
        </p:spPr>
      </p:pic>
      <p:pic>
        <p:nvPicPr>
          <p:cNvPr id="712" name="Image" descr="Image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380717" y="1016233"/>
            <a:ext cx="638073" cy="419652"/>
          </a:xfrm>
          <a:prstGeom prst="rect">
            <a:avLst/>
          </a:prstGeom>
          <a:ln w="12700">
            <a:miter lim="400000"/>
          </a:ln>
        </p:spPr>
      </p:pic>
      <p:sp>
        <p:nvSpPr>
          <p:cNvPr id="713" name="©DISNEY"/>
          <p:cNvSpPr txBox="1"/>
          <p:nvPr/>
        </p:nvSpPr>
        <p:spPr>
          <a:xfrm>
            <a:off x="4770760" y="6573062"/>
            <a:ext cx="2650480" cy="3426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2860" rIns="22860"/>
          <a:lstStyle>
            <a:lvl1pPr defTabSz="825500">
              <a:lnSpc>
                <a:spcPct val="80000"/>
              </a:lnSpc>
              <a:defRPr sz="1600" spc="480">
                <a:solidFill>
                  <a:srgbClr val="FFFFFF"/>
                </a:solidFill>
              </a:defRPr>
            </a:lvl1pPr>
          </a:lstStyle>
          <a:p>
            <a:pPr algn="ctr"/>
            <a:r>
              <a:rPr lang="en-US" sz="800" b="0" i="0" spc="300">
                <a:solidFill>
                  <a:srgbClr val="FFFFFF">
                    <a:alpha val="35000"/>
                  </a:srgbClr>
                </a:solidFill>
                <a:latin typeface="InspireTWDC" pitchFamily="2" charset="77"/>
              </a:rPr>
              <a:t>©DISNEY</a:t>
            </a:r>
          </a:p>
        </p:txBody>
      </p:sp>
      <p:sp>
        <p:nvSpPr>
          <p:cNvPr id="714" name="Icons accessible in Master Slides"/>
          <p:cNvSpPr txBox="1"/>
          <p:nvPr/>
        </p:nvSpPr>
        <p:spPr>
          <a:xfrm>
            <a:off x="3793701" y="6136923"/>
            <a:ext cx="4604599" cy="5952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2860" rIns="22860"/>
          <a:lstStyle>
            <a:lvl1pPr defTabSz="825500">
              <a:lnSpc>
                <a:spcPct val="80000"/>
              </a:lnSpc>
              <a:defRPr sz="2300" cap="all" spc="230">
                <a:solidFill>
                  <a:srgbClr val="FFFFFF"/>
                </a:solidFill>
              </a:defRPr>
            </a:lvl1pPr>
          </a:lstStyle>
          <a:p>
            <a:pPr algn="ctr"/>
            <a:r>
              <a:rPr sz="1150" b="0" i="0">
                <a:latin typeface="InspireTWDC" pitchFamily="2" charset="77"/>
              </a:rPr>
              <a:t>Icons accessible in Master Slides</a:t>
            </a:r>
          </a:p>
        </p:txBody>
      </p:sp>
      <p:sp>
        <p:nvSpPr>
          <p:cNvPr id="7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 b="0" i="0">
                <a:latin typeface="InspireTWDC" pitchFamily="2" charset="77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146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12043EEE-FD41-BCCB-3FE3-11DBE8E8BFA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545283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2043EEE-FD41-BCCB-3FE3-11DBE8E8BF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Montserrat" pitchFamily="2" charset="0"/>
              </a:defRPr>
            </a:lvl1pPr>
          </a:lstStyle>
          <a:p>
            <a:pPr algn="r" defTabSz="914400">
              <a:defRPr/>
            </a:pPr>
            <a:fld id="{86CB4B4D-7CA3-9044-876B-883B54F8677D}" type="slidenum">
              <a:rPr lang="en-US" sz="600" cap="none" spc="0" smtClean="0">
                <a:solidFill>
                  <a:srgbClr val="5E5E5E"/>
                </a:solidFill>
                <a:ea typeface="+mn-ea"/>
                <a:cs typeface="+mn-cs"/>
              </a:rPr>
              <a:pPr algn="r" defTabSz="914400">
                <a:defRPr/>
              </a:pPr>
              <a:t>‹#›</a:t>
            </a:fld>
            <a:endParaRPr lang="en-US" sz="600" cap="none" spc="0">
              <a:solidFill>
                <a:srgbClr val="5E5E5E"/>
              </a:solidFill>
              <a:ea typeface="+mn-ea"/>
              <a:cs typeface="+mn-cs"/>
            </a:endParaRPr>
          </a:p>
        </p:txBody>
      </p:sp>
      <p:sp>
        <p:nvSpPr>
          <p:cNvPr id="4" name="Rounded Rectangle">
            <a:extLst>
              <a:ext uri="{FF2B5EF4-FFF2-40B4-BE49-F238E27FC236}">
                <a16:creationId xmlns:a16="http://schemas.microsoft.com/office/drawing/2014/main" id="{2C1ECDF7-1B20-383E-A110-633CC8B77332}"/>
              </a:ext>
            </a:extLst>
          </p:cNvPr>
          <p:cNvSpPr/>
          <p:nvPr/>
        </p:nvSpPr>
        <p:spPr>
          <a:xfrm>
            <a:off x="569511" y="982538"/>
            <a:ext cx="635001" cy="50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21" y="21600"/>
                </a:moveTo>
                <a:lnTo>
                  <a:pt x="20279" y="21600"/>
                </a:lnTo>
                <a:cubicBezTo>
                  <a:pt x="20655" y="21600"/>
                  <a:pt x="20881" y="21600"/>
                  <a:pt x="21032" y="20949"/>
                </a:cubicBezTo>
                <a:cubicBezTo>
                  <a:pt x="21271" y="19857"/>
                  <a:pt x="21461" y="17494"/>
                  <a:pt x="21548" y="14494"/>
                </a:cubicBezTo>
                <a:cubicBezTo>
                  <a:pt x="21582" y="13310"/>
                  <a:pt x="21600" y="12060"/>
                  <a:pt x="21600" y="10800"/>
                </a:cubicBezTo>
                <a:cubicBezTo>
                  <a:pt x="21600" y="9540"/>
                  <a:pt x="21582" y="8290"/>
                  <a:pt x="21548" y="7106"/>
                </a:cubicBezTo>
                <a:cubicBezTo>
                  <a:pt x="21461" y="4106"/>
                  <a:pt x="21271" y="1743"/>
                  <a:pt x="21032" y="651"/>
                </a:cubicBezTo>
                <a:cubicBezTo>
                  <a:pt x="20881" y="0"/>
                  <a:pt x="20655" y="0"/>
                  <a:pt x="20279" y="0"/>
                </a:cubicBezTo>
                <a:lnTo>
                  <a:pt x="1321" y="0"/>
                </a:lnTo>
                <a:cubicBezTo>
                  <a:pt x="945" y="0"/>
                  <a:pt x="719" y="0"/>
                  <a:pt x="568" y="651"/>
                </a:cubicBezTo>
                <a:cubicBezTo>
                  <a:pt x="329" y="1743"/>
                  <a:pt x="139" y="4106"/>
                  <a:pt x="52" y="7106"/>
                </a:cubicBezTo>
                <a:cubicBezTo>
                  <a:pt x="18" y="8290"/>
                  <a:pt x="0" y="9540"/>
                  <a:pt x="0" y="10800"/>
                </a:cubicBezTo>
                <a:cubicBezTo>
                  <a:pt x="0" y="12060"/>
                  <a:pt x="18" y="13310"/>
                  <a:pt x="52" y="14494"/>
                </a:cubicBezTo>
                <a:cubicBezTo>
                  <a:pt x="139" y="17494"/>
                  <a:pt x="329" y="19857"/>
                  <a:pt x="568" y="20949"/>
                </a:cubicBezTo>
                <a:cubicBezTo>
                  <a:pt x="719" y="21600"/>
                  <a:pt x="945" y="21600"/>
                  <a:pt x="1321" y="21600"/>
                </a:cubicBezTo>
                <a:close/>
              </a:path>
            </a:pathLst>
          </a:custGeom>
          <a:solidFill>
            <a:srgbClr val="006191"/>
          </a:solidFill>
          <a:ln w="12700">
            <a:miter lim="400000"/>
          </a:ln>
        </p:spPr>
        <p:txBody>
          <a:bodyPr lIns="60959" tIns="60959" rIns="60959" bIns="60959" anchor="ctr"/>
          <a:lstStyle/>
          <a:p>
            <a:pPr defTabSz="609600">
              <a:spcBef>
                <a:spcPts val="0"/>
              </a:spcBef>
              <a:defRPr sz="4800">
                <a:solidFill>
                  <a:srgbClr val="363636"/>
                </a:solidFill>
                <a:latin typeface="Helvetica"/>
                <a:ea typeface="Helvetica"/>
                <a:cs typeface="Helvetica"/>
                <a:sym typeface="Helvetica"/>
              </a:defRPr>
            </a:pPr>
            <a:endParaRPr sz="2400">
              <a:latin typeface="Montserrat" pitchFamily="2" charset="0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F132AB-BF93-298E-18D4-D38C52E47FE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Click to Add Headline">
            <a:extLst>
              <a:ext uri="{FF2B5EF4-FFF2-40B4-BE49-F238E27FC236}">
                <a16:creationId xmlns:a16="http://schemas.microsoft.com/office/drawing/2014/main" id="{EDF50BAF-9DCC-5318-2526-38992D51060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559970" y="205563"/>
            <a:ext cx="11046661" cy="696127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2600" b="0" i="0" u="none" strike="noStrike" cap="none" spc="-26" baseline="0" dirty="0">
                <a:solidFill>
                  <a:schemeClr val="tx1"/>
                </a:solidFill>
                <a:uFillTx/>
                <a:latin typeface="+mj-lt"/>
                <a:ea typeface="+mn-ea"/>
                <a:cs typeface="+mn-cs"/>
                <a:sym typeface="Montserrat SemiBold"/>
              </a:defRPr>
            </a:lvl1pPr>
          </a:lstStyle>
          <a:p>
            <a:r>
              <a:t>Click to Add Headline</a:t>
            </a:r>
          </a:p>
        </p:txBody>
      </p:sp>
    </p:spTree>
    <p:extLst>
      <p:ext uri="{BB962C8B-B14F-4D97-AF65-F5344CB8AC3E}">
        <p14:creationId xmlns:p14="http://schemas.microsoft.com/office/powerpoint/2010/main" val="1200558555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jpeg"/><Relationship Id="rId1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9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CONFIDENTIAL   |   THE WALT DISNEY COMPANY</a:t>
            </a:r>
          </a:p>
        </p:txBody>
      </p:sp>
      <p:sp>
        <p:nvSpPr>
          <p:cNvPr id="9" name="Google Shape;12;p2"/>
          <p:cNvSpPr txBox="1">
            <a:spLocks noGrp="1"/>
          </p:cNvSpPr>
          <p:nvPr>
            <p:ph type="sldNum" idx="4"/>
          </p:nvPr>
        </p:nvSpPr>
        <p:spPr>
          <a:xfrm>
            <a:off x="414528" y="6356350"/>
            <a:ext cx="731600" cy="36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" sz="1200" smtClean="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fld id="{00000000-1234-1234-1234-123412341234}" type="slidenum">
              <a:rPr lang="en-US" smtClean="0"/>
              <a:pPr algn="ctr"/>
              <a:t>‹#›</a:t>
            </a:fld>
            <a:endParaRPr lang="en-US"/>
          </a:p>
        </p:txBody>
      </p:sp>
      <p:pic>
        <p:nvPicPr>
          <p:cNvPr id="2" name="Google Shape;9;p1">
            <a:extLst>
              <a:ext uri="{FF2B5EF4-FFF2-40B4-BE49-F238E27FC236}">
                <a16:creationId xmlns:a16="http://schemas.microsoft.com/office/drawing/2014/main" id="{AB4AB366-3A05-6F41-D900-9D142A25321F}"/>
              </a:ext>
            </a:extLst>
          </p:cNvPr>
          <p:cNvPicPr preferRelativeResize="0"/>
          <p:nvPr userDrawn="1"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184953" y="6424087"/>
            <a:ext cx="1517892" cy="229732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E0FFF7-B0F4-EEA6-9C29-7939285D7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4528" y="1566407"/>
            <a:ext cx="10939272" cy="46105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3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323060838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chemeClr val="tx1">
              <a:lumMod val="95000"/>
              <a:lumOff val="5000"/>
            </a:schemeClr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L="457200" marR="0" lvl="0" indent="-342900" algn="l" rtl="0">
        <a:lnSpc>
          <a:spcPct val="150000"/>
        </a:lnSpc>
        <a:spcBef>
          <a:spcPts val="600"/>
        </a:spcBef>
        <a:spcAft>
          <a:spcPts val="0"/>
        </a:spcAft>
        <a:buClr>
          <a:srgbClr val="000000"/>
        </a:buClr>
        <a:buSzPct val="120000"/>
        <a:buFont typeface="Arial" panose="020B0604020202020204" pitchFamily="34" charset="0"/>
        <a:buChar char="•"/>
        <a:defRPr sz="2000" b="0" i="0" u="none" strike="noStrike" cap="none">
          <a:solidFill>
            <a:schemeClr val="tx1">
              <a:lumMod val="95000"/>
              <a:lumOff val="5000"/>
            </a:schemeClr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/>
        </a:defRPr>
      </a:lvl1pPr>
      <a:lvl2pPr marL="342900" marR="0" lvl="1" indent="-34290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buChar char="•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L="342900" marR="0" lvl="2" indent="-34290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 pitchFamily="34" charset="0"/>
        <a:buChar char="•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L="855663" marR="0" lvl="3" indent="-34290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InspireTWDC Light" panose="00000000000000020000" pitchFamily="50" charset="0"/>
        <a:buChar char="‑"/>
        <a:defRPr sz="18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Governance Portal — Four Dimensions Overview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" y="125272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63636"/>
                </a:solidFill>
                <a:latin typeface="Calibri"/>
              </a:defRPr>
            </a:pPr>
            <a:r>
              <a:t>DIMENSION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2258568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63636"/>
                </a:solidFill>
                <a:latin typeface="Calibri"/>
              </a:defRPr>
            </a:pPr>
            <a:r>
              <a:t>Scope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402336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63636"/>
                </a:solidFill>
                <a:latin typeface="Calibri"/>
              </a:defRPr>
            </a:pPr>
            <a:r>
              <a:t>What we are trying to achieve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580644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363636"/>
                </a:solidFill>
                <a:latin typeface="Calibri"/>
              </a:defRPr>
            </a:pPr>
            <a:r>
              <a:t>Key signal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1252728"/>
            <a:ext cx="100584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63636"/>
                </a:solidFill>
                <a:latin typeface="Calibri"/>
              </a:defRPr>
            </a:pPr>
            <a:r>
              <a:t>PRIVACY  ·  PLATFORM  ·  SECURITY  ·  REGULATORY POSTURE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25880" y="1627632"/>
            <a:ext cx="2606040" cy="292608"/>
          </a:xfrm>
          <a:prstGeom prst="rect">
            <a:avLst/>
          </a:prstGeom>
          <a:solidFill>
            <a:srgbClr val="0D8D7E"/>
          </a:solidFill>
          <a:ln>
            <a:solidFill>
              <a:srgbClr val="0D8D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PRIVACY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25880" y="2029968"/>
            <a:ext cx="2606040" cy="65836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36576"/>
          <a:lstStyle/>
          <a:p>
            <a:pPr algn="ctr">
              <a:defRPr sz="1100" b="1">
                <a:solidFill>
                  <a:srgbClr val="363636"/>
                </a:solidFill>
                <a:latin typeface="Calibri"/>
              </a:defRPr>
            </a:pPr>
            <a:r>
              <a:t>Privacy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5880" y="2852928"/>
            <a:ext cx="2606040" cy="262432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36576"/>
          <a:lstStyle/>
          <a:p>
            <a:pPr algn="ctr">
              <a:defRPr sz="1000" b="0">
                <a:solidFill>
                  <a:srgbClr val="363636"/>
                </a:solidFill>
                <a:latin typeface="Calibri"/>
              </a:defRPr>
            </a:pPr>
            <a:r>
              <a:t>Consent · guest data requests · tracker remediation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25880" y="5586984"/>
            <a:ext cx="2606040" cy="65836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36576"/>
          <a:lstStyle/>
          <a:p>
            <a:pPr algn="ctr">
              <a:defRPr sz="1000" b="1">
                <a:solidFill>
                  <a:srgbClr val="363636"/>
                </a:solidFill>
                <a:latin typeface="Calibri"/>
              </a:defRPr>
            </a:pPr>
            <a:r>
              <a:t>PCI &amp; exception volume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96512" y="1627632"/>
            <a:ext cx="2606040" cy="292608"/>
          </a:xfrm>
          <a:prstGeom prst="rect">
            <a:avLst/>
          </a:prstGeom>
          <a:solidFill>
            <a:srgbClr val="4F81BD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96512" y="2029968"/>
            <a:ext cx="2606040" cy="65836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36576"/>
          <a:lstStyle/>
          <a:p>
            <a:pPr algn="ctr">
              <a:defRPr sz="1100" b="1">
                <a:solidFill>
                  <a:srgbClr val="363636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96512" y="2852928"/>
            <a:ext cx="2606040" cy="262432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36576"/>
          <a:lstStyle/>
          <a:p>
            <a:pPr algn="ctr">
              <a:defRPr sz="1000" b="0">
                <a:solidFill>
                  <a:srgbClr val="363636"/>
                </a:solidFill>
                <a:latin typeface="Calibri"/>
              </a:defRPr>
            </a:pPr>
            <a:r>
              <a:t>Stewards · classifications · policies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096512" y="5586984"/>
            <a:ext cx="2606040" cy="65836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36576"/>
          <a:lstStyle/>
          <a:p>
            <a:pPr algn="ctr">
              <a:defRPr sz="1000" b="1">
                <a:solidFill>
                  <a:srgbClr val="363636"/>
                </a:solidFill>
                <a:latin typeface="Calibri"/>
              </a:defRPr>
            </a:pPr>
            <a:r>
              <a:t>Stewardship coverage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67144" y="1627632"/>
            <a:ext cx="2606040" cy="292608"/>
          </a:xfrm>
          <a:prstGeom prst="rect">
            <a:avLst/>
          </a:prstGeom>
          <a:solidFill>
            <a:srgbClr val="F79646"/>
          </a:solidFill>
          <a:ln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67144" y="2029968"/>
            <a:ext cx="2606040" cy="65836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36576"/>
          <a:lstStyle/>
          <a:p>
            <a:pPr algn="ctr">
              <a:defRPr sz="1100" b="1">
                <a:solidFill>
                  <a:srgbClr val="363636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67144" y="2852928"/>
            <a:ext cx="2606040" cy="262432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36576"/>
          <a:lstStyle/>
          <a:p>
            <a:pPr algn="ctr">
              <a:defRPr sz="1000" b="0">
                <a:solidFill>
                  <a:srgbClr val="363636"/>
                </a:solidFill>
                <a:latin typeface="Calibri"/>
              </a:defRPr>
            </a:pPr>
            <a:r>
              <a:t>Access reviews · GIS · data use approvals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67144" y="5586984"/>
            <a:ext cx="2606040" cy="65836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36576"/>
          <a:lstStyle/>
          <a:p>
            <a:pPr algn="ctr">
              <a:defRPr sz="1000" b="1">
                <a:solidFill>
                  <a:srgbClr val="363636"/>
                </a:solidFill>
                <a:latin typeface="Calibri"/>
              </a:defRPr>
            </a:pPr>
            <a:r>
              <a:t>Access &amp; GIS compliance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37776" y="1627632"/>
            <a:ext cx="2606040" cy="292608"/>
          </a:xfrm>
          <a:prstGeom prst="rect">
            <a:avLst/>
          </a:prstGeom>
          <a:solidFill>
            <a:srgbClr val="8064A2"/>
          </a:solidFill>
          <a:ln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REGULATORY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637776" y="2029968"/>
            <a:ext cx="2606040" cy="65836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36576"/>
          <a:lstStyle/>
          <a:p>
            <a:pPr algn="ctr">
              <a:defRPr sz="1100" b="1">
                <a:solidFill>
                  <a:srgbClr val="363636"/>
                </a:solidFill>
                <a:latin typeface="Calibri"/>
              </a:defRPr>
            </a:pPr>
            <a:r>
              <a:t>Regulatory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37776" y="2852928"/>
            <a:ext cx="2606040" cy="262432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36576"/>
          <a:lstStyle/>
          <a:p>
            <a:pPr algn="ctr">
              <a:defRPr sz="1000" b="0">
                <a:solidFill>
                  <a:srgbClr val="363636"/>
                </a:solidFill>
                <a:latin typeface="Calibri"/>
              </a:defRPr>
            </a:pPr>
            <a:r>
              <a:t>Laws · incidents · audits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637776" y="5586984"/>
            <a:ext cx="2606040" cy="658368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tIns="36576"/>
          <a:lstStyle/>
          <a:p>
            <a:pPr algn="ctr">
              <a:defRPr sz="1000" b="1">
                <a:solidFill>
                  <a:srgbClr val="363636"/>
                </a:solidFill>
                <a:latin typeface="Calibri"/>
              </a:defRPr>
            </a:pPr>
            <a:r>
              <a:t>Evidence readiness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363636"/>
                </a:solidFill>
                <a:latin typeface="Calibri"/>
              </a:defRPr>
            </a:pPr>
            <a:r>
              <a:t>CONFIDENTIAL   |   THE WALT DISNEY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the Governance Portal?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Description: The Governance Portal is the privacy and data governance command center in the shared OMS shell — one front door for posture, exceptions, and evidence across guest and consumer data.</a:t>
            </a:r>
          </a:p>
          <a:p/>
          <a:p>
            <a:r>
              <a:t>It is not a replacement for specialist tools (consent, DSR, tracker, access, GIS). Design principle: unified experience, federated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363636"/>
                </a:solidFill>
                <a:latin typeface="Calibri"/>
              </a:defRPr>
            </a:pPr>
            <a:r>
              <a:t>CONFIDENTIAL   |   THE WALT DISNEY COMPANY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it does for the organization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Description: • One front door — consent, privacy requests, access, and compliance in one shared experience</a:t>
            </a:r>
          </a:p>
          <a:p/>
          <a:p>
            <a:r>
              <a:t>• Governance Overview — simple scores for Privacy, Platform, Security, and Regulatory posture</a:t>
            </a:r>
          </a:p>
          <a:p/>
          <a:p>
            <a:r>
              <a:t>• Work queues — surface what needs a human and route to the right downstream tool</a:t>
            </a:r>
          </a:p>
          <a:p/>
          <a:p>
            <a:r>
              <a:t>• Defined vs observed — policy intent alongside what OMS actually sees on catalog assets</a:t>
            </a:r>
          </a:p>
          <a:p/>
          <a:p>
            <a:r>
              <a:t>• Evidence export — packages for regulatory and internal audit requests</a:t>
            </a:r>
          </a:p>
          <a:p/>
          <a:p>
            <a:r>
              <a:t>• Reduce dashboard sprawl — one front door instead of five disconnected URLs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363636"/>
                </a:solidFill>
                <a:latin typeface="Calibri"/>
              </a:defRPr>
            </a:pPr>
            <a:r>
              <a:t>CONFIDENTIAL   |   THE WALT DISNEY COMPANY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we're building 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Description: • Each workstream has its own dashboard — hard to see overall risk or prioritize across dimensions</a:t>
            </a:r>
          </a:p>
          <a:p/>
          <a:p>
            <a:r>
              <a:t>• Charts alone don't answer what needs a human this week — the Portal must triage and route</a:t>
            </a:r>
          </a:p>
          <a:p/>
          <a:p>
            <a:r>
              <a:t>• Leadership asked for a single unified experience without rebuilding every backend</a:t>
            </a:r>
          </a:p>
          <a:p/>
          <a:p>
            <a:r>
              <a:t>• As Alation exits, governance needs a stable home linked to OMS-backed catalog assets</a:t>
            </a:r>
          </a:p>
          <a:p/>
          <a:p>
            <a:r>
              <a:t>• Privacy, legal &amp; GIS get one map of consent, requests, and remediation</a:t>
            </a:r>
          </a:p>
          <a:p/>
          <a:p>
            <a:r>
              <a:t>• Executives get posture indices and exportable evidence for council reviews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363636"/>
                </a:solidFill>
                <a:latin typeface="Calibri"/>
              </a:defRPr>
            </a:pPr>
            <a:r>
              <a:t>CONFIDENTIAL   |   THE WALT DISNEY COMPANY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Where we're headed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Description: Phased delivery alongside the Navigator catalog migration:</a:t>
            </a:r>
          </a:p>
          <a:p/>
          <a:p>
            <a:r>
              <a:t>Now — Shell &amp; prototypes: four dimension hubs, overview + work-queue tabs, KPI cards validated with privacy and legal.</a:t>
            </a:r>
          </a:p>
          <a:p/>
          <a:p>
            <a:r>
              <a:t>Next — Live data &amp; routing: real feeds from consent, DSR, tracker, access, and GIS; role-based landing pages; handoffs into Navigator and downstream tools.</a:t>
            </a:r>
          </a:p>
          <a:p/>
          <a:p>
            <a:r>
              <a:t>Scale — Prove &amp; expand: automated evidence packages, OMS integration for classifications and policies, enterprise expansion where policy aligns.</a:t>
            </a:r>
          </a:p>
          <a:p/>
          <a:p>
            <a:r>
              <a:t>Success measures: posture indices trending up, work-queue SLA closure, weekly adoption among privacy and stewardship roles, faster audit evidence production.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35508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363636"/>
                </a:solidFill>
                <a:latin typeface="Calibri"/>
              </a:defRPr>
            </a:pPr>
            <a:r>
              <a:t>CONFIDENTIAL   |   THE WALT DISNEY COMPANY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Simple Light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833f2cd-46f6-4562-bea3-123cdf674979">
      <Terms xmlns="http://schemas.microsoft.com/office/infopath/2007/PartnerControls"/>
    </lcf76f155ced4ddcb4097134ff3c332f>
    <TaxCatchAll xmlns="fb63fed2-d7c7-486e-9b43-c6c9cde3829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36091DF61405448C1109B4DECEF30E" ma:contentTypeVersion="12" ma:contentTypeDescription="Create a new document." ma:contentTypeScope="" ma:versionID="92f19de329725619c24fd23bb129c42b">
  <xsd:schema xmlns:xsd="http://www.w3.org/2001/XMLSchema" xmlns:xs="http://www.w3.org/2001/XMLSchema" xmlns:p="http://schemas.microsoft.com/office/2006/metadata/properties" xmlns:ns2="e833f2cd-46f6-4562-bea3-123cdf674979" xmlns:ns3="fb63fed2-d7c7-486e-9b43-c6c9cde38296" targetNamespace="http://schemas.microsoft.com/office/2006/metadata/properties" ma:root="true" ma:fieldsID="df7508057ebffa88b5e4695f034b582b" ns2:_="" ns3:_="">
    <xsd:import namespace="e833f2cd-46f6-4562-bea3-123cdf674979"/>
    <xsd:import namespace="fb63fed2-d7c7-486e-9b43-c6c9cde382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33f2cd-46f6-4562-bea3-123cdf67497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5" nillable="true" ma:displayName="MediaServiceBillingMetadata" ma:hidden="true" ma:internalName="MediaServiceBillingMetadata" ma:readOnly="true">
      <xsd:simpleType>
        <xsd:restriction base="dms:Note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025c46f5-07aa-4fd7-9d87-3e3f7311e79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63fed2-d7c7-486e-9b43-c6c9cde3829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ea51c4-6366-4897-97ed-c1345d42d31a}" ma:internalName="TaxCatchAll" ma:showField="CatchAllData" ma:web="fb63fed2-d7c7-486e-9b43-c6c9cde3829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B17113D-F64A-4846-8A6C-5A6CD4DA5FD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CD2FC22-87F8-4781-B978-C2BF9477B513}">
  <ds:schemaRefs>
    <ds:schemaRef ds:uri="e833f2cd-46f6-4562-bea3-123cdf674979"/>
    <ds:schemaRef ds:uri="fb63fed2-d7c7-486e-9b43-c6c9cde38296"/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284EE660-B2FC-477A-9508-B951337F537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833f2cd-46f6-4562-bea3-123cdf674979"/>
    <ds:schemaRef ds:uri="fb63fed2-d7c7-486e-9b43-c6c9cde3829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8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Simple Light</vt:lpstr>
      <vt:lpstr>Prioritized Foundational Build Use Cases</vt:lpstr>
      <vt:lpstr>Use Case #1 - Incremental Audiences</vt:lpstr>
      <vt:lpstr>Use Case #2 - Re-engagement via Park &amp; Cruise Experiences</vt:lpstr>
      <vt:lpstr>Use Case #3 - DX Activation Personalization</vt:lpstr>
      <vt:lpstr>Use Case #4 - Drive Efficiency of Enterprise Synergy</vt:lpstr>
      <vt:lpstr>Use Case #5 – Disney ‘Fan’ Model</vt:lpstr>
      <vt:lpstr>Use Case #6 – Next Best Action</vt:lpstr>
      <vt:lpstr>Workstream: Profile and HH Unification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Curtis, Joanna</dc:creator>
  <cp:revision>10</cp:revision>
  <dcterms:created xsi:type="dcterms:W3CDTF">2025-09-15T18:16:31Z</dcterms:created>
  <dcterms:modified xsi:type="dcterms:W3CDTF">2026-02-05T21:32:24Z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62e0584-010f-4004-8a6a-d5c118c8b4bd_Enabled">
    <vt:lpwstr>true</vt:lpwstr>
  </property>
  <property fmtid="{D5CDD505-2E9C-101B-9397-08002B2CF9AE}" pid="3" name="MSIP_Label_c62e0584-010f-4004-8a6a-d5c118c8b4bd_SetDate">
    <vt:lpwstr>2025-09-15T18:16:58Z</vt:lpwstr>
  </property>
  <property fmtid="{D5CDD505-2E9C-101B-9397-08002B2CF9AE}" pid="4" name="MSIP_Label_c62e0584-010f-4004-8a6a-d5c118c8b4bd_Method">
    <vt:lpwstr>Standard</vt:lpwstr>
  </property>
  <property fmtid="{D5CDD505-2E9C-101B-9397-08002B2CF9AE}" pid="5" name="MSIP_Label_c62e0584-010f-4004-8a6a-d5c118c8b4bd_Name">
    <vt:lpwstr>Internal</vt:lpwstr>
  </property>
  <property fmtid="{D5CDD505-2E9C-101B-9397-08002B2CF9AE}" pid="6" name="MSIP_Label_c62e0584-010f-4004-8a6a-d5c118c8b4bd_SiteId">
    <vt:lpwstr>56b731a8-a2ac-4c32-bf6b-616810e913c6</vt:lpwstr>
  </property>
  <property fmtid="{D5CDD505-2E9C-101B-9397-08002B2CF9AE}" pid="7" name="MSIP_Label_c62e0584-010f-4004-8a6a-d5c118c8b4bd_ActionId">
    <vt:lpwstr>c3f173e1-3783-413d-8ac7-6be902927b0f</vt:lpwstr>
  </property>
  <property fmtid="{D5CDD505-2E9C-101B-9397-08002B2CF9AE}" pid="8" name="MSIP_Label_c62e0584-010f-4004-8a6a-d5c118c8b4bd_ContentBits">
    <vt:lpwstr>0</vt:lpwstr>
  </property>
  <property fmtid="{D5CDD505-2E9C-101B-9397-08002B2CF9AE}" pid="9" name="MSIP_Label_c62e0584-010f-4004-8a6a-d5c118c8b4bd_Tag">
    <vt:lpwstr>10, 3, 0, 1</vt:lpwstr>
  </property>
  <property fmtid="{D5CDD505-2E9C-101B-9397-08002B2CF9AE}" pid="10" name="ContentTypeId">
    <vt:lpwstr>0x0101001A36091DF61405448C1109B4DECEF30E</vt:lpwstr>
  </property>
  <property fmtid="{D5CDD505-2E9C-101B-9397-08002B2CF9AE}" pid="11" name="MediaServiceImageTags">
    <vt:lpwstr/>
  </property>
</Properties>
</file>