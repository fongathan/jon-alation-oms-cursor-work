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21792"/>
            <a:ext cx="12191695" cy="5870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262" cy="621792"/>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9875520" cy="411480"/>
          </a:xfrm>
          <a:prstGeom prst="rect">
            <a:avLst/>
          </a:prstGeom>
          <a:noFill/>
        </p:spPr>
        <p:txBody>
          <a:bodyPr wrap="none">
            <a:spAutoFit/>
          </a:bodyPr>
          <a:lstStyle/>
          <a:p>
            <a:r>
              <a:rPr sz="2200" b="1" i="0">
                <a:solidFill>
                  <a:srgbClr val="FFFFFF"/>
                </a:solidFill>
                <a:latin typeface="Calibri"/>
              </a:rPr>
              <a:t>Navigator — the collective data governance product family</a:t>
            </a:r>
          </a:p>
        </p:txBody>
      </p:sp>
      <p:sp>
        <p:nvSpPr>
          <p:cNvPr id="6" name="TextBox 5"/>
          <p:cNvSpPr txBox="1"/>
          <p:nvPr/>
        </p:nvSpPr>
        <p:spPr>
          <a:xfrm>
            <a:off x="10241280" y="164592"/>
            <a:ext cx="1737360" cy="274320"/>
          </a:xfrm>
          <a:prstGeom prst="rect">
            <a:avLst/>
          </a:prstGeom>
          <a:noFill/>
        </p:spPr>
        <p:txBody>
          <a:bodyPr wrap="none">
            <a:spAutoFit/>
          </a:bodyPr>
          <a:lstStyle/>
          <a:p>
            <a:pPr algn="r"/>
            <a:r>
              <a:rPr sz="900" b="1" i="0">
                <a:solidFill>
                  <a:srgbClr val="FFFFFF"/>
                </a:solidFill>
                <a:latin typeface="Calibri"/>
              </a:rPr>
              <a:t>SLIDE 1 OF 6</a:t>
            </a:r>
          </a:p>
        </p:txBody>
      </p:sp>
      <p:sp>
        <p:nvSpPr>
          <p:cNvPr id="7" name="Rectangle 6"/>
          <p:cNvSpPr/>
          <p:nvPr/>
        </p:nvSpPr>
        <p:spPr>
          <a:xfrm>
            <a:off x="0" y="6492240"/>
            <a:ext cx="12191695" cy="365760"/>
          </a:xfrm>
          <a:prstGeom prst="rect">
            <a:avLst/>
          </a:prstGeom>
          <a:solidFill>
            <a:srgbClr val="3D5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565392"/>
            <a:ext cx="6400800" cy="228600"/>
          </a:xfrm>
          <a:prstGeom prst="rect">
            <a:avLst/>
          </a:prstGeom>
          <a:noFill/>
        </p:spPr>
        <p:txBody>
          <a:bodyPr wrap="none">
            <a:spAutoFit/>
          </a:bodyPr>
          <a:lstStyle/>
          <a:p>
            <a:r>
              <a:rPr sz="900" b="0" i="0">
                <a:solidFill>
                  <a:srgbClr val="C5D4E3"/>
                </a:solidFill>
                <a:latin typeface="Calibri"/>
              </a:rPr>
              <a:t>Data Governance · Navigator product family</a:t>
            </a:r>
          </a:p>
        </p:txBody>
      </p:sp>
      <p:sp>
        <p:nvSpPr>
          <p:cNvPr id="9" name="TextBox 8"/>
          <p:cNvSpPr txBox="1"/>
          <p:nvPr/>
        </p:nvSpPr>
        <p:spPr>
          <a:xfrm>
            <a:off x="8686800" y="6565392"/>
            <a:ext cx="3200400" cy="228600"/>
          </a:xfrm>
          <a:prstGeom prst="rect">
            <a:avLst/>
          </a:prstGeom>
          <a:noFill/>
        </p:spPr>
        <p:txBody>
          <a:bodyPr wrap="none">
            <a:spAutoFit/>
          </a:bodyPr>
          <a:lstStyle/>
          <a:p>
            <a:pPr algn="r"/>
            <a:r>
              <a:rPr sz="800" b="1" i="0">
                <a:solidFill>
                  <a:srgbClr val="9EB0C4"/>
                </a:solidFill>
                <a:latin typeface="Calibri"/>
              </a:rPr>
              <a:t>INTERNAL — PROGRAM &amp; LEADERSHIP</a:t>
            </a:r>
          </a:p>
        </p:txBody>
      </p:sp>
      <p:sp>
        <p:nvSpPr>
          <p:cNvPr id="10" name="Rectangle 9"/>
          <p:cNvSpPr/>
          <p:nvPr/>
        </p:nvSpPr>
        <p:spPr>
          <a:xfrm>
            <a:off x="0" y="621792"/>
            <a:ext cx="4617720" cy="5870448"/>
          </a:xfrm>
          <a:prstGeom prst="rect">
            <a:avLst/>
          </a:prstGeom>
          <a:solidFill>
            <a:srgbClr val="E4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08576" y="621792"/>
            <a:ext cx="9144" cy="5870448"/>
          </a:xfrm>
          <a:prstGeom prst="rect">
            <a:avLst/>
          </a:prstGeom>
          <a:solidFill>
            <a:srgbClr val="D0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804672"/>
            <a:ext cx="4251960" cy="292608"/>
          </a:xfrm>
          <a:prstGeom prst="rect">
            <a:avLst/>
          </a:prstGeom>
          <a:noFill/>
        </p:spPr>
        <p:txBody>
          <a:bodyPr wrap="none">
            <a:spAutoFit/>
          </a:bodyPr>
          <a:lstStyle/>
          <a:p>
            <a:r>
              <a:rPr sz="1200" b="1" i="0">
                <a:solidFill>
                  <a:srgbClr val="0F2744"/>
                </a:solidFill>
                <a:latin typeface="Calibri"/>
              </a:rPr>
              <a:t>WHAT NAVIGATOR IS</a:t>
            </a:r>
          </a:p>
        </p:txBody>
      </p:sp>
      <p:sp>
        <p:nvSpPr>
          <p:cNvPr id="13" name="Rectangle 12"/>
          <p:cNvSpPr/>
          <p:nvPr/>
        </p:nvSpPr>
        <p:spPr>
          <a:xfrm>
            <a:off x="182880" y="1097280"/>
            <a:ext cx="4251960" cy="713232"/>
          </a:xfrm>
          <a:prstGeom prst="rect">
            <a:avLst/>
          </a:prstGeom>
          <a:solidFill>
            <a:srgbClr val="ED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 y="1097280"/>
            <a:ext cx="54864" cy="713232"/>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 y="1152144"/>
            <a:ext cx="4069080" cy="621792"/>
          </a:xfrm>
          <a:prstGeom prst="rect">
            <a:avLst/>
          </a:prstGeom>
          <a:noFill/>
        </p:spPr>
        <p:txBody>
          <a:bodyPr wrap="square">
            <a:spAutoFit/>
          </a:bodyPr>
          <a:lstStyle/>
          <a:p>
            <a:pPr>
              <a:lnSpc>
                <a:spcPct val="120000"/>
              </a:lnSpc>
              <a:spcAft>
                <a:spcPts val="500"/>
              </a:spcAft>
            </a:pPr>
            <a:r>
              <a:rPr sz="1200" b="1" i="0">
                <a:solidFill>
                  <a:srgbClr val="1A1A1A"/>
                </a:solidFill>
                <a:latin typeface="Calibri"/>
              </a:rPr>
              <a:t>Navigator</a:t>
            </a:r>
            <a:r>
              <a:rPr sz="1200" b="0" i="0">
                <a:solidFill>
                  <a:srgbClr val="1A1A1A"/>
                </a:solidFill>
                <a:latin typeface="Calibri"/>
              </a:rPr>
              <a:t> is the umbrella name for DEEPT's data governance products, programs, catalog experience, and operations — one coherent story instead of disconnected tools.</a:t>
            </a:r>
          </a:p>
        </p:txBody>
      </p:sp>
      <p:sp>
        <p:nvSpPr>
          <p:cNvPr id="16" name="TextBox 15"/>
          <p:cNvSpPr txBox="1"/>
          <p:nvPr/>
        </p:nvSpPr>
        <p:spPr>
          <a:xfrm>
            <a:off x="182880" y="1883664"/>
            <a:ext cx="4251960" cy="292608"/>
          </a:xfrm>
          <a:prstGeom prst="rect">
            <a:avLst/>
          </a:prstGeom>
          <a:noFill/>
        </p:spPr>
        <p:txBody>
          <a:bodyPr wrap="square">
            <a:spAutoFit/>
          </a:bodyPr>
          <a:lstStyle/>
          <a:p>
            <a:pPr>
              <a:lnSpc>
                <a:spcPct val="120000"/>
              </a:lnSpc>
              <a:spcAft>
                <a:spcPts val="500"/>
              </a:spcAft>
            </a:pPr>
            <a:r>
              <a:rPr sz="1200" b="0" i="0">
                <a:solidFill>
                  <a:srgbClr val="1A1A1A"/>
                </a:solidFill>
                <a:latin typeface="Calibri"/>
              </a:rPr>
              <a:t>It reframes what we previously called separate initiatives:</a:t>
            </a:r>
          </a:p>
        </p:txBody>
      </p:sp>
      <p:sp>
        <p:nvSpPr>
          <p:cNvPr id="17" name="TextBox 16"/>
          <p:cNvSpPr txBox="1"/>
          <p:nvPr/>
        </p:nvSpPr>
        <p:spPr>
          <a:xfrm>
            <a:off x="182880" y="2194560"/>
            <a:ext cx="4251960" cy="114300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Governance Portal</a:t>
            </a:r>
            <a:r>
              <a:rPr sz="1200" b="0" i="0">
                <a:solidFill>
                  <a:srgbClr val="1A1A1A"/>
                </a:solidFill>
                <a:latin typeface="Calibri"/>
              </a:rPr>
              <a:t> → </a:t>
            </a:r>
            <a:r>
              <a:rPr sz="1200" b="1" i="0">
                <a:solidFill>
                  <a:srgbClr val="1A1A1A"/>
                </a:solidFill>
                <a:latin typeface="Calibri"/>
              </a:rPr>
              <a:t>Navigator</a:t>
            </a:r>
            <a:r>
              <a:rPr sz="1200" b="0" i="0">
                <a:solidFill>
                  <a:srgbClr val="1A1A1A"/>
                </a:solidFill>
                <a:latin typeface="Calibri"/>
              </a:rPr>
              <a:t> (program command center)</a:t>
            </a:r>
          </a:p>
          <a:p>
            <a:pPr>
              <a:lnSpc>
                <a:spcPct val="118000"/>
              </a:lnSpc>
              <a:spcAft>
                <a:spcPts val="600"/>
              </a:spcAft>
            </a:pPr>
            <a:r>
              <a:rPr sz="1200" b="0" i="0">
                <a:solidFill>
                  <a:srgbClr val="1A1A1A"/>
                </a:solidFill>
                <a:latin typeface="Calibri"/>
              </a:rPr>
              <a:t>• </a:t>
            </a:r>
            <a:r>
              <a:rPr sz="1200" b="1" i="0">
                <a:solidFill>
                  <a:srgbClr val="1A1A1A"/>
                </a:solidFill>
                <a:latin typeface="Calibri"/>
              </a:rPr>
              <a:t>Business Data Navigator</a:t>
            </a:r>
            <a:r>
              <a:rPr sz="1200" b="0" i="0">
                <a:solidFill>
                  <a:srgbClr val="1A1A1A"/>
                </a:solidFill>
                <a:latin typeface="Calibri"/>
              </a:rPr>
              <a:t> → </a:t>
            </a:r>
            <a:r>
              <a:rPr sz="1200" b="1" i="0">
                <a:solidFill>
                  <a:srgbClr val="1A1A1A"/>
                </a:solidFill>
                <a:latin typeface="Calibri"/>
              </a:rPr>
              <a:t>Business Data Catalog</a:t>
            </a:r>
            <a:r>
              <a:rPr sz="1200" b="0" i="0">
                <a:solidFill>
                  <a:srgbClr val="1A1A1A"/>
                </a:solidFill>
                <a:latin typeface="Calibri"/>
              </a:rPr>
              <a:t> (catalog on OMS)</a:t>
            </a:r>
          </a:p>
          <a:p>
            <a:pPr>
              <a:lnSpc>
                <a:spcPct val="118000"/>
              </a:lnSpc>
              <a:spcAft>
                <a:spcPts val="600"/>
              </a:spcAft>
            </a:pPr>
            <a:r>
              <a:rPr sz="1200" b="0" i="0">
                <a:solidFill>
                  <a:srgbClr val="1A1A1A"/>
                </a:solidFill>
                <a:latin typeface="Calibri"/>
              </a:rPr>
              <a:t>• </a:t>
            </a:r>
            <a:r>
              <a:rPr sz="1200" b="1" i="0">
                <a:solidFill>
                  <a:srgbClr val="1A1A1A"/>
                </a:solidFill>
                <a:latin typeface="Calibri"/>
              </a:rPr>
              <a:t>PULS + Access Manager + Gov backend</a:t>
            </a:r>
            <a:r>
              <a:rPr sz="1200" b="0" i="0">
                <a:solidFill>
                  <a:srgbClr val="1A1A1A"/>
                </a:solidFill>
                <a:latin typeface="Calibri"/>
              </a:rPr>
              <a:t> → </a:t>
            </a:r>
            <a:r>
              <a:rPr sz="1200" b="1" i="0">
                <a:solidFill>
                  <a:srgbClr val="1A1A1A"/>
                </a:solidFill>
                <a:latin typeface="Calibri"/>
              </a:rPr>
              <a:t>Policy Drive Governance Framework</a:t>
            </a:r>
          </a:p>
          <a:p>
            <a:pPr>
              <a:lnSpc>
                <a:spcPct val="118000"/>
              </a:lnSpc>
              <a:spcAft>
                <a:spcPts val="600"/>
              </a:spcAft>
            </a:pPr>
            <a:r>
              <a:rPr sz="1200" b="0" i="0">
                <a:solidFill>
                  <a:srgbClr val="1A1A1A"/>
                </a:solidFill>
                <a:latin typeface="Calibri"/>
              </a:rPr>
              <a:t>• </a:t>
            </a:r>
            <a:r>
              <a:rPr sz="1200" b="1" i="0">
                <a:solidFill>
                  <a:srgbClr val="1A1A1A"/>
                </a:solidFill>
                <a:latin typeface="Calibri"/>
              </a:rPr>
              <a:t>Kronos</a:t>
            </a:r>
            <a:r>
              <a:rPr sz="1200" b="0" i="0">
                <a:solidFill>
                  <a:srgbClr val="1A1A1A"/>
                </a:solidFill>
                <a:latin typeface="Calibri"/>
              </a:rPr>
              <a:t> → business inventory (linked, not duplicated)</a:t>
            </a:r>
          </a:p>
        </p:txBody>
      </p:sp>
      <p:sp>
        <p:nvSpPr>
          <p:cNvPr id="18" name="Rectangle 17"/>
          <p:cNvSpPr/>
          <p:nvPr/>
        </p:nvSpPr>
        <p:spPr>
          <a:xfrm>
            <a:off x="182880" y="3364992"/>
            <a:ext cx="4251960" cy="621792"/>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2880" y="3364992"/>
            <a:ext cx="54864"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0896" y="3419856"/>
            <a:ext cx="4069080" cy="530352"/>
          </a:xfrm>
          <a:prstGeom prst="rect">
            <a:avLst/>
          </a:prstGeom>
          <a:noFill/>
        </p:spPr>
        <p:txBody>
          <a:bodyPr wrap="square">
            <a:spAutoFit/>
          </a:bodyPr>
          <a:lstStyle/>
          <a:p>
            <a:pPr>
              <a:lnSpc>
                <a:spcPct val="120000"/>
              </a:lnSpc>
              <a:spcAft>
                <a:spcPts val="500"/>
              </a:spcAft>
            </a:pPr>
            <a:r>
              <a:rPr sz="1100" b="1" i="0">
                <a:solidFill>
                  <a:srgbClr val="1A1A1A"/>
                </a:solidFill>
                <a:latin typeface="Calibri"/>
              </a:rPr>
              <a:t>Design principle:</a:t>
            </a:r>
            <a:r>
              <a:rPr sz="1100" b="0" i="0">
                <a:solidFill>
                  <a:srgbClr val="1A1A1A"/>
                </a:solidFill>
                <a:latin typeface="Calibri"/>
              </a:rPr>
              <a:t> Unified experience, federated execution — one portal for orientation and posture; authoritative systems stay authoritative.</a:t>
            </a:r>
          </a:p>
        </p:txBody>
      </p:sp>
      <p:sp>
        <p:nvSpPr>
          <p:cNvPr id="21" name="TextBox 20"/>
          <p:cNvSpPr txBox="1"/>
          <p:nvPr/>
        </p:nvSpPr>
        <p:spPr>
          <a:xfrm>
            <a:off x="4800600" y="804672"/>
            <a:ext cx="7208215" cy="292608"/>
          </a:xfrm>
          <a:prstGeom prst="rect">
            <a:avLst/>
          </a:prstGeom>
          <a:noFill/>
        </p:spPr>
        <p:txBody>
          <a:bodyPr wrap="none">
            <a:spAutoFit/>
          </a:bodyPr>
          <a:lstStyle/>
          <a:p>
            <a:r>
              <a:rPr sz="1200" b="1" i="0">
                <a:solidFill>
                  <a:srgbClr val="1E5A96"/>
                </a:solidFill>
                <a:latin typeface="Calibri"/>
              </a:rPr>
              <a:t>WHAT IT DOES FOR THE ORGANIZATION</a:t>
            </a:r>
          </a:p>
        </p:txBody>
      </p:sp>
      <p:sp>
        <p:nvSpPr>
          <p:cNvPr id="22" name="TextBox 21"/>
          <p:cNvSpPr txBox="1"/>
          <p:nvPr/>
        </p:nvSpPr>
        <p:spPr>
          <a:xfrm>
            <a:off x="4800600" y="1152144"/>
            <a:ext cx="7208215" cy="539496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Answers two questions</a:t>
            </a:r>
            <a:r>
              <a:rPr sz="1200" b="0" i="0">
                <a:solidFill>
                  <a:srgbClr val="1A1A1A"/>
                </a:solidFill>
                <a:latin typeface="Calibri"/>
              </a:rPr>
              <a:t> — "Where is my program work?" (Navigator portal) and "Where is the governed data?" (Business Data Catalog).</a:t>
            </a:r>
          </a:p>
          <a:p>
            <a:pPr>
              <a:lnSpc>
                <a:spcPct val="118000"/>
              </a:lnSpc>
              <a:spcAft>
                <a:spcPts val="600"/>
              </a:spcAft>
            </a:pPr>
            <a:r>
              <a:rPr sz="1200" b="0" i="0">
                <a:solidFill>
                  <a:srgbClr val="1A1A1A"/>
                </a:solidFill>
                <a:latin typeface="Calibri"/>
              </a:rPr>
              <a:t>• </a:t>
            </a:r>
            <a:r>
              <a:rPr sz="1200" b="1" i="0">
                <a:solidFill>
                  <a:srgbClr val="1A1A1A"/>
                </a:solidFill>
                <a:latin typeface="Calibri"/>
              </a:rPr>
              <a:t>Governance Overview</a:t>
            </a:r>
            <a:r>
              <a:rPr sz="1200" b="0" i="0">
                <a:solidFill>
                  <a:srgbClr val="1A1A1A"/>
                </a:solidFill>
                <a:latin typeface="Calibri"/>
              </a:rPr>
              <a:t> — Privacy, Platform, Security, and Regulatory posture in one leadership-ready view.</a:t>
            </a:r>
          </a:p>
          <a:p>
            <a:pPr>
              <a:lnSpc>
                <a:spcPct val="118000"/>
              </a:lnSpc>
              <a:spcAft>
                <a:spcPts val="600"/>
              </a:spcAft>
            </a:pPr>
            <a:r>
              <a:rPr sz="1200" b="0" i="0">
                <a:solidFill>
                  <a:srgbClr val="1A1A1A"/>
                </a:solidFill>
                <a:latin typeface="Calibri"/>
              </a:rPr>
              <a:t>• </a:t>
            </a:r>
            <a:r>
              <a:rPr sz="1200" b="1" i="0">
                <a:solidFill>
                  <a:srgbClr val="1A1A1A"/>
                </a:solidFill>
                <a:latin typeface="Calibri"/>
              </a:rPr>
              <a:t>Dimension routing</a:t>
            </a:r>
            <a:r>
              <a:rPr sz="1200" b="0" i="0">
                <a:solidFill>
                  <a:srgbClr val="1A1A1A"/>
                </a:solidFill>
                <a:latin typeface="Calibri"/>
              </a:rPr>
              <a:t> — Consent, DSRs, classifications, policies, access, GIS, regulations, and inventory each have a clear home — with deep links where work lives elsewhere.</a:t>
            </a:r>
          </a:p>
          <a:p>
            <a:pPr>
              <a:lnSpc>
                <a:spcPct val="118000"/>
              </a:lnSpc>
              <a:spcAft>
                <a:spcPts val="600"/>
              </a:spcAft>
            </a:pPr>
            <a:r>
              <a:rPr sz="1200" b="0" i="0">
                <a:solidFill>
                  <a:srgbClr val="1A1A1A"/>
                </a:solidFill>
                <a:latin typeface="Calibri"/>
              </a:rPr>
              <a:t>• </a:t>
            </a:r>
            <a:r>
              <a:rPr sz="1200" b="1" i="0">
                <a:solidFill>
                  <a:srgbClr val="1A1A1A"/>
                </a:solidFill>
                <a:latin typeface="Calibri"/>
              </a:rPr>
              <a:t>Catalog continuity</a:t>
            </a:r>
            <a:r>
              <a:rPr sz="1200" b="0" i="0">
                <a:solidFill>
                  <a:srgbClr val="1A1A1A"/>
                </a:solidFill>
                <a:latin typeface="Calibri"/>
              </a:rPr>
              <a:t> — Stewards and analysts discover and curate metadata on OMS through BDC as Alation exits.</a:t>
            </a:r>
          </a:p>
          <a:p>
            <a:pPr>
              <a:lnSpc>
                <a:spcPct val="118000"/>
              </a:lnSpc>
              <a:spcAft>
                <a:spcPts val="600"/>
              </a:spcAft>
            </a:pPr>
            <a:r>
              <a:rPr sz="1200" b="0" i="0">
                <a:solidFill>
                  <a:srgbClr val="1A1A1A"/>
                </a:solidFill>
                <a:latin typeface="Calibri"/>
              </a:rPr>
              <a:t>• </a:t>
            </a:r>
            <a:r>
              <a:rPr sz="1200" b="1" i="0">
                <a:solidFill>
                  <a:srgbClr val="1A1A1A"/>
                </a:solidFill>
                <a:latin typeface="Calibri"/>
              </a:rPr>
              <a:t>Policy truth in PULS</a:t>
            </a:r>
            <a:r>
              <a:rPr sz="1200" b="0" i="0">
                <a:solidFill>
                  <a:srgbClr val="1A1A1A"/>
                </a:solidFill>
                <a:latin typeface="Calibri"/>
              </a:rPr>
              <a:t> — Classifications, policies, and metrics stay in a governance repository — not scattered across spreadsheets.</a:t>
            </a:r>
          </a:p>
          <a:p>
            <a:pPr>
              <a:lnSpc>
                <a:spcPct val="118000"/>
              </a:lnSpc>
              <a:spcAft>
                <a:spcPts val="600"/>
              </a:spcAft>
            </a:pPr>
            <a:r>
              <a:rPr sz="1200" b="0" i="0">
                <a:solidFill>
                  <a:srgbClr val="1A1A1A"/>
                </a:solidFill>
                <a:latin typeface="Calibri"/>
              </a:rPr>
              <a:t>• </a:t>
            </a:r>
            <a:r>
              <a:rPr sz="1200" b="1" i="0">
                <a:solidFill>
                  <a:srgbClr val="1A1A1A"/>
                </a:solidFill>
                <a:latin typeface="Calibri"/>
              </a:rPr>
              <a:t>Inventory via Kronos</a:t>
            </a:r>
            <a:r>
              <a:rPr sz="1200" b="0" i="0">
                <a:solidFill>
                  <a:srgbClr val="1A1A1A"/>
                </a:solidFill>
                <a:latin typeface="Calibri"/>
              </a:rPr>
              <a:t> — Regulatory dimension links to Kronos for business inventory; Navigator does not fork that system of record.</a:t>
            </a:r>
          </a:p>
          <a:p>
            <a:pPr>
              <a:lnSpc>
                <a:spcPct val="118000"/>
              </a:lnSpc>
              <a:spcAft>
                <a:spcPts val="600"/>
              </a:spcAft>
            </a:pPr>
            <a:r>
              <a:rPr sz="1200" b="0" i="0">
                <a:solidFill>
                  <a:srgbClr val="1A1A1A"/>
                </a:solidFill>
                <a:latin typeface="Calibri"/>
              </a:rPr>
              <a:t>• </a:t>
            </a:r>
            <a:r>
              <a:rPr sz="1200" b="1" i="0">
                <a:solidFill>
                  <a:srgbClr val="1A1A1A"/>
                </a:solidFill>
                <a:latin typeface="Calibri"/>
              </a:rPr>
              <a:t>Clear platform boundaries</a:t>
            </a:r>
            <a:r>
              <a:rPr sz="1200" b="0" i="0">
                <a:solidFill>
                  <a:srgbClr val="1A1A1A"/>
                </a:solidFill>
                <a:latin typeface="Calibri"/>
              </a:rPr>
              <a:t> — OMS is the engine; DG owns business-facing shells; SISU partners on governance backend and inventory.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21792"/>
            <a:ext cx="12191695" cy="5870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262" cy="621792"/>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9875520" cy="411480"/>
          </a:xfrm>
          <a:prstGeom prst="rect">
            <a:avLst/>
          </a:prstGeom>
          <a:noFill/>
        </p:spPr>
        <p:txBody>
          <a:bodyPr wrap="none">
            <a:spAutoFit/>
          </a:bodyPr>
          <a:lstStyle/>
          <a:p>
            <a:r>
              <a:rPr sz="2200" b="1" i="0">
                <a:solidFill>
                  <a:srgbClr val="FFFFFF"/>
                </a:solidFill>
                <a:latin typeface="Calibri"/>
              </a:rPr>
              <a:t>Why Navigator — continuity, coherence, and clarity</a:t>
            </a:r>
          </a:p>
        </p:txBody>
      </p:sp>
      <p:sp>
        <p:nvSpPr>
          <p:cNvPr id="6" name="TextBox 5"/>
          <p:cNvSpPr txBox="1"/>
          <p:nvPr/>
        </p:nvSpPr>
        <p:spPr>
          <a:xfrm>
            <a:off x="10241280" y="164592"/>
            <a:ext cx="1737360" cy="274320"/>
          </a:xfrm>
          <a:prstGeom prst="rect">
            <a:avLst/>
          </a:prstGeom>
          <a:noFill/>
        </p:spPr>
        <p:txBody>
          <a:bodyPr wrap="none">
            <a:spAutoFit/>
          </a:bodyPr>
          <a:lstStyle/>
          <a:p>
            <a:pPr algn="r"/>
            <a:r>
              <a:rPr sz="900" b="1" i="0">
                <a:solidFill>
                  <a:srgbClr val="FFFFFF"/>
                </a:solidFill>
                <a:latin typeface="Calibri"/>
              </a:rPr>
              <a:t>SLIDE 2 OF 6</a:t>
            </a:r>
          </a:p>
        </p:txBody>
      </p:sp>
      <p:sp>
        <p:nvSpPr>
          <p:cNvPr id="7" name="Rectangle 6"/>
          <p:cNvSpPr/>
          <p:nvPr/>
        </p:nvSpPr>
        <p:spPr>
          <a:xfrm>
            <a:off x="0" y="6492240"/>
            <a:ext cx="12191695" cy="365760"/>
          </a:xfrm>
          <a:prstGeom prst="rect">
            <a:avLst/>
          </a:prstGeom>
          <a:solidFill>
            <a:srgbClr val="3D5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565392"/>
            <a:ext cx="6400800" cy="228600"/>
          </a:xfrm>
          <a:prstGeom prst="rect">
            <a:avLst/>
          </a:prstGeom>
          <a:noFill/>
        </p:spPr>
        <p:txBody>
          <a:bodyPr wrap="none">
            <a:spAutoFit/>
          </a:bodyPr>
          <a:lstStyle/>
          <a:p>
            <a:r>
              <a:rPr sz="900" b="0" i="0">
                <a:solidFill>
                  <a:srgbClr val="C5D4E3"/>
                </a:solidFill>
                <a:latin typeface="Calibri"/>
              </a:rPr>
              <a:t>Data Governance · Navigator product family</a:t>
            </a:r>
          </a:p>
        </p:txBody>
      </p:sp>
      <p:sp>
        <p:nvSpPr>
          <p:cNvPr id="9" name="TextBox 8"/>
          <p:cNvSpPr txBox="1"/>
          <p:nvPr/>
        </p:nvSpPr>
        <p:spPr>
          <a:xfrm>
            <a:off x="8686800" y="6565392"/>
            <a:ext cx="3200400" cy="228600"/>
          </a:xfrm>
          <a:prstGeom prst="rect">
            <a:avLst/>
          </a:prstGeom>
          <a:noFill/>
        </p:spPr>
        <p:txBody>
          <a:bodyPr wrap="none">
            <a:spAutoFit/>
          </a:bodyPr>
          <a:lstStyle/>
          <a:p>
            <a:pPr algn="r"/>
            <a:r>
              <a:rPr sz="800" b="1" i="0">
                <a:solidFill>
                  <a:srgbClr val="9EB0C4"/>
                </a:solidFill>
                <a:latin typeface="Calibri"/>
              </a:rPr>
              <a:t>INTERNAL — PROGRAM &amp; LEADERSHIP</a:t>
            </a:r>
          </a:p>
        </p:txBody>
      </p:sp>
      <p:sp>
        <p:nvSpPr>
          <p:cNvPr id="10" name="Rectangle 9"/>
          <p:cNvSpPr/>
          <p:nvPr/>
        </p:nvSpPr>
        <p:spPr>
          <a:xfrm>
            <a:off x="0" y="621792"/>
            <a:ext cx="4617720" cy="5870448"/>
          </a:xfrm>
          <a:prstGeom prst="rect">
            <a:avLst/>
          </a:prstGeom>
          <a:solidFill>
            <a:srgbClr val="E4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08576" y="621792"/>
            <a:ext cx="9144" cy="5870448"/>
          </a:xfrm>
          <a:prstGeom prst="rect">
            <a:avLst/>
          </a:prstGeom>
          <a:solidFill>
            <a:srgbClr val="D0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804672"/>
            <a:ext cx="4251960" cy="292608"/>
          </a:xfrm>
          <a:prstGeom prst="rect">
            <a:avLst/>
          </a:prstGeom>
          <a:noFill/>
        </p:spPr>
        <p:txBody>
          <a:bodyPr wrap="none">
            <a:spAutoFit/>
          </a:bodyPr>
          <a:lstStyle/>
          <a:p>
            <a:r>
              <a:rPr sz="1200" b="1" i="0">
                <a:solidFill>
                  <a:srgbClr val="0F2744"/>
                </a:solidFill>
                <a:latin typeface="Calibri"/>
              </a:rPr>
              <a:t>WHY IT MATTERS NOW</a:t>
            </a:r>
          </a:p>
        </p:txBody>
      </p:sp>
      <p:sp>
        <p:nvSpPr>
          <p:cNvPr id="13" name="TextBox 12"/>
          <p:cNvSpPr txBox="1"/>
          <p:nvPr/>
        </p:nvSpPr>
        <p:spPr>
          <a:xfrm>
            <a:off x="182880" y="1097280"/>
            <a:ext cx="4251960" cy="150876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Alation exit (Oct 2026)</a:t>
            </a:r>
            <a:r>
              <a:rPr sz="1200" b="0" i="0">
                <a:solidFill>
                  <a:srgbClr val="1A1A1A"/>
                </a:solidFill>
                <a:latin typeface="Calibri"/>
              </a:rPr>
              <a:t> — Teams need search, glossary, ownership, and tags on OMS — not ad hoc metadata in Confluence and Slack.</a:t>
            </a:r>
          </a:p>
          <a:p>
            <a:pPr>
              <a:lnSpc>
                <a:spcPct val="118000"/>
              </a:lnSpc>
              <a:spcAft>
                <a:spcPts val="600"/>
              </a:spcAft>
            </a:pPr>
            <a:r>
              <a:rPr sz="1200" b="0" i="0">
                <a:solidFill>
                  <a:srgbClr val="1A1A1A"/>
                </a:solidFill>
                <a:latin typeface="Calibri"/>
              </a:rPr>
              <a:t>• </a:t>
            </a:r>
            <a:r>
              <a:rPr sz="1200" b="1" i="0">
                <a:solidFill>
                  <a:srgbClr val="1A1A1A"/>
                </a:solidFill>
                <a:latin typeface="Calibri"/>
              </a:rPr>
              <a:t>Fragmented governance</a:t>
            </a:r>
            <a:r>
              <a:rPr sz="1200" b="0" i="0">
                <a:solidFill>
                  <a:srgbClr val="1A1A1A"/>
                </a:solidFill>
                <a:latin typeface="Calibri"/>
              </a:rPr>
              <a:t> — PULS, Access Manager, Kronos, consent, DSR, and security tools work — but no single product narrative connects them.</a:t>
            </a:r>
          </a:p>
          <a:p>
            <a:pPr>
              <a:lnSpc>
                <a:spcPct val="118000"/>
              </a:lnSpc>
              <a:spcAft>
                <a:spcPts val="600"/>
              </a:spcAft>
            </a:pPr>
            <a:r>
              <a:rPr sz="1200" b="0" i="0">
                <a:solidFill>
                  <a:srgbClr val="1A1A1A"/>
                </a:solidFill>
                <a:latin typeface="Calibri"/>
              </a:rPr>
              <a:t>• </a:t>
            </a:r>
            <a:r>
              <a:rPr sz="1200" b="1" i="0">
                <a:solidFill>
                  <a:srgbClr val="1A1A1A"/>
                </a:solidFill>
                <a:latin typeface="Calibri"/>
              </a:rPr>
              <a:t>OMS vs DG tension</a:t>
            </a:r>
            <a:r>
              <a:rPr sz="1200" b="0" i="0">
                <a:solidFill>
                  <a:srgbClr val="1A1A1A"/>
                </a:solidFill>
                <a:latin typeface="Calibri"/>
              </a:rPr>
              <a:t> — Foundations builds the store and APIs; DG must ship business value without building "another OMS."</a:t>
            </a:r>
          </a:p>
          <a:p>
            <a:pPr>
              <a:lnSpc>
                <a:spcPct val="118000"/>
              </a:lnSpc>
              <a:spcAft>
                <a:spcPts val="600"/>
              </a:spcAft>
            </a:pPr>
            <a:r>
              <a:rPr sz="1200" b="0" i="0">
                <a:solidFill>
                  <a:srgbClr val="1A1A1A"/>
                </a:solidFill>
                <a:latin typeface="Calibri"/>
              </a:rPr>
              <a:t>• </a:t>
            </a:r>
            <a:r>
              <a:rPr sz="1200" b="1" i="0">
                <a:solidFill>
                  <a:srgbClr val="1A1A1A"/>
                </a:solidFill>
                <a:latin typeface="Calibri"/>
              </a:rPr>
              <a:t>Dashboard sprawl</a:t>
            </a:r>
            <a:r>
              <a:rPr sz="1200" b="0" i="0">
                <a:solidFill>
                  <a:srgbClr val="1A1A1A"/>
                </a:solidFill>
                <a:latin typeface="Calibri"/>
              </a:rPr>
              <a:t> — Privacy and compliance stakeholders asked for a holistic unified experience — without rebuilding every backend.</a:t>
            </a:r>
          </a:p>
        </p:txBody>
      </p:sp>
      <p:sp>
        <p:nvSpPr>
          <p:cNvPr id="14" name="TextBox 13"/>
          <p:cNvSpPr txBox="1"/>
          <p:nvPr/>
        </p:nvSpPr>
        <p:spPr>
          <a:xfrm>
            <a:off x="182880" y="2788920"/>
            <a:ext cx="4251960" cy="292608"/>
          </a:xfrm>
          <a:prstGeom prst="rect">
            <a:avLst/>
          </a:prstGeom>
          <a:noFill/>
        </p:spPr>
        <p:txBody>
          <a:bodyPr wrap="none">
            <a:spAutoFit/>
          </a:bodyPr>
          <a:lstStyle/>
          <a:p>
            <a:r>
              <a:rPr sz="1200" b="1" i="0">
                <a:solidFill>
                  <a:srgbClr val="0F2744"/>
                </a:solidFill>
                <a:latin typeface="Calibri"/>
              </a:rPr>
              <a:t>WHAT SUCCESS REQUIRES</a:t>
            </a:r>
          </a:p>
        </p:txBody>
      </p:sp>
      <p:sp>
        <p:nvSpPr>
          <p:cNvPr id="15" name="TextBox 14"/>
          <p:cNvSpPr txBox="1"/>
          <p:nvPr/>
        </p:nvSpPr>
        <p:spPr>
          <a:xfrm>
            <a:off x="182880" y="3099816"/>
            <a:ext cx="4251960" cy="96012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Continuity</a:t>
            </a:r>
            <a:r>
              <a:rPr sz="1200" b="0" i="0">
                <a:solidFill>
                  <a:srgbClr val="1A1A1A"/>
                </a:solidFill>
                <a:latin typeface="Calibri"/>
              </a:rPr>
              <a:t> — High-value Alation workflows on OMS for in-scope domains.</a:t>
            </a:r>
          </a:p>
          <a:p>
            <a:pPr>
              <a:lnSpc>
                <a:spcPct val="118000"/>
              </a:lnSpc>
              <a:spcAft>
                <a:spcPts val="600"/>
              </a:spcAft>
            </a:pPr>
            <a:r>
              <a:rPr sz="1200" b="0" i="0">
                <a:solidFill>
                  <a:srgbClr val="1A1A1A"/>
                </a:solidFill>
                <a:latin typeface="Calibri"/>
              </a:rPr>
              <a:t>• </a:t>
            </a:r>
            <a:r>
              <a:rPr sz="1200" b="1" i="0">
                <a:solidFill>
                  <a:srgbClr val="1A1A1A"/>
                </a:solidFill>
                <a:latin typeface="Calibri"/>
              </a:rPr>
              <a:t>Coherence</a:t>
            </a:r>
            <a:r>
              <a:rPr sz="1200" b="0" i="0">
                <a:solidFill>
                  <a:srgbClr val="1A1A1A"/>
                </a:solidFill>
                <a:latin typeface="Calibri"/>
              </a:rPr>
              <a:t> — One portal connecting program dimensions and catalog assets.</a:t>
            </a:r>
          </a:p>
          <a:p>
            <a:pPr>
              <a:lnSpc>
                <a:spcPct val="118000"/>
              </a:lnSpc>
              <a:spcAft>
                <a:spcPts val="600"/>
              </a:spcAft>
            </a:pPr>
            <a:r>
              <a:rPr sz="1200" b="0" i="0">
                <a:solidFill>
                  <a:srgbClr val="1A1A1A"/>
                </a:solidFill>
                <a:latin typeface="Calibri"/>
              </a:rPr>
              <a:t>• </a:t>
            </a:r>
            <a:r>
              <a:rPr sz="1200" b="1" i="0">
                <a:solidFill>
                  <a:srgbClr val="1A1A1A"/>
                </a:solidFill>
                <a:latin typeface="Calibri"/>
              </a:rPr>
              <a:t>Clarity</a:t>
            </a:r>
            <a:r>
              <a:rPr sz="1200" b="0" i="0">
                <a:solidFill>
                  <a:srgbClr val="1A1A1A"/>
                </a:solidFill>
                <a:latin typeface="Calibri"/>
              </a:rPr>
              <a:t> — Documented ownership: who builds shells vs who runs stores.</a:t>
            </a:r>
          </a:p>
        </p:txBody>
      </p:sp>
      <p:sp>
        <p:nvSpPr>
          <p:cNvPr id="16" name="TextBox 15"/>
          <p:cNvSpPr txBox="1"/>
          <p:nvPr/>
        </p:nvSpPr>
        <p:spPr>
          <a:xfrm>
            <a:off x="4800600" y="804672"/>
            <a:ext cx="7208215" cy="292608"/>
          </a:xfrm>
          <a:prstGeom prst="rect">
            <a:avLst/>
          </a:prstGeom>
          <a:noFill/>
        </p:spPr>
        <p:txBody>
          <a:bodyPr wrap="none">
            <a:spAutoFit/>
          </a:bodyPr>
          <a:lstStyle/>
          <a:p>
            <a:r>
              <a:rPr sz="1200" b="1" i="0">
                <a:solidFill>
                  <a:srgbClr val="1E5A96"/>
                </a:solidFill>
                <a:latin typeface="Calibri"/>
              </a:rPr>
              <a:t>STAKEHOLDER BENEFITS</a:t>
            </a:r>
          </a:p>
        </p:txBody>
      </p:sp>
      <p:sp>
        <p:nvSpPr>
          <p:cNvPr id="17" name="TextBox 16"/>
          <p:cNvSpPr txBox="1"/>
          <p:nvPr/>
        </p:nvSpPr>
        <p:spPr>
          <a:xfrm>
            <a:off x="4800600" y="1152144"/>
            <a:ext cx="7208215" cy="306324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Privacy, legal &amp; compliance</a:t>
            </a:r>
            <a:r>
              <a:rPr sz="1200" b="0" i="0">
                <a:solidFill>
                  <a:srgbClr val="1A1A1A"/>
                </a:solidFill>
                <a:latin typeface="Calibri"/>
              </a:rPr>
              <a:t> — One map of consent, DSR, tracker, regulatory, and incident posture — with drill-down to operational tools.</a:t>
            </a:r>
          </a:p>
          <a:p>
            <a:pPr>
              <a:lnSpc>
                <a:spcPct val="118000"/>
              </a:lnSpc>
              <a:spcAft>
                <a:spcPts val="600"/>
              </a:spcAft>
            </a:pPr>
            <a:r>
              <a:rPr sz="1200" b="0" i="0">
                <a:solidFill>
                  <a:srgbClr val="1A1A1A"/>
                </a:solidFill>
                <a:latin typeface="Calibri"/>
              </a:rPr>
              <a:t>• </a:t>
            </a:r>
            <a:r>
              <a:rPr sz="1200" b="1" i="0">
                <a:solidFill>
                  <a:srgbClr val="1A1A1A"/>
                </a:solidFill>
                <a:latin typeface="Calibri"/>
              </a:rPr>
              <a:t>Stewards &amp; DPMs</a:t>
            </a:r>
            <a:r>
              <a:rPr sz="1200" b="0" i="0">
                <a:solidFill>
                  <a:srgbClr val="1A1A1A"/>
                </a:solidFill>
                <a:latin typeface="Calibri"/>
              </a:rPr>
              <a:t> — Platform dimension links to BDC; classifications and policies tie to catalog assets in PULS.</a:t>
            </a:r>
          </a:p>
          <a:p>
            <a:pPr>
              <a:lnSpc>
                <a:spcPct val="118000"/>
              </a:lnSpc>
              <a:spcAft>
                <a:spcPts val="600"/>
              </a:spcAft>
            </a:pPr>
            <a:r>
              <a:rPr sz="1200" b="0" i="0">
                <a:solidFill>
                  <a:srgbClr val="1A1A1A"/>
                </a:solidFill>
                <a:latin typeface="Calibri"/>
              </a:rPr>
              <a:t>• </a:t>
            </a:r>
            <a:r>
              <a:rPr sz="1200" b="1" i="0">
                <a:solidFill>
                  <a:srgbClr val="1A1A1A"/>
                </a:solidFill>
                <a:latin typeface="Calibri"/>
              </a:rPr>
              <a:t>Analysts &amp; BI</a:t>
            </a:r>
            <a:r>
              <a:rPr sz="1200" b="0" i="0">
                <a:solidFill>
                  <a:srgbClr val="1A1A1A"/>
                </a:solidFill>
                <a:latin typeface="Calibri"/>
              </a:rPr>
              <a:t> — Business Data Catalog as daily discovery surface with glossary, ownership, and trust signals.</a:t>
            </a:r>
          </a:p>
          <a:p>
            <a:pPr>
              <a:lnSpc>
                <a:spcPct val="118000"/>
              </a:lnSpc>
              <a:spcAft>
                <a:spcPts val="600"/>
              </a:spcAft>
            </a:pPr>
            <a:r>
              <a:rPr sz="1200" b="0" i="0">
                <a:solidFill>
                  <a:srgbClr val="1A1A1A"/>
                </a:solidFill>
                <a:latin typeface="Calibri"/>
              </a:rPr>
              <a:t>• </a:t>
            </a:r>
            <a:r>
              <a:rPr sz="1200" b="1" i="0">
                <a:solidFill>
                  <a:srgbClr val="1A1A1A"/>
                </a:solidFill>
                <a:latin typeface="Calibri"/>
              </a:rPr>
              <a:t>Executives &amp; program leads</a:t>
            </a:r>
            <a:r>
              <a:rPr sz="1200" b="0" i="0">
                <a:solidFill>
                  <a:srgbClr val="1A1A1A"/>
                </a:solidFill>
                <a:latin typeface="Calibri"/>
              </a:rPr>
              <a:t> — Governance Overview indices, trends, and exportable evidence for council and audit requests.</a:t>
            </a:r>
          </a:p>
          <a:p>
            <a:pPr>
              <a:lnSpc>
                <a:spcPct val="118000"/>
              </a:lnSpc>
              <a:spcAft>
                <a:spcPts val="600"/>
              </a:spcAft>
            </a:pPr>
            <a:r>
              <a:rPr sz="1200" b="0" i="0">
                <a:solidFill>
                  <a:srgbClr val="1A1A1A"/>
                </a:solidFill>
                <a:latin typeface="Calibri"/>
              </a:rPr>
              <a:t>• </a:t>
            </a:r>
            <a:r>
              <a:rPr sz="1200" b="1" i="0">
                <a:solidFill>
                  <a:srgbClr val="1A1A1A"/>
                </a:solidFill>
                <a:latin typeface="Calibri"/>
              </a:rPr>
              <a:t>Engineering &amp; platform</a:t>
            </a:r>
            <a:r>
              <a:rPr sz="1200" b="0" i="0">
                <a:solidFill>
                  <a:srgbClr val="1A1A1A"/>
                </a:solidFill>
                <a:latin typeface="Calibri"/>
              </a:rPr>
              <a:t> — OMS remains technical metadata hub; Navigator consumes APIs — no duplicate ingestion in DG UI.</a:t>
            </a:r>
          </a:p>
          <a:p>
            <a:pPr>
              <a:lnSpc>
                <a:spcPct val="118000"/>
              </a:lnSpc>
              <a:spcAft>
                <a:spcPts val="600"/>
              </a:spcAft>
            </a:pPr>
            <a:r>
              <a:rPr sz="1200" b="0" i="0">
                <a:solidFill>
                  <a:srgbClr val="1A1A1A"/>
                </a:solidFill>
                <a:latin typeface="Calibri"/>
              </a:rPr>
              <a:t>• </a:t>
            </a:r>
            <a:r>
              <a:rPr sz="1200" b="1" i="0">
                <a:solidFill>
                  <a:srgbClr val="1A1A1A"/>
                </a:solidFill>
                <a:latin typeface="Calibri"/>
              </a:rPr>
              <a:t>Inventory operators</a:t>
            </a:r>
            <a:r>
              <a:rPr sz="1200" b="0" i="0">
                <a:solidFill>
                  <a:srgbClr val="1A1A1A"/>
                </a:solidFill>
                <a:latin typeface="Calibri"/>
              </a:rPr>
              <a:t> — Kronos stays authoritative; Navigator provides one-click access from Regulatory → Inventory.</a:t>
            </a:r>
          </a:p>
        </p:txBody>
      </p:sp>
      <p:sp>
        <p:nvSpPr>
          <p:cNvPr id="18" name="Rectangle 17"/>
          <p:cNvSpPr/>
          <p:nvPr/>
        </p:nvSpPr>
        <p:spPr>
          <a:xfrm>
            <a:off x="4800600" y="4846320"/>
            <a:ext cx="7208215" cy="658368"/>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00600" y="4846320"/>
            <a:ext cx="54864" cy="658368"/>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8616" y="4901184"/>
            <a:ext cx="7025335" cy="566928"/>
          </a:xfrm>
          <a:prstGeom prst="rect">
            <a:avLst/>
          </a:prstGeom>
          <a:noFill/>
        </p:spPr>
        <p:txBody>
          <a:bodyPr wrap="square">
            <a:spAutoFit/>
          </a:bodyPr>
          <a:lstStyle/>
          <a:p>
            <a:pPr>
              <a:lnSpc>
                <a:spcPct val="120000"/>
              </a:lnSpc>
              <a:spcAft>
                <a:spcPts val="500"/>
              </a:spcAft>
            </a:pPr>
            <a:r>
              <a:rPr sz="1100" b="1" i="0">
                <a:solidFill>
                  <a:srgbClr val="1A1A1A"/>
                </a:solidFill>
                <a:latin typeface="Calibri"/>
              </a:rPr>
              <a:t>FY27 framing:</a:t>
            </a:r>
            <a:r>
              <a:rPr sz="1100" b="0" i="0">
                <a:solidFill>
                  <a:srgbClr val="1A1A1A"/>
                </a:solidFill>
                <a:latin typeface="Calibri"/>
              </a:rPr>
              <a:t> Navigator is the </a:t>
            </a:r>
            <a:r>
              <a:rPr sz="1100" b="1" i="0">
                <a:solidFill>
                  <a:srgbClr val="1A1A1A"/>
                </a:solidFill>
                <a:latin typeface="Calibri"/>
              </a:rPr>
              <a:t>operating layer for data governance</a:t>
            </a:r>
            <a:r>
              <a:rPr sz="1100" b="0" i="0">
                <a:solidFill>
                  <a:srgbClr val="1A1A1A"/>
                </a:solidFill>
                <a:latin typeface="Calibri"/>
              </a:rPr>
              <a:t> — programs, catalog, policy, and inventory — not a replacement for every specialist system, but the shell that makes the whole program legible.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21792"/>
            <a:ext cx="12191695" cy="5870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262" cy="621792"/>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9875520" cy="411480"/>
          </a:xfrm>
          <a:prstGeom prst="rect">
            <a:avLst/>
          </a:prstGeom>
          <a:noFill/>
        </p:spPr>
        <p:txBody>
          <a:bodyPr wrap="none">
            <a:spAutoFit/>
          </a:bodyPr>
          <a:lstStyle/>
          <a:p>
            <a:r>
              <a:rPr sz="2200" b="1" i="0">
                <a:solidFill>
                  <a:srgbClr val="FFFFFF"/>
                </a:solidFill>
                <a:latin typeface="Calibri"/>
              </a:rPr>
              <a:t>Four parts under the Navigator umbrella</a:t>
            </a:r>
          </a:p>
        </p:txBody>
      </p:sp>
      <p:sp>
        <p:nvSpPr>
          <p:cNvPr id="6" name="TextBox 5"/>
          <p:cNvSpPr txBox="1"/>
          <p:nvPr/>
        </p:nvSpPr>
        <p:spPr>
          <a:xfrm>
            <a:off x="10241280" y="164592"/>
            <a:ext cx="1737360" cy="274320"/>
          </a:xfrm>
          <a:prstGeom prst="rect">
            <a:avLst/>
          </a:prstGeom>
          <a:noFill/>
        </p:spPr>
        <p:txBody>
          <a:bodyPr wrap="none">
            <a:spAutoFit/>
          </a:bodyPr>
          <a:lstStyle/>
          <a:p>
            <a:pPr algn="r"/>
            <a:r>
              <a:rPr sz="900" b="1" i="0">
                <a:solidFill>
                  <a:srgbClr val="FFFFFF"/>
                </a:solidFill>
                <a:latin typeface="Calibri"/>
              </a:rPr>
              <a:t>SLIDE 3 OF 6</a:t>
            </a:r>
          </a:p>
        </p:txBody>
      </p:sp>
      <p:sp>
        <p:nvSpPr>
          <p:cNvPr id="7" name="Rectangle 6"/>
          <p:cNvSpPr/>
          <p:nvPr/>
        </p:nvSpPr>
        <p:spPr>
          <a:xfrm>
            <a:off x="0" y="6492240"/>
            <a:ext cx="12191695" cy="365760"/>
          </a:xfrm>
          <a:prstGeom prst="rect">
            <a:avLst/>
          </a:prstGeom>
          <a:solidFill>
            <a:srgbClr val="3D5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565392"/>
            <a:ext cx="6400800" cy="228600"/>
          </a:xfrm>
          <a:prstGeom prst="rect">
            <a:avLst/>
          </a:prstGeom>
          <a:noFill/>
        </p:spPr>
        <p:txBody>
          <a:bodyPr wrap="none">
            <a:spAutoFit/>
          </a:bodyPr>
          <a:lstStyle/>
          <a:p>
            <a:r>
              <a:rPr sz="900" b="0" i="0">
                <a:solidFill>
                  <a:srgbClr val="C5D4E3"/>
                </a:solidFill>
                <a:latin typeface="Calibri"/>
              </a:rPr>
              <a:t>Data Governance · Navigator product family</a:t>
            </a:r>
          </a:p>
        </p:txBody>
      </p:sp>
      <p:sp>
        <p:nvSpPr>
          <p:cNvPr id="9" name="TextBox 8"/>
          <p:cNvSpPr txBox="1"/>
          <p:nvPr/>
        </p:nvSpPr>
        <p:spPr>
          <a:xfrm>
            <a:off x="8686800" y="6565392"/>
            <a:ext cx="3200400" cy="228600"/>
          </a:xfrm>
          <a:prstGeom prst="rect">
            <a:avLst/>
          </a:prstGeom>
          <a:noFill/>
        </p:spPr>
        <p:txBody>
          <a:bodyPr wrap="none">
            <a:spAutoFit/>
          </a:bodyPr>
          <a:lstStyle/>
          <a:p>
            <a:pPr algn="r"/>
            <a:r>
              <a:rPr sz="800" b="1" i="0">
                <a:solidFill>
                  <a:srgbClr val="9EB0C4"/>
                </a:solidFill>
                <a:latin typeface="Calibri"/>
              </a:rPr>
              <a:t>INTERNAL — PROGRAM &amp; LEADERSHIP</a:t>
            </a:r>
          </a:p>
        </p:txBody>
      </p:sp>
      <p:sp>
        <p:nvSpPr>
          <p:cNvPr id="10" name="Rectangle 9"/>
          <p:cNvSpPr/>
          <p:nvPr/>
        </p:nvSpPr>
        <p:spPr>
          <a:xfrm>
            <a:off x="0" y="621792"/>
            <a:ext cx="4617720" cy="5870448"/>
          </a:xfrm>
          <a:prstGeom prst="rect">
            <a:avLst/>
          </a:prstGeom>
          <a:solidFill>
            <a:srgbClr val="E4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08576" y="621792"/>
            <a:ext cx="9144" cy="5870448"/>
          </a:xfrm>
          <a:prstGeom prst="rect">
            <a:avLst/>
          </a:prstGeom>
          <a:solidFill>
            <a:srgbClr val="D0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804672"/>
            <a:ext cx="4251960" cy="292608"/>
          </a:xfrm>
          <a:prstGeom prst="rect">
            <a:avLst/>
          </a:prstGeom>
          <a:noFill/>
        </p:spPr>
        <p:txBody>
          <a:bodyPr wrap="none">
            <a:spAutoFit/>
          </a:bodyPr>
          <a:lstStyle/>
          <a:p>
            <a:r>
              <a:rPr sz="1200" b="1" i="0">
                <a:solidFill>
                  <a:srgbClr val="0F2744"/>
                </a:solidFill>
                <a:latin typeface="Calibri"/>
              </a:rPr>
              <a:t>THE UMBRELLA MODEL</a:t>
            </a:r>
          </a:p>
        </p:txBody>
      </p:sp>
      <p:sp>
        <p:nvSpPr>
          <p:cNvPr id="13" name="TextBox 12"/>
          <p:cNvSpPr txBox="1"/>
          <p:nvPr/>
        </p:nvSpPr>
        <p:spPr>
          <a:xfrm>
            <a:off x="182880" y="1124712"/>
            <a:ext cx="4251960" cy="1005840"/>
          </a:xfrm>
          <a:prstGeom prst="rect">
            <a:avLst/>
          </a:prstGeom>
          <a:noFill/>
        </p:spPr>
        <p:txBody>
          <a:bodyPr wrap="square">
            <a:spAutoFit/>
          </a:bodyPr>
          <a:lstStyle/>
          <a:p>
            <a:pPr>
              <a:lnSpc>
                <a:spcPct val="120000"/>
              </a:lnSpc>
              <a:spcAft>
                <a:spcPts val="500"/>
              </a:spcAft>
            </a:pPr>
            <a:r>
              <a:rPr sz="1200" b="1" i="0">
                <a:solidFill>
                  <a:srgbClr val="1A1A1A"/>
                </a:solidFill>
                <a:latin typeface="Calibri"/>
              </a:rPr>
              <a:t>Navigator</a:t>
            </a:r>
            <a:r>
              <a:rPr sz="1200" b="0" i="0">
                <a:solidFill>
                  <a:srgbClr val="1A1A1A"/>
                </a:solidFill>
                <a:latin typeface="Calibri"/>
              </a:rPr>
              <a:t> (the name) is both the governance portal experience and the umbrella for the whole family. The four named parts are how we explain build scope, ownership, and architecture to executives and engineers.</a:t>
            </a:r>
          </a:p>
        </p:txBody>
      </p:sp>
      <p:sp>
        <p:nvSpPr>
          <p:cNvPr id="14" name="Rectangle 13"/>
          <p:cNvSpPr/>
          <p:nvPr/>
        </p:nvSpPr>
        <p:spPr>
          <a:xfrm>
            <a:off x="182880" y="2194560"/>
            <a:ext cx="4251960" cy="530352"/>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 y="2194560"/>
            <a:ext cx="54864" cy="53035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 y="2249424"/>
            <a:ext cx="4069080" cy="438912"/>
          </a:xfrm>
          <a:prstGeom prst="rect">
            <a:avLst/>
          </a:prstGeom>
          <a:noFill/>
        </p:spPr>
        <p:txBody>
          <a:bodyPr wrap="square">
            <a:spAutoFit/>
          </a:bodyPr>
          <a:lstStyle/>
          <a:p>
            <a:pPr>
              <a:lnSpc>
                <a:spcPct val="120000"/>
              </a:lnSpc>
              <a:spcAft>
                <a:spcPts val="500"/>
              </a:spcAft>
            </a:pPr>
            <a:r>
              <a:rPr sz="1100" b="0" i="0">
                <a:solidFill>
                  <a:srgbClr val="1A1A1A"/>
                </a:solidFill>
                <a:latin typeface="Calibri"/>
              </a:rPr>
              <a:t>Navigator orchestrates and connects — it does </a:t>
            </a:r>
            <a:r>
              <a:rPr sz="1100" b="1" i="0">
                <a:solidFill>
                  <a:srgbClr val="1A1A1A"/>
                </a:solidFill>
                <a:latin typeface="Calibri"/>
              </a:rPr>
              <a:t>not</a:t>
            </a:r>
            <a:r>
              <a:rPr sz="1100" b="0" i="0">
                <a:solidFill>
                  <a:srgbClr val="1A1A1A"/>
                </a:solidFill>
                <a:latin typeface="Calibri"/>
              </a:rPr>
              <a:t> collapse Kronos, PULS, and OMS into one database.</a:t>
            </a:r>
          </a:p>
        </p:txBody>
      </p:sp>
      <p:sp>
        <p:nvSpPr>
          <p:cNvPr id="17" name="TextBox 16"/>
          <p:cNvSpPr txBox="1"/>
          <p:nvPr/>
        </p:nvSpPr>
        <p:spPr>
          <a:xfrm>
            <a:off x="4800600" y="804672"/>
            <a:ext cx="7208215" cy="292608"/>
          </a:xfrm>
          <a:prstGeom prst="rect">
            <a:avLst/>
          </a:prstGeom>
          <a:noFill/>
        </p:spPr>
        <p:txBody>
          <a:bodyPr wrap="none">
            <a:spAutoFit/>
          </a:bodyPr>
          <a:lstStyle/>
          <a:p>
            <a:r>
              <a:rPr sz="1200" b="1" i="0">
                <a:solidFill>
                  <a:srgbClr val="1E5A96"/>
                </a:solidFill>
                <a:latin typeface="Calibri"/>
              </a:rPr>
              <a:t>NAMED COMPONENTS</a:t>
            </a:r>
          </a:p>
        </p:txBody>
      </p:sp>
      <p:sp>
        <p:nvSpPr>
          <p:cNvPr id="18" name="Rounded Rectangle 17"/>
          <p:cNvSpPr/>
          <p:nvPr/>
        </p:nvSpPr>
        <p:spPr>
          <a:xfrm>
            <a:off x="4800600" y="1152144"/>
            <a:ext cx="7208215" cy="822960"/>
          </a:xfrm>
          <a:prstGeom prst="roundRect">
            <a:avLst/>
          </a:prstGeom>
          <a:solidFill>
            <a:srgbClr val="FFFFFF"/>
          </a:solidFill>
          <a:ln w="9525">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40" y="1207008"/>
            <a:ext cx="7071055" cy="219456"/>
          </a:xfrm>
          <a:prstGeom prst="rect">
            <a:avLst/>
          </a:prstGeom>
          <a:noFill/>
        </p:spPr>
        <p:txBody>
          <a:bodyPr wrap="square">
            <a:spAutoFit/>
          </a:bodyPr>
          <a:lstStyle/>
          <a:p>
            <a:pPr>
              <a:lnSpc>
                <a:spcPct val="120000"/>
              </a:lnSpc>
              <a:spcAft>
                <a:spcPts val="500"/>
              </a:spcAft>
            </a:pPr>
            <a:r>
              <a:rPr sz="1200" b="1" i="0">
                <a:solidFill>
                  <a:srgbClr val="1A1A1A"/>
                </a:solidFill>
                <a:latin typeface="Calibri"/>
              </a:rPr>
              <a:t>1. Navigator (portal + Gov App backend)</a:t>
            </a:r>
          </a:p>
        </p:txBody>
      </p:sp>
      <p:sp>
        <p:nvSpPr>
          <p:cNvPr id="20" name="TextBox 19"/>
          <p:cNvSpPr txBox="1"/>
          <p:nvPr/>
        </p:nvSpPr>
        <p:spPr>
          <a:xfrm>
            <a:off x="4892040" y="1426464"/>
            <a:ext cx="7071055" cy="475488"/>
          </a:xfrm>
          <a:prstGeom prst="rect">
            <a:avLst/>
          </a:prstGeom>
          <a:noFill/>
        </p:spPr>
        <p:txBody>
          <a:bodyPr wrap="square">
            <a:spAutoFit/>
          </a:bodyPr>
          <a:lstStyle/>
          <a:p>
            <a:pPr>
              <a:lnSpc>
                <a:spcPct val="120000"/>
              </a:lnSpc>
              <a:spcAft>
                <a:spcPts val="500"/>
              </a:spcAft>
            </a:pPr>
            <a:r>
              <a:rPr sz="1100" b="0" i="0">
                <a:solidFill>
                  <a:srgbClr val="1A1A1A"/>
                </a:solidFill>
                <a:latin typeface="Calibri"/>
              </a:rPr>
              <a:t>Governance command center: Overview, Privacy / Platform / Security / Regulatory dimensions, workflow UIs, evidence export. Gov App backend read/updates policies and metrics in PULS.</a:t>
            </a:r>
          </a:p>
        </p:txBody>
      </p:sp>
      <p:sp>
        <p:nvSpPr>
          <p:cNvPr id="21" name="Rounded Rectangle 20"/>
          <p:cNvSpPr/>
          <p:nvPr/>
        </p:nvSpPr>
        <p:spPr>
          <a:xfrm>
            <a:off x="4800600" y="2029968"/>
            <a:ext cx="7208215" cy="822960"/>
          </a:xfrm>
          <a:prstGeom prst="roundRect">
            <a:avLst/>
          </a:prstGeom>
          <a:solidFill>
            <a:srgbClr val="FFFFFF"/>
          </a:solidFill>
          <a:ln w="9525">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92040" y="2084832"/>
            <a:ext cx="7071055" cy="219456"/>
          </a:xfrm>
          <a:prstGeom prst="rect">
            <a:avLst/>
          </a:prstGeom>
          <a:noFill/>
        </p:spPr>
        <p:txBody>
          <a:bodyPr wrap="square">
            <a:spAutoFit/>
          </a:bodyPr>
          <a:lstStyle/>
          <a:p>
            <a:pPr>
              <a:lnSpc>
                <a:spcPct val="120000"/>
              </a:lnSpc>
              <a:spcAft>
                <a:spcPts val="500"/>
              </a:spcAft>
            </a:pPr>
            <a:r>
              <a:rPr sz="1200" b="1" i="0">
                <a:solidFill>
                  <a:srgbClr val="1A1A1A"/>
                </a:solidFill>
                <a:latin typeface="Calibri"/>
              </a:rPr>
              <a:t>2. Policy Drive Governance Framework</a:t>
            </a:r>
          </a:p>
        </p:txBody>
      </p:sp>
      <p:sp>
        <p:nvSpPr>
          <p:cNvPr id="23" name="TextBox 22"/>
          <p:cNvSpPr txBox="1"/>
          <p:nvPr/>
        </p:nvSpPr>
        <p:spPr>
          <a:xfrm>
            <a:off x="4892040" y="2304288"/>
            <a:ext cx="7071055" cy="475488"/>
          </a:xfrm>
          <a:prstGeom prst="rect">
            <a:avLst/>
          </a:prstGeom>
          <a:noFill/>
        </p:spPr>
        <p:txBody>
          <a:bodyPr wrap="square">
            <a:spAutoFit/>
          </a:bodyPr>
          <a:lstStyle/>
          <a:p>
            <a:pPr>
              <a:lnSpc>
                <a:spcPct val="120000"/>
              </a:lnSpc>
              <a:spcAft>
                <a:spcPts val="500"/>
              </a:spcAft>
            </a:pPr>
            <a:r>
              <a:rPr sz="1100" b="0" i="0">
                <a:solidFill>
                  <a:srgbClr val="1A1A1A"/>
                </a:solidFill>
                <a:latin typeface="Calibri"/>
              </a:rPr>
              <a:t>PULS Postgres (classifications, policies, metrics) + Access Manager + Gov App backend. System of record for control metadata behind Navigator workflows.</a:t>
            </a:r>
          </a:p>
        </p:txBody>
      </p:sp>
      <p:sp>
        <p:nvSpPr>
          <p:cNvPr id="24" name="Rounded Rectangle 23"/>
          <p:cNvSpPr/>
          <p:nvPr/>
        </p:nvSpPr>
        <p:spPr>
          <a:xfrm>
            <a:off x="4800600" y="2907792"/>
            <a:ext cx="7208215" cy="822960"/>
          </a:xfrm>
          <a:prstGeom prst="roundRect">
            <a:avLst/>
          </a:prstGeom>
          <a:solidFill>
            <a:srgbClr val="FFFFFF"/>
          </a:solidFill>
          <a:ln w="9525">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2040" y="2962656"/>
            <a:ext cx="7071055" cy="219456"/>
          </a:xfrm>
          <a:prstGeom prst="rect">
            <a:avLst/>
          </a:prstGeom>
          <a:noFill/>
        </p:spPr>
        <p:txBody>
          <a:bodyPr wrap="square">
            <a:spAutoFit/>
          </a:bodyPr>
          <a:lstStyle/>
          <a:p>
            <a:pPr>
              <a:lnSpc>
                <a:spcPct val="120000"/>
              </a:lnSpc>
              <a:spcAft>
                <a:spcPts val="500"/>
              </a:spcAft>
            </a:pPr>
            <a:r>
              <a:rPr sz="1200" b="1" i="0">
                <a:solidFill>
                  <a:srgbClr val="1A1A1A"/>
                </a:solidFill>
                <a:latin typeface="Calibri"/>
              </a:rPr>
              <a:t>3. Business Data Catalog (BDC)</a:t>
            </a:r>
          </a:p>
        </p:txBody>
      </p:sp>
      <p:sp>
        <p:nvSpPr>
          <p:cNvPr id="26" name="TextBox 25"/>
          <p:cNvSpPr txBox="1"/>
          <p:nvPr/>
        </p:nvSpPr>
        <p:spPr>
          <a:xfrm>
            <a:off x="4892040" y="3182112"/>
            <a:ext cx="7071055" cy="475488"/>
          </a:xfrm>
          <a:prstGeom prst="rect">
            <a:avLst/>
          </a:prstGeom>
          <a:noFill/>
        </p:spPr>
        <p:txBody>
          <a:bodyPr wrap="square">
            <a:spAutoFit/>
          </a:bodyPr>
          <a:lstStyle/>
          <a:p>
            <a:pPr>
              <a:lnSpc>
                <a:spcPct val="120000"/>
              </a:lnSpc>
              <a:spcAft>
                <a:spcPts val="500"/>
              </a:spcAft>
            </a:pPr>
            <a:r>
              <a:rPr sz="1100" b="0" i="0">
                <a:solidFill>
                  <a:srgbClr val="1A1A1A"/>
                </a:solidFill>
                <a:latin typeface="Calibri"/>
              </a:rPr>
              <a:t>Business-first UI on OMS APIs — Data Sources, Catalog, Glossary, stewardship. Alation migration target; opened from left nav or Platform → Stewards.</a:t>
            </a:r>
          </a:p>
        </p:txBody>
      </p:sp>
      <p:sp>
        <p:nvSpPr>
          <p:cNvPr id="27" name="Rounded Rectangle 26"/>
          <p:cNvSpPr/>
          <p:nvPr/>
        </p:nvSpPr>
        <p:spPr>
          <a:xfrm>
            <a:off x="4800600" y="3785616"/>
            <a:ext cx="7208215" cy="822960"/>
          </a:xfrm>
          <a:prstGeom prst="roundRect">
            <a:avLst/>
          </a:prstGeom>
          <a:solidFill>
            <a:srgbClr val="FFFFFF"/>
          </a:solidFill>
          <a:ln w="9525">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92040" y="3840480"/>
            <a:ext cx="7071055" cy="219456"/>
          </a:xfrm>
          <a:prstGeom prst="rect">
            <a:avLst/>
          </a:prstGeom>
          <a:noFill/>
        </p:spPr>
        <p:txBody>
          <a:bodyPr wrap="square">
            <a:spAutoFit/>
          </a:bodyPr>
          <a:lstStyle/>
          <a:p>
            <a:pPr>
              <a:lnSpc>
                <a:spcPct val="120000"/>
              </a:lnSpc>
              <a:spcAft>
                <a:spcPts val="500"/>
              </a:spcAft>
            </a:pPr>
            <a:r>
              <a:rPr sz="1200" b="1" i="0">
                <a:solidFill>
                  <a:srgbClr val="1A1A1A"/>
                </a:solidFill>
                <a:latin typeface="Calibri"/>
              </a:rPr>
              <a:t>4. Kronos (business inventory)</a:t>
            </a:r>
          </a:p>
        </p:txBody>
      </p:sp>
      <p:sp>
        <p:nvSpPr>
          <p:cNvPr id="29" name="TextBox 28"/>
          <p:cNvSpPr txBox="1"/>
          <p:nvPr/>
        </p:nvSpPr>
        <p:spPr>
          <a:xfrm>
            <a:off x="4892040" y="4059936"/>
            <a:ext cx="7071055" cy="475488"/>
          </a:xfrm>
          <a:prstGeom prst="rect">
            <a:avLst/>
          </a:prstGeom>
          <a:noFill/>
        </p:spPr>
        <p:txBody>
          <a:bodyPr wrap="square">
            <a:spAutoFit/>
          </a:bodyPr>
          <a:lstStyle/>
          <a:p>
            <a:pPr>
              <a:lnSpc>
                <a:spcPct val="120000"/>
              </a:lnSpc>
              <a:spcAft>
                <a:spcPts val="500"/>
              </a:spcAft>
            </a:pPr>
            <a:r>
              <a:rPr sz="1100" b="0" i="0">
                <a:solidFill>
                  <a:srgbClr val="1A1A1A"/>
                </a:solidFill>
                <a:latin typeface="Calibri"/>
              </a:rPr>
              <a:t>SISU Postgres inventory + Kronos UI. Regulatory → Inventory deep link. Business context complements OMS technical metadata.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21792"/>
            <a:ext cx="12191695" cy="5870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262" cy="621792"/>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9875520" cy="411480"/>
          </a:xfrm>
          <a:prstGeom prst="rect">
            <a:avLst/>
          </a:prstGeom>
          <a:noFill/>
        </p:spPr>
        <p:txBody>
          <a:bodyPr wrap="none">
            <a:spAutoFit/>
          </a:bodyPr>
          <a:lstStyle/>
          <a:p>
            <a:r>
              <a:rPr sz="2200" b="1" i="0">
                <a:solidFill>
                  <a:srgbClr val="FFFFFF"/>
                </a:solidFill>
                <a:latin typeface="Calibri"/>
              </a:rPr>
              <a:t>Navigator portal &amp; Business Data Catalog</a:t>
            </a:r>
          </a:p>
        </p:txBody>
      </p:sp>
      <p:sp>
        <p:nvSpPr>
          <p:cNvPr id="6" name="TextBox 5"/>
          <p:cNvSpPr txBox="1"/>
          <p:nvPr/>
        </p:nvSpPr>
        <p:spPr>
          <a:xfrm>
            <a:off x="10241280" y="164592"/>
            <a:ext cx="1737360" cy="274320"/>
          </a:xfrm>
          <a:prstGeom prst="rect">
            <a:avLst/>
          </a:prstGeom>
          <a:noFill/>
        </p:spPr>
        <p:txBody>
          <a:bodyPr wrap="none">
            <a:spAutoFit/>
          </a:bodyPr>
          <a:lstStyle/>
          <a:p>
            <a:pPr algn="r"/>
            <a:r>
              <a:rPr sz="900" b="1" i="0">
                <a:solidFill>
                  <a:srgbClr val="FFFFFF"/>
                </a:solidFill>
                <a:latin typeface="Calibri"/>
              </a:rPr>
              <a:t>SLIDE 4 OF 6</a:t>
            </a:r>
          </a:p>
        </p:txBody>
      </p:sp>
      <p:sp>
        <p:nvSpPr>
          <p:cNvPr id="7" name="Rectangle 6"/>
          <p:cNvSpPr/>
          <p:nvPr/>
        </p:nvSpPr>
        <p:spPr>
          <a:xfrm>
            <a:off x="0" y="6492240"/>
            <a:ext cx="12191695" cy="365760"/>
          </a:xfrm>
          <a:prstGeom prst="rect">
            <a:avLst/>
          </a:prstGeom>
          <a:solidFill>
            <a:srgbClr val="3D5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565392"/>
            <a:ext cx="6400800" cy="228600"/>
          </a:xfrm>
          <a:prstGeom prst="rect">
            <a:avLst/>
          </a:prstGeom>
          <a:noFill/>
        </p:spPr>
        <p:txBody>
          <a:bodyPr wrap="none">
            <a:spAutoFit/>
          </a:bodyPr>
          <a:lstStyle/>
          <a:p>
            <a:r>
              <a:rPr sz="900" b="0" i="0">
                <a:solidFill>
                  <a:srgbClr val="C5D4E3"/>
                </a:solidFill>
                <a:latin typeface="Calibri"/>
              </a:rPr>
              <a:t>Data Governance · Navigator product family</a:t>
            </a:r>
          </a:p>
        </p:txBody>
      </p:sp>
      <p:sp>
        <p:nvSpPr>
          <p:cNvPr id="9" name="TextBox 8"/>
          <p:cNvSpPr txBox="1"/>
          <p:nvPr/>
        </p:nvSpPr>
        <p:spPr>
          <a:xfrm>
            <a:off x="8686800" y="6565392"/>
            <a:ext cx="3200400" cy="228600"/>
          </a:xfrm>
          <a:prstGeom prst="rect">
            <a:avLst/>
          </a:prstGeom>
          <a:noFill/>
        </p:spPr>
        <p:txBody>
          <a:bodyPr wrap="none">
            <a:spAutoFit/>
          </a:bodyPr>
          <a:lstStyle/>
          <a:p>
            <a:pPr algn="r"/>
            <a:r>
              <a:rPr sz="800" b="1" i="0">
                <a:solidFill>
                  <a:srgbClr val="9EB0C4"/>
                </a:solidFill>
                <a:latin typeface="Calibri"/>
              </a:rPr>
              <a:t>INTERNAL — PROGRAM &amp; LEADERSHIP</a:t>
            </a:r>
          </a:p>
        </p:txBody>
      </p:sp>
      <p:sp>
        <p:nvSpPr>
          <p:cNvPr id="10" name="Rectangle 9"/>
          <p:cNvSpPr/>
          <p:nvPr/>
        </p:nvSpPr>
        <p:spPr>
          <a:xfrm>
            <a:off x="0" y="621792"/>
            <a:ext cx="4617720" cy="5870448"/>
          </a:xfrm>
          <a:prstGeom prst="rect">
            <a:avLst/>
          </a:prstGeom>
          <a:solidFill>
            <a:srgbClr val="E4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08576" y="621792"/>
            <a:ext cx="9144" cy="5870448"/>
          </a:xfrm>
          <a:prstGeom prst="rect">
            <a:avLst/>
          </a:prstGeom>
          <a:solidFill>
            <a:srgbClr val="D0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804672"/>
            <a:ext cx="4251960" cy="292608"/>
          </a:xfrm>
          <a:prstGeom prst="rect">
            <a:avLst/>
          </a:prstGeom>
          <a:noFill/>
        </p:spPr>
        <p:txBody>
          <a:bodyPr wrap="none">
            <a:spAutoFit/>
          </a:bodyPr>
          <a:lstStyle/>
          <a:p>
            <a:r>
              <a:rPr sz="1200" b="1" i="0">
                <a:solidFill>
                  <a:srgbClr val="0F2744"/>
                </a:solidFill>
                <a:latin typeface="Calibri"/>
              </a:rPr>
              <a:t>NAVIGATOR PORTAL</a:t>
            </a:r>
          </a:p>
        </p:txBody>
      </p:sp>
      <p:sp>
        <p:nvSpPr>
          <p:cNvPr id="13" name="TextBox 12"/>
          <p:cNvSpPr txBox="1"/>
          <p:nvPr/>
        </p:nvSpPr>
        <p:spPr>
          <a:xfrm>
            <a:off x="182880" y="1115568"/>
            <a:ext cx="4251960" cy="347472"/>
          </a:xfrm>
          <a:prstGeom prst="rect">
            <a:avLst/>
          </a:prstGeom>
          <a:noFill/>
        </p:spPr>
        <p:txBody>
          <a:bodyPr wrap="square">
            <a:spAutoFit/>
          </a:bodyPr>
          <a:lstStyle/>
          <a:p>
            <a:pPr>
              <a:lnSpc>
                <a:spcPct val="120000"/>
              </a:lnSpc>
              <a:spcAft>
                <a:spcPts val="500"/>
              </a:spcAft>
            </a:pPr>
            <a:r>
              <a:rPr sz="1200" b="0" i="0">
                <a:solidFill>
                  <a:srgbClr val="1A1A1A"/>
                </a:solidFill>
                <a:latin typeface="Calibri"/>
              </a:rPr>
              <a:t>Program operators land here. Four dimension buckets mirror how DEEPT runs governance:</a:t>
            </a:r>
          </a:p>
        </p:txBody>
      </p:sp>
      <p:sp>
        <p:nvSpPr>
          <p:cNvPr id="14" name="TextBox 13"/>
          <p:cNvSpPr txBox="1"/>
          <p:nvPr/>
        </p:nvSpPr>
        <p:spPr>
          <a:xfrm>
            <a:off x="182880" y="1463040"/>
            <a:ext cx="4251960" cy="105156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Privacy</a:t>
            </a:r>
            <a:r>
              <a:rPr sz="1200" b="0" i="0">
                <a:solidFill>
                  <a:srgbClr val="1A1A1A"/>
                </a:solidFill>
                <a:latin typeface="Calibri"/>
              </a:rPr>
              <a:t> — Consent · DSRs · Tracker remediation</a:t>
            </a:r>
          </a:p>
          <a:p>
            <a:pPr>
              <a:lnSpc>
                <a:spcPct val="118000"/>
              </a:lnSpc>
              <a:spcAft>
                <a:spcPts val="600"/>
              </a:spcAft>
            </a:pPr>
            <a:r>
              <a:rPr sz="1200" b="0" i="0">
                <a:solidFill>
                  <a:srgbClr val="1A1A1A"/>
                </a:solidFill>
                <a:latin typeface="Calibri"/>
              </a:rPr>
              <a:t>• </a:t>
            </a:r>
            <a:r>
              <a:rPr sz="1200" b="1" i="0">
                <a:solidFill>
                  <a:srgbClr val="1A1A1A"/>
                </a:solidFill>
                <a:latin typeface="Calibri"/>
              </a:rPr>
              <a:t>Platform</a:t>
            </a:r>
            <a:r>
              <a:rPr sz="1200" b="0" i="0">
                <a:solidFill>
                  <a:srgbClr val="1A1A1A"/>
                </a:solidFill>
                <a:latin typeface="Calibri"/>
              </a:rPr>
              <a:t> — Stewards → BDC · Classifications · Policies</a:t>
            </a:r>
          </a:p>
          <a:p>
            <a:pPr>
              <a:lnSpc>
                <a:spcPct val="118000"/>
              </a:lnSpc>
              <a:spcAft>
                <a:spcPts val="600"/>
              </a:spcAft>
            </a:pPr>
            <a:r>
              <a:rPr sz="1200" b="0" i="0">
                <a:solidFill>
                  <a:srgbClr val="1A1A1A"/>
                </a:solidFill>
                <a:latin typeface="Calibri"/>
              </a:rPr>
              <a:t>• </a:t>
            </a:r>
            <a:r>
              <a:rPr sz="1200" b="1" i="0">
                <a:solidFill>
                  <a:srgbClr val="1A1A1A"/>
                </a:solidFill>
                <a:latin typeface="Calibri"/>
              </a:rPr>
              <a:t>Security</a:t>
            </a:r>
            <a:r>
              <a:rPr sz="1200" b="0" i="0">
                <a:solidFill>
                  <a:srgbClr val="1A1A1A"/>
                </a:solidFill>
                <a:latin typeface="Calibri"/>
              </a:rPr>
              <a:t> — Access · GIS · Data use</a:t>
            </a:r>
          </a:p>
          <a:p>
            <a:pPr>
              <a:lnSpc>
                <a:spcPct val="118000"/>
              </a:lnSpc>
              <a:spcAft>
                <a:spcPts val="600"/>
              </a:spcAft>
            </a:pPr>
            <a:r>
              <a:rPr sz="1200" b="0" i="0">
                <a:solidFill>
                  <a:srgbClr val="1A1A1A"/>
                </a:solidFill>
                <a:latin typeface="Calibri"/>
              </a:rPr>
              <a:t>• </a:t>
            </a:r>
            <a:r>
              <a:rPr sz="1200" b="1" i="0">
                <a:solidFill>
                  <a:srgbClr val="1A1A1A"/>
                </a:solidFill>
                <a:latin typeface="Calibri"/>
              </a:rPr>
              <a:t>Regulatory</a:t>
            </a:r>
            <a:r>
              <a:rPr sz="1200" b="0" i="0">
                <a:solidFill>
                  <a:srgbClr val="1A1A1A"/>
                </a:solidFill>
                <a:latin typeface="Calibri"/>
              </a:rPr>
              <a:t> — Laws &amp; regulations · Incidents · </a:t>
            </a:r>
            <a:r>
              <a:rPr sz="1200" b="1" i="0">
                <a:solidFill>
                  <a:srgbClr val="1A1A1A"/>
                </a:solidFill>
                <a:latin typeface="Calibri"/>
              </a:rPr>
              <a:t>Inventory → Kronos</a:t>
            </a:r>
          </a:p>
        </p:txBody>
      </p:sp>
      <p:sp>
        <p:nvSpPr>
          <p:cNvPr id="15" name="TextBox 14"/>
          <p:cNvSpPr txBox="1"/>
          <p:nvPr/>
        </p:nvSpPr>
        <p:spPr>
          <a:xfrm>
            <a:off x="182880" y="2404872"/>
            <a:ext cx="4251960" cy="914400"/>
          </a:xfrm>
          <a:prstGeom prst="rect">
            <a:avLst/>
          </a:prstGeom>
          <a:noFill/>
        </p:spPr>
        <p:txBody>
          <a:bodyPr wrap="square">
            <a:spAutoFit/>
          </a:bodyPr>
          <a:lstStyle/>
          <a:p>
            <a:pPr>
              <a:lnSpc>
                <a:spcPct val="120000"/>
              </a:lnSpc>
              <a:spcAft>
                <a:spcPts val="500"/>
              </a:spcAft>
            </a:pPr>
            <a:r>
              <a:rPr sz="1200" b="0" i="0">
                <a:solidFill>
                  <a:srgbClr val="1A1A1A"/>
                </a:solidFill>
                <a:latin typeface="Calibri"/>
              </a:rPr>
              <a:t>Governance Overview aggregates PCI-style and section indices for leadership. Workflow UIs connect to Gov App backend; auditor view and evidence export support attestation cycles.</a:t>
            </a:r>
          </a:p>
        </p:txBody>
      </p:sp>
      <p:sp>
        <p:nvSpPr>
          <p:cNvPr id="16" name="TextBox 15"/>
          <p:cNvSpPr txBox="1"/>
          <p:nvPr/>
        </p:nvSpPr>
        <p:spPr>
          <a:xfrm>
            <a:off x="4800600" y="804672"/>
            <a:ext cx="7208215" cy="292608"/>
          </a:xfrm>
          <a:prstGeom prst="rect">
            <a:avLst/>
          </a:prstGeom>
          <a:noFill/>
        </p:spPr>
        <p:txBody>
          <a:bodyPr wrap="none">
            <a:spAutoFit/>
          </a:bodyPr>
          <a:lstStyle/>
          <a:p>
            <a:r>
              <a:rPr sz="1200" b="1" i="0">
                <a:solidFill>
                  <a:srgbClr val="1E5A96"/>
                </a:solidFill>
                <a:latin typeface="Calibri"/>
              </a:rPr>
              <a:t>BUSINESS DATA CATALOG</a:t>
            </a:r>
          </a:p>
        </p:txBody>
      </p:sp>
      <p:sp>
        <p:nvSpPr>
          <p:cNvPr id="17" name="TextBox 16"/>
          <p:cNvSpPr txBox="1"/>
          <p:nvPr/>
        </p:nvSpPr>
        <p:spPr>
          <a:xfrm>
            <a:off x="4800600" y="1115568"/>
            <a:ext cx="7208215" cy="411480"/>
          </a:xfrm>
          <a:prstGeom prst="rect">
            <a:avLst/>
          </a:prstGeom>
          <a:noFill/>
        </p:spPr>
        <p:txBody>
          <a:bodyPr wrap="square">
            <a:spAutoFit/>
          </a:bodyPr>
          <a:lstStyle/>
          <a:p>
            <a:pPr>
              <a:lnSpc>
                <a:spcPct val="120000"/>
              </a:lnSpc>
              <a:spcAft>
                <a:spcPts val="500"/>
              </a:spcAft>
            </a:pPr>
            <a:r>
              <a:rPr sz="1200" b="0" i="0">
                <a:solidFill>
                  <a:srgbClr val="1A1A1A"/>
                </a:solidFill>
                <a:latin typeface="Calibri"/>
              </a:rPr>
              <a:t>The daily workspace for metadata consumers and stewards. Built </a:t>
            </a:r>
            <a:r>
              <a:rPr sz="1200" b="1" i="0">
                <a:solidFill>
                  <a:srgbClr val="1A1A1A"/>
                </a:solidFill>
                <a:latin typeface="Calibri"/>
              </a:rPr>
              <a:t>on top of OMS APIs</a:t>
            </a:r>
            <a:r>
              <a:rPr sz="1200" b="0" i="0">
                <a:solidFill>
                  <a:srgbClr val="1A1A1A"/>
                </a:solidFill>
                <a:latin typeface="Calibri"/>
              </a:rPr>
              <a:t> — not a second operational metadata store.</a:t>
            </a:r>
          </a:p>
        </p:txBody>
      </p:sp>
      <p:sp>
        <p:nvSpPr>
          <p:cNvPr id="18" name="TextBox 17"/>
          <p:cNvSpPr txBox="1"/>
          <p:nvPr/>
        </p:nvSpPr>
        <p:spPr>
          <a:xfrm>
            <a:off x="4800600" y="1554480"/>
            <a:ext cx="7208215" cy="132588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Discovery</a:t>
            </a:r>
            <a:r>
              <a:rPr sz="1200" b="0" i="0">
                <a:solidFill>
                  <a:srgbClr val="1A1A1A"/>
                </a:solidFill>
                <a:latin typeface="Calibri"/>
              </a:rPr>
              <a:t> — Data Sources browse, catalog search, glossary, asset detail, lineage (where OMS graph supports).</a:t>
            </a:r>
          </a:p>
          <a:p>
            <a:pPr>
              <a:lnSpc>
                <a:spcPct val="118000"/>
              </a:lnSpc>
              <a:spcAft>
                <a:spcPts val="600"/>
              </a:spcAft>
            </a:pPr>
            <a:r>
              <a:rPr sz="1200" b="0" i="0">
                <a:solidFill>
                  <a:srgbClr val="1A1A1A"/>
                </a:solidFill>
                <a:latin typeface="Calibri"/>
              </a:rPr>
              <a:t>• </a:t>
            </a:r>
            <a:r>
              <a:rPr sz="1200" b="1" i="0">
                <a:solidFill>
                  <a:srgbClr val="1A1A1A"/>
                </a:solidFill>
                <a:latin typeface="Calibri"/>
              </a:rPr>
              <a:t>Stewardship</a:t>
            </a:r>
            <a:r>
              <a:rPr sz="1200" b="0" i="0">
                <a:solidFill>
                  <a:srgbClr val="1A1A1A"/>
                </a:solidFill>
                <a:latin typeface="Calibri"/>
              </a:rPr>
              <a:t> — Ownership, descriptions, tags/classifications display, suggest-edit flows.</a:t>
            </a:r>
          </a:p>
          <a:p>
            <a:pPr>
              <a:lnSpc>
                <a:spcPct val="118000"/>
              </a:lnSpc>
              <a:spcAft>
                <a:spcPts val="600"/>
              </a:spcAft>
            </a:pPr>
            <a:r>
              <a:rPr sz="1200" b="0" i="0">
                <a:solidFill>
                  <a:srgbClr val="1A1A1A"/>
                </a:solidFill>
                <a:latin typeface="Calibri"/>
              </a:rPr>
              <a:t>• </a:t>
            </a:r>
            <a:r>
              <a:rPr sz="1200" b="1" i="0">
                <a:solidFill>
                  <a:srgbClr val="1A1A1A"/>
                </a:solidFill>
                <a:latin typeface="Calibri"/>
              </a:rPr>
              <a:t>Entry points</a:t>
            </a:r>
            <a:r>
              <a:rPr sz="1200" b="0" i="0">
                <a:solidFill>
                  <a:srgbClr val="1A1A1A"/>
                </a:solidFill>
                <a:latin typeface="Calibri"/>
              </a:rPr>
              <a:t> — Left nav "Business Data Catalog" or Navigator Platform → Stewards.</a:t>
            </a:r>
          </a:p>
          <a:p>
            <a:pPr>
              <a:lnSpc>
                <a:spcPct val="118000"/>
              </a:lnSpc>
              <a:spcAft>
                <a:spcPts val="600"/>
              </a:spcAft>
            </a:pPr>
            <a:r>
              <a:rPr sz="1200" b="0" i="0">
                <a:solidFill>
                  <a:srgbClr val="1A1A1A"/>
                </a:solidFill>
                <a:latin typeface="Calibri"/>
              </a:rPr>
              <a:t>• </a:t>
            </a:r>
            <a:r>
              <a:rPr sz="1200" b="1" i="0">
                <a:solidFill>
                  <a:srgbClr val="1A1A1A"/>
                </a:solidFill>
                <a:latin typeface="Calibri"/>
              </a:rPr>
              <a:t>MVP focus</a:t>
            </a:r>
            <a:r>
              <a:rPr sz="1200" b="0" i="0">
                <a:solidFill>
                  <a:srgbClr val="1A1A1A"/>
                </a:solidFill>
                <a:latin typeface="Calibri"/>
              </a:rPr>
              <a:t> — Proven Alation workflow parity for in-scope domains before contract end.</a:t>
            </a:r>
          </a:p>
        </p:txBody>
      </p:sp>
      <p:sp>
        <p:nvSpPr>
          <p:cNvPr id="19" name="Rectangle 18"/>
          <p:cNvSpPr/>
          <p:nvPr/>
        </p:nvSpPr>
        <p:spPr>
          <a:xfrm>
            <a:off x="4800600" y="2798064"/>
            <a:ext cx="7208215" cy="658368"/>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2798064"/>
            <a:ext cx="54864" cy="658368"/>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28616" y="2852928"/>
            <a:ext cx="7025335" cy="566928"/>
          </a:xfrm>
          <a:prstGeom prst="rect">
            <a:avLst/>
          </a:prstGeom>
          <a:noFill/>
        </p:spPr>
        <p:txBody>
          <a:bodyPr wrap="square">
            <a:spAutoFit/>
          </a:bodyPr>
          <a:lstStyle/>
          <a:p>
            <a:pPr>
              <a:lnSpc>
                <a:spcPct val="120000"/>
              </a:lnSpc>
              <a:spcAft>
                <a:spcPts val="500"/>
              </a:spcAft>
            </a:pPr>
            <a:r>
              <a:rPr sz="1100" b="1" i="0">
                <a:solidFill>
                  <a:srgbClr val="1A1A1A"/>
                </a:solidFill>
                <a:latin typeface="Calibri"/>
              </a:rPr>
              <a:t>Ownership:</a:t>
            </a:r>
            <a:r>
              <a:rPr sz="1100" b="0" i="0">
                <a:solidFill>
                  <a:srgbClr val="1A1A1A"/>
                </a:solidFill>
                <a:latin typeface="Calibri"/>
              </a:rPr>
              <a:t> Data Governance owns BDC product &amp; UX · OMS Foundations owns store, connectors &amp; APIs · OMS is the engine; BDC is how the governance program experiences catalog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21792"/>
            <a:ext cx="12191695" cy="5870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262" cy="621792"/>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9875520" cy="411480"/>
          </a:xfrm>
          <a:prstGeom prst="rect">
            <a:avLst/>
          </a:prstGeom>
          <a:noFill/>
        </p:spPr>
        <p:txBody>
          <a:bodyPr wrap="none">
            <a:spAutoFit/>
          </a:bodyPr>
          <a:lstStyle/>
          <a:p>
            <a:r>
              <a:rPr sz="2200" b="1" i="0">
                <a:solidFill>
                  <a:srgbClr val="FFFFFF"/>
                </a:solidFill>
                <a:latin typeface="Calibri"/>
              </a:rPr>
              <a:t>Policy framework, Kronos &amp; architecture</a:t>
            </a:r>
          </a:p>
        </p:txBody>
      </p:sp>
      <p:sp>
        <p:nvSpPr>
          <p:cNvPr id="6" name="TextBox 5"/>
          <p:cNvSpPr txBox="1"/>
          <p:nvPr/>
        </p:nvSpPr>
        <p:spPr>
          <a:xfrm>
            <a:off x="10241280" y="164592"/>
            <a:ext cx="1737360" cy="274320"/>
          </a:xfrm>
          <a:prstGeom prst="rect">
            <a:avLst/>
          </a:prstGeom>
          <a:noFill/>
        </p:spPr>
        <p:txBody>
          <a:bodyPr wrap="none">
            <a:spAutoFit/>
          </a:bodyPr>
          <a:lstStyle/>
          <a:p>
            <a:pPr algn="r"/>
            <a:r>
              <a:rPr sz="900" b="1" i="0">
                <a:solidFill>
                  <a:srgbClr val="FFFFFF"/>
                </a:solidFill>
                <a:latin typeface="Calibri"/>
              </a:rPr>
              <a:t>SLIDE 5 OF 6</a:t>
            </a:r>
          </a:p>
        </p:txBody>
      </p:sp>
      <p:sp>
        <p:nvSpPr>
          <p:cNvPr id="7" name="Rectangle 6"/>
          <p:cNvSpPr/>
          <p:nvPr/>
        </p:nvSpPr>
        <p:spPr>
          <a:xfrm>
            <a:off x="0" y="6492240"/>
            <a:ext cx="12191695" cy="365760"/>
          </a:xfrm>
          <a:prstGeom prst="rect">
            <a:avLst/>
          </a:prstGeom>
          <a:solidFill>
            <a:srgbClr val="3D5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565392"/>
            <a:ext cx="6400800" cy="228600"/>
          </a:xfrm>
          <a:prstGeom prst="rect">
            <a:avLst/>
          </a:prstGeom>
          <a:noFill/>
        </p:spPr>
        <p:txBody>
          <a:bodyPr wrap="none">
            <a:spAutoFit/>
          </a:bodyPr>
          <a:lstStyle/>
          <a:p>
            <a:r>
              <a:rPr sz="900" b="0" i="0">
                <a:solidFill>
                  <a:srgbClr val="C5D4E3"/>
                </a:solidFill>
                <a:latin typeface="Calibri"/>
              </a:rPr>
              <a:t>Data Governance · Navigator product family</a:t>
            </a:r>
          </a:p>
        </p:txBody>
      </p:sp>
      <p:sp>
        <p:nvSpPr>
          <p:cNvPr id="9" name="TextBox 8"/>
          <p:cNvSpPr txBox="1"/>
          <p:nvPr/>
        </p:nvSpPr>
        <p:spPr>
          <a:xfrm>
            <a:off x="8686800" y="6565392"/>
            <a:ext cx="3200400" cy="228600"/>
          </a:xfrm>
          <a:prstGeom prst="rect">
            <a:avLst/>
          </a:prstGeom>
          <a:noFill/>
        </p:spPr>
        <p:txBody>
          <a:bodyPr wrap="none">
            <a:spAutoFit/>
          </a:bodyPr>
          <a:lstStyle/>
          <a:p>
            <a:pPr algn="r"/>
            <a:r>
              <a:rPr sz="800" b="1" i="0">
                <a:solidFill>
                  <a:srgbClr val="9EB0C4"/>
                </a:solidFill>
                <a:latin typeface="Calibri"/>
              </a:rPr>
              <a:t>INTERNAL — PROGRAM &amp; LEADERSHIP</a:t>
            </a:r>
          </a:p>
        </p:txBody>
      </p:sp>
      <p:sp>
        <p:nvSpPr>
          <p:cNvPr id="10" name="Rectangle 9"/>
          <p:cNvSpPr/>
          <p:nvPr/>
        </p:nvSpPr>
        <p:spPr>
          <a:xfrm>
            <a:off x="0" y="621792"/>
            <a:ext cx="4617720" cy="5870448"/>
          </a:xfrm>
          <a:prstGeom prst="rect">
            <a:avLst/>
          </a:prstGeom>
          <a:solidFill>
            <a:srgbClr val="E4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08576" y="621792"/>
            <a:ext cx="9144" cy="5870448"/>
          </a:xfrm>
          <a:prstGeom prst="rect">
            <a:avLst/>
          </a:prstGeom>
          <a:solidFill>
            <a:srgbClr val="D0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804672"/>
            <a:ext cx="4251960" cy="292608"/>
          </a:xfrm>
          <a:prstGeom prst="rect">
            <a:avLst/>
          </a:prstGeom>
          <a:noFill/>
        </p:spPr>
        <p:txBody>
          <a:bodyPr wrap="none">
            <a:spAutoFit/>
          </a:bodyPr>
          <a:lstStyle/>
          <a:p>
            <a:r>
              <a:rPr sz="1200" b="1" i="0">
                <a:solidFill>
                  <a:srgbClr val="0F2744"/>
                </a:solidFill>
                <a:latin typeface="Calibri"/>
              </a:rPr>
              <a:t>POLICY DRIVE GOVERNANCE FRAMEWORK</a:t>
            </a:r>
          </a:p>
        </p:txBody>
      </p:sp>
      <p:sp>
        <p:nvSpPr>
          <p:cNvPr id="13" name="TextBox 12"/>
          <p:cNvSpPr txBox="1"/>
          <p:nvPr/>
        </p:nvSpPr>
        <p:spPr>
          <a:xfrm>
            <a:off x="182880" y="1115568"/>
            <a:ext cx="4251960" cy="256032"/>
          </a:xfrm>
          <a:prstGeom prst="rect">
            <a:avLst/>
          </a:prstGeom>
          <a:noFill/>
        </p:spPr>
        <p:txBody>
          <a:bodyPr wrap="square">
            <a:spAutoFit/>
          </a:bodyPr>
          <a:lstStyle/>
          <a:p>
            <a:pPr>
              <a:lnSpc>
                <a:spcPct val="120000"/>
              </a:lnSpc>
              <a:spcAft>
                <a:spcPts val="500"/>
              </a:spcAft>
            </a:pPr>
            <a:r>
              <a:rPr sz="1200" b="0" i="0">
                <a:solidFill>
                  <a:srgbClr val="1A1A1A"/>
                </a:solidFill>
                <a:latin typeface="Calibri"/>
              </a:rPr>
              <a:t>Authoritative layer behind Navigator workflows:</a:t>
            </a:r>
          </a:p>
        </p:txBody>
      </p:sp>
      <p:sp>
        <p:nvSpPr>
          <p:cNvPr id="14" name="TextBox 13"/>
          <p:cNvSpPr txBox="1"/>
          <p:nvPr/>
        </p:nvSpPr>
        <p:spPr>
          <a:xfrm>
            <a:off x="182880" y="1371600"/>
            <a:ext cx="4251960" cy="100584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PULS Postgres</a:t>
            </a:r>
            <a:r>
              <a:rPr sz="1200" b="0" i="0">
                <a:solidFill>
                  <a:srgbClr val="1A1A1A"/>
                </a:solidFill>
                <a:latin typeface="Calibri"/>
              </a:rPr>
              <a:t> — Classifications &amp; tags, policies, metrics (SF relational SoR).</a:t>
            </a:r>
          </a:p>
          <a:p>
            <a:pPr>
              <a:lnSpc>
                <a:spcPct val="118000"/>
              </a:lnSpc>
              <a:spcAft>
                <a:spcPts val="600"/>
              </a:spcAft>
            </a:pPr>
            <a:r>
              <a:rPr sz="1200" b="0" i="0">
                <a:solidFill>
                  <a:srgbClr val="1A1A1A"/>
                </a:solidFill>
                <a:latin typeface="Calibri"/>
              </a:rPr>
              <a:t>• </a:t>
            </a:r>
            <a:r>
              <a:rPr sz="1200" b="1" i="0">
                <a:solidFill>
                  <a:srgbClr val="1A1A1A"/>
                </a:solidFill>
                <a:latin typeface="Calibri"/>
              </a:rPr>
              <a:t>Access Manager</a:t>
            </a:r>
            <a:r>
              <a:rPr sz="1200" b="0" i="0">
                <a:solidFill>
                  <a:srgbClr val="1A1A1A"/>
                </a:solidFill>
                <a:latin typeface="Calibri"/>
              </a:rPr>
              <a:t> — Bidirectional read/update with classifications; enforcement alignment.</a:t>
            </a:r>
          </a:p>
          <a:p>
            <a:pPr>
              <a:lnSpc>
                <a:spcPct val="118000"/>
              </a:lnSpc>
              <a:spcAft>
                <a:spcPts val="600"/>
              </a:spcAft>
            </a:pPr>
            <a:r>
              <a:rPr sz="1200" b="0" i="0">
                <a:solidFill>
                  <a:srgbClr val="1A1A1A"/>
                </a:solidFill>
                <a:latin typeface="Calibri"/>
              </a:rPr>
              <a:t>• </a:t>
            </a:r>
            <a:r>
              <a:rPr sz="1200" b="1" i="0">
                <a:solidFill>
                  <a:srgbClr val="1A1A1A"/>
                </a:solidFill>
                <a:latin typeface="Calibri"/>
              </a:rPr>
              <a:t>Gov App backend</a:t>
            </a:r>
            <a:r>
              <a:rPr sz="1200" b="0" i="0">
                <a:solidFill>
                  <a:srgbClr val="1A1A1A"/>
                </a:solidFill>
                <a:latin typeface="Calibri"/>
              </a:rPr>
              <a:t> — API for Navigator UIs; audit logging; no direct browser writes to PULS.</a:t>
            </a:r>
          </a:p>
        </p:txBody>
      </p:sp>
      <p:sp>
        <p:nvSpPr>
          <p:cNvPr id="15" name="TextBox 14"/>
          <p:cNvSpPr txBox="1"/>
          <p:nvPr/>
        </p:nvSpPr>
        <p:spPr>
          <a:xfrm>
            <a:off x="182880" y="2286000"/>
            <a:ext cx="4251960" cy="292608"/>
          </a:xfrm>
          <a:prstGeom prst="rect">
            <a:avLst/>
          </a:prstGeom>
          <a:noFill/>
        </p:spPr>
        <p:txBody>
          <a:bodyPr wrap="none">
            <a:spAutoFit/>
          </a:bodyPr>
          <a:lstStyle/>
          <a:p>
            <a:r>
              <a:rPr sz="1200" b="1" i="0">
                <a:solidFill>
                  <a:srgbClr val="0F2744"/>
                </a:solidFill>
                <a:latin typeface="Calibri"/>
              </a:rPr>
              <a:t>KRONOS</a:t>
            </a:r>
          </a:p>
        </p:txBody>
      </p:sp>
      <p:sp>
        <p:nvSpPr>
          <p:cNvPr id="16" name="TextBox 15"/>
          <p:cNvSpPr txBox="1"/>
          <p:nvPr/>
        </p:nvSpPr>
        <p:spPr>
          <a:xfrm>
            <a:off x="182880" y="2578608"/>
            <a:ext cx="4251960" cy="86868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0" i="0">
                <a:solidFill>
                  <a:srgbClr val="1A1A1A"/>
                </a:solidFill>
                <a:latin typeface="Calibri"/>
              </a:rPr>
              <a:t>Business inventory on </a:t>
            </a:r>
            <a:r>
              <a:rPr sz="1200" b="1" i="0">
                <a:solidFill>
                  <a:srgbClr val="1A1A1A"/>
                </a:solidFill>
                <a:latin typeface="Calibri"/>
              </a:rPr>
              <a:t>SISU Postgres</a:t>
            </a:r>
            <a:r>
              <a:rPr sz="1200" b="0" i="0">
                <a:solidFill>
                  <a:srgbClr val="1A1A1A"/>
                </a:solidFill>
                <a:latin typeface="Calibri"/>
              </a:rPr>
              <a:t>.</a:t>
            </a:r>
          </a:p>
          <a:p>
            <a:pPr>
              <a:lnSpc>
                <a:spcPct val="118000"/>
              </a:lnSpc>
              <a:spcAft>
                <a:spcPts val="600"/>
              </a:spcAft>
            </a:pPr>
            <a:r>
              <a:rPr sz="1200" b="0" i="0">
                <a:solidFill>
                  <a:srgbClr val="1A1A1A"/>
                </a:solidFill>
                <a:latin typeface="Calibri"/>
              </a:rPr>
              <a:t>• </a:t>
            </a:r>
            <a:r>
              <a:rPr sz="1200" b="0" i="0">
                <a:solidFill>
                  <a:srgbClr val="1A1A1A"/>
                </a:solidFill>
                <a:latin typeface="Calibri"/>
              </a:rPr>
              <a:t>Edited in </a:t>
            </a:r>
            <a:r>
              <a:rPr sz="1200" b="1" i="0">
                <a:solidFill>
                  <a:srgbClr val="1A1A1A"/>
                </a:solidFill>
                <a:latin typeface="Calibri"/>
              </a:rPr>
              <a:t>Kronos</a:t>
            </a:r>
            <a:r>
              <a:rPr sz="1200" b="0" i="0">
                <a:solidFill>
                  <a:srgbClr val="1A1A1A"/>
                </a:solidFill>
                <a:latin typeface="Calibri"/>
              </a:rPr>
              <a:t> — linked from Navigator Regulatory dimension.</a:t>
            </a:r>
          </a:p>
          <a:p>
            <a:pPr>
              <a:lnSpc>
                <a:spcPct val="118000"/>
              </a:lnSpc>
              <a:spcAft>
                <a:spcPts val="600"/>
              </a:spcAft>
            </a:pPr>
            <a:r>
              <a:rPr sz="1200" b="0" i="0">
                <a:solidFill>
                  <a:srgbClr val="1A1A1A"/>
                </a:solidFill>
                <a:latin typeface="Calibri"/>
              </a:rPr>
              <a:t>• </a:t>
            </a:r>
            <a:r>
              <a:rPr sz="1200" b="0" i="0">
                <a:solidFill>
                  <a:srgbClr val="1A1A1A"/>
                </a:solidFill>
                <a:latin typeface="Calibri"/>
              </a:rPr>
              <a:t>Complements OMS tables/columns with business purpose and obligations.</a:t>
            </a:r>
          </a:p>
        </p:txBody>
      </p:sp>
      <p:sp>
        <p:nvSpPr>
          <p:cNvPr id="17" name="TextBox 16"/>
          <p:cNvSpPr txBox="1"/>
          <p:nvPr/>
        </p:nvSpPr>
        <p:spPr>
          <a:xfrm>
            <a:off x="4800600" y="804672"/>
            <a:ext cx="7208215" cy="292608"/>
          </a:xfrm>
          <a:prstGeom prst="rect">
            <a:avLst/>
          </a:prstGeom>
          <a:noFill/>
        </p:spPr>
        <p:txBody>
          <a:bodyPr wrap="none">
            <a:spAutoFit/>
          </a:bodyPr>
          <a:lstStyle/>
          <a:p>
            <a:r>
              <a:rPr sz="1200" b="1" i="0">
                <a:solidFill>
                  <a:srgbClr val="1E5A96"/>
                </a:solidFill>
                <a:latin typeface="Calibri"/>
              </a:rPr>
              <a:t>THREE PLATFORM ZONES</a:t>
            </a:r>
          </a:p>
        </p:txBody>
      </p:sp>
      <p:sp>
        <p:nvSpPr>
          <p:cNvPr id="18" name="TextBox 17"/>
          <p:cNvSpPr txBox="1"/>
          <p:nvPr/>
        </p:nvSpPr>
        <p:spPr>
          <a:xfrm>
            <a:off x="4800600" y="1152144"/>
            <a:ext cx="7208215" cy="132588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OMS</a:t>
            </a:r>
            <a:r>
              <a:rPr sz="1200" b="0" i="0">
                <a:solidFill>
                  <a:srgbClr val="1A1A1A"/>
                </a:solidFill>
                <a:latin typeface="Calibri"/>
              </a:rPr>
              <a:t> — Technical metadata hub: ingestion, Neptune graph, Snowflake/Databricks relationships, catalog APIs. BDC reads from OMS.</a:t>
            </a:r>
          </a:p>
          <a:p>
            <a:pPr>
              <a:lnSpc>
                <a:spcPct val="118000"/>
              </a:lnSpc>
              <a:spcAft>
                <a:spcPts val="600"/>
              </a:spcAft>
            </a:pPr>
            <a:r>
              <a:rPr sz="1200" b="0" i="0">
                <a:solidFill>
                  <a:srgbClr val="1A1A1A"/>
                </a:solidFill>
                <a:latin typeface="Calibri"/>
              </a:rPr>
              <a:t>• </a:t>
            </a:r>
            <a:r>
              <a:rPr sz="1200" b="1" i="0">
                <a:solidFill>
                  <a:srgbClr val="1A1A1A"/>
                </a:solidFill>
                <a:latin typeface="Calibri"/>
              </a:rPr>
              <a:t>Governance stack</a:t>
            </a:r>
            <a:r>
              <a:rPr sz="1200" b="0" i="0">
                <a:solidFill>
                  <a:srgbClr val="1A1A1A"/>
                </a:solidFill>
                <a:latin typeface="Calibri"/>
              </a:rPr>
              <a:t> — PULS + Access Manager + Gov App backend. Navigator portal UIs read/write via backend.</a:t>
            </a:r>
          </a:p>
          <a:p>
            <a:pPr>
              <a:lnSpc>
                <a:spcPct val="118000"/>
              </a:lnSpc>
              <a:spcAft>
                <a:spcPts val="600"/>
              </a:spcAft>
            </a:pPr>
            <a:r>
              <a:rPr sz="1200" b="0" i="0">
                <a:solidFill>
                  <a:srgbClr val="1A1A1A"/>
                </a:solidFill>
                <a:latin typeface="Calibri"/>
              </a:rPr>
              <a:t>• </a:t>
            </a:r>
            <a:r>
              <a:rPr sz="1200" b="1" i="0">
                <a:solidFill>
                  <a:srgbClr val="1A1A1A"/>
                </a:solidFill>
                <a:latin typeface="Calibri"/>
              </a:rPr>
              <a:t>SISU / Kronos</a:t>
            </a:r>
            <a:r>
              <a:rPr sz="1200" b="0" i="0">
                <a:solidFill>
                  <a:srgbClr val="1A1A1A"/>
                </a:solidFill>
                <a:latin typeface="Calibri"/>
              </a:rPr>
              <a:t> — Business inventory relational store + Kronos UI.</a:t>
            </a:r>
          </a:p>
        </p:txBody>
      </p:sp>
      <p:sp>
        <p:nvSpPr>
          <p:cNvPr id="19" name="Rectangle 18"/>
          <p:cNvSpPr/>
          <p:nvPr/>
        </p:nvSpPr>
        <p:spPr>
          <a:xfrm>
            <a:off x="4800600" y="2404872"/>
            <a:ext cx="7208215" cy="749808"/>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2404872"/>
            <a:ext cx="54864" cy="749808"/>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28616" y="2459736"/>
            <a:ext cx="7025335" cy="658368"/>
          </a:xfrm>
          <a:prstGeom prst="rect">
            <a:avLst/>
          </a:prstGeom>
          <a:noFill/>
        </p:spPr>
        <p:txBody>
          <a:bodyPr wrap="square">
            <a:spAutoFit/>
          </a:bodyPr>
          <a:lstStyle/>
          <a:p>
            <a:pPr>
              <a:lnSpc>
                <a:spcPct val="120000"/>
              </a:lnSpc>
              <a:spcAft>
                <a:spcPts val="500"/>
              </a:spcAft>
            </a:pPr>
            <a:r>
              <a:rPr sz="1100" b="1" i="0">
                <a:solidFill>
                  <a:srgbClr val="1A1A1A"/>
                </a:solidFill>
                <a:latin typeface="Calibri"/>
              </a:rPr>
              <a:t>Open design question — "Read ?":</a:t>
            </a:r>
            <a:r>
              <a:rPr sz="1100" b="0" i="0">
                <a:solidFill>
                  <a:srgbClr val="1A1A1A"/>
                </a:solidFill>
                <a:latin typeface="Calibri"/>
              </a:rPr>
              <a:t> Confirm whether OMS reads classifications, policies, and metrics directly from PULS Postgres or via Gov App backend API. Answer affects BDC classification display and schema ownership.</a:t>
            </a:r>
          </a:p>
        </p:txBody>
      </p:sp>
      <p:sp>
        <p:nvSpPr>
          <p:cNvPr id="22" name="Rectangle 21"/>
          <p:cNvSpPr/>
          <p:nvPr/>
        </p:nvSpPr>
        <p:spPr>
          <a:xfrm>
            <a:off x="4800600" y="3200400"/>
            <a:ext cx="7208215" cy="438912"/>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00600" y="3200400"/>
            <a:ext cx="54864" cy="43891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28616" y="3255264"/>
            <a:ext cx="7025335" cy="347472"/>
          </a:xfrm>
          <a:prstGeom prst="rect">
            <a:avLst/>
          </a:prstGeom>
          <a:noFill/>
        </p:spPr>
        <p:txBody>
          <a:bodyPr wrap="square">
            <a:spAutoFit/>
          </a:bodyPr>
          <a:lstStyle/>
          <a:p>
            <a:pPr>
              <a:lnSpc>
                <a:spcPct val="120000"/>
              </a:lnSpc>
              <a:spcAft>
                <a:spcPts val="500"/>
              </a:spcAft>
            </a:pPr>
            <a:r>
              <a:rPr sz="1100" b="1" i="0">
                <a:solidFill>
                  <a:srgbClr val="1A1A1A"/>
                </a:solidFill>
                <a:latin typeface="Calibri"/>
              </a:rPr>
              <a:t>Architecture diagram:</a:t>
            </a:r>
            <a:r>
              <a:rPr sz="1100" b="0" i="0">
                <a:solidFill>
                  <a:srgbClr val="1A1A1A"/>
                </a:solidFill>
                <a:latin typeface="Calibri"/>
              </a:rPr>
              <a:t> data-navigator-governance/governance-product-systems-architecture.drawio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21792"/>
            <a:ext cx="12191695" cy="5870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262" cy="621792"/>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9875520" cy="411480"/>
          </a:xfrm>
          <a:prstGeom prst="rect">
            <a:avLst/>
          </a:prstGeom>
          <a:noFill/>
        </p:spPr>
        <p:txBody>
          <a:bodyPr wrap="none">
            <a:spAutoFit/>
          </a:bodyPr>
          <a:lstStyle/>
          <a:p>
            <a:r>
              <a:rPr sz="2200" b="1" i="0">
                <a:solidFill>
                  <a:srgbClr val="FFFFFF"/>
                </a:solidFill>
                <a:latin typeface="Calibri"/>
              </a:rPr>
              <a:t>Who builds what — phasing — and how we measure success</a:t>
            </a:r>
          </a:p>
        </p:txBody>
      </p:sp>
      <p:sp>
        <p:nvSpPr>
          <p:cNvPr id="6" name="TextBox 5"/>
          <p:cNvSpPr txBox="1"/>
          <p:nvPr/>
        </p:nvSpPr>
        <p:spPr>
          <a:xfrm>
            <a:off x="10241280" y="164592"/>
            <a:ext cx="1737360" cy="274320"/>
          </a:xfrm>
          <a:prstGeom prst="rect">
            <a:avLst/>
          </a:prstGeom>
          <a:noFill/>
        </p:spPr>
        <p:txBody>
          <a:bodyPr wrap="none">
            <a:spAutoFit/>
          </a:bodyPr>
          <a:lstStyle/>
          <a:p>
            <a:pPr algn="r"/>
            <a:r>
              <a:rPr sz="900" b="1" i="0">
                <a:solidFill>
                  <a:srgbClr val="FFFFFF"/>
                </a:solidFill>
                <a:latin typeface="Calibri"/>
              </a:rPr>
              <a:t>SLIDE 6 OF 6</a:t>
            </a:r>
          </a:p>
        </p:txBody>
      </p:sp>
      <p:sp>
        <p:nvSpPr>
          <p:cNvPr id="7" name="Rectangle 6"/>
          <p:cNvSpPr/>
          <p:nvPr/>
        </p:nvSpPr>
        <p:spPr>
          <a:xfrm>
            <a:off x="0" y="6492240"/>
            <a:ext cx="12191695" cy="365760"/>
          </a:xfrm>
          <a:prstGeom prst="rect">
            <a:avLst/>
          </a:prstGeom>
          <a:solidFill>
            <a:srgbClr val="3D5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565392"/>
            <a:ext cx="6400800" cy="228600"/>
          </a:xfrm>
          <a:prstGeom prst="rect">
            <a:avLst/>
          </a:prstGeom>
          <a:noFill/>
        </p:spPr>
        <p:txBody>
          <a:bodyPr wrap="none">
            <a:spAutoFit/>
          </a:bodyPr>
          <a:lstStyle/>
          <a:p>
            <a:r>
              <a:rPr sz="900" b="0" i="0">
                <a:solidFill>
                  <a:srgbClr val="C5D4E3"/>
                </a:solidFill>
                <a:latin typeface="Calibri"/>
              </a:rPr>
              <a:t>Data Governance · Navigator product family</a:t>
            </a:r>
          </a:p>
        </p:txBody>
      </p:sp>
      <p:sp>
        <p:nvSpPr>
          <p:cNvPr id="9" name="TextBox 8"/>
          <p:cNvSpPr txBox="1"/>
          <p:nvPr/>
        </p:nvSpPr>
        <p:spPr>
          <a:xfrm>
            <a:off x="8686800" y="6565392"/>
            <a:ext cx="3200400" cy="228600"/>
          </a:xfrm>
          <a:prstGeom prst="rect">
            <a:avLst/>
          </a:prstGeom>
          <a:noFill/>
        </p:spPr>
        <p:txBody>
          <a:bodyPr wrap="none">
            <a:spAutoFit/>
          </a:bodyPr>
          <a:lstStyle/>
          <a:p>
            <a:pPr algn="r"/>
            <a:r>
              <a:rPr sz="800" b="1" i="0">
                <a:solidFill>
                  <a:srgbClr val="9EB0C4"/>
                </a:solidFill>
                <a:latin typeface="Calibri"/>
              </a:rPr>
              <a:t>INTERNAL — PROGRAM &amp; LEADERSHIP</a:t>
            </a:r>
          </a:p>
        </p:txBody>
      </p:sp>
      <p:sp>
        <p:nvSpPr>
          <p:cNvPr id="10" name="Rectangle 9"/>
          <p:cNvSpPr/>
          <p:nvPr/>
        </p:nvSpPr>
        <p:spPr>
          <a:xfrm>
            <a:off x="4054754" y="621792"/>
            <a:ext cx="9144" cy="5870448"/>
          </a:xfrm>
          <a:prstGeom prst="rect">
            <a:avLst/>
          </a:prstGeom>
          <a:solidFill>
            <a:srgbClr val="D0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21792"/>
            <a:ext cx="4063898" cy="5870448"/>
          </a:xfrm>
          <a:prstGeom prst="rect">
            <a:avLst/>
          </a:prstGeom>
          <a:solidFill>
            <a:srgbClr val="E4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8652" y="621792"/>
            <a:ext cx="9144" cy="5870448"/>
          </a:xfrm>
          <a:prstGeom prst="rect">
            <a:avLst/>
          </a:prstGeom>
          <a:solidFill>
            <a:srgbClr val="D0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 y="804672"/>
            <a:ext cx="3698138" cy="292608"/>
          </a:xfrm>
          <a:prstGeom prst="rect">
            <a:avLst/>
          </a:prstGeom>
          <a:noFill/>
        </p:spPr>
        <p:txBody>
          <a:bodyPr wrap="none">
            <a:spAutoFit/>
          </a:bodyPr>
          <a:lstStyle/>
          <a:p>
            <a:r>
              <a:rPr sz="1200" b="1" i="0">
                <a:solidFill>
                  <a:srgbClr val="0F2744"/>
                </a:solidFill>
                <a:latin typeface="Calibri"/>
              </a:rPr>
              <a:t>WHO BUILDS WHAT</a:t>
            </a:r>
          </a:p>
        </p:txBody>
      </p:sp>
      <p:sp>
        <p:nvSpPr>
          <p:cNvPr id="14" name="TextBox 13"/>
          <p:cNvSpPr txBox="1"/>
          <p:nvPr/>
        </p:nvSpPr>
        <p:spPr>
          <a:xfrm>
            <a:off x="182880" y="1152144"/>
            <a:ext cx="3698138" cy="224028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Navigator portal &amp; BDC</a:t>
            </a:r>
            <a:r>
              <a:rPr sz="1200" b="0" i="0">
                <a:solidFill>
                  <a:srgbClr val="1A1A1A"/>
                </a:solidFill>
                <a:latin typeface="Calibri"/>
              </a:rPr>
              <a:t> — Data Governance (product &amp; UX)</a:t>
            </a:r>
          </a:p>
          <a:p>
            <a:pPr>
              <a:lnSpc>
                <a:spcPct val="118000"/>
              </a:lnSpc>
              <a:spcAft>
                <a:spcPts val="600"/>
              </a:spcAft>
            </a:pPr>
            <a:r>
              <a:rPr sz="1200" b="0" i="0">
                <a:solidFill>
                  <a:srgbClr val="1A1A1A"/>
                </a:solidFill>
                <a:latin typeface="Calibri"/>
              </a:rPr>
              <a:t>• </a:t>
            </a:r>
            <a:r>
              <a:rPr sz="1200" b="1" i="0">
                <a:solidFill>
                  <a:srgbClr val="1A1A1A"/>
                </a:solidFill>
                <a:latin typeface="Calibri"/>
              </a:rPr>
              <a:t>OMS store &amp; APIs</a:t>
            </a:r>
            <a:r>
              <a:rPr sz="1200" b="0" i="0">
                <a:solidFill>
                  <a:srgbClr val="1A1A1A"/>
                </a:solidFill>
                <a:latin typeface="Calibri"/>
              </a:rPr>
              <a:t> — OMS Foundations</a:t>
            </a:r>
          </a:p>
          <a:p>
            <a:pPr>
              <a:lnSpc>
                <a:spcPct val="118000"/>
              </a:lnSpc>
              <a:spcAft>
                <a:spcPts val="600"/>
              </a:spcAft>
            </a:pPr>
            <a:r>
              <a:rPr sz="1200" b="0" i="0">
                <a:solidFill>
                  <a:srgbClr val="1A1A1A"/>
                </a:solidFill>
                <a:latin typeface="Calibri"/>
              </a:rPr>
              <a:t>• </a:t>
            </a:r>
            <a:r>
              <a:rPr sz="1200" b="1" i="0">
                <a:solidFill>
                  <a:srgbClr val="1A1A1A"/>
                </a:solidFill>
                <a:latin typeface="Calibri"/>
              </a:rPr>
              <a:t>PULS &amp; Gov backend</a:t>
            </a:r>
            <a:r>
              <a:rPr sz="1200" b="0" i="0">
                <a:solidFill>
                  <a:srgbClr val="1A1A1A"/>
                </a:solidFill>
                <a:latin typeface="Calibri"/>
              </a:rPr>
              <a:t> — SISU partnership + DG program</a:t>
            </a:r>
          </a:p>
          <a:p>
            <a:pPr>
              <a:lnSpc>
                <a:spcPct val="118000"/>
              </a:lnSpc>
              <a:spcAft>
                <a:spcPts val="600"/>
              </a:spcAft>
            </a:pPr>
            <a:r>
              <a:rPr sz="1200" b="0" i="0">
                <a:solidFill>
                  <a:srgbClr val="1A1A1A"/>
                </a:solidFill>
                <a:latin typeface="Calibri"/>
              </a:rPr>
              <a:t>• </a:t>
            </a:r>
            <a:r>
              <a:rPr sz="1200" b="1" i="0">
                <a:solidFill>
                  <a:srgbClr val="1A1A1A"/>
                </a:solidFill>
                <a:latin typeface="Calibri"/>
              </a:rPr>
              <a:t>Kronos inventory</a:t>
            </a:r>
            <a:r>
              <a:rPr sz="1200" b="0" i="0">
                <a:solidFill>
                  <a:srgbClr val="1A1A1A"/>
                </a:solidFill>
                <a:latin typeface="Calibri"/>
              </a:rPr>
              <a:t> — SISU Postgres + inventory program</a:t>
            </a:r>
          </a:p>
        </p:txBody>
      </p:sp>
      <p:sp>
        <p:nvSpPr>
          <p:cNvPr id="15" name="Rectangle 14"/>
          <p:cNvSpPr/>
          <p:nvPr/>
        </p:nvSpPr>
        <p:spPr>
          <a:xfrm>
            <a:off x="182880" y="3291840"/>
            <a:ext cx="3698138" cy="621792"/>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291840"/>
            <a:ext cx="54864"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3346704"/>
            <a:ext cx="3515258" cy="530352"/>
          </a:xfrm>
          <a:prstGeom prst="rect">
            <a:avLst/>
          </a:prstGeom>
          <a:noFill/>
        </p:spPr>
        <p:txBody>
          <a:bodyPr wrap="square">
            <a:spAutoFit/>
          </a:bodyPr>
          <a:lstStyle/>
          <a:p>
            <a:pPr>
              <a:lnSpc>
                <a:spcPct val="120000"/>
              </a:lnSpc>
              <a:spcAft>
                <a:spcPts val="500"/>
              </a:spcAft>
            </a:pPr>
            <a:r>
              <a:rPr sz="1100" b="1" i="0">
                <a:solidFill>
                  <a:srgbClr val="1A1A1A"/>
                </a:solidFill>
                <a:latin typeface="Calibri"/>
              </a:rPr>
              <a:t>Clear RACI</a:t>
            </a:r>
            <a:r>
              <a:rPr sz="1100" b="0" i="0">
                <a:solidFill>
                  <a:srgbClr val="1A1A1A"/>
                </a:solidFill>
                <a:latin typeface="Calibri"/>
              </a:rPr>
              <a:t> prevents Navigator becoming "the OMS app" and protects Alation exit scope.</a:t>
            </a:r>
          </a:p>
        </p:txBody>
      </p:sp>
      <p:sp>
        <p:nvSpPr>
          <p:cNvPr id="18" name="TextBox 17"/>
          <p:cNvSpPr txBox="1"/>
          <p:nvPr/>
        </p:nvSpPr>
        <p:spPr>
          <a:xfrm>
            <a:off x="4246778" y="804672"/>
            <a:ext cx="3698138" cy="292608"/>
          </a:xfrm>
          <a:prstGeom prst="rect">
            <a:avLst/>
          </a:prstGeom>
          <a:noFill/>
        </p:spPr>
        <p:txBody>
          <a:bodyPr wrap="none">
            <a:spAutoFit/>
          </a:bodyPr>
          <a:lstStyle/>
          <a:p>
            <a:r>
              <a:rPr sz="1200" b="1" i="0">
                <a:solidFill>
                  <a:srgbClr val="0F2744"/>
                </a:solidFill>
                <a:latin typeface="Calibri"/>
              </a:rPr>
              <a:t>PHASED DELIVERY</a:t>
            </a:r>
          </a:p>
        </p:txBody>
      </p:sp>
      <p:sp>
        <p:nvSpPr>
          <p:cNvPr id="19" name="TextBox 18"/>
          <p:cNvSpPr txBox="1"/>
          <p:nvPr/>
        </p:nvSpPr>
        <p:spPr>
          <a:xfrm>
            <a:off x="4246778" y="1152144"/>
            <a:ext cx="3698138" cy="224028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Phase 1 (now)</a:t>
            </a:r>
            <a:r>
              <a:rPr sz="1200" b="0" i="0">
                <a:solidFill>
                  <a:srgbClr val="1A1A1A"/>
                </a:solidFill>
                <a:latin typeface="Calibri"/>
              </a:rPr>
              <a:t> — BDC MVP on OMS APIs; Navigator IA &amp; wireframes; Kronos inventory link.</a:t>
            </a:r>
          </a:p>
          <a:p>
            <a:pPr>
              <a:lnSpc>
                <a:spcPct val="118000"/>
              </a:lnSpc>
              <a:spcAft>
                <a:spcPts val="600"/>
              </a:spcAft>
            </a:pPr>
            <a:r>
              <a:rPr sz="1200" b="0" i="0">
                <a:solidFill>
                  <a:srgbClr val="1A1A1A"/>
                </a:solidFill>
                <a:latin typeface="Calibri"/>
              </a:rPr>
              <a:t>• </a:t>
            </a:r>
            <a:r>
              <a:rPr sz="1200" b="1" i="0">
                <a:solidFill>
                  <a:srgbClr val="1A1A1A"/>
                </a:solidFill>
                <a:latin typeface="Calibri"/>
              </a:rPr>
              <a:t>Phase 2</a:t>
            </a:r>
            <a:r>
              <a:rPr sz="1200" b="0" i="0">
                <a:solidFill>
                  <a:srgbClr val="1A1A1A"/>
                </a:solidFill>
                <a:latin typeface="Calibri"/>
              </a:rPr>
              <a:t> — Gov App backend + PULS paths; classifications &amp; policy workflows in Navigator.</a:t>
            </a:r>
          </a:p>
          <a:p>
            <a:pPr>
              <a:lnSpc>
                <a:spcPct val="118000"/>
              </a:lnSpc>
              <a:spcAft>
                <a:spcPts val="600"/>
              </a:spcAft>
            </a:pPr>
            <a:r>
              <a:rPr sz="1200" b="0" i="0">
                <a:solidFill>
                  <a:srgbClr val="1A1A1A"/>
                </a:solidFill>
                <a:latin typeface="Calibri"/>
              </a:rPr>
              <a:t>• </a:t>
            </a:r>
            <a:r>
              <a:rPr sz="1200" b="1" i="0">
                <a:solidFill>
                  <a:srgbClr val="1A1A1A"/>
                </a:solidFill>
                <a:latin typeface="Calibri"/>
              </a:rPr>
              <a:t>Phase 3</a:t>
            </a:r>
            <a:r>
              <a:rPr sz="1200" b="0" i="0">
                <a:solidFill>
                  <a:srgbClr val="1A1A1A"/>
                </a:solidFill>
                <a:latin typeface="Calibri"/>
              </a:rPr>
              <a:t> — Metrics governance UI; resolve OMS↔PULS read model; evidence automation.</a:t>
            </a:r>
          </a:p>
        </p:txBody>
      </p:sp>
      <p:sp>
        <p:nvSpPr>
          <p:cNvPr id="20" name="Rectangle 19"/>
          <p:cNvSpPr/>
          <p:nvPr/>
        </p:nvSpPr>
        <p:spPr>
          <a:xfrm>
            <a:off x="4246778" y="3291840"/>
            <a:ext cx="3698138" cy="621792"/>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46778" y="3291840"/>
            <a:ext cx="54864"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4794" y="3346704"/>
            <a:ext cx="3515258" cy="530352"/>
          </a:xfrm>
          <a:prstGeom prst="rect">
            <a:avLst/>
          </a:prstGeom>
          <a:noFill/>
        </p:spPr>
        <p:txBody>
          <a:bodyPr wrap="square">
            <a:spAutoFit/>
          </a:bodyPr>
          <a:lstStyle/>
          <a:p>
            <a:pPr>
              <a:lnSpc>
                <a:spcPct val="120000"/>
              </a:lnSpc>
              <a:spcAft>
                <a:spcPts val="500"/>
              </a:spcAft>
            </a:pPr>
            <a:r>
              <a:rPr sz="1100" b="0" i="0">
                <a:solidFill>
                  <a:srgbClr val="1A1A1A"/>
                </a:solidFill>
                <a:latin typeface="Calibri"/>
              </a:rPr>
              <a:t>Front-load catalog continuity; sequence PULS without blocking BDC on OMS.</a:t>
            </a:r>
          </a:p>
        </p:txBody>
      </p:sp>
      <p:sp>
        <p:nvSpPr>
          <p:cNvPr id="23" name="TextBox 22"/>
          <p:cNvSpPr txBox="1"/>
          <p:nvPr/>
        </p:nvSpPr>
        <p:spPr>
          <a:xfrm>
            <a:off x="8310676" y="804672"/>
            <a:ext cx="3698138" cy="292608"/>
          </a:xfrm>
          <a:prstGeom prst="rect">
            <a:avLst/>
          </a:prstGeom>
          <a:noFill/>
        </p:spPr>
        <p:txBody>
          <a:bodyPr wrap="none">
            <a:spAutoFit/>
          </a:bodyPr>
          <a:lstStyle/>
          <a:p>
            <a:r>
              <a:rPr sz="1200" b="1" i="0">
                <a:solidFill>
                  <a:srgbClr val="1E5A96"/>
                </a:solidFill>
                <a:latin typeface="Calibri"/>
              </a:rPr>
              <a:t>SUCCESS INDICATORS</a:t>
            </a:r>
          </a:p>
        </p:txBody>
      </p:sp>
      <p:sp>
        <p:nvSpPr>
          <p:cNvPr id="24" name="TextBox 23"/>
          <p:cNvSpPr txBox="1"/>
          <p:nvPr/>
        </p:nvSpPr>
        <p:spPr>
          <a:xfrm>
            <a:off x="8310676" y="1152144"/>
            <a:ext cx="3698138" cy="2240280"/>
          </a:xfrm>
          <a:prstGeom prst="rect">
            <a:avLst/>
          </a:prstGeom>
          <a:noFill/>
        </p:spPr>
        <p:txBody>
          <a:bodyPr wrap="square">
            <a:spAutoFit/>
          </a:bodyPr>
          <a:lstStyle/>
          <a:p>
            <a:pPr>
              <a:lnSpc>
                <a:spcPct val="118000"/>
              </a:lnSpc>
              <a:spcAft>
                <a:spcPts val="600"/>
              </a:spcAft>
            </a:pPr>
            <a:r>
              <a:rPr sz="1200" b="0" i="0">
                <a:solidFill>
                  <a:srgbClr val="1A1A1A"/>
                </a:solidFill>
                <a:latin typeface="Calibri"/>
              </a:rPr>
              <a:t>• </a:t>
            </a:r>
            <a:r>
              <a:rPr sz="1200" b="1" i="0">
                <a:solidFill>
                  <a:srgbClr val="1A1A1A"/>
                </a:solidFill>
                <a:latin typeface="Calibri"/>
              </a:rPr>
              <a:t>Catalog continuity</a:t>
            </a:r>
            <a:r>
              <a:rPr sz="1200" b="0" i="0">
                <a:solidFill>
                  <a:srgbClr val="1A1A1A"/>
                </a:solidFill>
                <a:latin typeface="Calibri"/>
              </a:rPr>
              <a:t> — In-scope Alation workflows in BDC before contract end.</a:t>
            </a:r>
          </a:p>
          <a:p>
            <a:pPr>
              <a:lnSpc>
                <a:spcPct val="118000"/>
              </a:lnSpc>
              <a:spcAft>
                <a:spcPts val="600"/>
              </a:spcAft>
            </a:pPr>
            <a:r>
              <a:rPr sz="1200" b="0" i="0">
                <a:solidFill>
                  <a:srgbClr val="1A1A1A"/>
                </a:solidFill>
                <a:latin typeface="Calibri"/>
              </a:rPr>
              <a:t>• </a:t>
            </a:r>
            <a:r>
              <a:rPr sz="1200" b="1" i="0">
                <a:solidFill>
                  <a:srgbClr val="1A1A1A"/>
                </a:solidFill>
                <a:latin typeface="Calibri"/>
              </a:rPr>
              <a:t>Navigation coherence</a:t>
            </a:r>
            <a:r>
              <a:rPr sz="1200" b="0" i="0">
                <a:solidFill>
                  <a:srgbClr val="1A1A1A"/>
                </a:solidFill>
                <a:latin typeface="Calibri"/>
              </a:rPr>
              <a:t> — Platform → BDC and Regulatory → Kronos work in one click.</a:t>
            </a:r>
          </a:p>
          <a:p>
            <a:pPr>
              <a:lnSpc>
                <a:spcPct val="118000"/>
              </a:lnSpc>
              <a:spcAft>
                <a:spcPts val="600"/>
              </a:spcAft>
            </a:pPr>
            <a:r>
              <a:rPr sz="1200" b="0" i="0">
                <a:solidFill>
                  <a:srgbClr val="1A1A1A"/>
                </a:solidFill>
                <a:latin typeface="Calibri"/>
              </a:rPr>
              <a:t>• </a:t>
            </a:r>
            <a:r>
              <a:rPr sz="1200" b="1" i="0">
                <a:solidFill>
                  <a:srgbClr val="1A1A1A"/>
                </a:solidFill>
                <a:latin typeface="Calibri"/>
              </a:rPr>
              <a:t>Posture reporting</a:t>
            </a:r>
            <a:r>
              <a:rPr sz="1200" b="0" i="0">
                <a:solidFill>
                  <a:srgbClr val="1A1A1A"/>
                </a:solidFill>
                <a:latin typeface="Calibri"/>
              </a:rPr>
              <a:t> — Governance Overview metrics traceable to program backends.</a:t>
            </a:r>
          </a:p>
          <a:p>
            <a:pPr>
              <a:lnSpc>
                <a:spcPct val="118000"/>
              </a:lnSpc>
              <a:spcAft>
                <a:spcPts val="600"/>
              </a:spcAft>
            </a:pPr>
            <a:r>
              <a:rPr sz="1200" b="0" i="0">
                <a:solidFill>
                  <a:srgbClr val="1A1A1A"/>
                </a:solidFill>
                <a:latin typeface="Calibri"/>
              </a:rPr>
              <a:t>• </a:t>
            </a:r>
            <a:r>
              <a:rPr sz="1200" b="1" i="0">
                <a:solidFill>
                  <a:srgbClr val="1A1A1A"/>
                </a:solidFill>
                <a:latin typeface="Calibri"/>
              </a:rPr>
              <a:t>Adoption</a:t>
            </a:r>
            <a:r>
              <a:rPr sz="1200" b="0" i="0">
                <a:solidFill>
                  <a:srgbClr val="1A1A1A"/>
                </a:solidFill>
                <a:latin typeface="Calibri"/>
              </a:rPr>
              <a:t> — Weekly active stewards, privacy, and compliance roles in Navigator family UIs.</a:t>
            </a:r>
          </a:p>
          <a:p>
            <a:pPr>
              <a:lnSpc>
                <a:spcPct val="118000"/>
              </a:lnSpc>
              <a:spcAft>
                <a:spcPts val="600"/>
              </a:spcAft>
            </a:pPr>
            <a:r>
              <a:rPr sz="1200" b="0" i="0">
                <a:solidFill>
                  <a:srgbClr val="1A1A1A"/>
                </a:solidFill>
                <a:latin typeface="Calibri"/>
              </a:rPr>
              <a:t>• </a:t>
            </a:r>
            <a:r>
              <a:rPr sz="1200" b="1" i="0">
                <a:solidFill>
                  <a:srgbClr val="1A1A1A"/>
                </a:solidFill>
                <a:latin typeface="Calibri"/>
              </a:rPr>
              <a:t>Architecture clarity</a:t>
            </a:r>
            <a:r>
              <a:rPr sz="1200" b="0" i="0">
                <a:solidFill>
                  <a:srgbClr val="1A1A1A"/>
                </a:solidFill>
                <a:latin typeface="Calibri"/>
              </a:rPr>
              <a:t> — Single alignment story for Foundations, OMS, metadata WG, and DG.</a:t>
            </a:r>
          </a:p>
        </p:txBody>
      </p:sp>
      <p:sp>
        <p:nvSpPr>
          <p:cNvPr id="25" name="Rectangle 24"/>
          <p:cNvSpPr/>
          <p:nvPr/>
        </p:nvSpPr>
        <p:spPr>
          <a:xfrm>
            <a:off x="8310676" y="3291840"/>
            <a:ext cx="3698138" cy="621792"/>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10676" y="3291840"/>
            <a:ext cx="54864" cy="621792"/>
          </a:xfrm>
          <a:prstGeom prst="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8692" y="3346704"/>
            <a:ext cx="3515258" cy="530352"/>
          </a:xfrm>
          <a:prstGeom prst="rect">
            <a:avLst/>
          </a:prstGeom>
          <a:noFill/>
        </p:spPr>
        <p:txBody>
          <a:bodyPr wrap="square">
            <a:spAutoFit/>
          </a:bodyPr>
          <a:lstStyle/>
          <a:p>
            <a:pPr>
              <a:lnSpc>
                <a:spcPct val="120000"/>
              </a:lnSpc>
              <a:spcAft>
                <a:spcPts val="500"/>
              </a:spcAft>
            </a:pPr>
            <a:r>
              <a:rPr sz="1100" b="1" i="0">
                <a:solidFill>
                  <a:srgbClr val="1A1A1A"/>
                </a:solidFill>
                <a:latin typeface="Calibri"/>
              </a:rPr>
              <a:t>Artifacts:</a:t>
            </a:r>
            <a:r>
              <a:rPr sz="1100" b="0" i="0">
                <a:solidFill>
                  <a:srgbClr val="1A1A1A"/>
                </a:solidFill>
                <a:latin typeface="Calibri"/>
              </a:rPr>
              <a:t> Wireframes · umbrella PRD · this deck · OMS alignment deck — keep naming and links in sync.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