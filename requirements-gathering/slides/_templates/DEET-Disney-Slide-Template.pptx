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3"/>
  </p:notesMasterIdLst>
  <p:sldIdLst>
    <p:sldId id="282" r:id="rId5"/>
    <p:sldId id="283" r:id="rId6"/>
    <p:sldId id="284" r:id="rId7"/>
    <p:sldId id="285" r:id="rId8"/>
    <p:sldId id="286" r:id="rId9"/>
    <p:sldId id="287" r:id="rId10"/>
    <p:sldId id="289" r:id="rId11"/>
    <p:sldId id="288" r:id="rId12"/>
    <p:sldId id="290" r:id="rId13"/>
    <p:sldId id="291" r:id="rId14"/>
    <p:sldId id="296" r:id="rId15"/>
    <p:sldId id="292" r:id="rId16"/>
    <p:sldId id="293" r:id="rId17"/>
    <p:sldId id="297" r:id="rId18"/>
    <p:sldId id="294" r:id="rId19"/>
    <p:sldId id="298" r:id="rId20"/>
    <p:sldId id="299" r:id="rId21"/>
    <p:sldId id="300"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E7D0FD-7A58-B3E3-CCEB-1246F63999D5}" v="18" dt="2026-05-22T22:18:36.993"/>
    <p1510:client id="{DE0542D5-B584-4A64-8824-558FADC6D80F}" v="6" dt="2026-05-22T22:17:45.3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903757-8C7A-4276-93FF-E886BFC24DE7}" type="datetimeFigureOut">
              <a:rPr lang="en-US" smtClean="0"/>
              <a:t>5/27/2026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E122CD-B26A-4E2E-BD15-1DEF694CBBB4}" type="slidenum">
              <a:rPr lang="en-US" smtClean="0"/>
              <a:t>‹#›</a:t>
            </a:fld>
            <a:endParaRPr lang="en-US"/>
          </a:p>
        </p:txBody>
      </p:sp>
    </p:spTree>
    <p:extLst>
      <p:ext uri="{BB962C8B-B14F-4D97-AF65-F5344CB8AC3E}">
        <p14:creationId xmlns:p14="http://schemas.microsoft.com/office/powerpoint/2010/main" val="3407993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9E122CD-B26A-4E2E-BD15-1DEF694CBBB4}" type="slidenum">
              <a:rPr lang="en-US" smtClean="0"/>
              <a:t>3</a:t>
            </a:fld>
            <a:endParaRPr lang="en-US"/>
          </a:p>
        </p:txBody>
      </p:sp>
    </p:spTree>
    <p:extLst>
      <p:ext uri="{BB962C8B-B14F-4D97-AF65-F5344CB8AC3E}">
        <p14:creationId xmlns:p14="http://schemas.microsoft.com/office/powerpoint/2010/main" val="16695969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194560"/>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194560"/>
            <a:ext cx="12191695" cy="54864"/>
          </a:xfrm>
          <a:prstGeom prst="rect">
            <a:avLst/>
          </a:prstGeom>
          <a:solidFill>
            <a:srgbClr val="152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2651760"/>
            <a:ext cx="10881360" cy="1280160"/>
          </a:xfrm>
          <a:prstGeom prst="rect">
            <a:avLst/>
          </a:prstGeom>
          <a:noFill/>
        </p:spPr>
        <p:txBody>
          <a:bodyPr wrap="square" lIns="36576" tIns="18288" rIns="36576" bIns="18288" anchor="t">
            <a:spAutoFit/>
          </a:bodyPr>
          <a:lstStyle/>
          <a:p>
            <a:pPr algn="l">
              <a:lnSpc>
                <a:spcPct val="105000"/>
              </a:lnSpc>
              <a:spcBef>
                <a:spcPts val="0"/>
              </a:spcBef>
              <a:spcAft>
                <a:spcPts val="0"/>
              </a:spcAft>
            </a:pPr>
            <a:r>
              <a:rPr sz="5400" b="1" i="0">
                <a:solidFill>
                  <a:srgbClr val="152342"/>
                </a:solidFill>
                <a:latin typeface="Calibri Light"/>
              </a:rPr>
              <a:t>Alation Data Catalog</a:t>
            </a:r>
          </a:p>
        </p:txBody>
      </p:sp>
      <p:sp>
        <p:nvSpPr>
          <p:cNvPr id="8" name="TextBox 7"/>
          <p:cNvSpPr txBox="1"/>
          <p:nvPr/>
        </p:nvSpPr>
        <p:spPr>
          <a:xfrm>
            <a:off x="640080" y="3703320"/>
            <a:ext cx="10881360" cy="436723"/>
          </a:xfrm>
          <a:prstGeom prst="rect">
            <a:avLst/>
          </a:prstGeom>
          <a:noFill/>
        </p:spPr>
        <p:txBody>
          <a:bodyPr wrap="square" lIns="36576" tIns="18288" rIns="36576" bIns="18288" anchor="t">
            <a:spAutoFit/>
          </a:bodyPr>
          <a:lstStyle/>
          <a:p>
            <a:pPr algn="l">
              <a:lnSpc>
                <a:spcPct val="115000"/>
              </a:lnSpc>
              <a:spcBef>
                <a:spcPts val="0"/>
              </a:spcBef>
              <a:spcAft>
                <a:spcPts val="0"/>
              </a:spcAft>
            </a:pPr>
            <a:r>
              <a:rPr sz="2400" b="0" i="0">
                <a:solidFill>
                  <a:srgbClr val="475569"/>
                </a:solidFill>
                <a:latin typeface="Calibri Light"/>
              </a:rPr>
              <a:t>Ad Platforms Data Governance </a:t>
            </a:r>
          </a:p>
        </p:txBody>
      </p:sp>
      <p:sp>
        <p:nvSpPr>
          <p:cNvPr id="22" name="Rectangle 21"/>
          <p:cNvSpPr/>
          <p:nvPr/>
        </p:nvSpPr>
        <p:spPr>
          <a:xfrm>
            <a:off x="0" y="6400800"/>
            <a:ext cx="12191695"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6473952"/>
            <a:ext cx="11277295" cy="310896"/>
          </a:xfrm>
          <a:prstGeom prst="rect">
            <a:avLst/>
          </a:prstGeom>
          <a:noFill/>
        </p:spPr>
        <p:txBody>
          <a:bodyPr wrap="square" lIns="36576" tIns="18288" rIns="36576" bIns="18288" anchor="ctr">
            <a:spAutoFit/>
          </a:bodyPr>
          <a:lstStyle/>
          <a:p>
            <a:pPr algn="l">
              <a:lnSpc>
                <a:spcPct val="118000"/>
              </a:lnSpc>
              <a:spcBef>
                <a:spcPts val="0"/>
              </a:spcBef>
              <a:spcAft>
                <a:spcPts val="0"/>
              </a:spcAft>
            </a:pPr>
            <a:r>
              <a:rPr sz="950" b="0" i="0">
                <a:solidFill>
                  <a:srgbClr val="64748B"/>
                </a:solidFill>
                <a:latin typeface="Calibri"/>
              </a:rPr>
              <a:t>DEET Data Governance  |  May 2026  |  Alation Data Catalog Overview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68FF7-B3E0-321D-1CB3-041FADE8B20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6FDEED2-FB52-EC16-B106-796CC2DBF450}"/>
              </a:ext>
            </a:extLst>
          </p:cNvPr>
          <p:cNvSpPr/>
          <p:nvPr/>
        </p:nvSpPr>
        <p:spPr>
          <a:xfrm>
            <a:off x="0" y="0"/>
            <a:ext cx="12191695" cy="502920"/>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02FF081C-B5C8-C8B3-CD06-0D2F26CABF89}"/>
              </a:ext>
            </a:extLst>
          </p:cNvPr>
          <p:cNvSpPr txBox="1"/>
          <p:nvPr/>
        </p:nvSpPr>
        <p:spPr>
          <a:xfrm>
            <a:off x="457200" y="804672"/>
            <a:ext cx="11430000" cy="422873"/>
          </a:xfrm>
          <a:prstGeom prst="rect">
            <a:avLst/>
          </a:prstGeom>
          <a:noFill/>
        </p:spPr>
        <p:txBody>
          <a:bodyPr wrap="square" lIns="36576" tIns="18288" rIns="36576" bIns="18288" anchor="t">
            <a:spAutoFit/>
          </a:bodyPr>
          <a:lstStyle/>
          <a:p>
            <a:pPr algn="l">
              <a:lnSpc>
                <a:spcPct val="110000"/>
              </a:lnSpc>
              <a:spcBef>
                <a:spcPts val="0"/>
              </a:spcBef>
              <a:spcAft>
                <a:spcPts val="0"/>
              </a:spcAft>
            </a:pPr>
            <a:r>
              <a:rPr lang="en-US" sz="2400" b="1" i="0">
                <a:solidFill>
                  <a:srgbClr val="152342"/>
                </a:solidFill>
                <a:latin typeface="Calibri Light"/>
              </a:rPr>
              <a:t>Why This Program and Alation Matter to Leadership</a:t>
            </a:r>
          </a:p>
        </p:txBody>
      </p:sp>
      <p:sp>
        <p:nvSpPr>
          <p:cNvPr id="43" name="Rectangle 42">
            <a:extLst>
              <a:ext uri="{FF2B5EF4-FFF2-40B4-BE49-F238E27FC236}">
                <a16:creationId xmlns:a16="http://schemas.microsoft.com/office/drawing/2014/main" id="{4C737BB2-DF5D-F6A0-7688-ACD79CDD2C8F}"/>
              </a:ext>
            </a:extLst>
          </p:cNvPr>
          <p:cNvSpPr/>
          <p:nvPr/>
        </p:nvSpPr>
        <p:spPr>
          <a:xfrm>
            <a:off x="0" y="6400800"/>
            <a:ext cx="12191695"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a:extLst>
              <a:ext uri="{FF2B5EF4-FFF2-40B4-BE49-F238E27FC236}">
                <a16:creationId xmlns:a16="http://schemas.microsoft.com/office/drawing/2014/main" id="{8EEE0D98-4295-562F-79A2-86B7377C4FBD}"/>
              </a:ext>
            </a:extLst>
          </p:cNvPr>
          <p:cNvSpPr txBox="1"/>
          <p:nvPr/>
        </p:nvSpPr>
        <p:spPr>
          <a:xfrm>
            <a:off x="457200" y="6473952"/>
            <a:ext cx="11277295" cy="310896"/>
          </a:xfrm>
          <a:prstGeom prst="rect">
            <a:avLst/>
          </a:prstGeom>
          <a:noFill/>
        </p:spPr>
        <p:txBody>
          <a:bodyPr wrap="square" lIns="36576" tIns="18288" rIns="36576" bIns="18288" anchor="ctr">
            <a:spAutoFit/>
          </a:bodyPr>
          <a:lstStyle/>
          <a:p>
            <a:pPr algn="l">
              <a:lnSpc>
                <a:spcPct val="118000"/>
              </a:lnSpc>
              <a:spcBef>
                <a:spcPts val="0"/>
              </a:spcBef>
              <a:spcAft>
                <a:spcPts val="0"/>
              </a:spcAft>
            </a:pPr>
            <a:r>
              <a:rPr sz="1150" b="0" i="0">
                <a:solidFill>
                  <a:srgbClr val="64748B"/>
                </a:solidFill>
                <a:latin typeface="Calibri"/>
              </a:rPr>
              <a:t>DEET Data Governance  |  May 2026  |  Alation Data Catalog Overview</a:t>
            </a:r>
          </a:p>
        </p:txBody>
      </p:sp>
      <p:sp>
        <p:nvSpPr>
          <p:cNvPr id="4" name="Rounded Rectangle 3"/>
          <p:cNvSpPr/>
          <p:nvPr/>
        </p:nvSpPr>
        <p:spPr>
          <a:xfrm>
            <a:off x="355600" y="1421384"/>
            <a:ext cx="3625088"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55600" y="1421384"/>
            <a:ext cx="3625088" cy="91440"/>
          </a:xfrm>
          <a:prstGeom prst="roundRect">
            <a:avLst/>
          </a:prstGeom>
          <a:solidFill>
            <a:srgbClr val="156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0192" y="1604264"/>
            <a:ext cx="3295904" cy="256032"/>
          </a:xfrm>
          <a:prstGeom prst="rect">
            <a:avLst/>
          </a:prstGeom>
          <a:noFill/>
        </p:spPr>
        <p:txBody>
          <a:bodyPr wrap="none">
            <a:spAutoFit/>
          </a:bodyPr>
          <a:lstStyle/>
          <a:p>
            <a:pPr>
              <a:defRPr sz="1000" b="1">
                <a:solidFill>
                  <a:srgbClr val="156F4A"/>
                </a:solidFill>
                <a:latin typeface="Calibri"/>
              </a:defRPr>
            </a:pPr>
            <a:r>
              <a:rPr sz="1000" b="1">
                <a:solidFill>
                  <a:srgbClr val="156F4A"/>
                </a:solidFill>
                <a:latin typeface="Calibri"/>
              </a:rPr>
              <a:t>BUSINESS OUTCOMES</a:t>
            </a:r>
          </a:p>
        </p:txBody>
      </p:sp>
      <p:sp>
        <p:nvSpPr>
          <p:cNvPr id="7" name="TextBox 6"/>
          <p:cNvSpPr txBox="1"/>
          <p:nvPr/>
        </p:nvSpPr>
        <p:spPr>
          <a:xfrm>
            <a:off x="520192" y="1878584"/>
            <a:ext cx="3295904" cy="502920"/>
          </a:xfrm>
          <a:prstGeom prst="rect">
            <a:avLst/>
          </a:prstGeom>
          <a:noFill/>
        </p:spPr>
        <p:txBody>
          <a:bodyPr wrap="square">
            <a:spAutoFit/>
          </a:bodyPr>
          <a:lstStyle/>
          <a:p>
            <a:pPr>
              <a:defRPr sz="1800" b="1">
                <a:solidFill>
                  <a:srgbClr val="152342"/>
                </a:solidFill>
                <a:latin typeface="Calibri Light"/>
              </a:defRPr>
            </a:pPr>
            <a:r>
              <a:rPr sz="1800" b="1">
                <a:solidFill>
                  <a:srgbClr val="152342"/>
                </a:solidFill>
                <a:latin typeface="Calibri Light"/>
              </a:rPr>
              <a:t>High-value business outcomes</a:t>
            </a:r>
          </a:p>
        </p:txBody>
      </p:sp>
      <p:sp>
        <p:nvSpPr>
          <p:cNvPr id="8" name="TextBox 7"/>
          <p:cNvSpPr txBox="1"/>
          <p:nvPr/>
        </p:nvSpPr>
        <p:spPr>
          <a:xfrm>
            <a:off x="520192" y="2354072"/>
            <a:ext cx="3295904" cy="237744"/>
          </a:xfrm>
          <a:prstGeom prst="rect">
            <a:avLst/>
          </a:prstGeom>
          <a:noFill/>
        </p:spPr>
        <p:txBody>
          <a:bodyPr wrap="none">
            <a:spAutoFit/>
          </a:bodyPr>
          <a:lstStyle/>
          <a:p>
            <a:pPr>
              <a:defRPr sz="1000" b="0">
                <a:solidFill>
                  <a:srgbClr val="475569"/>
                </a:solidFill>
                <a:latin typeface="Calibri"/>
              </a:defRPr>
            </a:pPr>
            <a:r>
              <a:rPr sz="1000" b="0">
                <a:solidFill>
                  <a:srgbClr val="475569"/>
                </a:solidFill>
                <a:latin typeface="Calibri"/>
              </a:rPr>
              <a:t>What leadership gains.</a:t>
            </a:r>
          </a:p>
        </p:txBody>
      </p:sp>
      <p:cxnSp>
        <p:nvCxnSpPr>
          <p:cNvPr id="9" name="Connector 8"/>
          <p:cNvCxnSpPr/>
          <p:nvPr/>
        </p:nvCxnSpPr>
        <p:spPr>
          <a:xfrm>
            <a:off x="520192" y="2701544"/>
            <a:ext cx="3295904"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20192" y="2811272"/>
            <a:ext cx="3295904" cy="1869935"/>
          </a:xfrm>
          <a:prstGeom prst="rect">
            <a:avLst/>
          </a:prstGeom>
          <a:noFill/>
        </p:spPr>
        <p:txBody>
          <a:bodyPr wrap="square" anchor="t">
            <a:spAutoFit/>
          </a:bodyPr>
          <a:lstStyle/>
          <a:p>
            <a:pPr algn="l">
              <a:lnSpc>
                <a:spcPct val="118000"/>
              </a:lnSpc>
              <a:spcAft>
                <a:spcPts val="500"/>
              </a:spcAft>
              <a:defRPr sz="1100" b="0">
                <a:solidFill>
                  <a:srgbClr val="334155"/>
                </a:solidFill>
                <a:latin typeface="Calibri"/>
              </a:defRPr>
            </a:pPr>
            <a:r>
              <a:rPr sz="1100" b="0">
                <a:solidFill>
                  <a:srgbClr val="334155"/>
                </a:solidFill>
                <a:latin typeface="Calibri"/>
              </a:rPr>
              <a:t>• </a:t>
            </a:r>
            <a:r>
              <a:rPr sz="1100" b="1">
                <a:solidFill>
                  <a:srgbClr val="334155"/>
                </a:solidFill>
                <a:latin typeface="Calibri"/>
              </a:rPr>
              <a:t>Reduced regulatory and audit risk </a:t>
            </a:r>
            <a:r>
              <a:rPr sz="1100" b="0">
                <a:solidFill>
                  <a:srgbClr val="334155"/>
                </a:solidFill>
                <a:latin typeface="Calibri"/>
              </a:rPr>
              <a:t>through clearer visibility into PII and sensitive data.</a:t>
            </a:r>
          </a:p>
          <a:p>
            <a:pPr algn="l">
              <a:lnSpc>
                <a:spcPct val="118000"/>
              </a:lnSpc>
              <a:spcAft>
                <a:spcPts val="500"/>
              </a:spcAft>
              <a:defRPr sz="1100" b="0">
                <a:solidFill>
                  <a:srgbClr val="334155"/>
                </a:solidFill>
                <a:latin typeface="Calibri"/>
              </a:defRPr>
            </a:pPr>
            <a:r>
              <a:rPr sz="1100" b="0">
                <a:solidFill>
                  <a:srgbClr val="334155"/>
                </a:solidFill>
                <a:latin typeface="Calibri"/>
              </a:rPr>
              <a:t>• Faster, more </a:t>
            </a:r>
            <a:r>
              <a:rPr sz="1100" b="1">
                <a:solidFill>
                  <a:srgbClr val="334155"/>
                </a:solidFill>
                <a:latin typeface="Calibri"/>
              </a:rPr>
              <a:t>defensible decisions </a:t>
            </a:r>
            <a:r>
              <a:rPr sz="1100" b="0">
                <a:solidFill>
                  <a:srgbClr val="334155"/>
                </a:solidFill>
                <a:latin typeface="Calibri"/>
              </a:rPr>
              <a:t>backed by trusted definitions, lineage, and ownership.</a:t>
            </a:r>
          </a:p>
          <a:p>
            <a:pPr algn="l">
              <a:lnSpc>
                <a:spcPct val="118000"/>
              </a:lnSpc>
              <a:spcAft>
                <a:spcPts val="500"/>
              </a:spcAft>
              <a:defRPr sz="1100" b="0">
                <a:solidFill>
                  <a:srgbClr val="334155"/>
                </a:solidFill>
                <a:latin typeface="Calibri"/>
              </a:defRPr>
            </a:pPr>
            <a:r>
              <a:rPr sz="1100" b="0">
                <a:solidFill>
                  <a:srgbClr val="334155"/>
                </a:solidFill>
                <a:latin typeface="Calibri"/>
              </a:rPr>
              <a:t>• Operational efficiency — fewer duplicate efforts, less manual validation and reconciliation.</a:t>
            </a:r>
          </a:p>
          <a:p>
            <a:pPr algn="l">
              <a:lnSpc>
                <a:spcPct val="118000"/>
              </a:lnSpc>
              <a:spcAft>
                <a:spcPts val="500"/>
              </a:spcAft>
              <a:defRPr sz="1100" b="0">
                <a:solidFill>
                  <a:srgbClr val="334155"/>
                </a:solidFill>
                <a:latin typeface="Calibri"/>
              </a:defRPr>
            </a:pPr>
            <a:r>
              <a:rPr sz="1100" b="0">
                <a:solidFill>
                  <a:srgbClr val="334155"/>
                </a:solidFill>
                <a:latin typeface="Calibri"/>
              </a:rPr>
              <a:t>• </a:t>
            </a:r>
            <a:r>
              <a:rPr sz="1100" b="1">
                <a:solidFill>
                  <a:srgbClr val="334155"/>
                </a:solidFill>
                <a:latin typeface="Calibri"/>
              </a:rPr>
              <a:t>Scalable foundation for AI</a:t>
            </a:r>
            <a:r>
              <a:rPr sz="1100" b="0">
                <a:solidFill>
                  <a:srgbClr val="334155"/>
                </a:solidFill>
                <a:latin typeface="Calibri"/>
              </a:rPr>
              <a:t>, automation, and advanced analytics across the enterprise.</a:t>
            </a:r>
          </a:p>
        </p:txBody>
      </p:sp>
      <p:sp>
        <p:nvSpPr>
          <p:cNvPr id="11" name="Rounded Rectangle 10"/>
          <p:cNvSpPr/>
          <p:nvPr/>
        </p:nvSpPr>
        <p:spPr>
          <a:xfrm>
            <a:off x="4181856" y="1421384"/>
            <a:ext cx="3625088"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181856" y="1421384"/>
            <a:ext cx="3625088" cy="9144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46448" y="1604264"/>
            <a:ext cx="3295904" cy="256032"/>
          </a:xfrm>
          <a:prstGeom prst="rect">
            <a:avLst/>
          </a:prstGeom>
          <a:noFill/>
        </p:spPr>
        <p:txBody>
          <a:bodyPr wrap="none">
            <a:spAutoFit/>
          </a:bodyPr>
          <a:lstStyle/>
          <a:p>
            <a:pPr>
              <a:defRPr sz="1000" b="1">
                <a:solidFill>
                  <a:srgbClr val="B45309"/>
                </a:solidFill>
                <a:latin typeface="Calibri"/>
              </a:defRPr>
            </a:pPr>
            <a:r>
              <a:rPr sz="1000" b="1">
                <a:solidFill>
                  <a:srgbClr val="B45309"/>
                </a:solidFill>
                <a:latin typeface="Calibri"/>
              </a:rPr>
              <a:t>WHY NOW</a:t>
            </a:r>
          </a:p>
        </p:txBody>
      </p:sp>
      <p:sp>
        <p:nvSpPr>
          <p:cNvPr id="14" name="TextBox 13"/>
          <p:cNvSpPr txBox="1"/>
          <p:nvPr/>
        </p:nvSpPr>
        <p:spPr>
          <a:xfrm>
            <a:off x="4346448" y="1878584"/>
            <a:ext cx="3295904" cy="502920"/>
          </a:xfrm>
          <a:prstGeom prst="rect">
            <a:avLst/>
          </a:prstGeom>
          <a:noFill/>
        </p:spPr>
        <p:txBody>
          <a:bodyPr wrap="square">
            <a:spAutoFit/>
          </a:bodyPr>
          <a:lstStyle/>
          <a:p>
            <a:pPr>
              <a:defRPr sz="1800" b="1">
                <a:solidFill>
                  <a:srgbClr val="152342"/>
                </a:solidFill>
                <a:latin typeface="Calibri Light"/>
              </a:defRPr>
            </a:pPr>
            <a:r>
              <a:rPr sz="1800" b="1">
                <a:solidFill>
                  <a:srgbClr val="152342"/>
                </a:solidFill>
                <a:latin typeface="Calibri Light"/>
              </a:rPr>
              <a:t>Audit-driven urgency</a:t>
            </a:r>
          </a:p>
        </p:txBody>
      </p:sp>
      <p:sp>
        <p:nvSpPr>
          <p:cNvPr id="15" name="TextBox 14"/>
          <p:cNvSpPr txBox="1"/>
          <p:nvPr/>
        </p:nvSpPr>
        <p:spPr>
          <a:xfrm>
            <a:off x="4346448" y="2354072"/>
            <a:ext cx="3295904" cy="237744"/>
          </a:xfrm>
          <a:prstGeom prst="rect">
            <a:avLst/>
          </a:prstGeom>
          <a:noFill/>
        </p:spPr>
        <p:txBody>
          <a:bodyPr wrap="none">
            <a:spAutoFit/>
          </a:bodyPr>
          <a:lstStyle/>
          <a:p>
            <a:pPr>
              <a:defRPr sz="1000" b="0">
                <a:solidFill>
                  <a:srgbClr val="475569"/>
                </a:solidFill>
                <a:latin typeface="Calibri"/>
              </a:defRPr>
            </a:pPr>
            <a:r>
              <a:rPr sz="1000" b="0">
                <a:solidFill>
                  <a:srgbClr val="475569"/>
                </a:solidFill>
                <a:latin typeface="Calibri"/>
              </a:rPr>
              <a:t>Findings from the 2024 EY audit.</a:t>
            </a:r>
          </a:p>
        </p:txBody>
      </p:sp>
      <p:cxnSp>
        <p:nvCxnSpPr>
          <p:cNvPr id="16" name="Connector 15"/>
          <p:cNvCxnSpPr/>
          <p:nvPr/>
        </p:nvCxnSpPr>
        <p:spPr>
          <a:xfrm>
            <a:off x="4346448" y="2701544"/>
            <a:ext cx="3295904"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346448" y="2811272"/>
            <a:ext cx="3295904" cy="1869935"/>
          </a:xfrm>
          <a:prstGeom prst="rect">
            <a:avLst/>
          </a:prstGeom>
          <a:noFill/>
        </p:spPr>
        <p:txBody>
          <a:bodyPr wrap="square" anchor="t">
            <a:spAutoFit/>
          </a:bodyPr>
          <a:lstStyle/>
          <a:p>
            <a:pPr algn="l">
              <a:lnSpc>
                <a:spcPct val="118000"/>
              </a:lnSpc>
              <a:spcAft>
                <a:spcPts val="500"/>
              </a:spcAft>
              <a:defRPr sz="1100" b="0">
                <a:solidFill>
                  <a:srgbClr val="334155"/>
                </a:solidFill>
                <a:latin typeface="Calibri"/>
              </a:defRPr>
            </a:pPr>
            <a:r>
              <a:rPr sz="1100" b="0">
                <a:solidFill>
                  <a:srgbClr val="334155"/>
                </a:solidFill>
                <a:latin typeface="Calibri"/>
              </a:rPr>
              <a:t>• Difficulty identifying </a:t>
            </a:r>
            <a:r>
              <a:rPr sz="1100" b="1">
                <a:solidFill>
                  <a:srgbClr val="334155"/>
                </a:solidFill>
                <a:latin typeface="Calibri"/>
              </a:rPr>
              <a:t>where PII resides </a:t>
            </a:r>
            <a:r>
              <a:rPr sz="1100" b="0">
                <a:solidFill>
                  <a:srgbClr val="334155"/>
                </a:solidFill>
                <a:latin typeface="Calibri"/>
              </a:rPr>
              <a:t>across multiple systems and platforms.</a:t>
            </a:r>
          </a:p>
          <a:p>
            <a:pPr algn="l">
              <a:lnSpc>
                <a:spcPct val="118000"/>
              </a:lnSpc>
              <a:spcAft>
                <a:spcPts val="500"/>
              </a:spcAft>
              <a:defRPr sz="1100" b="0">
                <a:solidFill>
                  <a:srgbClr val="334155"/>
                </a:solidFill>
                <a:latin typeface="Calibri"/>
              </a:defRPr>
            </a:pPr>
            <a:r>
              <a:rPr sz="1100" b="0">
                <a:solidFill>
                  <a:srgbClr val="334155"/>
                </a:solidFill>
                <a:latin typeface="Calibri"/>
              </a:rPr>
              <a:t>• </a:t>
            </a:r>
            <a:r>
              <a:rPr sz="1100" b="1">
                <a:solidFill>
                  <a:srgbClr val="334155"/>
                </a:solidFill>
                <a:latin typeface="Calibri"/>
              </a:rPr>
              <a:t>Ungoverned and fragmented sources </a:t>
            </a:r>
            <a:r>
              <a:rPr sz="1100" b="0">
                <a:solidFill>
                  <a:srgbClr val="334155"/>
                </a:solidFill>
                <a:latin typeface="Calibri"/>
              </a:rPr>
              <a:t>discovered to contain sensitive personal data.</a:t>
            </a:r>
          </a:p>
          <a:p>
            <a:pPr algn="l">
              <a:lnSpc>
                <a:spcPct val="118000"/>
              </a:lnSpc>
              <a:spcAft>
                <a:spcPts val="500"/>
              </a:spcAft>
              <a:defRPr sz="1100" b="0">
                <a:solidFill>
                  <a:srgbClr val="334155"/>
                </a:solidFill>
                <a:latin typeface="Calibri"/>
              </a:defRPr>
            </a:pPr>
            <a:r>
              <a:rPr sz="1100" b="0">
                <a:solidFill>
                  <a:srgbClr val="334155"/>
                </a:solidFill>
                <a:latin typeface="Calibri"/>
              </a:rPr>
              <a:t>• Triggered formal </a:t>
            </a:r>
            <a:r>
              <a:rPr sz="1100" b="1">
                <a:solidFill>
                  <a:srgbClr val="334155"/>
                </a:solidFill>
                <a:latin typeface="Calibri"/>
              </a:rPr>
              <a:t>risk assessment and ongoing remediation </a:t>
            </a:r>
            <a:r>
              <a:rPr sz="1100" b="0">
                <a:solidFill>
                  <a:srgbClr val="334155"/>
                </a:solidFill>
                <a:latin typeface="Calibri"/>
              </a:rPr>
              <a:t>work.</a:t>
            </a:r>
          </a:p>
          <a:p>
            <a:pPr algn="l">
              <a:lnSpc>
                <a:spcPct val="118000"/>
              </a:lnSpc>
              <a:spcAft>
                <a:spcPts val="500"/>
              </a:spcAft>
              <a:defRPr sz="1100" b="0">
                <a:solidFill>
                  <a:srgbClr val="334155"/>
                </a:solidFill>
                <a:latin typeface="Calibri"/>
              </a:defRPr>
            </a:pPr>
            <a:r>
              <a:rPr sz="1100" b="0">
                <a:solidFill>
                  <a:srgbClr val="334155"/>
                </a:solidFill>
                <a:latin typeface="Calibri"/>
              </a:rPr>
              <a:t>• Highlighted gaps in lineage, ownership, and documentation that must be closed.</a:t>
            </a:r>
          </a:p>
        </p:txBody>
      </p:sp>
      <p:sp>
        <p:nvSpPr>
          <p:cNvPr id="18" name="Rounded Rectangle 17"/>
          <p:cNvSpPr/>
          <p:nvPr/>
        </p:nvSpPr>
        <p:spPr>
          <a:xfrm>
            <a:off x="8008112" y="1421384"/>
            <a:ext cx="3625088"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008112" y="1421384"/>
            <a:ext cx="3625088" cy="91440"/>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172704" y="1604264"/>
            <a:ext cx="3295904" cy="256032"/>
          </a:xfrm>
          <a:prstGeom prst="rect">
            <a:avLst/>
          </a:prstGeom>
          <a:noFill/>
        </p:spPr>
        <p:txBody>
          <a:bodyPr wrap="none">
            <a:spAutoFit/>
          </a:bodyPr>
          <a:lstStyle/>
          <a:p>
            <a:pPr>
              <a:defRPr sz="1000" b="1">
                <a:solidFill>
                  <a:srgbClr val="1E40AF"/>
                </a:solidFill>
                <a:latin typeface="Calibri"/>
              </a:defRPr>
            </a:pPr>
            <a:r>
              <a:rPr sz="1000" b="1">
                <a:solidFill>
                  <a:srgbClr val="1E40AF"/>
                </a:solidFill>
                <a:latin typeface="Calibri"/>
              </a:rPr>
              <a:t>PROGRAM &amp; ALATION IMPACT</a:t>
            </a:r>
          </a:p>
        </p:txBody>
      </p:sp>
      <p:sp>
        <p:nvSpPr>
          <p:cNvPr id="21" name="TextBox 20"/>
          <p:cNvSpPr txBox="1"/>
          <p:nvPr/>
        </p:nvSpPr>
        <p:spPr>
          <a:xfrm>
            <a:off x="8172704" y="1878584"/>
            <a:ext cx="3295904" cy="502920"/>
          </a:xfrm>
          <a:prstGeom prst="rect">
            <a:avLst/>
          </a:prstGeom>
          <a:noFill/>
        </p:spPr>
        <p:txBody>
          <a:bodyPr wrap="square">
            <a:spAutoFit/>
          </a:bodyPr>
          <a:lstStyle/>
          <a:p>
            <a:pPr>
              <a:defRPr sz="1800" b="1">
                <a:solidFill>
                  <a:srgbClr val="152342"/>
                </a:solidFill>
                <a:latin typeface="Calibri Light"/>
              </a:defRPr>
            </a:pPr>
            <a:r>
              <a:rPr sz="1800" b="1">
                <a:solidFill>
                  <a:srgbClr val="152342"/>
                </a:solidFill>
                <a:latin typeface="Calibri Light"/>
              </a:rPr>
              <a:t>How we deliver the outcomes</a:t>
            </a:r>
          </a:p>
        </p:txBody>
      </p:sp>
      <p:sp>
        <p:nvSpPr>
          <p:cNvPr id="22" name="TextBox 21"/>
          <p:cNvSpPr txBox="1"/>
          <p:nvPr/>
        </p:nvSpPr>
        <p:spPr>
          <a:xfrm>
            <a:off x="8172704" y="2354072"/>
            <a:ext cx="3295904" cy="237744"/>
          </a:xfrm>
          <a:prstGeom prst="rect">
            <a:avLst/>
          </a:prstGeom>
          <a:noFill/>
        </p:spPr>
        <p:txBody>
          <a:bodyPr wrap="none">
            <a:spAutoFit/>
          </a:bodyPr>
          <a:lstStyle/>
          <a:p>
            <a:pPr>
              <a:defRPr sz="1000" b="0">
                <a:solidFill>
                  <a:srgbClr val="475569"/>
                </a:solidFill>
                <a:latin typeface="Calibri"/>
              </a:defRPr>
            </a:pPr>
            <a:r>
              <a:rPr sz="1000" b="0">
                <a:solidFill>
                  <a:srgbClr val="475569"/>
                </a:solidFill>
                <a:latin typeface="Calibri"/>
              </a:rPr>
              <a:t>Program + platform working together.</a:t>
            </a:r>
          </a:p>
        </p:txBody>
      </p:sp>
      <p:cxnSp>
        <p:nvCxnSpPr>
          <p:cNvPr id="23" name="Connector 22"/>
          <p:cNvCxnSpPr/>
          <p:nvPr/>
        </p:nvCxnSpPr>
        <p:spPr>
          <a:xfrm>
            <a:off x="8172704" y="2701544"/>
            <a:ext cx="3295904"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72704" y="2811272"/>
            <a:ext cx="3295904" cy="2797112"/>
          </a:xfrm>
          <a:prstGeom prst="rect">
            <a:avLst/>
          </a:prstGeom>
          <a:noFill/>
        </p:spPr>
        <p:txBody>
          <a:bodyPr wrap="square" anchor="t">
            <a:spAutoFit/>
          </a:bodyPr>
          <a:lstStyle/>
          <a:p>
            <a:pPr algn="l">
              <a:lnSpc>
                <a:spcPct val="118000"/>
              </a:lnSpc>
              <a:spcAft>
                <a:spcPts val="500"/>
              </a:spcAft>
              <a:defRPr sz="1100" b="0">
                <a:solidFill>
                  <a:srgbClr val="334155"/>
                </a:solidFill>
                <a:latin typeface="Calibri"/>
              </a:defRPr>
            </a:pPr>
            <a:r>
              <a:rPr sz="1100" b="0">
                <a:solidFill>
                  <a:srgbClr val="334155"/>
                </a:solidFill>
                <a:latin typeface="Calibri"/>
              </a:rPr>
              <a:t>• </a:t>
            </a:r>
            <a:r>
              <a:rPr sz="1100" b="1">
                <a:solidFill>
                  <a:srgbClr val="334155"/>
                </a:solidFill>
                <a:latin typeface="Calibri"/>
              </a:rPr>
              <a:t>Centralized system of record </a:t>
            </a:r>
            <a:r>
              <a:rPr sz="1100" b="0">
                <a:solidFill>
                  <a:srgbClr val="334155"/>
                </a:solidFill>
                <a:latin typeface="Calibri"/>
              </a:rPr>
              <a:t>for data assets — Alation as the catalog of truth.</a:t>
            </a:r>
          </a:p>
          <a:p>
            <a:pPr algn="l">
              <a:lnSpc>
                <a:spcPct val="118000"/>
              </a:lnSpc>
              <a:spcAft>
                <a:spcPts val="500"/>
              </a:spcAft>
              <a:defRPr sz="1100" b="0">
                <a:solidFill>
                  <a:srgbClr val="334155"/>
                </a:solidFill>
                <a:latin typeface="Calibri"/>
              </a:defRPr>
            </a:pPr>
            <a:r>
              <a:rPr sz="1100" b="0">
                <a:solidFill>
                  <a:srgbClr val="334155"/>
                </a:solidFill>
                <a:latin typeface="Calibri"/>
              </a:rPr>
              <a:t>• Improved visibility into assets, lineage, and ownership across domains.</a:t>
            </a:r>
          </a:p>
          <a:p>
            <a:pPr algn="l">
              <a:lnSpc>
                <a:spcPct val="118000"/>
              </a:lnSpc>
              <a:spcAft>
                <a:spcPts val="500"/>
              </a:spcAft>
              <a:defRPr sz="1100" b="0">
                <a:solidFill>
                  <a:srgbClr val="334155"/>
                </a:solidFill>
                <a:latin typeface="Calibri"/>
              </a:defRPr>
            </a:pPr>
            <a:r>
              <a:rPr sz="1100" b="0">
                <a:solidFill>
                  <a:srgbClr val="334155"/>
                </a:solidFill>
                <a:latin typeface="Calibri"/>
              </a:rPr>
              <a:t>• Stronger stewardship, accountability, and governance consistency.</a:t>
            </a:r>
          </a:p>
          <a:p>
            <a:pPr algn="l">
              <a:lnSpc>
                <a:spcPct val="118000"/>
              </a:lnSpc>
              <a:spcAft>
                <a:spcPts val="500"/>
              </a:spcAft>
              <a:defRPr sz="1100" b="0">
                <a:solidFill>
                  <a:srgbClr val="334155"/>
                </a:solidFill>
                <a:latin typeface="Calibri"/>
              </a:defRPr>
            </a:pPr>
            <a:r>
              <a:rPr sz="1100" b="0">
                <a:solidFill>
                  <a:srgbClr val="334155"/>
                </a:solidFill>
                <a:latin typeface="Calibri"/>
              </a:rPr>
              <a:t>• Direct alignment with </a:t>
            </a:r>
            <a:r>
              <a:rPr sz="1100" b="1">
                <a:solidFill>
                  <a:srgbClr val="334155"/>
                </a:solidFill>
                <a:latin typeface="Calibri"/>
              </a:rPr>
              <a:t>regulatory and compliance obligations</a:t>
            </a:r>
            <a:r>
              <a:rPr sz="1100" b="0">
                <a:solidFill>
                  <a:srgbClr val="334155"/>
                </a:solidFill>
                <a:latin typeface="Calibri"/>
              </a:rPr>
              <a:t>.</a:t>
            </a:r>
          </a:p>
          <a:p>
            <a:pPr algn="l">
              <a:lnSpc>
                <a:spcPct val="118000"/>
              </a:lnSpc>
              <a:spcAft>
                <a:spcPts val="500"/>
              </a:spcAft>
              <a:defRPr sz="1100" b="0">
                <a:solidFill>
                  <a:srgbClr val="334155"/>
                </a:solidFill>
                <a:latin typeface="Calibri"/>
              </a:defRPr>
            </a:pPr>
            <a:r>
              <a:rPr sz="1100" b="0">
                <a:solidFill>
                  <a:srgbClr val="334155"/>
                </a:solidFill>
                <a:latin typeface="Calibri"/>
              </a:rPr>
              <a:t>• </a:t>
            </a:r>
            <a:r>
              <a:rPr sz="1100" b="1">
                <a:solidFill>
                  <a:srgbClr val="334155"/>
                </a:solidFill>
                <a:latin typeface="Calibri"/>
              </a:rPr>
              <a:t>Lower long-term operational and compliance risk </a:t>
            </a:r>
            <a:r>
              <a:rPr sz="1100" b="0">
                <a:solidFill>
                  <a:srgbClr val="334155"/>
                </a:solidFill>
                <a:latin typeface="Calibri"/>
              </a:rPr>
              <a:t>for the enterprise.</a:t>
            </a:r>
          </a:p>
          <a:p>
            <a:pPr algn="l">
              <a:lnSpc>
                <a:spcPct val="118000"/>
              </a:lnSpc>
              <a:spcAft>
                <a:spcPts val="500"/>
              </a:spcAft>
              <a:defRPr sz="1100" b="0">
                <a:solidFill>
                  <a:srgbClr val="334155"/>
                </a:solidFill>
                <a:latin typeface="Calibri"/>
              </a:defRPr>
            </a:pPr>
            <a:r>
              <a:rPr sz="1100" b="0">
                <a:solidFill>
                  <a:srgbClr val="334155"/>
                </a:solidFill>
                <a:latin typeface="Calibri"/>
              </a:rPr>
              <a:t>• Scalable, enterprise-wide governance capability that grows with the business.</a:t>
            </a:r>
          </a:p>
        </p:txBody>
      </p:sp>
      <p:sp>
        <p:nvSpPr>
          <p:cNvPr id="26" name="TextBox 25"/>
          <p:cNvSpPr txBox="1"/>
          <p:nvPr/>
        </p:nvSpPr>
        <p:spPr>
          <a:xfrm>
            <a:off x="538480" y="5878600"/>
            <a:ext cx="10911840" cy="292388"/>
          </a:xfrm>
          <a:prstGeom prst="rect">
            <a:avLst/>
          </a:prstGeom>
          <a:solidFill>
            <a:schemeClr val="bg1">
              <a:lumMod val="95000"/>
            </a:schemeClr>
          </a:solidFill>
        </p:spPr>
        <p:txBody>
          <a:bodyPr wrap="square" anchor="ctr">
            <a:spAutoFit/>
          </a:bodyPr>
          <a:lstStyle/>
          <a:p>
            <a:pPr algn="ctr">
              <a:defRPr sz="1300" b="1">
                <a:solidFill>
                  <a:srgbClr val="152342"/>
                </a:solidFill>
                <a:latin typeface="Calibri Light"/>
              </a:defRPr>
            </a:pPr>
            <a:r>
              <a:rPr sz="1300" b="1">
                <a:solidFill>
                  <a:srgbClr val="152342"/>
                </a:solidFill>
                <a:latin typeface="Calibri Light"/>
              </a:rPr>
              <a:t>Data </a:t>
            </a:r>
            <a:r>
              <a:rPr sz="1200" b="1">
                <a:solidFill>
                  <a:srgbClr val="152342"/>
                </a:solidFill>
                <a:latin typeface="Calibri Light"/>
              </a:rPr>
              <a:t>governance, enabled by a scalable catalog like Alation, is a critical capability for managing risk, enabling growth, and supporting trusted decision-making across the business.</a:t>
            </a:r>
          </a:p>
        </p:txBody>
      </p:sp>
    </p:spTree>
    <p:extLst>
      <p:ext uri="{BB962C8B-B14F-4D97-AF65-F5344CB8AC3E}">
        <p14:creationId xmlns:p14="http://schemas.microsoft.com/office/powerpoint/2010/main" val="2452318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237B9BC-CB11-07A3-4B5B-63CB5BABF270}"/>
              </a:ext>
            </a:extLst>
          </p:cNvPr>
          <p:cNvSpPr/>
          <p:nvPr/>
        </p:nvSpPr>
        <p:spPr>
          <a:xfrm>
            <a:off x="0" y="0"/>
            <a:ext cx="12191695" cy="502920"/>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92F0CB98-C9F8-B6FC-0CDC-74FAD314FBA2}"/>
              </a:ext>
            </a:extLst>
          </p:cNvPr>
          <p:cNvSpPr txBox="1"/>
          <p:nvPr/>
        </p:nvSpPr>
        <p:spPr>
          <a:xfrm>
            <a:off x="457200" y="804672"/>
            <a:ext cx="11430000" cy="422873"/>
          </a:xfrm>
          <a:prstGeom prst="rect">
            <a:avLst/>
          </a:prstGeom>
          <a:noFill/>
        </p:spPr>
        <p:txBody>
          <a:bodyPr wrap="square" lIns="36576" tIns="18288" rIns="36576" bIns="18288" anchor="t">
            <a:spAutoFit/>
          </a:bodyPr>
          <a:lstStyle/>
          <a:p>
            <a:pPr algn="l">
              <a:lnSpc>
                <a:spcPct val="110000"/>
              </a:lnSpc>
              <a:spcBef>
                <a:spcPts val="0"/>
              </a:spcBef>
              <a:spcAft>
                <a:spcPts val="0"/>
              </a:spcAft>
            </a:pPr>
            <a:r>
              <a:rPr lang="en-US" sz="2400" b="1">
                <a:solidFill>
                  <a:srgbClr val="152342"/>
                </a:solidFill>
                <a:latin typeface="Calibri Light"/>
              </a:rPr>
              <a:t>What a Data Catalog Is and How It Supports Data Governance</a:t>
            </a:r>
            <a:endParaRPr sz="2400" b="1" i="0">
              <a:solidFill>
                <a:srgbClr val="152342"/>
              </a:solidFill>
              <a:latin typeface="Calibri Light"/>
            </a:endParaRPr>
          </a:p>
        </p:txBody>
      </p:sp>
      <p:sp>
        <p:nvSpPr>
          <p:cNvPr id="5" name="Rectangle 4">
            <a:extLst>
              <a:ext uri="{FF2B5EF4-FFF2-40B4-BE49-F238E27FC236}">
                <a16:creationId xmlns:a16="http://schemas.microsoft.com/office/drawing/2014/main" id="{6F807B1B-71E3-C968-ADED-4003548C1B22}"/>
              </a:ext>
            </a:extLst>
          </p:cNvPr>
          <p:cNvSpPr/>
          <p:nvPr/>
        </p:nvSpPr>
        <p:spPr>
          <a:xfrm>
            <a:off x="457200" y="1389888"/>
            <a:ext cx="777240" cy="73152"/>
          </a:xfrm>
          <a:prstGeom prst="rect">
            <a:avLst/>
          </a:prstGeom>
          <a:solidFill>
            <a:srgbClr val="152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DFB01E96-AB59-9EB2-C692-16FF7B9ADC56}"/>
              </a:ext>
            </a:extLst>
          </p:cNvPr>
          <p:cNvSpPr txBox="1"/>
          <p:nvPr/>
        </p:nvSpPr>
        <p:spPr>
          <a:xfrm>
            <a:off x="457200" y="1481328"/>
            <a:ext cx="11430000" cy="502920"/>
          </a:xfrm>
          <a:prstGeom prst="rect">
            <a:avLst/>
          </a:prstGeom>
          <a:noFill/>
        </p:spPr>
        <p:txBody>
          <a:bodyPr wrap="square" lIns="36576" tIns="18288" rIns="36576" bIns="18288" anchor="t">
            <a:spAutoFit/>
          </a:bodyPr>
          <a:lstStyle/>
          <a:p>
            <a:pPr algn="l">
              <a:lnSpc>
                <a:spcPct val="125000"/>
              </a:lnSpc>
              <a:spcBef>
                <a:spcPts val="0"/>
              </a:spcBef>
              <a:spcAft>
                <a:spcPts val="0"/>
              </a:spcAft>
            </a:pPr>
            <a:r>
              <a:rPr sz="1100" b="0" i="0">
                <a:solidFill>
                  <a:srgbClr val="475569"/>
                </a:solidFill>
                <a:latin typeface="Calibri"/>
              </a:rPr>
              <a:t>Two sides of the same story: business pressure for answers, and the inspectable metadata layer that backs them.</a:t>
            </a:r>
          </a:p>
        </p:txBody>
      </p:sp>
      <p:grpSp>
        <p:nvGrpSpPr>
          <p:cNvPr id="52" name="Group 51">
            <a:extLst>
              <a:ext uri="{FF2B5EF4-FFF2-40B4-BE49-F238E27FC236}">
                <a16:creationId xmlns:a16="http://schemas.microsoft.com/office/drawing/2014/main" id="{E1A135D0-E75E-BDC3-0F1E-EC65C1A01940}"/>
              </a:ext>
            </a:extLst>
          </p:cNvPr>
          <p:cNvGrpSpPr/>
          <p:nvPr/>
        </p:nvGrpSpPr>
        <p:grpSpPr>
          <a:xfrm>
            <a:off x="6369304" y="1791716"/>
            <a:ext cx="5682996" cy="4279392"/>
            <a:chOff x="6432804" y="1728216"/>
            <a:chExt cx="5682996" cy="4279392"/>
          </a:xfrm>
        </p:grpSpPr>
        <p:cxnSp>
          <p:nvCxnSpPr>
            <p:cNvPr id="7" name="Connector 6">
              <a:extLst>
                <a:ext uri="{FF2B5EF4-FFF2-40B4-BE49-F238E27FC236}">
                  <a16:creationId xmlns:a16="http://schemas.microsoft.com/office/drawing/2014/main" id="{90DB6A4C-85FA-A787-6103-D4766FBF8D93}"/>
                </a:ext>
              </a:extLst>
            </p:cNvPr>
            <p:cNvCxnSpPr/>
            <p:nvPr/>
          </p:nvCxnSpPr>
          <p:spPr>
            <a:xfrm>
              <a:off x="12115800" y="1728216"/>
              <a:ext cx="0" cy="4279392"/>
            </a:xfrm>
            <a:prstGeom prst="line">
              <a:avLst/>
            </a:prstGeom>
            <a:ln w="14604">
              <a:solidFill>
                <a:srgbClr val="94A3B8"/>
              </a:solidFill>
              <a:prstDash val="sysDot"/>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AA3D193F-4B34-C88F-97CA-DACED3658E6F}"/>
                </a:ext>
              </a:extLst>
            </p:cNvPr>
            <p:cNvSpPr txBox="1"/>
            <p:nvPr/>
          </p:nvSpPr>
          <p:spPr>
            <a:xfrm>
              <a:off x="6432804" y="1746504"/>
              <a:ext cx="5554980" cy="256032"/>
            </a:xfrm>
            <a:prstGeom prst="rect">
              <a:avLst/>
            </a:prstGeom>
            <a:noFill/>
          </p:spPr>
          <p:txBody>
            <a:bodyPr wrap="square" lIns="36576" tIns="18288" rIns="36576" bIns="18288" anchor="t">
              <a:spAutoFit/>
            </a:bodyPr>
            <a:lstStyle/>
            <a:p>
              <a:pPr algn="ctr">
                <a:lnSpc>
                  <a:spcPct val="118000"/>
                </a:lnSpc>
                <a:spcBef>
                  <a:spcPts val="0"/>
                </a:spcBef>
                <a:spcAft>
                  <a:spcPts val="0"/>
                </a:spcAft>
              </a:pPr>
              <a:r>
                <a:rPr sz="1100" b="1" i="0">
                  <a:solidFill>
                    <a:srgbClr val="64748B"/>
                  </a:solidFill>
                  <a:latin typeface="Calibri"/>
                </a:rPr>
                <a:t>WHY AD PLATFORMS GOVERNANCE</a:t>
              </a:r>
            </a:p>
          </p:txBody>
        </p:sp>
        <p:sp>
          <p:nvSpPr>
            <p:cNvPr id="9" name="Rounded Rectangle 8">
              <a:extLst>
                <a:ext uri="{FF2B5EF4-FFF2-40B4-BE49-F238E27FC236}">
                  <a16:creationId xmlns:a16="http://schemas.microsoft.com/office/drawing/2014/main" id="{C02410D0-15BE-5B2E-D8B5-ED082231B832}"/>
                </a:ext>
              </a:extLst>
            </p:cNvPr>
            <p:cNvSpPr/>
            <p:nvPr/>
          </p:nvSpPr>
          <p:spPr>
            <a:xfrm>
              <a:off x="6432804" y="2002535"/>
              <a:ext cx="2704338" cy="1929384"/>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a:extLst>
                <a:ext uri="{FF2B5EF4-FFF2-40B4-BE49-F238E27FC236}">
                  <a16:creationId xmlns:a16="http://schemas.microsoft.com/office/drawing/2014/main" id="{C24124B6-8DC0-5AF6-9828-A5E0BA8E6EE5}"/>
                </a:ext>
              </a:extLst>
            </p:cNvPr>
            <p:cNvSpPr/>
            <p:nvPr/>
          </p:nvSpPr>
          <p:spPr>
            <a:xfrm>
              <a:off x="6633972" y="2185416"/>
              <a:ext cx="329184" cy="329184"/>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D6D7BD05-334E-8EB7-1038-F456D2C1ABD3}"/>
                </a:ext>
              </a:extLst>
            </p:cNvPr>
            <p:cNvSpPr txBox="1"/>
            <p:nvPr/>
          </p:nvSpPr>
          <p:spPr>
            <a:xfrm>
              <a:off x="6633972" y="2185416"/>
              <a:ext cx="329184" cy="329184"/>
            </a:xfrm>
            <a:prstGeom prst="rect">
              <a:avLst/>
            </a:prstGeom>
            <a:noFill/>
          </p:spPr>
          <p:txBody>
            <a:bodyPr wrap="square" lIns="36576" tIns="18288" rIns="36576" bIns="18288" anchor="ctr">
              <a:spAutoFit/>
            </a:bodyPr>
            <a:lstStyle/>
            <a:p>
              <a:pPr algn="ctr">
                <a:lnSpc>
                  <a:spcPct val="118000"/>
                </a:lnSpc>
                <a:spcBef>
                  <a:spcPts val="0"/>
                </a:spcBef>
                <a:spcAft>
                  <a:spcPts val="0"/>
                </a:spcAft>
              </a:pPr>
              <a:r>
                <a:rPr sz="1100" b="1" i="0">
                  <a:solidFill>
                    <a:srgbClr val="FFFFFF"/>
                  </a:solidFill>
                  <a:latin typeface="Calibri"/>
                </a:rPr>
                <a:t>1</a:t>
              </a:r>
            </a:p>
          </p:txBody>
        </p:sp>
        <p:sp>
          <p:nvSpPr>
            <p:cNvPr id="12" name="TextBox 11">
              <a:extLst>
                <a:ext uri="{FF2B5EF4-FFF2-40B4-BE49-F238E27FC236}">
                  <a16:creationId xmlns:a16="http://schemas.microsoft.com/office/drawing/2014/main" id="{FD0D117D-69A2-BC74-76C4-2D743C120FAB}"/>
                </a:ext>
              </a:extLst>
            </p:cNvPr>
            <p:cNvSpPr txBox="1"/>
            <p:nvPr/>
          </p:nvSpPr>
          <p:spPr>
            <a:xfrm>
              <a:off x="7027164" y="2258568"/>
              <a:ext cx="1908809" cy="329184"/>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1100" b="1" i="0">
                  <a:solidFill>
                    <a:srgbClr val="152342"/>
                  </a:solidFill>
                  <a:latin typeface="Calibri"/>
                </a:rPr>
                <a:t>Defensible answers, fast</a:t>
              </a:r>
            </a:p>
          </p:txBody>
        </p:sp>
        <p:sp>
          <p:nvSpPr>
            <p:cNvPr id="13" name="TextBox 12">
              <a:extLst>
                <a:ext uri="{FF2B5EF4-FFF2-40B4-BE49-F238E27FC236}">
                  <a16:creationId xmlns:a16="http://schemas.microsoft.com/office/drawing/2014/main" id="{E5286137-FF25-5497-6FDE-E5D8672B03B1}"/>
                </a:ext>
              </a:extLst>
            </p:cNvPr>
            <p:cNvSpPr txBox="1"/>
            <p:nvPr/>
          </p:nvSpPr>
          <p:spPr>
            <a:xfrm>
              <a:off x="7027164" y="2642616"/>
              <a:ext cx="1908809" cy="1161288"/>
            </a:xfrm>
            <a:prstGeom prst="rect">
              <a:avLst/>
            </a:prstGeom>
            <a:noFill/>
          </p:spPr>
          <p:txBody>
            <a:bodyPr wrap="square" lIns="36576" tIns="18288" rIns="36576" bIns="18288" anchor="t">
              <a:spAutoFit/>
            </a:bodyPr>
            <a:lstStyle/>
            <a:p>
              <a:pPr algn="l">
                <a:lnSpc>
                  <a:spcPct val="125000"/>
                </a:lnSpc>
                <a:spcBef>
                  <a:spcPts val="0"/>
                </a:spcBef>
                <a:spcAft>
                  <a:spcPts val="0"/>
                </a:spcAft>
              </a:pPr>
              <a:r>
                <a:rPr sz="1100" b="0" i="0">
                  <a:solidFill>
                    <a:srgbClr val="334155"/>
                  </a:solidFill>
                  <a:latin typeface="Calibri"/>
                </a:rPr>
                <a:t>Leaders need to know what data exists, what it means, who owns it, and how it flows — without multi-day scavenger hunts.</a:t>
              </a:r>
            </a:p>
          </p:txBody>
        </p:sp>
        <p:sp>
          <p:nvSpPr>
            <p:cNvPr id="14" name="Rounded Rectangle 13">
              <a:extLst>
                <a:ext uri="{FF2B5EF4-FFF2-40B4-BE49-F238E27FC236}">
                  <a16:creationId xmlns:a16="http://schemas.microsoft.com/office/drawing/2014/main" id="{7C6FFC01-617D-88C7-068C-1450B6F1E72F}"/>
                </a:ext>
              </a:extLst>
            </p:cNvPr>
            <p:cNvSpPr/>
            <p:nvPr/>
          </p:nvSpPr>
          <p:spPr>
            <a:xfrm>
              <a:off x="9283446" y="2002535"/>
              <a:ext cx="2704338" cy="1929384"/>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a:extLst>
                <a:ext uri="{FF2B5EF4-FFF2-40B4-BE49-F238E27FC236}">
                  <a16:creationId xmlns:a16="http://schemas.microsoft.com/office/drawing/2014/main" id="{77B2B7CB-DABA-C39A-4B6C-E6A92FC40AE6}"/>
                </a:ext>
              </a:extLst>
            </p:cNvPr>
            <p:cNvSpPr/>
            <p:nvPr/>
          </p:nvSpPr>
          <p:spPr>
            <a:xfrm>
              <a:off x="9484614" y="2185416"/>
              <a:ext cx="329184" cy="329184"/>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5D5C2A74-A01C-91E5-7685-E70987BBD6AB}"/>
                </a:ext>
              </a:extLst>
            </p:cNvPr>
            <p:cNvSpPr txBox="1"/>
            <p:nvPr/>
          </p:nvSpPr>
          <p:spPr>
            <a:xfrm>
              <a:off x="9484614" y="2185416"/>
              <a:ext cx="329184" cy="329184"/>
            </a:xfrm>
            <a:prstGeom prst="rect">
              <a:avLst/>
            </a:prstGeom>
            <a:noFill/>
          </p:spPr>
          <p:txBody>
            <a:bodyPr wrap="square" lIns="36576" tIns="18288" rIns="36576" bIns="18288" anchor="ctr">
              <a:spAutoFit/>
            </a:bodyPr>
            <a:lstStyle/>
            <a:p>
              <a:pPr algn="ctr">
                <a:lnSpc>
                  <a:spcPct val="118000"/>
                </a:lnSpc>
                <a:spcBef>
                  <a:spcPts val="0"/>
                </a:spcBef>
                <a:spcAft>
                  <a:spcPts val="0"/>
                </a:spcAft>
              </a:pPr>
              <a:r>
                <a:rPr sz="1100" b="1" i="0">
                  <a:solidFill>
                    <a:srgbClr val="FFFFFF"/>
                  </a:solidFill>
                  <a:latin typeface="Calibri"/>
                </a:rPr>
                <a:t>2</a:t>
              </a:r>
            </a:p>
          </p:txBody>
        </p:sp>
        <p:sp>
          <p:nvSpPr>
            <p:cNvPr id="17" name="TextBox 16">
              <a:extLst>
                <a:ext uri="{FF2B5EF4-FFF2-40B4-BE49-F238E27FC236}">
                  <a16:creationId xmlns:a16="http://schemas.microsoft.com/office/drawing/2014/main" id="{CF95A0AF-296C-E82C-2395-5484165FE5F9}"/>
                </a:ext>
              </a:extLst>
            </p:cNvPr>
            <p:cNvSpPr txBox="1"/>
            <p:nvPr/>
          </p:nvSpPr>
          <p:spPr>
            <a:xfrm>
              <a:off x="9877806" y="2258568"/>
              <a:ext cx="1908809" cy="329184"/>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1100" b="1" i="0">
                  <a:solidFill>
                    <a:srgbClr val="152342"/>
                  </a:solidFill>
                  <a:latin typeface="Calibri"/>
                </a:rPr>
                <a:t>Evidence-based conversations</a:t>
              </a:r>
            </a:p>
          </p:txBody>
        </p:sp>
        <p:sp>
          <p:nvSpPr>
            <p:cNvPr id="18" name="TextBox 17">
              <a:extLst>
                <a:ext uri="{FF2B5EF4-FFF2-40B4-BE49-F238E27FC236}">
                  <a16:creationId xmlns:a16="http://schemas.microsoft.com/office/drawing/2014/main" id="{AE66A977-0716-C92B-9CAC-F43EEDDD2AF8}"/>
                </a:ext>
              </a:extLst>
            </p:cNvPr>
            <p:cNvSpPr txBox="1"/>
            <p:nvPr/>
          </p:nvSpPr>
          <p:spPr>
            <a:xfrm>
              <a:off x="9877806" y="2642616"/>
              <a:ext cx="1908809" cy="1161288"/>
            </a:xfrm>
            <a:prstGeom prst="rect">
              <a:avLst/>
            </a:prstGeom>
            <a:noFill/>
          </p:spPr>
          <p:txBody>
            <a:bodyPr wrap="square" lIns="36576" tIns="18288" rIns="36576" bIns="18288" anchor="t">
              <a:spAutoFit/>
            </a:bodyPr>
            <a:lstStyle/>
            <a:p>
              <a:pPr algn="l">
                <a:lnSpc>
                  <a:spcPct val="125000"/>
                </a:lnSpc>
                <a:spcBef>
                  <a:spcPts val="0"/>
                </a:spcBef>
                <a:spcAft>
                  <a:spcPts val="0"/>
                </a:spcAft>
              </a:pPr>
              <a:r>
                <a:rPr sz="1100" b="0" i="0">
                  <a:solidFill>
                    <a:srgbClr val="334155"/>
                  </a:solidFill>
                  <a:latin typeface="Calibri"/>
                </a:rPr>
                <a:t>Concentrates metadata, glossary links, and lineage so privacy, retention, and control discussions start from facts, not folklore.</a:t>
              </a:r>
            </a:p>
          </p:txBody>
        </p:sp>
        <p:sp>
          <p:nvSpPr>
            <p:cNvPr id="19" name="Rounded Rectangle 18">
              <a:extLst>
                <a:ext uri="{FF2B5EF4-FFF2-40B4-BE49-F238E27FC236}">
                  <a16:creationId xmlns:a16="http://schemas.microsoft.com/office/drawing/2014/main" id="{FD4B6B65-F71C-7944-8261-EFC29D166262}"/>
                </a:ext>
              </a:extLst>
            </p:cNvPr>
            <p:cNvSpPr/>
            <p:nvPr/>
          </p:nvSpPr>
          <p:spPr>
            <a:xfrm>
              <a:off x="6432804" y="4059936"/>
              <a:ext cx="2704338" cy="1929384"/>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a:extLst>
                <a:ext uri="{FF2B5EF4-FFF2-40B4-BE49-F238E27FC236}">
                  <a16:creationId xmlns:a16="http://schemas.microsoft.com/office/drawing/2014/main" id="{D57D7EAB-D424-F9C4-FB4C-E1D5972EB7C2}"/>
                </a:ext>
              </a:extLst>
            </p:cNvPr>
            <p:cNvSpPr/>
            <p:nvPr/>
          </p:nvSpPr>
          <p:spPr>
            <a:xfrm>
              <a:off x="6633972" y="4242816"/>
              <a:ext cx="329184" cy="329184"/>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B700EA14-135D-1527-6BF2-F2A3A6EC47F9}"/>
                </a:ext>
              </a:extLst>
            </p:cNvPr>
            <p:cNvSpPr txBox="1"/>
            <p:nvPr/>
          </p:nvSpPr>
          <p:spPr>
            <a:xfrm>
              <a:off x="6633972" y="4242816"/>
              <a:ext cx="329184" cy="329184"/>
            </a:xfrm>
            <a:prstGeom prst="rect">
              <a:avLst/>
            </a:prstGeom>
            <a:noFill/>
          </p:spPr>
          <p:txBody>
            <a:bodyPr wrap="square" lIns="36576" tIns="18288" rIns="36576" bIns="18288" anchor="ctr">
              <a:spAutoFit/>
            </a:bodyPr>
            <a:lstStyle/>
            <a:p>
              <a:pPr algn="ctr">
                <a:lnSpc>
                  <a:spcPct val="118000"/>
                </a:lnSpc>
                <a:spcBef>
                  <a:spcPts val="0"/>
                </a:spcBef>
                <a:spcAft>
                  <a:spcPts val="0"/>
                </a:spcAft>
              </a:pPr>
              <a:r>
                <a:rPr sz="1100" b="1" i="0">
                  <a:solidFill>
                    <a:srgbClr val="FFFFFF"/>
                  </a:solidFill>
                  <a:latin typeface="Calibri"/>
                </a:rPr>
                <a:t>3</a:t>
              </a:r>
            </a:p>
          </p:txBody>
        </p:sp>
        <p:sp>
          <p:nvSpPr>
            <p:cNvPr id="22" name="TextBox 21">
              <a:extLst>
                <a:ext uri="{FF2B5EF4-FFF2-40B4-BE49-F238E27FC236}">
                  <a16:creationId xmlns:a16="http://schemas.microsoft.com/office/drawing/2014/main" id="{8DBA44CE-8E33-78CB-E57F-28F7E441CC49}"/>
                </a:ext>
              </a:extLst>
            </p:cNvPr>
            <p:cNvSpPr txBox="1"/>
            <p:nvPr/>
          </p:nvSpPr>
          <p:spPr>
            <a:xfrm>
              <a:off x="7027164" y="4315968"/>
              <a:ext cx="1908809" cy="329184"/>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1100" b="1" i="0">
                  <a:solidFill>
                    <a:srgbClr val="152342"/>
                  </a:solidFill>
                  <a:latin typeface="Calibri"/>
                </a:rPr>
                <a:t>Risk reduction</a:t>
              </a:r>
            </a:p>
          </p:txBody>
        </p:sp>
        <p:sp>
          <p:nvSpPr>
            <p:cNvPr id="23" name="TextBox 22">
              <a:extLst>
                <a:ext uri="{FF2B5EF4-FFF2-40B4-BE49-F238E27FC236}">
                  <a16:creationId xmlns:a16="http://schemas.microsoft.com/office/drawing/2014/main" id="{D1799F21-25B3-0677-DD89-BFE1FB5591F5}"/>
                </a:ext>
              </a:extLst>
            </p:cNvPr>
            <p:cNvSpPr txBox="1"/>
            <p:nvPr/>
          </p:nvSpPr>
          <p:spPr>
            <a:xfrm>
              <a:off x="7027164" y="4700016"/>
              <a:ext cx="1908809" cy="1161288"/>
            </a:xfrm>
            <a:prstGeom prst="rect">
              <a:avLst/>
            </a:prstGeom>
            <a:noFill/>
          </p:spPr>
          <p:txBody>
            <a:bodyPr wrap="square" lIns="36576" tIns="18288" rIns="36576" bIns="18288" anchor="t">
              <a:spAutoFit/>
            </a:bodyPr>
            <a:lstStyle/>
            <a:p>
              <a:pPr algn="l">
                <a:lnSpc>
                  <a:spcPct val="125000"/>
                </a:lnSpc>
                <a:spcBef>
                  <a:spcPts val="0"/>
                </a:spcBef>
                <a:spcAft>
                  <a:spcPts val="0"/>
                </a:spcAft>
              </a:pPr>
              <a:r>
                <a:rPr sz="1100" b="0" i="0">
                  <a:solidFill>
                    <a:srgbClr val="334155"/>
                  </a:solidFill>
                  <a:latin typeface="Calibri"/>
                </a:rPr>
                <a:t>Stronger documentation and usage signals reduce wrong interpretations of metrics and PII — lowering operational and compliance risk.</a:t>
              </a:r>
            </a:p>
          </p:txBody>
        </p:sp>
        <p:sp>
          <p:nvSpPr>
            <p:cNvPr id="24" name="Rounded Rectangle 23">
              <a:extLst>
                <a:ext uri="{FF2B5EF4-FFF2-40B4-BE49-F238E27FC236}">
                  <a16:creationId xmlns:a16="http://schemas.microsoft.com/office/drawing/2014/main" id="{AF168B2D-9919-2028-62BB-DD6E54F66B8A}"/>
                </a:ext>
              </a:extLst>
            </p:cNvPr>
            <p:cNvSpPr/>
            <p:nvPr/>
          </p:nvSpPr>
          <p:spPr>
            <a:xfrm>
              <a:off x="9283446" y="4059936"/>
              <a:ext cx="2704338" cy="1929384"/>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a:extLst>
                <a:ext uri="{FF2B5EF4-FFF2-40B4-BE49-F238E27FC236}">
                  <a16:creationId xmlns:a16="http://schemas.microsoft.com/office/drawing/2014/main" id="{F7576FC1-7B93-C98E-01EE-3E22EFD20CCE}"/>
                </a:ext>
              </a:extLst>
            </p:cNvPr>
            <p:cNvSpPr/>
            <p:nvPr/>
          </p:nvSpPr>
          <p:spPr>
            <a:xfrm>
              <a:off x="9484614" y="424281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B2F2406B-96DA-BA56-69C5-64D4A64D372F}"/>
                </a:ext>
              </a:extLst>
            </p:cNvPr>
            <p:cNvSpPr txBox="1"/>
            <p:nvPr/>
          </p:nvSpPr>
          <p:spPr>
            <a:xfrm>
              <a:off x="9484614" y="4242816"/>
              <a:ext cx="329184" cy="329184"/>
            </a:xfrm>
            <a:prstGeom prst="rect">
              <a:avLst/>
            </a:prstGeom>
            <a:noFill/>
          </p:spPr>
          <p:txBody>
            <a:bodyPr wrap="square" lIns="36576" tIns="18288" rIns="36576" bIns="18288" anchor="ctr">
              <a:spAutoFit/>
            </a:bodyPr>
            <a:lstStyle/>
            <a:p>
              <a:pPr algn="ctr">
                <a:lnSpc>
                  <a:spcPct val="118000"/>
                </a:lnSpc>
                <a:spcBef>
                  <a:spcPts val="0"/>
                </a:spcBef>
                <a:spcAft>
                  <a:spcPts val="0"/>
                </a:spcAft>
              </a:pPr>
              <a:r>
                <a:rPr sz="1100" b="1" i="0">
                  <a:solidFill>
                    <a:srgbClr val="FFFFFF"/>
                  </a:solidFill>
                  <a:latin typeface="Calibri"/>
                </a:rPr>
                <a:t>4</a:t>
              </a:r>
            </a:p>
          </p:txBody>
        </p:sp>
        <p:sp>
          <p:nvSpPr>
            <p:cNvPr id="27" name="TextBox 26">
              <a:extLst>
                <a:ext uri="{FF2B5EF4-FFF2-40B4-BE49-F238E27FC236}">
                  <a16:creationId xmlns:a16="http://schemas.microsoft.com/office/drawing/2014/main" id="{C962D50B-FF67-5E08-6044-92AF9235C0BE}"/>
                </a:ext>
              </a:extLst>
            </p:cNvPr>
            <p:cNvSpPr txBox="1"/>
            <p:nvPr/>
          </p:nvSpPr>
          <p:spPr>
            <a:xfrm>
              <a:off x="9877806" y="4315968"/>
              <a:ext cx="1908809" cy="329184"/>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1100" b="1" i="0">
                  <a:solidFill>
                    <a:srgbClr val="152342"/>
                  </a:solidFill>
                  <a:latin typeface="Calibri"/>
                </a:rPr>
                <a:t>Stewardship sets the ceiling</a:t>
              </a:r>
            </a:p>
          </p:txBody>
        </p:sp>
        <p:sp>
          <p:nvSpPr>
            <p:cNvPr id="28" name="TextBox 27">
              <a:extLst>
                <a:ext uri="{FF2B5EF4-FFF2-40B4-BE49-F238E27FC236}">
                  <a16:creationId xmlns:a16="http://schemas.microsoft.com/office/drawing/2014/main" id="{BC814E83-4A5F-DD7C-1A60-5CC2A0E1B655}"/>
                </a:ext>
              </a:extLst>
            </p:cNvPr>
            <p:cNvSpPr txBox="1"/>
            <p:nvPr/>
          </p:nvSpPr>
          <p:spPr>
            <a:xfrm>
              <a:off x="9877806" y="4700016"/>
              <a:ext cx="1908809" cy="1161288"/>
            </a:xfrm>
            <a:prstGeom prst="rect">
              <a:avLst/>
            </a:prstGeom>
            <a:noFill/>
          </p:spPr>
          <p:txBody>
            <a:bodyPr wrap="square" lIns="36576" tIns="18288" rIns="36576" bIns="18288" anchor="t">
              <a:spAutoFit/>
            </a:bodyPr>
            <a:lstStyle/>
            <a:p>
              <a:pPr algn="l">
                <a:lnSpc>
                  <a:spcPct val="125000"/>
                </a:lnSpc>
                <a:spcBef>
                  <a:spcPts val="0"/>
                </a:spcBef>
                <a:spcAft>
                  <a:spcPts val="0"/>
                </a:spcAft>
              </a:pPr>
              <a:r>
                <a:rPr sz="1100" b="0" i="0">
                  <a:solidFill>
                    <a:srgbClr val="334155"/>
                  </a:solidFill>
                  <a:latin typeface="Calibri"/>
                </a:rPr>
                <a:t>Mature stewardship + integrations scale the model; empty pages and thin lineage limit how much the platform can credibly support.</a:t>
              </a:r>
            </a:p>
          </p:txBody>
        </p:sp>
      </p:grpSp>
      <p:grpSp>
        <p:nvGrpSpPr>
          <p:cNvPr id="51" name="Group 50">
            <a:extLst>
              <a:ext uri="{FF2B5EF4-FFF2-40B4-BE49-F238E27FC236}">
                <a16:creationId xmlns:a16="http://schemas.microsoft.com/office/drawing/2014/main" id="{1B942C9A-74C8-616C-A02D-D6251441817C}"/>
              </a:ext>
            </a:extLst>
          </p:cNvPr>
          <p:cNvGrpSpPr/>
          <p:nvPr/>
        </p:nvGrpSpPr>
        <p:grpSpPr>
          <a:xfrm>
            <a:off x="266192" y="1791716"/>
            <a:ext cx="5554980" cy="4242816"/>
            <a:chOff x="393192" y="1792224"/>
            <a:chExt cx="5554980" cy="4242816"/>
          </a:xfrm>
        </p:grpSpPr>
        <p:sp>
          <p:nvSpPr>
            <p:cNvPr id="29" name="TextBox 28">
              <a:extLst>
                <a:ext uri="{FF2B5EF4-FFF2-40B4-BE49-F238E27FC236}">
                  <a16:creationId xmlns:a16="http://schemas.microsoft.com/office/drawing/2014/main" id="{8A93047F-C13C-AFB2-33D5-1720DA071B7F}"/>
                </a:ext>
              </a:extLst>
            </p:cNvPr>
            <p:cNvSpPr txBox="1"/>
            <p:nvPr/>
          </p:nvSpPr>
          <p:spPr>
            <a:xfrm>
              <a:off x="393192" y="1792224"/>
              <a:ext cx="5554980" cy="256032"/>
            </a:xfrm>
            <a:prstGeom prst="rect">
              <a:avLst/>
            </a:prstGeom>
            <a:noFill/>
          </p:spPr>
          <p:txBody>
            <a:bodyPr wrap="square" lIns="36576" tIns="18288" rIns="36576" bIns="18288" anchor="t">
              <a:spAutoFit/>
            </a:bodyPr>
            <a:lstStyle/>
            <a:p>
              <a:pPr algn="ctr">
                <a:lnSpc>
                  <a:spcPct val="118000"/>
                </a:lnSpc>
                <a:spcBef>
                  <a:spcPts val="0"/>
                </a:spcBef>
                <a:spcAft>
                  <a:spcPts val="0"/>
                </a:spcAft>
              </a:pPr>
              <a:r>
                <a:rPr sz="1100" b="1" i="0">
                  <a:solidFill>
                    <a:srgbClr val="64748B"/>
                  </a:solidFill>
                  <a:latin typeface="Calibri"/>
                </a:rPr>
                <a:t>WHAT A DATA CATALOG IS (GOVERNANCE LENS)</a:t>
              </a:r>
            </a:p>
          </p:txBody>
        </p:sp>
        <p:grpSp>
          <p:nvGrpSpPr>
            <p:cNvPr id="50" name="Group 49">
              <a:extLst>
                <a:ext uri="{FF2B5EF4-FFF2-40B4-BE49-F238E27FC236}">
                  <a16:creationId xmlns:a16="http://schemas.microsoft.com/office/drawing/2014/main" id="{060DF873-1AC4-81CE-EC70-CC677A11A6F5}"/>
                </a:ext>
              </a:extLst>
            </p:cNvPr>
            <p:cNvGrpSpPr/>
            <p:nvPr/>
          </p:nvGrpSpPr>
          <p:grpSpPr>
            <a:xfrm>
              <a:off x="393192" y="2048255"/>
              <a:ext cx="5554980" cy="3986785"/>
              <a:chOff x="393192" y="2048255"/>
              <a:chExt cx="5554980" cy="3986785"/>
            </a:xfrm>
          </p:grpSpPr>
          <p:sp>
            <p:nvSpPr>
              <p:cNvPr id="30" name="Rounded Rectangle 29">
                <a:extLst>
                  <a:ext uri="{FF2B5EF4-FFF2-40B4-BE49-F238E27FC236}">
                    <a16:creationId xmlns:a16="http://schemas.microsoft.com/office/drawing/2014/main" id="{16A0C868-D856-742A-00C4-339BBE71667E}"/>
                  </a:ext>
                </a:extLst>
              </p:cNvPr>
              <p:cNvSpPr/>
              <p:nvPr/>
            </p:nvSpPr>
            <p:spPr>
              <a:xfrm>
                <a:off x="393192" y="2048255"/>
                <a:ext cx="2704338" cy="1929384"/>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a:extLst>
                  <a:ext uri="{FF2B5EF4-FFF2-40B4-BE49-F238E27FC236}">
                    <a16:creationId xmlns:a16="http://schemas.microsoft.com/office/drawing/2014/main" id="{2A9D6918-9421-ADEB-9B71-DA7BCF71DFD5}"/>
                  </a:ext>
                </a:extLst>
              </p:cNvPr>
              <p:cNvSpPr/>
              <p:nvPr/>
            </p:nvSpPr>
            <p:spPr>
              <a:xfrm>
                <a:off x="594360" y="2249424"/>
                <a:ext cx="256032" cy="914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08529D7F-72EF-11FF-E839-12D87304B59E}"/>
                  </a:ext>
                </a:extLst>
              </p:cNvPr>
              <p:cNvSpPr txBox="1"/>
              <p:nvPr/>
            </p:nvSpPr>
            <p:spPr>
              <a:xfrm>
                <a:off x="594360" y="2368296"/>
                <a:ext cx="2302002" cy="329184"/>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1100" b="1" i="0">
                    <a:solidFill>
                      <a:srgbClr val="152342"/>
                    </a:solidFill>
                    <a:latin typeface="Calibri"/>
                  </a:rPr>
                  <a:t>System of record</a:t>
                </a:r>
              </a:p>
            </p:txBody>
          </p:sp>
          <p:sp>
            <p:nvSpPr>
              <p:cNvPr id="33" name="TextBox 32">
                <a:extLst>
                  <a:ext uri="{FF2B5EF4-FFF2-40B4-BE49-F238E27FC236}">
                    <a16:creationId xmlns:a16="http://schemas.microsoft.com/office/drawing/2014/main" id="{86A43FBB-C80A-DA88-8020-3243073B508C}"/>
                  </a:ext>
                </a:extLst>
              </p:cNvPr>
              <p:cNvSpPr txBox="1"/>
              <p:nvPr/>
            </p:nvSpPr>
            <p:spPr>
              <a:xfrm>
                <a:off x="594360" y="2715767"/>
                <a:ext cx="2302002" cy="1133856"/>
              </a:xfrm>
              <a:prstGeom prst="rect">
                <a:avLst/>
              </a:prstGeom>
              <a:noFill/>
            </p:spPr>
            <p:txBody>
              <a:bodyPr wrap="square" lIns="36576" tIns="18288" rIns="36576" bIns="18288" anchor="t">
                <a:spAutoFit/>
              </a:bodyPr>
              <a:lstStyle/>
              <a:p>
                <a:pPr algn="l">
                  <a:lnSpc>
                    <a:spcPct val="125000"/>
                  </a:lnSpc>
                  <a:spcBef>
                    <a:spcPts val="0"/>
                  </a:spcBef>
                  <a:spcAft>
                    <a:spcPts val="0"/>
                  </a:spcAft>
                </a:pPr>
                <a:r>
                  <a:rPr sz="1100" b="0" i="0">
                    <a:solidFill>
                      <a:srgbClr val="334155"/>
                    </a:solidFill>
                    <a:latin typeface="Calibri"/>
                  </a:rPr>
                  <a:t>Technical inventory plus business meaning: objects, definitions, ownership signals, policies where recorded.</a:t>
                </a:r>
              </a:p>
            </p:txBody>
          </p:sp>
          <p:sp>
            <p:nvSpPr>
              <p:cNvPr id="34" name="Rounded Rectangle 33">
                <a:extLst>
                  <a:ext uri="{FF2B5EF4-FFF2-40B4-BE49-F238E27FC236}">
                    <a16:creationId xmlns:a16="http://schemas.microsoft.com/office/drawing/2014/main" id="{277AD4D0-3A9A-A900-5663-6C021C73E6A3}"/>
                  </a:ext>
                </a:extLst>
              </p:cNvPr>
              <p:cNvSpPr/>
              <p:nvPr/>
            </p:nvSpPr>
            <p:spPr>
              <a:xfrm>
                <a:off x="3243834" y="2048255"/>
                <a:ext cx="2704338" cy="1929384"/>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a:extLst>
                  <a:ext uri="{FF2B5EF4-FFF2-40B4-BE49-F238E27FC236}">
                    <a16:creationId xmlns:a16="http://schemas.microsoft.com/office/drawing/2014/main" id="{9D232ED8-13EA-8C26-BA35-26E572189F59}"/>
                  </a:ext>
                </a:extLst>
              </p:cNvPr>
              <p:cNvSpPr/>
              <p:nvPr/>
            </p:nvSpPr>
            <p:spPr>
              <a:xfrm>
                <a:off x="3445002" y="2249424"/>
                <a:ext cx="256032" cy="9144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a:extLst>
                  <a:ext uri="{FF2B5EF4-FFF2-40B4-BE49-F238E27FC236}">
                    <a16:creationId xmlns:a16="http://schemas.microsoft.com/office/drawing/2014/main" id="{B8B918C3-18C9-97A4-462B-78129B1A22E2}"/>
                  </a:ext>
                </a:extLst>
              </p:cNvPr>
              <p:cNvSpPr txBox="1"/>
              <p:nvPr/>
            </p:nvSpPr>
            <p:spPr>
              <a:xfrm>
                <a:off x="3445002" y="2368296"/>
                <a:ext cx="2302002" cy="329184"/>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1100" b="1" i="0">
                    <a:solidFill>
                      <a:srgbClr val="152342"/>
                    </a:solidFill>
                    <a:latin typeface="Calibri"/>
                  </a:rPr>
                  <a:t>Inspectable lineage</a:t>
                </a:r>
              </a:p>
            </p:txBody>
          </p:sp>
          <p:sp>
            <p:nvSpPr>
              <p:cNvPr id="37" name="TextBox 36">
                <a:extLst>
                  <a:ext uri="{FF2B5EF4-FFF2-40B4-BE49-F238E27FC236}">
                    <a16:creationId xmlns:a16="http://schemas.microsoft.com/office/drawing/2014/main" id="{90D1BC24-7D02-347C-0638-5380CF16C71F}"/>
                  </a:ext>
                </a:extLst>
              </p:cNvPr>
              <p:cNvSpPr txBox="1"/>
              <p:nvPr/>
            </p:nvSpPr>
            <p:spPr>
              <a:xfrm>
                <a:off x="3445002" y="2715767"/>
                <a:ext cx="2302002" cy="1133856"/>
              </a:xfrm>
              <a:prstGeom prst="rect">
                <a:avLst/>
              </a:prstGeom>
              <a:noFill/>
            </p:spPr>
            <p:txBody>
              <a:bodyPr wrap="square" lIns="36576" tIns="18288" rIns="36576" bIns="18288" anchor="t">
                <a:spAutoFit/>
              </a:bodyPr>
              <a:lstStyle/>
              <a:p>
                <a:pPr algn="l">
                  <a:lnSpc>
                    <a:spcPct val="125000"/>
                  </a:lnSpc>
                  <a:spcBef>
                    <a:spcPts val="0"/>
                  </a:spcBef>
                  <a:spcAft>
                    <a:spcPts val="0"/>
                  </a:spcAft>
                </a:pPr>
                <a:r>
                  <a:rPr sz="1100" b="0" i="0">
                    <a:solidFill>
                      <a:srgbClr val="334155"/>
                    </a:solidFill>
                    <a:latin typeface="Calibri"/>
                  </a:rPr>
                  <a:t>Makes lineage and relationships inspectable so impact analysis and data-flow narratives are grounded in metadata, not folklore.</a:t>
                </a:r>
              </a:p>
            </p:txBody>
          </p:sp>
          <p:sp>
            <p:nvSpPr>
              <p:cNvPr id="38" name="Rounded Rectangle 37">
                <a:extLst>
                  <a:ext uri="{FF2B5EF4-FFF2-40B4-BE49-F238E27FC236}">
                    <a16:creationId xmlns:a16="http://schemas.microsoft.com/office/drawing/2014/main" id="{38FDD33D-3108-ADE5-6C61-659BA98B7775}"/>
                  </a:ext>
                </a:extLst>
              </p:cNvPr>
              <p:cNvSpPr/>
              <p:nvPr/>
            </p:nvSpPr>
            <p:spPr>
              <a:xfrm>
                <a:off x="393192" y="4105656"/>
                <a:ext cx="2704338" cy="1929384"/>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a:extLst>
                  <a:ext uri="{FF2B5EF4-FFF2-40B4-BE49-F238E27FC236}">
                    <a16:creationId xmlns:a16="http://schemas.microsoft.com/office/drawing/2014/main" id="{5DD418FE-DA45-C209-5168-1CC89933A946}"/>
                  </a:ext>
                </a:extLst>
              </p:cNvPr>
              <p:cNvSpPr/>
              <p:nvPr/>
            </p:nvSpPr>
            <p:spPr>
              <a:xfrm>
                <a:off x="594360" y="4306824"/>
                <a:ext cx="256032" cy="9144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1B41152E-03E8-6DC6-22F3-CD8558EEC28C}"/>
                  </a:ext>
                </a:extLst>
              </p:cNvPr>
              <p:cNvSpPr txBox="1"/>
              <p:nvPr/>
            </p:nvSpPr>
            <p:spPr>
              <a:xfrm>
                <a:off x="594360" y="4489704"/>
                <a:ext cx="2302002" cy="329184"/>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1100" b="1" i="0">
                    <a:solidFill>
                      <a:srgbClr val="152342"/>
                    </a:solidFill>
                    <a:latin typeface="Calibri"/>
                  </a:rPr>
                  <a:t>Business-to-physical alignment</a:t>
                </a:r>
              </a:p>
            </p:txBody>
          </p:sp>
          <p:sp>
            <p:nvSpPr>
              <p:cNvPr id="41" name="TextBox 40">
                <a:extLst>
                  <a:ext uri="{FF2B5EF4-FFF2-40B4-BE49-F238E27FC236}">
                    <a16:creationId xmlns:a16="http://schemas.microsoft.com/office/drawing/2014/main" id="{9B5E0203-B674-072E-0248-95F20B1E5A1C}"/>
                  </a:ext>
                </a:extLst>
              </p:cNvPr>
              <p:cNvSpPr txBox="1"/>
              <p:nvPr/>
            </p:nvSpPr>
            <p:spPr>
              <a:xfrm>
                <a:off x="594360" y="4837176"/>
                <a:ext cx="2302002" cy="1069848"/>
              </a:xfrm>
              <a:prstGeom prst="rect">
                <a:avLst/>
              </a:prstGeom>
              <a:noFill/>
            </p:spPr>
            <p:txBody>
              <a:bodyPr wrap="square" lIns="36576" tIns="18288" rIns="36576" bIns="18288" anchor="t">
                <a:spAutoFit/>
              </a:bodyPr>
              <a:lstStyle/>
              <a:p>
                <a:pPr algn="l">
                  <a:lnSpc>
                    <a:spcPct val="125000"/>
                  </a:lnSpc>
                  <a:spcBef>
                    <a:spcPts val="0"/>
                  </a:spcBef>
                  <a:spcAft>
                    <a:spcPts val="0"/>
                  </a:spcAft>
                </a:pPr>
                <a:r>
                  <a:rPr sz="1100" b="0" i="0">
                    <a:solidFill>
                      <a:srgbClr val="334155"/>
                    </a:solidFill>
                    <a:latin typeface="Calibri"/>
                  </a:rPr>
                  <a:t>Central place to align business terms to physical fields — reduces mismatches between reporting language and source semantics.</a:t>
                </a:r>
              </a:p>
            </p:txBody>
          </p:sp>
          <p:sp>
            <p:nvSpPr>
              <p:cNvPr id="42" name="Rounded Rectangle 41">
                <a:extLst>
                  <a:ext uri="{FF2B5EF4-FFF2-40B4-BE49-F238E27FC236}">
                    <a16:creationId xmlns:a16="http://schemas.microsoft.com/office/drawing/2014/main" id="{1863B9F9-3B07-F1B7-A90D-E0D44291A653}"/>
                  </a:ext>
                </a:extLst>
              </p:cNvPr>
              <p:cNvSpPr/>
              <p:nvPr/>
            </p:nvSpPr>
            <p:spPr>
              <a:xfrm>
                <a:off x="3243834" y="4105656"/>
                <a:ext cx="2704338" cy="1929384"/>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a:extLst>
                  <a:ext uri="{FF2B5EF4-FFF2-40B4-BE49-F238E27FC236}">
                    <a16:creationId xmlns:a16="http://schemas.microsoft.com/office/drawing/2014/main" id="{BC64C60B-6ACC-A906-9D70-AE0BD9842A8C}"/>
                  </a:ext>
                </a:extLst>
              </p:cNvPr>
              <p:cNvSpPr/>
              <p:nvPr/>
            </p:nvSpPr>
            <p:spPr>
              <a:xfrm>
                <a:off x="3445002" y="4306824"/>
                <a:ext cx="256032" cy="9144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a:extLst>
                  <a:ext uri="{FF2B5EF4-FFF2-40B4-BE49-F238E27FC236}">
                    <a16:creationId xmlns:a16="http://schemas.microsoft.com/office/drawing/2014/main" id="{F005AFD0-0BBA-5C28-7DDC-449D7F96F5DB}"/>
                  </a:ext>
                </a:extLst>
              </p:cNvPr>
              <p:cNvSpPr txBox="1"/>
              <p:nvPr/>
            </p:nvSpPr>
            <p:spPr>
              <a:xfrm>
                <a:off x="3445002" y="4489704"/>
                <a:ext cx="2302002" cy="329184"/>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1100" b="1" i="0">
                    <a:solidFill>
                      <a:srgbClr val="152342"/>
                    </a:solidFill>
                    <a:latin typeface="Calibri"/>
                  </a:rPr>
                  <a:t>Reusable, not re-copied</a:t>
                </a:r>
              </a:p>
            </p:txBody>
          </p:sp>
          <p:sp>
            <p:nvSpPr>
              <p:cNvPr id="45" name="TextBox 44">
                <a:extLst>
                  <a:ext uri="{FF2B5EF4-FFF2-40B4-BE49-F238E27FC236}">
                    <a16:creationId xmlns:a16="http://schemas.microsoft.com/office/drawing/2014/main" id="{DB6AEE84-7D4D-AF67-476E-6D723E146D26}"/>
                  </a:ext>
                </a:extLst>
              </p:cNvPr>
              <p:cNvSpPr txBox="1"/>
              <p:nvPr/>
            </p:nvSpPr>
            <p:spPr>
              <a:xfrm>
                <a:off x="3445002" y="4837176"/>
                <a:ext cx="2302002" cy="1069848"/>
              </a:xfrm>
              <a:prstGeom prst="rect">
                <a:avLst/>
              </a:prstGeom>
              <a:noFill/>
            </p:spPr>
            <p:txBody>
              <a:bodyPr wrap="square" lIns="36576" tIns="18288" rIns="36576" bIns="18288" anchor="t">
                <a:spAutoFit/>
              </a:bodyPr>
              <a:lstStyle/>
              <a:p>
                <a:pPr algn="l">
                  <a:lnSpc>
                    <a:spcPct val="125000"/>
                  </a:lnSpc>
                  <a:spcBef>
                    <a:spcPts val="0"/>
                  </a:spcBef>
                  <a:spcAft>
                    <a:spcPts val="0"/>
                  </a:spcAft>
                </a:pPr>
                <a:r>
                  <a:rPr sz="1100" b="0" i="0">
                    <a:solidFill>
                      <a:srgbClr val="334155"/>
                    </a:solidFill>
                    <a:latin typeface="Calibri"/>
                  </a:rPr>
                  <a:t>When wired to BI, APIs, and MCP, the same descriptions are reused instead of re-pasted into wikis and tickets.</a:t>
                </a:r>
              </a:p>
            </p:txBody>
          </p:sp>
        </p:grpSp>
      </p:grpSp>
      <p:sp>
        <p:nvSpPr>
          <p:cNvPr id="46" name="Rectangle 45">
            <a:extLst>
              <a:ext uri="{FF2B5EF4-FFF2-40B4-BE49-F238E27FC236}">
                <a16:creationId xmlns:a16="http://schemas.microsoft.com/office/drawing/2014/main" id="{28D62545-D8D9-A4C8-0BAE-551A62D7700A}"/>
              </a:ext>
            </a:extLst>
          </p:cNvPr>
          <p:cNvSpPr/>
          <p:nvPr/>
        </p:nvSpPr>
        <p:spPr>
          <a:xfrm>
            <a:off x="0" y="6400800"/>
            <a:ext cx="12191695"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a:extLst>
              <a:ext uri="{FF2B5EF4-FFF2-40B4-BE49-F238E27FC236}">
                <a16:creationId xmlns:a16="http://schemas.microsoft.com/office/drawing/2014/main" id="{5836E4F3-24E2-4F20-B7D2-E87B051D27AB}"/>
              </a:ext>
            </a:extLst>
          </p:cNvPr>
          <p:cNvSpPr txBox="1"/>
          <p:nvPr/>
        </p:nvSpPr>
        <p:spPr>
          <a:xfrm>
            <a:off x="457200" y="6473952"/>
            <a:ext cx="11277295" cy="310896"/>
          </a:xfrm>
          <a:prstGeom prst="rect">
            <a:avLst/>
          </a:prstGeom>
          <a:noFill/>
        </p:spPr>
        <p:txBody>
          <a:bodyPr wrap="square" lIns="36576" tIns="18288" rIns="36576" bIns="18288" anchor="ctr">
            <a:spAutoFit/>
          </a:bodyPr>
          <a:lstStyle/>
          <a:p>
            <a:pPr algn="l">
              <a:lnSpc>
                <a:spcPct val="118000"/>
              </a:lnSpc>
              <a:spcBef>
                <a:spcPts val="0"/>
              </a:spcBef>
              <a:spcAft>
                <a:spcPts val="0"/>
              </a:spcAft>
            </a:pPr>
            <a:r>
              <a:rPr sz="1100" b="0" i="0">
                <a:solidFill>
                  <a:srgbClr val="64748B"/>
                </a:solidFill>
                <a:latin typeface="Calibri"/>
              </a:rPr>
              <a:t>DEET Data Governance  |  May 2026  |  Alation Data Catalog Overview</a:t>
            </a:r>
          </a:p>
        </p:txBody>
      </p:sp>
      <p:sp>
        <p:nvSpPr>
          <p:cNvPr id="49" name="Isosceles Triangle 48">
            <a:extLst>
              <a:ext uri="{FF2B5EF4-FFF2-40B4-BE49-F238E27FC236}">
                <a16:creationId xmlns:a16="http://schemas.microsoft.com/office/drawing/2014/main" id="{D7BEB8CD-43DA-DC62-A660-3E2A2B67CE20}"/>
              </a:ext>
            </a:extLst>
          </p:cNvPr>
          <p:cNvSpPr/>
          <p:nvPr/>
        </p:nvSpPr>
        <p:spPr>
          <a:xfrm rot="5400000">
            <a:off x="4513579" y="3789426"/>
            <a:ext cx="3219707" cy="248413"/>
          </a:xfrm>
          <a:prstGeom prst="triangle">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804672"/>
            <a:ext cx="11430000" cy="422873"/>
          </a:xfrm>
          <a:prstGeom prst="rect">
            <a:avLst/>
          </a:prstGeom>
          <a:noFill/>
        </p:spPr>
        <p:txBody>
          <a:bodyPr wrap="square" lIns="36576" tIns="18288" rIns="36576" bIns="18288" anchor="t">
            <a:spAutoFit/>
          </a:bodyPr>
          <a:lstStyle/>
          <a:p>
            <a:pPr algn="l">
              <a:lnSpc>
                <a:spcPct val="110000"/>
              </a:lnSpc>
              <a:spcBef>
                <a:spcPts val="0"/>
              </a:spcBef>
              <a:spcAft>
                <a:spcPts val="0"/>
              </a:spcAft>
            </a:pPr>
            <a:r>
              <a:rPr sz="2400" b="1" i="0">
                <a:solidFill>
                  <a:srgbClr val="152342"/>
                </a:solidFill>
                <a:latin typeface="Calibri Light"/>
              </a:rPr>
              <a:t>What Alation </a:t>
            </a:r>
            <a:r>
              <a:rPr lang="en-US" sz="2400" b="1" i="0">
                <a:solidFill>
                  <a:srgbClr val="152342"/>
                </a:solidFill>
                <a:latin typeface="Calibri Light"/>
              </a:rPr>
              <a:t>P</a:t>
            </a:r>
            <a:r>
              <a:rPr sz="2400" b="1" i="0">
                <a:solidFill>
                  <a:srgbClr val="152342"/>
                </a:solidFill>
                <a:latin typeface="Calibri Light"/>
              </a:rPr>
              <a:t>rovides — and </a:t>
            </a:r>
            <a:r>
              <a:rPr lang="en-US" sz="2400" b="1" i="0">
                <a:solidFill>
                  <a:srgbClr val="152342"/>
                </a:solidFill>
                <a:latin typeface="Calibri Light"/>
              </a:rPr>
              <a:t>the Ad Platform </a:t>
            </a:r>
            <a:r>
              <a:rPr lang="en-US" sz="2400" b="1">
                <a:solidFill>
                  <a:srgbClr val="152342"/>
                </a:solidFill>
                <a:latin typeface="Calibri Light"/>
              </a:rPr>
              <a:t>G</a:t>
            </a:r>
            <a:r>
              <a:rPr sz="2400" b="1" i="0">
                <a:solidFill>
                  <a:srgbClr val="152342"/>
                </a:solidFill>
                <a:latin typeface="Calibri Light"/>
              </a:rPr>
              <a:t>overnance </a:t>
            </a:r>
            <a:r>
              <a:rPr lang="en-US" sz="2400" b="1">
                <a:solidFill>
                  <a:srgbClr val="152342"/>
                </a:solidFill>
                <a:latin typeface="Calibri Light"/>
              </a:rPr>
              <a:t>O</a:t>
            </a:r>
            <a:r>
              <a:rPr sz="2400" b="1" i="0">
                <a:solidFill>
                  <a:srgbClr val="152342"/>
                </a:solidFill>
                <a:latin typeface="Calibri Light"/>
              </a:rPr>
              <a:t>utcomes it </a:t>
            </a:r>
            <a:r>
              <a:rPr lang="en-US" sz="2400" b="1" i="0">
                <a:solidFill>
                  <a:srgbClr val="152342"/>
                </a:solidFill>
                <a:latin typeface="Calibri Light"/>
              </a:rPr>
              <a:t>S</a:t>
            </a:r>
            <a:r>
              <a:rPr sz="2400" b="1" i="0">
                <a:solidFill>
                  <a:srgbClr val="152342"/>
                </a:solidFill>
                <a:latin typeface="Calibri Light"/>
              </a:rPr>
              <a:t>upports</a:t>
            </a:r>
          </a:p>
        </p:txBody>
      </p:sp>
      <p:sp>
        <p:nvSpPr>
          <p:cNvPr id="4" name="Rectangle 3"/>
          <p:cNvSpPr/>
          <p:nvPr/>
        </p:nvSpPr>
        <p:spPr>
          <a:xfrm>
            <a:off x="457200" y="1389888"/>
            <a:ext cx="777240" cy="73152"/>
          </a:xfrm>
          <a:prstGeom prst="rect">
            <a:avLst/>
          </a:prstGeom>
          <a:solidFill>
            <a:srgbClr val="152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481328"/>
            <a:ext cx="11430000" cy="502920"/>
          </a:xfrm>
          <a:prstGeom prst="rect">
            <a:avLst/>
          </a:prstGeom>
          <a:noFill/>
        </p:spPr>
        <p:txBody>
          <a:bodyPr wrap="square" lIns="36576" tIns="18288" rIns="36576" bIns="18288" anchor="t">
            <a:spAutoFit/>
          </a:bodyPr>
          <a:lstStyle/>
          <a:p>
            <a:pPr algn="l">
              <a:lnSpc>
                <a:spcPct val="125000"/>
              </a:lnSpc>
              <a:spcBef>
                <a:spcPts val="0"/>
              </a:spcBef>
              <a:spcAft>
                <a:spcPts val="0"/>
              </a:spcAft>
            </a:pPr>
            <a:r>
              <a:rPr sz="1100" b="0" i="0">
                <a:solidFill>
                  <a:srgbClr val="475569"/>
                </a:solidFill>
                <a:latin typeface="Calibri"/>
              </a:rPr>
              <a:t>Capabilities in our tenant, mapped to the compliance and reporting outcomes stewards are accountable for.</a:t>
            </a:r>
          </a:p>
        </p:txBody>
      </p:sp>
      <p:cxnSp>
        <p:nvCxnSpPr>
          <p:cNvPr id="6" name="Connector 5"/>
          <p:cNvCxnSpPr/>
          <p:nvPr/>
        </p:nvCxnSpPr>
        <p:spPr>
          <a:xfrm>
            <a:off x="6094476" y="1755648"/>
            <a:ext cx="0" cy="4279392"/>
          </a:xfrm>
          <a:prstGeom prst="line">
            <a:avLst/>
          </a:prstGeom>
          <a:ln w="14604">
            <a:solidFill>
              <a:srgbClr val="94A3B8"/>
            </a:solidFill>
            <a:prstDash val="sysDot"/>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11480" y="1773936"/>
            <a:ext cx="5554980" cy="256032"/>
          </a:xfrm>
          <a:prstGeom prst="rect">
            <a:avLst/>
          </a:prstGeom>
          <a:noFill/>
        </p:spPr>
        <p:txBody>
          <a:bodyPr wrap="square" lIns="36576" tIns="18288" rIns="36576" bIns="18288" anchor="t">
            <a:spAutoFit/>
          </a:bodyPr>
          <a:lstStyle/>
          <a:p>
            <a:pPr algn="ctr">
              <a:lnSpc>
                <a:spcPct val="118000"/>
              </a:lnSpc>
              <a:spcBef>
                <a:spcPts val="0"/>
              </a:spcBef>
              <a:spcAft>
                <a:spcPts val="0"/>
              </a:spcAft>
            </a:pPr>
            <a:r>
              <a:rPr sz="1100" b="1" i="0">
                <a:solidFill>
                  <a:srgbClr val="64748B"/>
                </a:solidFill>
                <a:latin typeface="Calibri"/>
              </a:rPr>
              <a:t>OUR STACK (ALATION)</a:t>
            </a:r>
          </a:p>
        </p:txBody>
      </p:sp>
      <p:sp>
        <p:nvSpPr>
          <p:cNvPr id="8" name="Rounded Rectangle 7"/>
          <p:cNvSpPr/>
          <p:nvPr/>
        </p:nvSpPr>
        <p:spPr>
          <a:xfrm>
            <a:off x="411480" y="2029967"/>
            <a:ext cx="2704338" cy="1929384"/>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12648" y="2231136"/>
            <a:ext cx="256032" cy="914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12648" y="2350008"/>
            <a:ext cx="2302002" cy="329184"/>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1100" b="1" i="0">
                <a:solidFill>
                  <a:srgbClr val="152342"/>
                </a:solidFill>
                <a:latin typeface="Calibri"/>
              </a:rPr>
              <a:t>Metadata ingestion &amp; search</a:t>
            </a:r>
          </a:p>
        </p:txBody>
      </p:sp>
      <p:sp>
        <p:nvSpPr>
          <p:cNvPr id="11" name="TextBox 10"/>
          <p:cNvSpPr txBox="1"/>
          <p:nvPr/>
        </p:nvSpPr>
        <p:spPr>
          <a:xfrm>
            <a:off x="612648" y="2697479"/>
            <a:ext cx="2302002" cy="1133856"/>
          </a:xfrm>
          <a:prstGeom prst="rect">
            <a:avLst/>
          </a:prstGeom>
          <a:noFill/>
        </p:spPr>
        <p:txBody>
          <a:bodyPr wrap="square" lIns="36576" tIns="18288" rIns="36576" bIns="18288" anchor="t">
            <a:spAutoFit/>
          </a:bodyPr>
          <a:lstStyle/>
          <a:p>
            <a:pPr algn="l">
              <a:lnSpc>
                <a:spcPct val="125000"/>
              </a:lnSpc>
              <a:spcBef>
                <a:spcPts val="0"/>
              </a:spcBef>
              <a:spcAft>
                <a:spcPts val="0"/>
              </a:spcAft>
            </a:pPr>
            <a:r>
              <a:rPr sz="1100" b="0" i="0">
                <a:solidFill>
                  <a:srgbClr val="334155"/>
                </a:solidFill>
                <a:latin typeface="Calibri"/>
              </a:rPr>
              <a:t>Across connected data and BI sources — depth and freshness depend on connectors and schedules.</a:t>
            </a:r>
          </a:p>
        </p:txBody>
      </p:sp>
      <p:sp>
        <p:nvSpPr>
          <p:cNvPr id="12" name="Rounded Rectangle 11"/>
          <p:cNvSpPr/>
          <p:nvPr/>
        </p:nvSpPr>
        <p:spPr>
          <a:xfrm>
            <a:off x="3262122" y="2029967"/>
            <a:ext cx="2704338" cy="1929384"/>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463290" y="2231136"/>
            <a:ext cx="256032" cy="9144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63290" y="2350008"/>
            <a:ext cx="2302002" cy="329184"/>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1100" b="1" i="0">
                <a:solidFill>
                  <a:srgbClr val="152342"/>
                </a:solidFill>
                <a:latin typeface="Calibri"/>
              </a:rPr>
              <a:t>Glossaries &amp; articles</a:t>
            </a:r>
          </a:p>
        </p:txBody>
      </p:sp>
      <p:sp>
        <p:nvSpPr>
          <p:cNvPr id="15" name="TextBox 14"/>
          <p:cNvSpPr txBox="1"/>
          <p:nvPr/>
        </p:nvSpPr>
        <p:spPr>
          <a:xfrm>
            <a:off x="3463290" y="2697479"/>
            <a:ext cx="2302002" cy="1133856"/>
          </a:xfrm>
          <a:prstGeom prst="rect">
            <a:avLst/>
          </a:prstGeom>
          <a:noFill/>
        </p:spPr>
        <p:txBody>
          <a:bodyPr wrap="square" lIns="36576" tIns="18288" rIns="36576" bIns="18288" anchor="t">
            <a:spAutoFit/>
          </a:bodyPr>
          <a:lstStyle/>
          <a:p>
            <a:pPr algn="l">
              <a:lnSpc>
                <a:spcPct val="125000"/>
              </a:lnSpc>
              <a:spcBef>
                <a:spcPts val="0"/>
              </a:spcBef>
              <a:spcAft>
                <a:spcPts val="0"/>
              </a:spcAft>
            </a:pPr>
            <a:r>
              <a:rPr sz="1100" b="0" i="0">
                <a:solidFill>
                  <a:srgbClr val="334155"/>
                </a:solidFill>
                <a:latin typeface="Calibri"/>
              </a:rPr>
              <a:t>Stewardship patterns; optional workflows / approvals where teams have configured them.</a:t>
            </a:r>
          </a:p>
        </p:txBody>
      </p:sp>
      <p:sp>
        <p:nvSpPr>
          <p:cNvPr id="16" name="Rounded Rectangle 15"/>
          <p:cNvSpPr/>
          <p:nvPr/>
        </p:nvSpPr>
        <p:spPr>
          <a:xfrm>
            <a:off x="411480" y="4087368"/>
            <a:ext cx="2704338" cy="1929384"/>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12648" y="4288536"/>
            <a:ext cx="256032" cy="9144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2648" y="4471416"/>
            <a:ext cx="2302002" cy="329184"/>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1100" b="1" i="0">
                <a:solidFill>
                  <a:srgbClr val="152342"/>
                </a:solidFill>
                <a:latin typeface="Calibri"/>
              </a:rPr>
              <a:t>Lineage visualization</a:t>
            </a:r>
          </a:p>
        </p:txBody>
      </p:sp>
      <p:sp>
        <p:nvSpPr>
          <p:cNvPr id="19" name="TextBox 18"/>
          <p:cNvSpPr txBox="1"/>
          <p:nvPr/>
        </p:nvSpPr>
        <p:spPr>
          <a:xfrm>
            <a:off x="612648" y="4818888"/>
            <a:ext cx="2302002" cy="1069848"/>
          </a:xfrm>
          <a:prstGeom prst="rect">
            <a:avLst/>
          </a:prstGeom>
          <a:noFill/>
        </p:spPr>
        <p:txBody>
          <a:bodyPr wrap="square" lIns="36576" tIns="18288" rIns="36576" bIns="18288" anchor="t">
            <a:spAutoFit/>
          </a:bodyPr>
          <a:lstStyle/>
          <a:p>
            <a:pPr algn="l">
              <a:lnSpc>
                <a:spcPct val="125000"/>
              </a:lnSpc>
              <a:spcBef>
                <a:spcPts val="0"/>
              </a:spcBef>
              <a:spcAft>
                <a:spcPts val="0"/>
              </a:spcAft>
            </a:pPr>
            <a:r>
              <a:rPr sz="1100" b="0" i="0">
                <a:solidFill>
                  <a:srgbClr val="334155"/>
                </a:solidFill>
                <a:latin typeface="Calibri"/>
              </a:rPr>
              <a:t>Where platform signals and connectors support it — coverage is not uniform across every hop.</a:t>
            </a:r>
          </a:p>
        </p:txBody>
      </p:sp>
      <p:sp>
        <p:nvSpPr>
          <p:cNvPr id="20" name="Rounded Rectangle 19"/>
          <p:cNvSpPr/>
          <p:nvPr/>
        </p:nvSpPr>
        <p:spPr>
          <a:xfrm>
            <a:off x="3262122" y="4087368"/>
            <a:ext cx="2704338" cy="1929384"/>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3463290" y="4288536"/>
            <a:ext cx="256032" cy="9144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463290" y="4471416"/>
            <a:ext cx="2302002" cy="224036"/>
          </a:xfrm>
          <a:prstGeom prst="rect">
            <a:avLst/>
          </a:prstGeom>
          <a:noFill/>
        </p:spPr>
        <p:txBody>
          <a:bodyPr wrap="square" lIns="36576" tIns="18288" rIns="36576" bIns="18288" anchor="t">
            <a:spAutoFit/>
          </a:bodyPr>
          <a:lstStyle/>
          <a:p>
            <a:pPr algn="l">
              <a:lnSpc>
                <a:spcPct val="118000"/>
              </a:lnSpc>
              <a:spcBef>
                <a:spcPts val="0"/>
              </a:spcBef>
              <a:spcAft>
                <a:spcPts val="0"/>
              </a:spcAft>
            </a:pPr>
            <a:r>
              <a:rPr lang="en-US" sz="1100" b="1">
                <a:solidFill>
                  <a:srgbClr val="152342"/>
                </a:solidFill>
                <a:latin typeface="Calibri"/>
              </a:rPr>
              <a:t>Automated</a:t>
            </a:r>
            <a:r>
              <a:rPr sz="1100" b="1" i="0">
                <a:solidFill>
                  <a:srgbClr val="152342"/>
                </a:solidFill>
                <a:latin typeface="Calibri"/>
              </a:rPr>
              <a:t> access (API / MCP)</a:t>
            </a:r>
          </a:p>
        </p:txBody>
      </p:sp>
      <p:sp>
        <p:nvSpPr>
          <p:cNvPr id="23" name="TextBox 22"/>
          <p:cNvSpPr txBox="1"/>
          <p:nvPr/>
        </p:nvSpPr>
        <p:spPr>
          <a:xfrm>
            <a:off x="3463290" y="4818888"/>
            <a:ext cx="2302002" cy="1069848"/>
          </a:xfrm>
          <a:prstGeom prst="rect">
            <a:avLst/>
          </a:prstGeom>
          <a:noFill/>
        </p:spPr>
        <p:txBody>
          <a:bodyPr wrap="square" lIns="36576" tIns="18288" rIns="36576" bIns="18288" anchor="t">
            <a:spAutoFit/>
          </a:bodyPr>
          <a:lstStyle/>
          <a:p>
            <a:pPr algn="l">
              <a:lnSpc>
                <a:spcPct val="125000"/>
              </a:lnSpc>
              <a:spcBef>
                <a:spcPts val="0"/>
              </a:spcBef>
              <a:spcAft>
                <a:spcPts val="0"/>
              </a:spcAft>
            </a:pPr>
            <a:r>
              <a:rPr sz="1100" b="0" i="0">
                <a:solidFill>
                  <a:srgbClr val="334155"/>
                </a:solidFill>
                <a:latin typeface="Calibri"/>
              </a:rPr>
              <a:t>So assessments and tools can pull the same catalog fields users see in the UI.</a:t>
            </a:r>
          </a:p>
        </p:txBody>
      </p:sp>
      <p:sp>
        <p:nvSpPr>
          <p:cNvPr id="24" name="TextBox 23"/>
          <p:cNvSpPr txBox="1"/>
          <p:nvPr/>
        </p:nvSpPr>
        <p:spPr>
          <a:xfrm>
            <a:off x="6222492" y="1773936"/>
            <a:ext cx="5554980" cy="256032"/>
          </a:xfrm>
          <a:prstGeom prst="rect">
            <a:avLst/>
          </a:prstGeom>
          <a:noFill/>
        </p:spPr>
        <p:txBody>
          <a:bodyPr wrap="square" lIns="36576" tIns="18288" rIns="36576" bIns="18288" anchor="t">
            <a:spAutoFit/>
          </a:bodyPr>
          <a:lstStyle/>
          <a:p>
            <a:pPr algn="ctr">
              <a:lnSpc>
                <a:spcPct val="118000"/>
              </a:lnSpc>
              <a:spcBef>
                <a:spcPts val="0"/>
              </a:spcBef>
              <a:spcAft>
                <a:spcPts val="0"/>
              </a:spcAft>
            </a:pPr>
            <a:r>
              <a:rPr sz="1100" b="1" i="0">
                <a:solidFill>
                  <a:srgbClr val="64748B"/>
                </a:solidFill>
                <a:latin typeface="Calibri"/>
              </a:rPr>
              <a:t>GOVERNANCE OUTCOMES</a:t>
            </a:r>
          </a:p>
        </p:txBody>
      </p:sp>
      <p:sp>
        <p:nvSpPr>
          <p:cNvPr id="25" name="Rounded Rectangle 24"/>
          <p:cNvSpPr/>
          <p:nvPr/>
        </p:nvSpPr>
        <p:spPr>
          <a:xfrm>
            <a:off x="6222492" y="2029967"/>
            <a:ext cx="2704338" cy="1929384"/>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423660" y="2231136"/>
            <a:ext cx="256032" cy="914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23660" y="2350008"/>
            <a:ext cx="2302002" cy="329184"/>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1100" b="1" i="0">
                <a:solidFill>
                  <a:srgbClr val="152342"/>
                </a:solidFill>
                <a:latin typeface="Calibri"/>
              </a:rPr>
              <a:t>Privacy &amp; classification</a:t>
            </a:r>
          </a:p>
        </p:txBody>
      </p:sp>
      <p:sp>
        <p:nvSpPr>
          <p:cNvPr id="28" name="TextBox 27"/>
          <p:cNvSpPr txBox="1"/>
          <p:nvPr/>
        </p:nvSpPr>
        <p:spPr>
          <a:xfrm>
            <a:off x="6423660" y="2697479"/>
            <a:ext cx="2302002" cy="1133856"/>
          </a:xfrm>
          <a:prstGeom prst="rect">
            <a:avLst/>
          </a:prstGeom>
          <a:noFill/>
        </p:spPr>
        <p:txBody>
          <a:bodyPr wrap="square" lIns="36576" tIns="18288" rIns="36576" bIns="18288" anchor="t">
            <a:spAutoFit/>
          </a:bodyPr>
          <a:lstStyle/>
          <a:p>
            <a:pPr algn="l">
              <a:lnSpc>
                <a:spcPct val="125000"/>
              </a:lnSpc>
              <a:spcBef>
                <a:spcPts val="0"/>
              </a:spcBef>
              <a:spcAft>
                <a:spcPts val="0"/>
              </a:spcAft>
            </a:pPr>
            <a:r>
              <a:rPr sz="1100" b="0" i="0">
                <a:solidFill>
                  <a:srgbClr val="334155"/>
                </a:solidFill>
                <a:latin typeface="Calibri"/>
              </a:rPr>
              <a:t>Inventory and field-level documentation support tagging, sensitivity review, and scope for assessments.</a:t>
            </a:r>
          </a:p>
        </p:txBody>
      </p:sp>
      <p:sp>
        <p:nvSpPr>
          <p:cNvPr id="29" name="Rounded Rectangle 28"/>
          <p:cNvSpPr/>
          <p:nvPr/>
        </p:nvSpPr>
        <p:spPr>
          <a:xfrm>
            <a:off x="9073134" y="2029967"/>
            <a:ext cx="2704338" cy="1929384"/>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9274302" y="2231136"/>
            <a:ext cx="256032" cy="9144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274302" y="2350008"/>
            <a:ext cx="2302002" cy="329184"/>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1100" b="1" i="0">
                <a:solidFill>
                  <a:srgbClr val="152342"/>
                </a:solidFill>
                <a:latin typeface="Calibri"/>
              </a:rPr>
              <a:t>SOX / financial reporting</a:t>
            </a:r>
          </a:p>
        </p:txBody>
      </p:sp>
      <p:sp>
        <p:nvSpPr>
          <p:cNvPr id="32" name="TextBox 31"/>
          <p:cNvSpPr txBox="1"/>
          <p:nvPr/>
        </p:nvSpPr>
        <p:spPr>
          <a:xfrm>
            <a:off x="9274302" y="2697479"/>
            <a:ext cx="2302002" cy="1133856"/>
          </a:xfrm>
          <a:prstGeom prst="rect">
            <a:avLst/>
          </a:prstGeom>
          <a:noFill/>
        </p:spPr>
        <p:txBody>
          <a:bodyPr wrap="square" lIns="36576" tIns="18288" rIns="36576" bIns="18288" anchor="t">
            <a:spAutoFit/>
          </a:bodyPr>
          <a:lstStyle/>
          <a:p>
            <a:pPr algn="l">
              <a:lnSpc>
                <a:spcPct val="125000"/>
              </a:lnSpc>
              <a:spcBef>
                <a:spcPts val="0"/>
              </a:spcBef>
              <a:spcAft>
                <a:spcPts val="0"/>
              </a:spcAft>
            </a:pPr>
            <a:r>
              <a:rPr sz="1100" b="0" i="0">
                <a:solidFill>
                  <a:srgbClr val="334155"/>
                </a:solidFill>
                <a:latin typeface="Calibri"/>
              </a:rPr>
              <a:t>Clearer metric definitions and lineage narratives for controls-heavy reporting (stewardship quality matters).</a:t>
            </a:r>
          </a:p>
        </p:txBody>
      </p:sp>
      <p:sp>
        <p:nvSpPr>
          <p:cNvPr id="33" name="Rounded Rectangle 32"/>
          <p:cNvSpPr/>
          <p:nvPr/>
        </p:nvSpPr>
        <p:spPr>
          <a:xfrm>
            <a:off x="6222492" y="4087368"/>
            <a:ext cx="2704338" cy="1929384"/>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6423660" y="4288536"/>
            <a:ext cx="256032" cy="9144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23660" y="4471416"/>
            <a:ext cx="2302002" cy="329184"/>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1100" b="1" i="0">
                <a:solidFill>
                  <a:srgbClr val="152342"/>
                </a:solidFill>
                <a:latin typeface="Calibri"/>
              </a:rPr>
              <a:t>Retention &amp; lifecycle</a:t>
            </a:r>
          </a:p>
        </p:txBody>
      </p:sp>
      <p:sp>
        <p:nvSpPr>
          <p:cNvPr id="36" name="TextBox 35"/>
          <p:cNvSpPr txBox="1"/>
          <p:nvPr/>
        </p:nvSpPr>
        <p:spPr>
          <a:xfrm>
            <a:off x="6423660" y="4818888"/>
            <a:ext cx="2302002" cy="1069848"/>
          </a:xfrm>
          <a:prstGeom prst="rect">
            <a:avLst/>
          </a:prstGeom>
          <a:noFill/>
        </p:spPr>
        <p:txBody>
          <a:bodyPr wrap="square" lIns="36576" tIns="18288" rIns="36576" bIns="18288" anchor="t">
            <a:spAutoFit/>
          </a:bodyPr>
          <a:lstStyle/>
          <a:p>
            <a:pPr algn="l">
              <a:lnSpc>
                <a:spcPct val="125000"/>
              </a:lnSpc>
              <a:spcBef>
                <a:spcPts val="0"/>
              </a:spcBef>
              <a:spcAft>
                <a:spcPts val="0"/>
              </a:spcAft>
            </a:pPr>
            <a:r>
              <a:rPr sz="1100" b="0" i="0">
                <a:solidFill>
                  <a:srgbClr val="334155"/>
                </a:solidFill>
                <a:latin typeface="Calibri"/>
              </a:rPr>
              <a:t>Knowing where datasets live aligns policy discussion to real systems; enforcement remains platform-specific.</a:t>
            </a:r>
          </a:p>
        </p:txBody>
      </p:sp>
      <p:sp>
        <p:nvSpPr>
          <p:cNvPr id="37" name="Rounded Rectangle 36"/>
          <p:cNvSpPr/>
          <p:nvPr/>
        </p:nvSpPr>
        <p:spPr>
          <a:xfrm>
            <a:off x="9073134" y="4087368"/>
            <a:ext cx="2704338" cy="1929384"/>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9274302" y="4288536"/>
            <a:ext cx="256032" cy="9144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274302" y="4471416"/>
            <a:ext cx="2302002" cy="329184"/>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1100" b="1" i="0">
                <a:solidFill>
                  <a:srgbClr val="152342"/>
                </a:solidFill>
                <a:latin typeface="Calibri"/>
              </a:rPr>
              <a:t>Ownership &amp; lineage</a:t>
            </a:r>
          </a:p>
        </p:txBody>
      </p:sp>
      <p:sp>
        <p:nvSpPr>
          <p:cNvPr id="40" name="TextBox 39"/>
          <p:cNvSpPr txBox="1"/>
          <p:nvPr/>
        </p:nvSpPr>
        <p:spPr>
          <a:xfrm>
            <a:off x="9274302" y="4818888"/>
            <a:ext cx="2302002" cy="1069848"/>
          </a:xfrm>
          <a:prstGeom prst="rect">
            <a:avLst/>
          </a:prstGeom>
          <a:noFill/>
        </p:spPr>
        <p:txBody>
          <a:bodyPr wrap="square" lIns="36576" tIns="18288" rIns="36576" bIns="18288" anchor="t">
            <a:spAutoFit/>
          </a:bodyPr>
          <a:lstStyle/>
          <a:p>
            <a:pPr algn="l">
              <a:lnSpc>
                <a:spcPct val="125000"/>
              </a:lnSpc>
              <a:spcBef>
                <a:spcPts val="0"/>
              </a:spcBef>
              <a:spcAft>
                <a:spcPts val="0"/>
              </a:spcAft>
            </a:pPr>
            <a:r>
              <a:rPr sz="1100" b="0" i="0">
                <a:solidFill>
                  <a:srgbClr val="334155"/>
                </a:solidFill>
                <a:latin typeface="Calibri"/>
              </a:rPr>
              <a:t>Explicit stewards and paths reduce orphaned assets and ambiguous transformations — when maintained.</a:t>
            </a:r>
          </a:p>
        </p:txBody>
      </p:sp>
      <p:sp>
        <p:nvSpPr>
          <p:cNvPr id="41" name="Rectangle 40"/>
          <p:cNvSpPr/>
          <p:nvPr/>
        </p:nvSpPr>
        <p:spPr>
          <a:xfrm>
            <a:off x="0" y="6400800"/>
            <a:ext cx="12191695"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57200" y="6473952"/>
            <a:ext cx="11277295" cy="310896"/>
          </a:xfrm>
          <a:prstGeom prst="rect">
            <a:avLst/>
          </a:prstGeom>
          <a:noFill/>
        </p:spPr>
        <p:txBody>
          <a:bodyPr wrap="square" lIns="36576" tIns="18288" rIns="36576" bIns="18288" anchor="ctr">
            <a:spAutoFit/>
          </a:bodyPr>
          <a:lstStyle/>
          <a:p>
            <a:pPr algn="l">
              <a:lnSpc>
                <a:spcPct val="118000"/>
              </a:lnSpc>
              <a:spcBef>
                <a:spcPts val="0"/>
              </a:spcBef>
              <a:spcAft>
                <a:spcPts val="0"/>
              </a:spcAft>
            </a:pPr>
            <a:r>
              <a:rPr sz="1100" b="0" i="0">
                <a:solidFill>
                  <a:srgbClr val="64748B"/>
                </a:solidFill>
                <a:latin typeface="Calibri"/>
              </a:rPr>
              <a:t>DEET Data Governance  |  May 2026  |  Alation Data Catalog Overview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804672"/>
            <a:ext cx="11430000" cy="422873"/>
          </a:xfrm>
          <a:prstGeom prst="rect">
            <a:avLst/>
          </a:prstGeom>
          <a:noFill/>
        </p:spPr>
        <p:txBody>
          <a:bodyPr wrap="square" lIns="36576" tIns="18288" rIns="36576" bIns="18288" anchor="t">
            <a:spAutoFit/>
          </a:bodyPr>
          <a:lstStyle/>
          <a:p>
            <a:pPr algn="l">
              <a:lnSpc>
                <a:spcPct val="110000"/>
              </a:lnSpc>
              <a:spcBef>
                <a:spcPts val="0"/>
              </a:spcBef>
              <a:spcAft>
                <a:spcPts val="0"/>
              </a:spcAft>
            </a:pPr>
            <a:r>
              <a:rPr sz="2400" b="1" i="0">
                <a:solidFill>
                  <a:srgbClr val="152342"/>
                </a:solidFill>
                <a:latin typeface="Calibri Light"/>
              </a:rPr>
              <a:t>Current-</a:t>
            </a:r>
            <a:r>
              <a:rPr lang="en-US" sz="2400" b="1" i="0">
                <a:solidFill>
                  <a:srgbClr val="152342"/>
                </a:solidFill>
                <a:latin typeface="Calibri Light"/>
              </a:rPr>
              <a:t>S</a:t>
            </a:r>
            <a:r>
              <a:rPr sz="2400" b="1" i="0">
                <a:solidFill>
                  <a:srgbClr val="152342"/>
                </a:solidFill>
                <a:latin typeface="Calibri Light"/>
              </a:rPr>
              <a:t>tate </a:t>
            </a:r>
            <a:r>
              <a:rPr lang="en-US" sz="2400" b="1">
                <a:solidFill>
                  <a:srgbClr val="152342"/>
                </a:solidFill>
                <a:latin typeface="Calibri Light"/>
              </a:rPr>
              <a:t>V</a:t>
            </a:r>
            <a:r>
              <a:rPr sz="2400" b="1" i="0">
                <a:solidFill>
                  <a:srgbClr val="152342"/>
                </a:solidFill>
                <a:latin typeface="Calibri Light"/>
              </a:rPr>
              <a:t>alue &amp; </a:t>
            </a:r>
            <a:r>
              <a:rPr lang="en-US" sz="2400" b="1">
                <a:solidFill>
                  <a:srgbClr val="152342"/>
                </a:solidFill>
                <a:latin typeface="Calibri Light"/>
              </a:rPr>
              <a:t>Alation</a:t>
            </a:r>
            <a:r>
              <a:rPr sz="2400" b="1" i="0">
                <a:solidFill>
                  <a:srgbClr val="152342"/>
                </a:solidFill>
                <a:latin typeface="Calibri Light"/>
              </a:rPr>
              <a:t> </a:t>
            </a:r>
            <a:r>
              <a:rPr lang="en-US" sz="2400" b="1">
                <a:solidFill>
                  <a:srgbClr val="152342"/>
                </a:solidFill>
                <a:latin typeface="Calibri Light"/>
              </a:rPr>
              <a:t>F</a:t>
            </a:r>
            <a:r>
              <a:rPr sz="2400" b="1" i="0">
                <a:solidFill>
                  <a:srgbClr val="152342"/>
                </a:solidFill>
                <a:latin typeface="Calibri Light"/>
              </a:rPr>
              <a:t>ootprint</a:t>
            </a:r>
          </a:p>
        </p:txBody>
      </p:sp>
      <p:sp>
        <p:nvSpPr>
          <p:cNvPr id="4" name="Rectangle 3"/>
          <p:cNvSpPr/>
          <p:nvPr/>
        </p:nvSpPr>
        <p:spPr>
          <a:xfrm>
            <a:off x="457200" y="1389888"/>
            <a:ext cx="777240" cy="73152"/>
          </a:xfrm>
          <a:prstGeom prst="rect">
            <a:avLst/>
          </a:prstGeom>
          <a:solidFill>
            <a:srgbClr val="152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481328"/>
            <a:ext cx="11430000" cy="502920"/>
          </a:xfrm>
          <a:prstGeom prst="rect">
            <a:avLst/>
          </a:prstGeom>
          <a:noFill/>
        </p:spPr>
        <p:txBody>
          <a:bodyPr wrap="square" lIns="36576" tIns="18288" rIns="36576" bIns="18288" anchor="t">
            <a:spAutoFit/>
          </a:bodyPr>
          <a:lstStyle/>
          <a:p>
            <a:pPr algn="l">
              <a:lnSpc>
                <a:spcPct val="125000"/>
              </a:lnSpc>
              <a:spcBef>
                <a:spcPts val="0"/>
              </a:spcBef>
              <a:spcAft>
                <a:spcPts val="0"/>
              </a:spcAft>
            </a:pPr>
            <a:r>
              <a:rPr sz="1300" b="0" i="0">
                <a:solidFill>
                  <a:srgbClr val="475569"/>
                </a:solidFill>
                <a:latin typeface="Calibri"/>
              </a:rPr>
              <a:t>What teams get now from the catalog — plus why breadth of connections only matters when curation and lineage keep pace.</a:t>
            </a:r>
          </a:p>
        </p:txBody>
      </p:sp>
      <p:sp>
        <p:nvSpPr>
          <p:cNvPr id="6" name="Rounded Rectangle 5"/>
          <p:cNvSpPr/>
          <p:nvPr/>
        </p:nvSpPr>
        <p:spPr>
          <a:xfrm>
            <a:off x="411480" y="1755648"/>
            <a:ext cx="5582412" cy="1078992"/>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12648" y="1956816"/>
            <a:ext cx="256032" cy="914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12648" y="2057400"/>
            <a:ext cx="5180075" cy="266548"/>
          </a:xfrm>
          <a:prstGeom prst="rect">
            <a:avLst/>
          </a:prstGeom>
          <a:noFill/>
        </p:spPr>
        <p:txBody>
          <a:bodyPr wrap="square" lIns="36576" tIns="18288" rIns="36576" bIns="18288" anchor="t">
            <a:spAutoFit/>
          </a:bodyPr>
          <a:lstStyle/>
          <a:p>
            <a:pPr algn="l">
              <a:lnSpc>
                <a:spcPct val="118000"/>
              </a:lnSpc>
              <a:spcBef>
                <a:spcPts val="0"/>
              </a:spcBef>
              <a:spcAft>
                <a:spcPts val="0"/>
              </a:spcAft>
            </a:pPr>
            <a:r>
              <a:rPr lang="en-US" sz="1350" b="1" i="0">
                <a:solidFill>
                  <a:srgbClr val="152342"/>
                </a:solidFill>
                <a:latin typeface="Calibri"/>
              </a:rPr>
              <a:t>Centralized data discovery across Ads ecosystem</a:t>
            </a:r>
            <a:endParaRPr sz="1350" b="1" i="0">
              <a:solidFill>
                <a:srgbClr val="152342"/>
              </a:solidFill>
              <a:latin typeface="Calibri"/>
            </a:endParaRPr>
          </a:p>
        </p:txBody>
      </p:sp>
      <p:sp>
        <p:nvSpPr>
          <p:cNvPr id="9" name="TextBox 8"/>
          <p:cNvSpPr txBox="1"/>
          <p:nvPr/>
        </p:nvSpPr>
        <p:spPr>
          <a:xfrm>
            <a:off x="612648" y="2404872"/>
            <a:ext cx="5180075" cy="407419"/>
          </a:xfrm>
          <a:prstGeom prst="rect">
            <a:avLst/>
          </a:prstGeom>
          <a:noFill/>
        </p:spPr>
        <p:txBody>
          <a:bodyPr wrap="square" lIns="36576" tIns="18288" rIns="36576" bIns="18288" anchor="t">
            <a:spAutoFit/>
          </a:bodyPr>
          <a:lstStyle/>
          <a:p>
            <a:pPr algn="l">
              <a:lnSpc>
                <a:spcPct val="125000"/>
              </a:lnSpc>
              <a:spcBef>
                <a:spcPts val="0"/>
              </a:spcBef>
              <a:spcAft>
                <a:spcPts val="0"/>
              </a:spcAft>
            </a:pPr>
            <a:r>
              <a:rPr sz="1000" b="0" i="0">
                <a:solidFill>
                  <a:srgbClr val="334155"/>
                </a:solidFill>
                <a:latin typeface="Calibri"/>
              </a:rPr>
              <a:t>Schemas, tables, columns, and glossary links — less repeat questioning across chat and email.</a:t>
            </a:r>
            <a:r>
              <a:rPr lang="en-US" sz="1000" b="0" i="0">
                <a:solidFill>
                  <a:srgbClr val="334155"/>
                </a:solidFill>
                <a:latin typeface="Calibri"/>
              </a:rPr>
              <a:t> ((e.g., curated Ads glossaries: DA, DAAPI, Audience360, AVOD)</a:t>
            </a:r>
            <a:endParaRPr sz="1000" b="0" i="0">
              <a:solidFill>
                <a:srgbClr val="334155"/>
              </a:solidFill>
              <a:latin typeface="Calibri"/>
            </a:endParaRPr>
          </a:p>
        </p:txBody>
      </p:sp>
      <p:sp>
        <p:nvSpPr>
          <p:cNvPr id="10" name="Rounded Rectangle 9"/>
          <p:cNvSpPr/>
          <p:nvPr/>
        </p:nvSpPr>
        <p:spPr>
          <a:xfrm>
            <a:off x="6195059" y="1755648"/>
            <a:ext cx="5582412" cy="1078992"/>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396227" y="1956816"/>
            <a:ext cx="256032" cy="9144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96227" y="2057400"/>
            <a:ext cx="5180075" cy="266548"/>
          </a:xfrm>
          <a:prstGeom prst="rect">
            <a:avLst/>
          </a:prstGeom>
          <a:noFill/>
        </p:spPr>
        <p:txBody>
          <a:bodyPr wrap="square" lIns="36576" tIns="18288" rIns="36576" bIns="18288" anchor="t">
            <a:spAutoFit/>
          </a:bodyPr>
          <a:lstStyle/>
          <a:p>
            <a:pPr algn="l">
              <a:lnSpc>
                <a:spcPct val="118000"/>
              </a:lnSpc>
              <a:spcBef>
                <a:spcPts val="0"/>
              </a:spcBef>
              <a:spcAft>
                <a:spcPts val="0"/>
              </a:spcAft>
            </a:pPr>
            <a:r>
              <a:rPr lang="en-US" sz="1350" b="1" i="0">
                <a:solidFill>
                  <a:srgbClr val="152342"/>
                </a:solidFill>
                <a:latin typeface="Calibri"/>
              </a:rPr>
              <a:t>Faster impact analysis through lineage visibility</a:t>
            </a:r>
            <a:endParaRPr sz="1350" b="1" i="0">
              <a:solidFill>
                <a:srgbClr val="152342"/>
              </a:solidFill>
              <a:latin typeface="Calibri"/>
            </a:endParaRPr>
          </a:p>
        </p:txBody>
      </p:sp>
      <p:sp>
        <p:nvSpPr>
          <p:cNvPr id="13" name="TextBox 12"/>
          <p:cNvSpPr txBox="1"/>
          <p:nvPr/>
        </p:nvSpPr>
        <p:spPr>
          <a:xfrm>
            <a:off x="6396227" y="2404872"/>
            <a:ext cx="5180075" cy="407419"/>
          </a:xfrm>
          <a:prstGeom prst="rect">
            <a:avLst/>
          </a:prstGeom>
          <a:noFill/>
        </p:spPr>
        <p:txBody>
          <a:bodyPr wrap="square" lIns="36576" tIns="18288" rIns="36576" bIns="18288" anchor="t">
            <a:spAutoFit/>
          </a:bodyPr>
          <a:lstStyle/>
          <a:p>
            <a:pPr algn="l">
              <a:lnSpc>
                <a:spcPct val="125000"/>
              </a:lnSpc>
              <a:spcBef>
                <a:spcPts val="0"/>
              </a:spcBef>
              <a:spcAft>
                <a:spcPts val="0"/>
              </a:spcAft>
            </a:pPr>
            <a:r>
              <a:rPr sz="1000" b="0" i="0">
                <a:solidFill>
                  <a:srgbClr val="334155"/>
                </a:solidFill>
                <a:latin typeface="Calibri"/>
              </a:rPr>
              <a:t>Lineage and dependency views (where populated) shorten impact analysis for upstream changes and broken downstream reports.</a:t>
            </a:r>
            <a:r>
              <a:rPr lang="en-US" sz="1000" b="0" i="0">
                <a:solidFill>
                  <a:srgbClr val="334155"/>
                </a:solidFill>
                <a:latin typeface="Calibri"/>
              </a:rPr>
              <a:t> ((e.g., Snowflake UNIVERSE360.ADVERTISING schemas, )</a:t>
            </a:r>
            <a:endParaRPr sz="1000" b="0" i="0">
              <a:solidFill>
                <a:srgbClr val="334155"/>
              </a:solidFill>
              <a:latin typeface="Calibri"/>
            </a:endParaRPr>
          </a:p>
        </p:txBody>
      </p:sp>
      <p:sp>
        <p:nvSpPr>
          <p:cNvPr id="14" name="Rounded Rectangle 13"/>
          <p:cNvSpPr/>
          <p:nvPr/>
        </p:nvSpPr>
        <p:spPr>
          <a:xfrm>
            <a:off x="411480" y="2962656"/>
            <a:ext cx="5582412" cy="1078992"/>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12648" y="3163824"/>
            <a:ext cx="256032" cy="9144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2648" y="3264408"/>
            <a:ext cx="5180075" cy="329184"/>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1350" b="1" i="0">
                <a:solidFill>
                  <a:srgbClr val="152342"/>
                </a:solidFill>
                <a:latin typeface="Calibri"/>
              </a:rPr>
              <a:t>Routes questions to owners</a:t>
            </a:r>
          </a:p>
        </p:txBody>
      </p:sp>
      <p:sp>
        <p:nvSpPr>
          <p:cNvPr id="17" name="TextBox 16"/>
          <p:cNvSpPr txBox="1"/>
          <p:nvPr/>
        </p:nvSpPr>
        <p:spPr>
          <a:xfrm>
            <a:off x="612648" y="3611879"/>
            <a:ext cx="5180075" cy="407419"/>
          </a:xfrm>
          <a:prstGeom prst="rect">
            <a:avLst/>
          </a:prstGeom>
          <a:noFill/>
        </p:spPr>
        <p:txBody>
          <a:bodyPr wrap="square" lIns="36576" tIns="18288" rIns="36576" bIns="18288" anchor="t">
            <a:spAutoFit/>
          </a:bodyPr>
          <a:lstStyle/>
          <a:p>
            <a:pPr algn="l">
              <a:lnSpc>
                <a:spcPct val="125000"/>
              </a:lnSpc>
              <a:spcBef>
                <a:spcPts val="0"/>
              </a:spcBef>
              <a:spcAft>
                <a:spcPts val="0"/>
              </a:spcAft>
            </a:pPr>
            <a:r>
              <a:rPr sz="1000" b="0" i="0">
                <a:solidFill>
                  <a:srgbClr val="334155"/>
                </a:solidFill>
                <a:latin typeface="Calibri"/>
              </a:rPr>
              <a:t>Documented ownership and stewardship fields route questions to accountable teams when those fields are kept current.</a:t>
            </a:r>
          </a:p>
        </p:txBody>
      </p:sp>
      <p:sp>
        <p:nvSpPr>
          <p:cNvPr id="18" name="Rounded Rectangle 17"/>
          <p:cNvSpPr/>
          <p:nvPr/>
        </p:nvSpPr>
        <p:spPr>
          <a:xfrm>
            <a:off x="6195059" y="2962656"/>
            <a:ext cx="5582412" cy="1078992"/>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396227" y="3163824"/>
            <a:ext cx="256032" cy="9144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96227" y="3264408"/>
            <a:ext cx="5180075" cy="329184"/>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1350" b="1" i="0">
                <a:solidFill>
                  <a:srgbClr val="152342"/>
                </a:solidFill>
                <a:latin typeface="Calibri"/>
              </a:rPr>
              <a:t>Reuse via API / MCP</a:t>
            </a:r>
          </a:p>
        </p:txBody>
      </p:sp>
      <p:sp>
        <p:nvSpPr>
          <p:cNvPr id="21" name="TextBox 20"/>
          <p:cNvSpPr txBox="1"/>
          <p:nvPr/>
        </p:nvSpPr>
        <p:spPr>
          <a:xfrm>
            <a:off x="6396227" y="3611879"/>
            <a:ext cx="5180075" cy="407419"/>
          </a:xfrm>
          <a:prstGeom prst="rect">
            <a:avLst/>
          </a:prstGeom>
          <a:noFill/>
        </p:spPr>
        <p:txBody>
          <a:bodyPr wrap="square" lIns="36576" tIns="18288" rIns="36576" bIns="18288" anchor="t">
            <a:spAutoFit/>
          </a:bodyPr>
          <a:lstStyle/>
          <a:p>
            <a:pPr algn="l">
              <a:lnSpc>
                <a:spcPct val="125000"/>
              </a:lnSpc>
              <a:spcBef>
                <a:spcPts val="0"/>
              </a:spcBef>
              <a:spcAft>
                <a:spcPts val="0"/>
              </a:spcAft>
            </a:pPr>
            <a:r>
              <a:rPr sz="1000" b="0" i="0">
                <a:solidFill>
                  <a:srgbClr val="334155"/>
                </a:solidFill>
                <a:latin typeface="Calibri"/>
              </a:rPr>
              <a:t>Repeatable metadata reuse for reviews and engineering workflows where security has approved access.</a:t>
            </a:r>
            <a:r>
              <a:rPr lang="en-US" sz="1000" b="0" i="0">
                <a:solidFill>
                  <a:srgbClr val="334155"/>
                </a:solidFill>
                <a:latin typeface="Calibri"/>
              </a:rPr>
              <a:t> (e.g., used in Cursor-based analysis workflows)</a:t>
            </a:r>
            <a:endParaRPr sz="1000" b="0" i="0">
              <a:solidFill>
                <a:srgbClr val="334155"/>
              </a:solidFill>
              <a:latin typeface="Calibri"/>
            </a:endParaRPr>
          </a:p>
        </p:txBody>
      </p:sp>
      <p:sp>
        <p:nvSpPr>
          <p:cNvPr id="22" name="Rounded Rectangle 21"/>
          <p:cNvSpPr/>
          <p:nvPr/>
        </p:nvSpPr>
        <p:spPr>
          <a:xfrm>
            <a:off x="411480" y="4169663"/>
            <a:ext cx="2690622" cy="202996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11480" y="4169663"/>
            <a:ext cx="2690622"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11480" y="4677938"/>
            <a:ext cx="2690622" cy="547073"/>
          </a:xfrm>
          <a:prstGeom prst="rect">
            <a:avLst/>
          </a:prstGeom>
          <a:noFill/>
        </p:spPr>
        <p:txBody>
          <a:bodyPr wrap="square" lIns="36576" tIns="18288" rIns="36576" bIns="18288" anchor="ctr">
            <a:spAutoFit/>
          </a:bodyPr>
          <a:lstStyle/>
          <a:p>
            <a:pPr algn="ctr">
              <a:lnSpc>
                <a:spcPct val="118000"/>
              </a:lnSpc>
              <a:spcBef>
                <a:spcPts val="0"/>
              </a:spcBef>
              <a:spcAft>
                <a:spcPts val="0"/>
              </a:spcAft>
            </a:pPr>
            <a:r>
              <a:rPr sz="3000" b="1" i="0">
                <a:solidFill>
                  <a:srgbClr val="152342"/>
                </a:solidFill>
                <a:latin typeface="Calibri Light"/>
              </a:rPr>
              <a:t>Wide</a:t>
            </a:r>
          </a:p>
        </p:txBody>
      </p:sp>
      <p:sp>
        <p:nvSpPr>
          <p:cNvPr id="25" name="TextBox 24"/>
          <p:cNvSpPr txBox="1"/>
          <p:nvPr/>
        </p:nvSpPr>
        <p:spPr>
          <a:xfrm>
            <a:off x="411480" y="5404104"/>
            <a:ext cx="2690622" cy="292608"/>
          </a:xfrm>
          <a:prstGeom prst="rect">
            <a:avLst/>
          </a:prstGeom>
          <a:noFill/>
        </p:spPr>
        <p:txBody>
          <a:bodyPr wrap="square" lIns="36576" tIns="18288" rIns="36576" bIns="18288" anchor="t">
            <a:spAutoFit/>
          </a:bodyPr>
          <a:lstStyle/>
          <a:p>
            <a:pPr algn="ctr">
              <a:lnSpc>
                <a:spcPct val="118000"/>
              </a:lnSpc>
              <a:spcBef>
                <a:spcPts val="0"/>
              </a:spcBef>
              <a:spcAft>
                <a:spcPts val="0"/>
              </a:spcAft>
            </a:pPr>
            <a:r>
              <a:rPr sz="1300" b="1" i="0">
                <a:solidFill>
                  <a:srgbClr val="152342"/>
                </a:solidFill>
                <a:latin typeface="Calibri"/>
              </a:rPr>
              <a:t>Connected data sources</a:t>
            </a:r>
          </a:p>
        </p:txBody>
      </p:sp>
      <p:sp>
        <p:nvSpPr>
          <p:cNvPr id="26" name="TextBox 25"/>
          <p:cNvSpPr txBox="1"/>
          <p:nvPr/>
        </p:nvSpPr>
        <p:spPr>
          <a:xfrm>
            <a:off x="521208" y="5742431"/>
            <a:ext cx="2471165" cy="447495"/>
          </a:xfrm>
          <a:prstGeom prst="rect">
            <a:avLst/>
          </a:prstGeom>
          <a:noFill/>
        </p:spPr>
        <p:txBody>
          <a:bodyPr wrap="square" lIns="36576" tIns="18288" rIns="36576" bIns="18288" anchor="t">
            <a:spAutoFit/>
          </a:bodyPr>
          <a:lstStyle/>
          <a:p>
            <a:pPr algn="ctr">
              <a:lnSpc>
                <a:spcPct val="120000"/>
              </a:lnSpc>
              <a:spcBef>
                <a:spcPts val="0"/>
              </a:spcBef>
              <a:spcAft>
                <a:spcPts val="0"/>
              </a:spcAft>
            </a:pPr>
            <a:r>
              <a:rPr sz="1150" b="0" i="0">
                <a:solidFill>
                  <a:srgbClr val="475569"/>
                </a:solidFill>
                <a:latin typeface="Calibri"/>
              </a:rPr>
              <a:t>Snowflake, </a:t>
            </a:r>
            <a:r>
              <a:rPr lang="en-US" sz="1150" b="0" i="0">
                <a:solidFill>
                  <a:srgbClr val="475569"/>
                </a:solidFill>
                <a:latin typeface="Calibri"/>
              </a:rPr>
              <a:t>Databricks, </a:t>
            </a:r>
            <a:r>
              <a:rPr sz="1150" b="0" i="0">
                <a:solidFill>
                  <a:srgbClr val="475569"/>
                </a:solidFill>
                <a:latin typeface="Calibri"/>
              </a:rPr>
              <a:t>Oracle, ODS, STAQ,</a:t>
            </a:r>
            <a:r>
              <a:rPr lang="en-US" sz="1150" b="0" i="0">
                <a:solidFill>
                  <a:srgbClr val="475569"/>
                </a:solidFill>
                <a:latin typeface="Calibri"/>
              </a:rPr>
              <a:t> </a:t>
            </a:r>
            <a:r>
              <a:rPr sz="1150" b="0" i="0">
                <a:solidFill>
                  <a:srgbClr val="475569"/>
                </a:solidFill>
                <a:latin typeface="Calibri"/>
              </a:rPr>
              <a:t>Athena, </a:t>
            </a:r>
            <a:r>
              <a:rPr lang="en-US" sz="1150" b="0" i="0">
                <a:solidFill>
                  <a:srgbClr val="475569"/>
                </a:solidFill>
                <a:latin typeface="Calibri"/>
              </a:rPr>
              <a:t>operational DBs</a:t>
            </a:r>
            <a:endParaRPr sz="1150" b="0" i="0">
              <a:solidFill>
                <a:srgbClr val="475569"/>
              </a:solidFill>
              <a:latin typeface="Calibri"/>
            </a:endParaRPr>
          </a:p>
        </p:txBody>
      </p:sp>
      <p:sp>
        <p:nvSpPr>
          <p:cNvPr id="27" name="Rounded Rectangle 26"/>
          <p:cNvSpPr/>
          <p:nvPr/>
        </p:nvSpPr>
        <p:spPr>
          <a:xfrm>
            <a:off x="3303270" y="4169663"/>
            <a:ext cx="2690622" cy="202996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303270" y="4169663"/>
            <a:ext cx="2690622" cy="914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303270" y="4677938"/>
            <a:ext cx="2690622" cy="547073"/>
          </a:xfrm>
          <a:prstGeom prst="rect">
            <a:avLst/>
          </a:prstGeom>
          <a:noFill/>
        </p:spPr>
        <p:txBody>
          <a:bodyPr wrap="square" lIns="36576" tIns="18288" rIns="36576" bIns="18288" anchor="ctr">
            <a:spAutoFit/>
          </a:bodyPr>
          <a:lstStyle/>
          <a:p>
            <a:pPr algn="ctr">
              <a:lnSpc>
                <a:spcPct val="118000"/>
              </a:lnSpc>
              <a:spcBef>
                <a:spcPts val="0"/>
              </a:spcBef>
              <a:spcAft>
                <a:spcPts val="0"/>
              </a:spcAft>
            </a:pPr>
            <a:r>
              <a:rPr sz="3000" b="1" i="0">
                <a:solidFill>
                  <a:srgbClr val="152342"/>
                </a:solidFill>
                <a:latin typeface="Calibri Light"/>
              </a:rPr>
              <a:t>Multi</a:t>
            </a:r>
          </a:p>
        </p:txBody>
      </p:sp>
      <p:sp>
        <p:nvSpPr>
          <p:cNvPr id="30" name="TextBox 29"/>
          <p:cNvSpPr txBox="1"/>
          <p:nvPr/>
        </p:nvSpPr>
        <p:spPr>
          <a:xfrm>
            <a:off x="3303270" y="5404104"/>
            <a:ext cx="2690622" cy="292608"/>
          </a:xfrm>
          <a:prstGeom prst="rect">
            <a:avLst/>
          </a:prstGeom>
          <a:noFill/>
        </p:spPr>
        <p:txBody>
          <a:bodyPr wrap="square" lIns="36576" tIns="18288" rIns="36576" bIns="18288" anchor="t">
            <a:spAutoFit/>
          </a:bodyPr>
          <a:lstStyle/>
          <a:p>
            <a:pPr algn="ctr">
              <a:lnSpc>
                <a:spcPct val="118000"/>
              </a:lnSpc>
              <a:spcBef>
                <a:spcPts val="0"/>
              </a:spcBef>
              <a:spcAft>
                <a:spcPts val="0"/>
              </a:spcAft>
            </a:pPr>
            <a:r>
              <a:rPr sz="1300" b="1" i="0">
                <a:solidFill>
                  <a:srgbClr val="152342"/>
                </a:solidFill>
                <a:latin typeface="Calibri"/>
              </a:rPr>
              <a:t>BI sources catalogued</a:t>
            </a:r>
          </a:p>
        </p:txBody>
      </p:sp>
      <p:sp>
        <p:nvSpPr>
          <p:cNvPr id="31" name="TextBox 30"/>
          <p:cNvSpPr txBox="1"/>
          <p:nvPr/>
        </p:nvSpPr>
        <p:spPr>
          <a:xfrm>
            <a:off x="3412998" y="5742431"/>
            <a:ext cx="2471165" cy="502920"/>
          </a:xfrm>
          <a:prstGeom prst="rect">
            <a:avLst/>
          </a:prstGeom>
          <a:noFill/>
        </p:spPr>
        <p:txBody>
          <a:bodyPr wrap="square" lIns="36576" tIns="18288" rIns="36576" bIns="18288" anchor="t">
            <a:spAutoFit/>
          </a:bodyPr>
          <a:lstStyle/>
          <a:p>
            <a:pPr algn="ctr">
              <a:lnSpc>
                <a:spcPct val="120000"/>
              </a:lnSpc>
              <a:spcBef>
                <a:spcPts val="0"/>
              </a:spcBef>
              <a:spcAft>
                <a:spcPts val="0"/>
              </a:spcAft>
            </a:pPr>
            <a:r>
              <a:rPr sz="1150" b="0" i="0">
                <a:solidFill>
                  <a:srgbClr val="475569"/>
                </a:solidFill>
                <a:latin typeface="Calibri"/>
              </a:rPr>
              <a:t>MicroStrategy, Tableau, and</a:t>
            </a:r>
          </a:p>
          <a:p>
            <a:pPr algn="ctr">
              <a:lnSpc>
                <a:spcPct val="120000"/>
              </a:lnSpc>
              <a:spcBef>
                <a:spcPts val="0"/>
              </a:spcBef>
              <a:spcAft>
                <a:spcPts val="0"/>
              </a:spcAft>
            </a:pPr>
            <a:r>
              <a:rPr sz="1150" b="0" i="0">
                <a:solidFill>
                  <a:srgbClr val="475569"/>
                </a:solidFill>
                <a:latin typeface="Calibri"/>
              </a:rPr>
              <a:t>domain workspaces</a:t>
            </a:r>
          </a:p>
        </p:txBody>
      </p:sp>
      <p:sp>
        <p:nvSpPr>
          <p:cNvPr id="32" name="Rounded Rectangle 31"/>
          <p:cNvSpPr/>
          <p:nvPr/>
        </p:nvSpPr>
        <p:spPr>
          <a:xfrm>
            <a:off x="6195060" y="4169663"/>
            <a:ext cx="2690622" cy="202996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195060" y="4169663"/>
            <a:ext cx="2690622" cy="914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195060" y="4677938"/>
            <a:ext cx="2690622" cy="547073"/>
          </a:xfrm>
          <a:prstGeom prst="rect">
            <a:avLst/>
          </a:prstGeom>
          <a:noFill/>
        </p:spPr>
        <p:txBody>
          <a:bodyPr wrap="square" lIns="36576" tIns="18288" rIns="36576" bIns="18288" anchor="ctr">
            <a:spAutoFit/>
          </a:bodyPr>
          <a:lstStyle/>
          <a:p>
            <a:pPr algn="ctr">
              <a:lnSpc>
                <a:spcPct val="118000"/>
              </a:lnSpc>
              <a:spcBef>
                <a:spcPts val="0"/>
              </a:spcBef>
              <a:spcAft>
                <a:spcPts val="0"/>
              </a:spcAft>
            </a:pPr>
            <a:r>
              <a:rPr sz="3000" b="1" i="0">
                <a:solidFill>
                  <a:srgbClr val="152342"/>
                </a:solidFill>
                <a:latin typeface="Calibri Light"/>
              </a:rPr>
              <a:t>4,000+</a:t>
            </a:r>
          </a:p>
        </p:txBody>
      </p:sp>
      <p:sp>
        <p:nvSpPr>
          <p:cNvPr id="35" name="TextBox 34"/>
          <p:cNvSpPr txBox="1"/>
          <p:nvPr/>
        </p:nvSpPr>
        <p:spPr>
          <a:xfrm>
            <a:off x="6195060" y="5404104"/>
            <a:ext cx="2690622" cy="292608"/>
          </a:xfrm>
          <a:prstGeom prst="rect">
            <a:avLst/>
          </a:prstGeom>
          <a:noFill/>
        </p:spPr>
        <p:txBody>
          <a:bodyPr wrap="square" lIns="36576" tIns="18288" rIns="36576" bIns="18288" anchor="t">
            <a:spAutoFit/>
          </a:bodyPr>
          <a:lstStyle/>
          <a:p>
            <a:pPr algn="ctr">
              <a:lnSpc>
                <a:spcPct val="118000"/>
              </a:lnSpc>
              <a:spcBef>
                <a:spcPts val="0"/>
              </a:spcBef>
              <a:spcAft>
                <a:spcPts val="0"/>
              </a:spcAft>
            </a:pPr>
            <a:r>
              <a:rPr sz="1300" b="1" i="0">
                <a:solidFill>
                  <a:srgbClr val="152342"/>
                </a:solidFill>
                <a:latin typeface="Calibri"/>
              </a:rPr>
              <a:t>Glossary terms</a:t>
            </a:r>
          </a:p>
        </p:txBody>
      </p:sp>
      <p:sp>
        <p:nvSpPr>
          <p:cNvPr id="36" name="TextBox 35"/>
          <p:cNvSpPr txBox="1"/>
          <p:nvPr/>
        </p:nvSpPr>
        <p:spPr>
          <a:xfrm>
            <a:off x="6304788" y="5742431"/>
            <a:ext cx="2471165" cy="502920"/>
          </a:xfrm>
          <a:prstGeom prst="rect">
            <a:avLst/>
          </a:prstGeom>
          <a:noFill/>
        </p:spPr>
        <p:txBody>
          <a:bodyPr wrap="square" lIns="36576" tIns="18288" rIns="36576" bIns="18288" anchor="t">
            <a:spAutoFit/>
          </a:bodyPr>
          <a:lstStyle/>
          <a:p>
            <a:pPr algn="ctr">
              <a:lnSpc>
                <a:spcPct val="120000"/>
              </a:lnSpc>
              <a:spcBef>
                <a:spcPts val="0"/>
              </a:spcBef>
              <a:spcAft>
                <a:spcPts val="0"/>
              </a:spcAft>
            </a:pPr>
            <a:r>
              <a:rPr sz="1150" b="0" i="0">
                <a:solidFill>
                  <a:srgbClr val="475569"/>
                </a:solidFill>
                <a:latin typeface="Calibri"/>
              </a:rPr>
              <a:t>Across multiple domain</a:t>
            </a:r>
          </a:p>
          <a:p>
            <a:pPr algn="ctr">
              <a:lnSpc>
                <a:spcPct val="120000"/>
              </a:lnSpc>
              <a:spcBef>
                <a:spcPts val="0"/>
              </a:spcBef>
              <a:spcAft>
                <a:spcPts val="0"/>
              </a:spcAft>
            </a:pPr>
            <a:r>
              <a:rPr sz="1150" b="0" i="0">
                <a:solidFill>
                  <a:srgbClr val="475569"/>
                </a:solidFill>
                <a:latin typeface="Calibri"/>
              </a:rPr>
              <a:t>glossaries (Aug 2025 overview)</a:t>
            </a:r>
          </a:p>
        </p:txBody>
      </p:sp>
      <p:sp>
        <p:nvSpPr>
          <p:cNvPr id="37" name="Rounded Rectangle 36"/>
          <p:cNvSpPr/>
          <p:nvPr/>
        </p:nvSpPr>
        <p:spPr>
          <a:xfrm>
            <a:off x="9086850" y="4169663"/>
            <a:ext cx="2690622" cy="202996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9086850" y="4169663"/>
            <a:ext cx="2690622"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086850" y="4677938"/>
            <a:ext cx="2690622" cy="547073"/>
          </a:xfrm>
          <a:prstGeom prst="rect">
            <a:avLst/>
          </a:prstGeom>
          <a:noFill/>
        </p:spPr>
        <p:txBody>
          <a:bodyPr wrap="square" lIns="36576" tIns="18288" rIns="36576" bIns="18288" anchor="ctr">
            <a:spAutoFit/>
          </a:bodyPr>
          <a:lstStyle/>
          <a:p>
            <a:pPr algn="ctr">
              <a:lnSpc>
                <a:spcPct val="118000"/>
              </a:lnSpc>
              <a:spcBef>
                <a:spcPts val="0"/>
              </a:spcBef>
              <a:spcAft>
                <a:spcPts val="0"/>
              </a:spcAft>
            </a:pPr>
            <a:r>
              <a:rPr sz="3000" b="1" i="0">
                <a:solidFill>
                  <a:srgbClr val="152342"/>
                </a:solidFill>
                <a:latin typeface="Calibri Light"/>
              </a:rPr>
              <a:t>Authoritative</a:t>
            </a:r>
          </a:p>
        </p:txBody>
      </p:sp>
      <p:sp>
        <p:nvSpPr>
          <p:cNvPr id="40" name="TextBox 39"/>
          <p:cNvSpPr txBox="1"/>
          <p:nvPr/>
        </p:nvSpPr>
        <p:spPr>
          <a:xfrm>
            <a:off x="9086850" y="5404104"/>
            <a:ext cx="2690622" cy="292608"/>
          </a:xfrm>
          <a:prstGeom prst="rect">
            <a:avLst/>
          </a:prstGeom>
          <a:noFill/>
        </p:spPr>
        <p:txBody>
          <a:bodyPr wrap="square" lIns="36576" tIns="18288" rIns="36576" bIns="18288" anchor="t">
            <a:spAutoFit/>
          </a:bodyPr>
          <a:lstStyle/>
          <a:p>
            <a:pPr algn="ctr">
              <a:lnSpc>
                <a:spcPct val="118000"/>
              </a:lnSpc>
              <a:spcBef>
                <a:spcPts val="0"/>
              </a:spcBef>
              <a:spcAft>
                <a:spcPts val="0"/>
              </a:spcAft>
            </a:pPr>
            <a:r>
              <a:rPr sz="1300" b="1" i="0">
                <a:solidFill>
                  <a:srgbClr val="152342"/>
                </a:solidFill>
                <a:latin typeface="Calibri"/>
              </a:rPr>
              <a:t>Source list lives in Alation</a:t>
            </a:r>
          </a:p>
        </p:txBody>
      </p:sp>
      <p:sp>
        <p:nvSpPr>
          <p:cNvPr id="41" name="TextBox 40"/>
          <p:cNvSpPr txBox="1"/>
          <p:nvPr/>
        </p:nvSpPr>
        <p:spPr>
          <a:xfrm>
            <a:off x="9196578" y="5742431"/>
            <a:ext cx="2471165" cy="502920"/>
          </a:xfrm>
          <a:prstGeom prst="rect">
            <a:avLst/>
          </a:prstGeom>
          <a:noFill/>
        </p:spPr>
        <p:txBody>
          <a:bodyPr wrap="square" lIns="36576" tIns="18288" rIns="36576" bIns="18288" anchor="t">
            <a:spAutoFit/>
          </a:bodyPr>
          <a:lstStyle/>
          <a:p>
            <a:pPr algn="ctr">
              <a:lnSpc>
                <a:spcPct val="120000"/>
              </a:lnSpc>
              <a:spcBef>
                <a:spcPts val="0"/>
              </a:spcBef>
              <a:spcAft>
                <a:spcPts val="0"/>
              </a:spcAft>
            </a:pPr>
            <a:r>
              <a:rPr sz="1150" b="0" i="0">
                <a:solidFill>
                  <a:srgbClr val="475569"/>
                </a:solidFill>
                <a:latin typeface="Calibri"/>
              </a:rPr>
              <a:t>Curation depth + lineage scale</a:t>
            </a:r>
          </a:p>
          <a:p>
            <a:pPr algn="ctr">
              <a:lnSpc>
                <a:spcPct val="120000"/>
              </a:lnSpc>
              <a:spcBef>
                <a:spcPts val="0"/>
              </a:spcBef>
              <a:spcAft>
                <a:spcPts val="0"/>
              </a:spcAft>
            </a:pPr>
            <a:r>
              <a:rPr sz="1150" b="0" i="0">
                <a:solidFill>
                  <a:srgbClr val="475569"/>
                </a:solidFill>
                <a:latin typeface="Calibri"/>
              </a:rPr>
              <a:t>the value, not just connections</a:t>
            </a:r>
          </a:p>
        </p:txBody>
      </p:sp>
      <p:sp>
        <p:nvSpPr>
          <p:cNvPr id="43" name="Rectangle 42"/>
          <p:cNvSpPr/>
          <p:nvPr/>
        </p:nvSpPr>
        <p:spPr>
          <a:xfrm>
            <a:off x="0" y="6400800"/>
            <a:ext cx="12191695"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57200" y="6473952"/>
            <a:ext cx="11277295" cy="310896"/>
          </a:xfrm>
          <a:prstGeom prst="rect">
            <a:avLst/>
          </a:prstGeom>
          <a:noFill/>
        </p:spPr>
        <p:txBody>
          <a:bodyPr wrap="square" lIns="36576" tIns="18288" rIns="36576" bIns="18288" anchor="ctr">
            <a:spAutoFit/>
          </a:bodyPr>
          <a:lstStyle/>
          <a:p>
            <a:pPr algn="l">
              <a:lnSpc>
                <a:spcPct val="118000"/>
              </a:lnSpc>
              <a:spcBef>
                <a:spcPts val="0"/>
              </a:spcBef>
              <a:spcAft>
                <a:spcPts val="0"/>
              </a:spcAft>
            </a:pPr>
            <a:r>
              <a:rPr sz="1150" b="0" i="0">
                <a:solidFill>
                  <a:srgbClr val="64748B"/>
                </a:solidFill>
                <a:latin typeface="Calibri"/>
              </a:rPr>
              <a:t>DEET Data Governance  |  May 2026  |  Alation Data Catalog Overview</a:t>
            </a:r>
          </a:p>
        </p:txBody>
      </p:sp>
      <p:sp>
        <p:nvSpPr>
          <p:cNvPr id="46" name="Rectangle 45">
            <a:extLst>
              <a:ext uri="{FF2B5EF4-FFF2-40B4-BE49-F238E27FC236}">
                <a16:creationId xmlns:a16="http://schemas.microsoft.com/office/drawing/2014/main" id="{B27948DD-DA19-49F9-7C3F-A4F79D9B5DC6}"/>
              </a:ext>
            </a:extLst>
          </p:cNvPr>
          <p:cNvSpPr/>
          <p:nvPr/>
        </p:nvSpPr>
        <p:spPr>
          <a:xfrm>
            <a:off x="10744200" y="-33168"/>
            <a:ext cx="1447800" cy="524674"/>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1200" b="1">
                <a:solidFill>
                  <a:schemeClr val="tx1"/>
                </a:solidFill>
              </a:rPr>
              <a:t>Need to confirm Metrics</a:t>
            </a:r>
            <a:endParaRPr lang="en-US" sz="1200" b="1">
              <a:solidFill>
                <a:schemeClr val="tx1"/>
              </a:solidFill>
              <a:ea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804672"/>
            <a:ext cx="11430000" cy="422873"/>
          </a:xfrm>
          <a:prstGeom prst="rect">
            <a:avLst/>
          </a:prstGeom>
          <a:noFill/>
        </p:spPr>
        <p:txBody>
          <a:bodyPr wrap="square" lIns="36576" tIns="18288" rIns="36576" bIns="18288" anchor="t">
            <a:spAutoFit/>
          </a:bodyPr>
          <a:lstStyle/>
          <a:p>
            <a:pPr algn="l">
              <a:lnSpc>
                <a:spcPct val="110000"/>
              </a:lnSpc>
              <a:spcBef>
                <a:spcPts val="0"/>
              </a:spcBef>
              <a:spcAft>
                <a:spcPts val="0"/>
              </a:spcAft>
            </a:pPr>
            <a:r>
              <a:rPr lang="en-US" sz="2400" b="1" i="0">
                <a:solidFill>
                  <a:srgbClr val="152342"/>
                </a:solidFill>
                <a:latin typeface="Calibri Light"/>
              </a:rPr>
              <a:t>Alation Usage &amp; Stewardship </a:t>
            </a:r>
            <a:r>
              <a:rPr lang="en-US" sz="2400" b="1">
                <a:solidFill>
                  <a:srgbClr val="152342"/>
                </a:solidFill>
                <a:latin typeface="Calibri Light"/>
              </a:rPr>
              <a:t>A</a:t>
            </a:r>
            <a:r>
              <a:rPr lang="en-US" sz="2400" b="1" i="0">
                <a:solidFill>
                  <a:srgbClr val="152342"/>
                </a:solidFill>
                <a:latin typeface="Calibri Light"/>
              </a:rPr>
              <a:t>doption (Across Disney Streaming)</a:t>
            </a:r>
            <a:endParaRPr sz="2400" b="1" i="0">
              <a:solidFill>
                <a:srgbClr val="152342"/>
              </a:solidFill>
              <a:latin typeface="Calibri Light"/>
            </a:endParaRPr>
          </a:p>
        </p:txBody>
      </p:sp>
      <p:sp>
        <p:nvSpPr>
          <p:cNvPr id="4" name="Rectangle 3"/>
          <p:cNvSpPr/>
          <p:nvPr/>
        </p:nvSpPr>
        <p:spPr>
          <a:xfrm>
            <a:off x="457200" y="1389888"/>
            <a:ext cx="777240" cy="73152"/>
          </a:xfrm>
          <a:prstGeom prst="rect">
            <a:avLst/>
          </a:prstGeom>
          <a:solidFill>
            <a:srgbClr val="152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481328"/>
            <a:ext cx="11430000" cy="502920"/>
          </a:xfrm>
          <a:prstGeom prst="rect">
            <a:avLst/>
          </a:prstGeom>
          <a:noFill/>
        </p:spPr>
        <p:txBody>
          <a:bodyPr wrap="square" lIns="36576" tIns="18288" rIns="36576" bIns="18288" anchor="t">
            <a:spAutoFit/>
          </a:bodyPr>
          <a:lstStyle/>
          <a:p>
            <a:pPr algn="l">
              <a:lnSpc>
                <a:spcPct val="125000"/>
              </a:lnSpc>
              <a:spcBef>
                <a:spcPts val="0"/>
              </a:spcBef>
              <a:spcAft>
                <a:spcPts val="0"/>
              </a:spcAft>
            </a:pPr>
            <a:r>
              <a:rPr sz="1300" b="0" i="0">
                <a:solidFill>
                  <a:srgbClr val="475569"/>
                </a:solidFill>
                <a:latin typeface="Calibri"/>
              </a:rPr>
              <a:t>Stewardship metrics show where to invest; engagement shows the catalog is in daily workflow.</a:t>
            </a:r>
          </a:p>
        </p:txBody>
      </p:sp>
      <p:sp>
        <p:nvSpPr>
          <p:cNvPr id="6" name="Rounded Rectangle 5"/>
          <p:cNvSpPr/>
          <p:nvPr/>
        </p:nvSpPr>
        <p:spPr>
          <a:xfrm>
            <a:off x="411480" y="1755648"/>
            <a:ext cx="5582412" cy="1042415"/>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12648" y="1908691"/>
            <a:ext cx="256032" cy="914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12648" y="2009275"/>
            <a:ext cx="5180075" cy="329184"/>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1275" b="1" i="0">
                <a:solidFill>
                  <a:srgbClr val="152342"/>
                </a:solidFill>
                <a:latin typeface="Calibri"/>
              </a:rPr>
              <a:t>Primary stewardship view</a:t>
            </a:r>
          </a:p>
        </p:txBody>
      </p:sp>
      <p:sp>
        <p:nvSpPr>
          <p:cNvPr id="9" name="TextBox 8"/>
          <p:cNvSpPr txBox="1"/>
          <p:nvPr/>
        </p:nvSpPr>
        <p:spPr>
          <a:xfrm>
            <a:off x="612648" y="2356747"/>
            <a:ext cx="5180075" cy="444481"/>
          </a:xfrm>
          <a:prstGeom prst="rect">
            <a:avLst/>
          </a:prstGeom>
          <a:noFill/>
        </p:spPr>
        <p:txBody>
          <a:bodyPr wrap="square" lIns="36576" tIns="18288" rIns="36576" bIns="18288" anchor="t">
            <a:spAutoFit/>
          </a:bodyPr>
          <a:lstStyle/>
          <a:p>
            <a:pPr algn="l">
              <a:lnSpc>
                <a:spcPct val="125000"/>
              </a:lnSpc>
              <a:spcBef>
                <a:spcPts val="0"/>
              </a:spcBef>
              <a:spcAft>
                <a:spcPts val="0"/>
              </a:spcAft>
            </a:pPr>
            <a:r>
              <a:rPr sz="1100" b="0" i="0">
                <a:solidFill>
                  <a:srgbClr val="334155"/>
                </a:solidFill>
                <a:latin typeface="Calibri"/>
              </a:rPr>
              <a:t>Alation’s Curation Metric Report — track documentation completeness and lineage-related </a:t>
            </a:r>
            <a:r>
              <a:rPr lang="en-US" sz="1100">
                <a:solidFill>
                  <a:srgbClr val="334155"/>
                </a:solidFill>
                <a:latin typeface="Calibri"/>
              </a:rPr>
              <a:t>coverage </a:t>
            </a:r>
            <a:r>
              <a:rPr sz="1100" b="0" i="0">
                <a:solidFill>
                  <a:srgbClr val="334155"/>
                </a:solidFill>
                <a:latin typeface="Calibri"/>
              </a:rPr>
              <a:t>by source.</a:t>
            </a:r>
          </a:p>
        </p:txBody>
      </p:sp>
      <p:sp>
        <p:nvSpPr>
          <p:cNvPr id="10" name="Rounded Rectangle 9"/>
          <p:cNvSpPr/>
          <p:nvPr/>
        </p:nvSpPr>
        <p:spPr>
          <a:xfrm>
            <a:off x="6195059" y="1755648"/>
            <a:ext cx="5582412" cy="1042415"/>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396227" y="1908691"/>
            <a:ext cx="256032" cy="9144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96227" y="2009275"/>
            <a:ext cx="5180075" cy="329184"/>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1275" b="1" i="0">
                <a:solidFill>
                  <a:srgbClr val="152342"/>
                </a:solidFill>
                <a:latin typeface="Calibri"/>
              </a:rPr>
              <a:t>Governance use</a:t>
            </a:r>
          </a:p>
        </p:txBody>
      </p:sp>
      <p:sp>
        <p:nvSpPr>
          <p:cNvPr id="13" name="TextBox 12"/>
          <p:cNvSpPr txBox="1"/>
          <p:nvPr/>
        </p:nvSpPr>
        <p:spPr>
          <a:xfrm>
            <a:off x="6396227" y="2356747"/>
            <a:ext cx="5180075" cy="444481"/>
          </a:xfrm>
          <a:prstGeom prst="rect">
            <a:avLst/>
          </a:prstGeom>
          <a:noFill/>
        </p:spPr>
        <p:txBody>
          <a:bodyPr wrap="square" lIns="36576" tIns="18288" rIns="36576" bIns="18288" anchor="t">
            <a:spAutoFit/>
          </a:bodyPr>
          <a:lstStyle/>
          <a:p>
            <a:pPr algn="l">
              <a:lnSpc>
                <a:spcPct val="125000"/>
              </a:lnSpc>
              <a:spcBef>
                <a:spcPts val="0"/>
              </a:spcBef>
              <a:spcAft>
                <a:spcPts val="0"/>
              </a:spcAft>
            </a:pPr>
            <a:r>
              <a:rPr lang="en-US" sz="1100" b="0" i="0">
                <a:solidFill>
                  <a:srgbClr val="334155"/>
                </a:solidFill>
                <a:latin typeface="Calibri"/>
              </a:rPr>
              <a:t>Metrics used to prioritize backlog (which systems are thinly described), justify connector work, and show progress to sponsors.</a:t>
            </a:r>
            <a:endParaRPr sz="1100" b="0" i="0">
              <a:solidFill>
                <a:srgbClr val="334155"/>
              </a:solidFill>
              <a:latin typeface="Calibri"/>
            </a:endParaRPr>
          </a:p>
        </p:txBody>
      </p:sp>
      <p:sp>
        <p:nvSpPr>
          <p:cNvPr id="14" name="Rounded Rectangle 13"/>
          <p:cNvSpPr/>
          <p:nvPr/>
        </p:nvSpPr>
        <p:spPr>
          <a:xfrm>
            <a:off x="411480" y="2926079"/>
            <a:ext cx="5582412" cy="1042415"/>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12648" y="3079123"/>
            <a:ext cx="256032" cy="9144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2648" y="3179707"/>
            <a:ext cx="5180075" cy="329184"/>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1275" b="1" i="0">
                <a:solidFill>
                  <a:srgbClr val="152342"/>
                </a:solidFill>
                <a:latin typeface="Calibri"/>
              </a:rPr>
              <a:t>Interpret with care</a:t>
            </a:r>
          </a:p>
        </p:txBody>
      </p:sp>
      <p:sp>
        <p:nvSpPr>
          <p:cNvPr id="17" name="TextBox 16"/>
          <p:cNvSpPr txBox="1"/>
          <p:nvPr/>
        </p:nvSpPr>
        <p:spPr>
          <a:xfrm>
            <a:off x="612648" y="3527178"/>
            <a:ext cx="5180075" cy="444481"/>
          </a:xfrm>
          <a:prstGeom prst="rect">
            <a:avLst/>
          </a:prstGeom>
          <a:noFill/>
        </p:spPr>
        <p:txBody>
          <a:bodyPr wrap="square" lIns="36576" tIns="18288" rIns="36576" bIns="18288" anchor="t">
            <a:spAutoFit/>
          </a:bodyPr>
          <a:lstStyle/>
          <a:p>
            <a:pPr algn="l">
              <a:lnSpc>
                <a:spcPct val="125000"/>
              </a:lnSpc>
              <a:spcBef>
                <a:spcPts val="0"/>
              </a:spcBef>
              <a:spcAft>
                <a:spcPts val="0"/>
              </a:spcAft>
            </a:pPr>
            <a:r>
              <a:rPr lang="en-US" sz="1100" b="0" i="0">
                <a:solidFill>
                  <a:srgbClr val="334155"/>
                </a:solidFill>
                <a:latin typeface="Calibri"/>
              </a:rPr>
              <a:t>These metrics should be read as directional indicators, interpreted with stewards and tooling context — not treated as a single governance health score</a:t>
            </a:r>
            <a:r>
              <a:rPr sz="1100" b="0" i="0">
                <a:solidFill>
                  <a:srgbClr val="334155"/>
                </a:solidFill>
                <a:latin typeface="Calibri"/>
              </a:rPr>
              <a:t>.</a:t>
            </a:r>
          </a:p>
        </p:txBody>
      </p:sp>
      <p:sp>
        <p:nvSpPr>
          <p:cNvPr id="22" name="Rounded Rectangle 21"/>
          <p:cNvSpPr/>
          <p:nvPr/>
        </p:nvSpPr>
        <p:spPr>
          <a:xfrm>
            <a:off x="411480" y="4151376"/>
            <a:ext cx="2690622" cy="221284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11480" y="4151376"/>
            <a:ext cx="2690622"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11480" y="4590288"/>
            <a:ext cx="2690622" cy="713232"/>
          </a:xfrm>
          <a:prstGeom prst="rect">
            <a:avLst/>
          </a:prstGeom>
          <a:noFill/>
        </p:spPr>
        <p:txBody>
          <a:bodyPr wrap="square" lIns="36576" tIns="18288" rIns="36576" bIns="18288" anchor="ctr">
            <a:spAutoFit/>
          </a:bodyPr>
          <a:lstStyle/>
          <a:p>
            <a:pPr algn="ctr">
              <a:lnSpc>
                <a:spcPct val="118000"/>
              </a:lnSpc>
              <a:spcBef>
                <a:spcPts val="0"/>
              </a:spcBef>
              <a:spcAft>
                <a:spcPts val="0"/>
              </a:spcAft>
            </a:pPr>
            <a:r>
              <a:rPr sz="3800" b="1" i="0">
                <a:solidFill>
                  <a:srgbClr val="152342"/>
                </a:solidFill>
                <a:latin typeface="Calibri Light"/>
              </a:rPr>
              <a:t>~411</a:t>
            </a:r>
          </a:p>
        </p:txBody>
      </p:sp>
      <p:sp>
        <p:nvSpPr>
          <p:cNvPr id="25" name="TextBox 24"/>
          <p:cNvSpPr txBox="1"/>
          <p:nvPr/>
        </p:nvSpPr>
        <p:spPr>
          <a:xfrm>
            <a:off x="411480" y="5413248"/>
            <a:ext cx="2690622" cy="292608"/>
          </a:xfrm>
          <a:prstGeom prst="rect">
            <a:avLst/>
          </a:prstGeom>
          <a:noFill/>
        </p:spPr>
        <p:txBody>
          <a:bodyPr wrap="square" lIns="36576" tIns="18288" rIns="36576" bIns="18288" anchor="t">
            <a:spAutoFit/>
          </a:bodyPr>
          <a:lstStyle/>
          <a:p>
            <a:pPr algn="ctr">
              <a:lnSpc>
                <a:spcPct val="118000"/>
              </a:lnSpc>
              <a:spcBef>
                <a:spcPts val="0"/>
              </a:spcBef>
              <a:spcAft>
                <a:spcPts val="0"/>
              </a:spcAft>
            </a:pPr>
            <a:r>
              <a:rPr sz="1250" b="1" i="0">
                <a:solidFill>
                  <a:srgbClr val="152342"/>
                </a:solidFill>
                <a:latin typeface="Calibri"/>
              </a:rPr>
              <a:t>Avg monthly users</a:t>
            </a:r>
          </a:p>
        </p:txBody>
      </p:sp>
      <p:sp>
        <p:nvSpPr>
          <p:cNvPr id="26" name="TextBox 25"/>
          <p:cNvSpPr txBox="1"/>
          <p:nvPr/>
        </p:nvSpPr>
        <p:spPr>
          <a:xfrm>
            <a:off x="502920" y="5724144"/>
            <a:ext cx="2507741" cy="566928"/>
          </a:xfrm>
          <a:prstGeom prst="rect">
            <a:avLst/>
          </a:prstGeom>
          <a:noFill/>
        </p:spPr>
        <p:txBody>
          <a:bodyPr wrap="square" lIns="36576" tIns="18288" rIns="36576" bIns="18288" anchor="t">
            <a:spAutoFit/>
          </a:bodyPr>
          <a:lstStyle/>
          <a:p>
            <a:pPr algn="ctr">
              <a:lnSpc>
                <a:spcPct val="115000"/>
              </a:lnSpc>
              <a:spcBef>
                <a:spcPts val="0"/>
              </a:spcBef>
              <a:spcAft>
                <a:spcPts val="0"/>
              </a:spcAft>
            </a:pPr>
            <a:r>
              <a:rPr sz="1125" b="0" i="0">
                <a:solidFill>
                  <a:srgbClr val="475569"/>
                </a:solidFill>
                <a:latin typeface="Calibri"/>
              </a:rPr>
              <a:t>Sustained reliance on the catalog</a:t>
            </a:r>
          </a:p>
          <a:p>
            <a:pPr algn="ctr">
              <a:lnSpc>
                <a:spcPct val="115000"/>
              </a:lnSpc>
              <a:spcBef>
                <a:spcPts val="0"/>
              </a:spcBef>
              <a:spcAft>
                <a:spcPts val="0"/>
              </a:spcAft>
            </a:pPr>
            <a:r>
              <a:rPr sz="1125" b="0" i="0">
                <a:solidFill>
                  <a:srgbClr val="475569"/>
                </a:solidFill>
                <a:latin typeface="Calibri"/>
              </a:rPr>
              <a:t>for discovery and reference</a:t>
            </a:r>
          </a:p>
        </p:txBody>
      </p:sp>
      <p:sp>
        <p:nvSpPr>
          <p:cNvPr id="27" name="Rounded Rectangle 26"/>
          <p:cNvSpPr/>
          <p:nvPr/>
        </p:nvSpPr>
        <p:spPr>
          <a:xfrm>
            <a:off x="3303270" y="4151376"/>
            <a:ext cx="2690622" cy="221284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303270" y="4151376"/>
            <a:ext cx="2690622" cy="914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303270" y="4590288"/>
            <a:ext cx="2690622" cy="713232"/>
          </a:xfrm>
          <a:prstGeom prst="rect">
            <a:avLst/>
          </a:prstGeom>
          <a:noFill/>
        </p:spPr>
        <p:txBody>
          <a:bodyPr wrap="square" lIns="36576" tIns="18288" rIns="36576" bIns="18288" anchor="ctr">
            <a:spAutoFit/>
          </a:bodyPr>
          <a:lstStyle/>
          <a:p>
            <a:pPr algn="ctr">
              <a:lnSpc>
                <a:spcPct val="118000"/>
              </a:lnSpc>
              <a:spcBef>
                <a:spcPts val="0"/>
              </a:spcBef>
              <a:spcAft>
                <a:spcPts val="0"/>
              </a:spcAft>
            </a:pPr>
            <a:r>
              <a:rPr sz="3800" b="1" i="0">
                <a:solidFill>
                  <a:srgbClr val="152342"/>
                </a:solidFill>
                <a:latin typeface="Calibri Light"/>
              </a:rPr>
              <a:t>~7,200</a:t>
            </a:r>
          </a:p>
        </p:txBody>
      </p:sp>
      <p:sp>
        <p:nvSpPr>
          <p:cNvPr id="30" name="TextBox 29"/>
          <p:cNvSpPr txBox="1"/>
          <p:nvPr/>
        </p:nvSpPr>
        <p:spPr>
          <a:xfrm>
            <a:off x="3303270" y="5413248"/>
            <a:ext cx="2690622" cy="292608"/>
          </a:xfrm>
          <a:prstGeom prst="rect">
            <a:avLst/>
          </a:prstGeom>
          <a:noFill/>
        </p:spPr>
        <p:txBody>
          <a:bodyPr wrap="square" lIns="36576" tIns="18288" rIns="36576" bIns="18288" anchor="t">
            <a:spAutoFit/>
          </a:bodyPr>
          <a:lstStyle/>
          <a:p>
            <a:pPr algn="ctr">
              <a:lnSpc>
                <a:spcPct val="118000"/>
              </a:lnSpc>
              <a:spcBef>
                <a:spcPts val="0"/>
              </a:spcBef>
              <a:spcAft>
                <a:spcPts val="0"/>
              </a:spcAft>
            </a:pPr>
            <a:r>
              <a:rPr sz="1250" b="1" i="0">
                <a:solidFill>
                  <a:srgbClr val="152342"/>
                </a:solidFill>
                <a:latin typeface="Calibri"/>
              </a:rPr>
              <a:t>Avg page views / mo</a:t>
            </a:r>
          </a:p>
        </p:txBody>
      </p:sp>
      <p:sp>
        <p:nvSpPr>
          <p:cNvPr id="31" name="TextBox 30"/>
          <p:cNvSpPr txBox="1"/>
          <p:nvPr/>
        </p:nvSpPr>
        <p:spPr>
          <a:xfrm>
            <a:off x="3394710" y="5724144"/>
            <a:ext cx="2507741" cy="566928"/>
          </a:xfrm>
          <a:prstGeom prst="rect">
            <a:avLst/>
          </a:prstGeom>
          <a:noFill/>
        </p:spPr>
        <p:txBody>
          <a:bodyPr wrap="square" lIns="36576" tIns="18288" rIns="36576" bIns="18288" anchor="t">
            <a:spAutoFit/>
          </a:bodyPr>
          <a:lstStyle/>
          <a:p>
            <a:pPr algn="ctr">
              <a:lnSpc>
                <a:spcPct val="115000"/>
              </a:lnSpc>
              <a:spcBef>
                <a:spcPts val="0"/>
              </a:spcBef>
              <a:spcAft>
                <a:spcPts val="0"/>
              </a:spcAft>
            </a:pPr>
            <a:r>
              <a:rPr sz="1125" b="0" i="0">
                <a:solidFill>
                  <a:srgbClr val="475569"/>
                </a:solidFill>
                <a:latin typeface="Calibri"/>
              </a:rPr>
              <a:t>Repeated access to object pages,</a:t>
            </a:r>
          </a:p>
          <a:p>
            <a:pPr algn="ctr">
              <a:lnSpc>
                <a:spcPct val="115000"/>
              </a:lnSpc>
              <a:spcBef>
                <a:spcPts val="0"/>
              </a:spcBef>
              <a:spcAft>
                <a:spcPts val="0"/>
              </a:spcAft>
            </a:pPr>
            <a:r>
              <a:rPr sz="1125" b="0" i="0">
                <a:solidFill>
                  <a:srgbClr val="475569"/>
                </a:solidFill>
                <a:latin typeface="Calibri"/>
              </a:rPr>
              <a:t>lineage, and glossary content</a:t>
            </a:r>
          </a:p>
        </p:txBody>
      </p:sp>
      <p:sp>
        <p:nvSpPr>
          <p:cNvPr id="32" name="Rounded Rectangle 31"/>
          <p:cNvSpPr/>
          <p:nvPr/>
        </p:nvSpPr>
        <p:spPr>
          <a:xfrm>
            <a:off x="6195060" y="4151376"/>
            <a:ext cx="2690622" cy="221284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195060" y="4151376"/>
            <a:ext cx="2690622" cy="914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195060" y="4590288"/>
            <a:ext cx="2690622" cy="713232"/>
          </a:xfrm>
          <a:prstGeom prst="rect">
            <a:avLst/>
          </a:prstGeom>
          <a:noFill/>
        </p:spPr>
        <p:txBody>
          <a:bodyPr wrap="square" lIns="36576" tIns="18288" rIns="36576" bIns="18288" anchor="ctr">
            <a:spAutoFit/>
          </a:bodyPr>
          <a:lstStyle/>
          <a:p>
            <a:pPr algn="ctr">
              <a:lnSpc>
                <a:spcPct val="118000"/>
              </a:lnSpc>
              <a:spcBef>
                <a:spcPts val="0"/>
              </a:spcBef>
              <a:spcAft>
                <a:spcPts val="0"/>
              </a:spcAft>
            </a:pPr>
            <a:r>
              <a:rPr sz="3800" b="1" i="0">
                <a:solidFill>
                  <a:srgbClr val="152342"/>
                </a:solidFill>
                <a:latin typeface="Calibri Light"/>
              </a:rPr>
              <a:t>~5,460</a:t>
            </a:r>
          </a:p>
        </p:txBody>
      </p:sp>
      <p:sp>
        <p:nvSpPr>
          <p:cNvPr id="35" name="TextBox 34"/>
          <p:cNvSpPr txBox="1"/>
          <p:nvPr/>
        </p:nvSpPr>
        <p:spPr>
          <a:xfrm>
            <a:off x="6195060" y="5413248"/>
            <a:ext cx="2690622" cy="292608"/>
          </a:xfrm>
          <a:prstGeom prst="rect">
            <a:avLst/>
          </a:prstGeom>
          <a:noFill/>
        </p:spPr>
        <p:txBody>
          <a:bodyPr wrap="square" lIns="36576" tIns="18288" rIns="36576" bIns="18288" anchor="t">
            <a:spAutoFit/>
          </a:bodyPr>
          <a:lstStyle/>
          <a:p>
            <a:pPr algn="ctr">
              <a:lnSpc>
                <a:spcPct val="118000"/>
              </a:lnSpc>
              <a:spcBef>
                <a:spcPts val="0"/>
              </a:spcBef>
              <a:spcAft>
                <a:spcPts val="0"/>
              </a:spcAft>
            </a:pPr>
            <a:r>
              <a:rPr sz="1250" b="1" i="0">
                <a:solidFill>
                  <a:srgbClr val="152342"/>
                </a:solidFill>
                <a:latin typeface="Calibri"/>
              </a:rPr>
              <a:t>Avg searches / mo</a:t>
            </a:r>
          </a:p>
        </p:txBody>
      </p:sp>
      <p:sp>
        <p:nvSpPr>
          <p:cNvPr id="36" name="TextBox 35"/>
          <p:cNvSpPr txBox="1"/>
          <p:nvPr/>
        </p:nvSpPr>
        <p:spPr>
          <a:xfrm>
            <a:off x="6286500" y="5724144"/>
            <a:ext cx="2507741" cy="566928"/>
          </a:xfrm>
          <a:prstGeom prst="rect">
            <a:avLst/>
          </a:prstGeom>
          <a:noFill/>
        </p:spPr>
        <p:txBody>
          <a:bodyPr wrap="square" lIns="36576" tIns="18288" rIns="36576" bIns="18288" anchor="t">
            <a:spAutoFit/>
          </a:bodyPr>
          <a:lstStyle/>
          <a:p>
            <a:pPr algn="ctr">
              <a:lnSpc>
                <a:spcPct val="115000"/>
              </a:lnSpc>
              <a:spcBef>
                <a:spcPts val="0"/>
              </a:spcBef>
              <a:spcAft>
                <a:spcPts val="0"/>
              </a:spcAft>
            </a:pPr>
            <a:r>
              <a:rPr sz="1125" b="0" i="0">
                <a:solidFill>
                  <a:srgbClr val="475569"/>
                </a:solidFill>
                <a:latin typeface="Calibri"/>
              </a:rPr>
              <a:t>Search is the primary front door —</a:t>
            </a:r>
          </a:p>
          <a:p>
            <a:pPr algn="ctr">
              <a:lnSpc>
                <a:spcPct val="115000"/>
              </a:lnSpc>
              <a:spcBef>
                <a:spcPts val="0"/>
              </a:spcBef>
              <a:spcAft>
                <a:spcPts val="0"/>
              </a:spcAft>
            </a:pPr>
            <a:r>
              <a:rPr sz="1125" b="0" i="0">
                <a:solidFill>
                  <a:srgbClr val="475569"/>
                </a:solidFill>
                <a:latin typeface="Calibri"/>
              </a:rPr>
              <a:t>title/description quality matters</a:t>
            </a:r>
          </a:p>
        </p:txBody>
      </p:sp>
      <p:sp>
        <p:nvSpPr>
          <p:cNvPr id="37" name="Rounded Rectangle 36"/>
          <p:cNvSpPr/>
          <p:nvPr/>
        </p:nvSpPr>
        <p:spPr>
          <a:xfrm>
            <a:off x="9086850" y="4151376"/>
            <a:ext cx="2690622" cy="221284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9086850" y="4151376"/>
            <a:ext cx="2690622"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086850" y="4590288"/>
            <a:ext cx="2690622" cy="713232"/>
          </a:xfrm>
          <a:prstGeom prst="rect">
            <a:avLst/>
          </a:prstGeom>
          <a:noFill/>
        </p:spPr>
        <p:txBody>
          <a:bodyPr wrap="square" lIns="36576" tIns="18288" rIns="36576" bIns="18288" anchor="ctr">
            <a:spAutoFit/>
          </a:bodyPr>
          <a:lstStyle/>
          <a:p>
            <a:pPr algn="ctr">
              <a:lnSpc>
                <a:spcPct val="118000"/>
              </a:lnSpc>
              <a:spcBef>
                <a:spcPts val="0"/>
              </a:spcBef>
              <a:spcAft>
                <a:spcPts val="0"/>
              </a:spcAft>
            </a:pPr>
            <a:r>
              <a:rPr sz="3800" b="1" i="0">
                <a:solidFill>
                  <a:srgbClr val="152342"/>
                </a:solidFill>
                <a:latin typeface="Calibri Light"/>
              </a:rPr>
              <a:t>~18</a:t>
            </a:r>
          </a:p>
        </p:txBody>
      </p:sp>
      <p:sp>
        <p:nvSpPr>
          <p:cNvPr id="40" name="TextBox 39"/>
          <p:cNvSpPr txBox="1"/>
          <p:nvPr/>
        </p:nvSpPr>
        <p:spPr>
          <a:xfrm>
            <a:off x="9086850" y="5413248"/>
            <a:ext cx="2690622" cy="292608"/>
          </a:xfrm>
          <a:prstGeom prst="rect">
            <a:avLst/>
          </a:prstGeom>
          <a:noFill/>
        </p:spPr>
        <p:txBody>
          <a:bodyPr wrap="square" lIns="36576" tIns="18288" rIns="36576" bIns="18288" anchor="t">
            <a:spAutoFit/>
          </a:bodyPr>
          <a:lstStyle/>
          <a:p>
            <a:pPr algn="ctr">
              <a:lnSpc>
                <a:spcPct val="118000"/>
              </a:lnSpc>
              <a:spcBef>
                <a:spcPts val="0"/>
              </a:spcBef>
              <a:spcAft>
                <a:spcPts val="0"/>
              </a:spcAft>
            </a:pPr>
            <a:r>
              <a:rPr sz="1250" b="1" i="0">
                <a:solidFill>
                  <a:srgbClr val="152342"/>
                </a:solidFill>
                <a:latin typeface="Calibri"/>
              </a:rPr>
              <a:t>Avg query executions</a:t>
            </a:r>
          </a:p>
        </p:txBody>
      </p:sp>
      <p:sp>
        <p:nvSpPr>
          <p:cNvPr id="41" name="TextBox 40"/>
          <p:cNvSpPr txBox="1"/>
          <p:nvPr/>
        </p:nvSpPr>
        <p:spPr>
          <a:xfrm>
            <a:off x="9178290" y="5724144"/>
            <a:ext cx="2507741" cy="566928"/>
          </a:xfrm>
          <a:prstGeom prst="rect">
            <a:avLst/>
          </a:prstGeom>
          <a:noFill/>
        </p:spPr>
        <p:txBody>
          <a:bodyPr wrap="square" lIns="36576" tIns="18288" rIns="36576" bIns="18288" anchor="t">
            <a:spAutoFit/>
          </a:bodyPr>
          <a:lstStyle/>
          <a:p>
            <a:pPr algn="ctr">
              <a:lnSpc>
                <a:spcPct val="115000"/>
              </a:lnSpc>
              <a:spcBef>
                <a:spcPts val="0"/>
              </a:spcBef>
              <a:spcAft>
                <a:spcPts val="0"/>
              </a:spcAft>
            </a:pPr>
            <a:r>
              <a:rPr sz="1125" b="0" i="0">
                <a:solidFill>
                  <a:srgbClr val="475569"/>
                </a:solidFill>
                <a:latin typeface="Calibri"/>
              </a:rPr>
              <a:t>SQL or query activity launched</a:t>
            </a:r>
          </a:p>
          <a:p>
            <a:pPr algn="ctr">
              <a:lnSpc>
                <a:spcPct val="115000"/>
              </a:lnSpc>
              <a:spcBef>
                <a:spcPts val="0"/>
              </a:spcBef>
              <a:spcAft>
                <a:spcPts val="0"/>
              </a:spcAft>
            </a:pPr>
            <a:r>
              <a:rPr sz="1125" b="0" i="0">
                <a:solidFill>
                  <a:srgbClr val="475569"/>
                </a:solidFill>
                <a:latin typeface="Calibri"/>
              </a:rPr>
              <a:t>from catalog contexts (where tracked)</a:t>
            </a:r>
          </a:p>
        </p:txBody>
      </p:sp>
      <p:sp>
        <p:nvSpPr>
          <p:cNvPr id="42" name="TextBox 41"/>
          <p:cNvSpPr txBox="1"/>
          <p:nvPr/>
        </p:nvSpPr>
        <p:spPr>
          <a:xfrm>
            <a:off x="457200" y="6199632"/>
            <a:ext cx="11430000" cy="201168"/>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1100" b="0" i="1">
                <a:solidFill>
                  <a:srgbClr val="64748B"/>
                </a:solidFill>
                <a:latin typeface="Calibri"/>
              </a:rPr>
              <a:t>Indicative monthly averages — refresh before sharing.</a:t>
            </a:r>
          </a:p>
        </p:txBody>
      </p:sp>
      <p:sp>
        <p:nvSpPr>
          <p:cNvPr id="43" name="Rectangle 42"/>
          <p:cNvSpPr/>
          <p:nvPr/>
        </p:nvSpPr>
        <p:spPr>
          <a:xfrm>
            <a:off x="0" y="6400800"/>
            <a:ext cx="12191695"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57200" y="6473952"/>
            <a:ext cx="11277295" cy="310896"/>
          </a:xfrm>
          <a:prstGeom prst="rect">
            <a:avLst/>
          </a:prstGeom>
          <a:noFill/>
        </p:spPr>
        <p:txBody>
          <a:bodyPr wrap="square" lIns="36576" tIns="18288" rIns="36576" bIns="18288" anchor="ctr">
            <a:spAutoFit/>
          </a:bodyPr>
          <a:lstStyle/>
          <a:p>
            <a:pPr algn="l">
              <a:lnSpc>
                <a:spcPct val="118000"/>
              </a:lnSpc>
              <a:spcBef>
                <a:spcPts val="0"/>
              </a:spcBef>
              <a:spcAft>
                <a:spcPts val="0"/>
              </a:spcAft>
            </a:pPr>
            <a:r>
              <a:rPr sz="1150" b="0" i="0">
                <a:solidFill>
                  <a:srgbClr val="64748B"/>
                </a:solidFill>
                <a:latin typeface="Calibri"/>
              </a:rPr>
              <a:t>DEET Data Governance  |  May 2026  |  Alation Data Catalog Overview</a:t>
            </a:r>
          </a:p>
        </p:txBody>
      </p:sp>
      <p:sp>
        <p:nvSpPr>
          <p:cNvPr id="45" name="Rectangle 44">
            <a:extLst>
              <a:ext uri="{FF2B5EF4-FFF2-40B4-BE49-F238E27FC236}">
                <a16:creationId xmlns:a16="http://schemas.microsoft.com/office/drawing/2014/main" id="{5B7937D6-204B-9F27-5F2E-44431873F02B}"/>
              </a:ext>
            </a:extLst>
          </p:cNvPr>
          <p:cNvSpPr/>
          <p:nvPr/>
        </p:nvSpPr>
        <p:spPr>
          <a:xfrm>
            <a:off x="10744200" y="-33168"/>
            <a:ext cx="1447800" cy="524674"/>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1200" b="1">
                <a:solidFill>
                  <a:schemeClr val="tx1"/>
                </a:solidFill>
              </a:rPr>
              <a:t>Need to confirm Metrics</a:t>
            </a:r>
            <a:endParaRPr lang="en-US" sz="1200" b="1">
              <a:solidFill>
                <a:schemeClr val="tx1"/>
              </a:solidFill>
              <a:ea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DA8DA-F139-F7A6-D494-BCB5424DB03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9C42058-382E-8D43-9A1B-D4445B0DDB7E}"/>
              </a:ext>
            </a:extLst>
          </p:cNvPr>
          <p:cNvSpPr/>
          <p:nvPr/>
        </p:nvSpPr>
        <p:spPr>
          <a:xfrm>
            <a:off x="0" y="0"/>
            <a:ext cx="12191695" cy="502920"/>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1FDAEEDA-F5E3-061C-F236-7DE8EFF794D6}"/>
              </a:ext>
            </a:extLst>
          </p:cNvPr>
          <p:cNvSpPr txBox="1"/>
          <p:nvPr/>
        </p:nvSpPr>
        <p:spPr>
          <a:xfrm>
            <a:off x="457200" y="804672"/>
            <a:ext cx="11430000" cy="422873"/>
          </a:xfrm>
          <a:prstGeom prst="rect">
            <a:avLst/>
          </a:prstGeom>
          <a:noFill/>
        </p:spPr>
        <p:txBody>
          <a:bodyPr wrap="square" lIns="36576" tIns="18288" rIns="36576" bIns="18288" anchor="t">
            <a:spAutoFit/>
          </a:bodyPr>
          <a:lstStyle/>
          <a:p>
            <a:pPr algn="l">
              <a:lnSpc>
                <a:spcPct val="110000"/>
              </a:lnSpc>
              <a:spcBef>
                <a:spcPts val="0"/>
              </a:spcBef>
              <a:spcAft>
                <a:spcPts val="0"/>
              </a:spcAft>
            </a:pPr>
            <a:r>
              <a:rPr lang="en-US" sz="2400" b="1" i="0">
                <a:solidFill>
                  <a:srgbClr val="152342"/>
                </a:solidFill>
                <a:latin typeface="Calibri Light"/>
              </a:rPr>
              <a:t>AI-Enabled Use Cases with Alation and Cursor MCP</a:t>
            </a:r>
          </a:p>
        </p:txBody>
      </p:sp>
      <p:sp>
        <p:nvSpPr>
          <p:cNvPr id="43" name="Rectangle 42">
            <a:extLst>
              <a:ext uri="{FF2B5EF4-FFF2-40B4-BE49-F238E27FC236}">
                <a16:creationId xmlns:a16="http://schemas.microsoft.com/office/drawing/2014/main" id="{1ED29A31-1A50-8847-88AC-AE946ED8A37A}"/>
              </a:ext>
            </a:extLst>
          </p:cNvPr>
          <p:cNvSpPr/>
          <p:nvPr/>
        </p:nvSpPr>
        <p:spPr>
          <a:xfrm>
            <a:off x="0" y="6400800"/>
            <a:ext cx="12191695"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a:extLst>
              <a:ext uri="{FF2B5EF4-FFF2-40B4-BE49-F238E27FC236}">
                <a16:creationId xmlns:a16="http://schemas.microsoft.com/office/drawing/2014/main" id="{5ADFF172-829B-47A5-3005-7075C3BFC699}"/>
              </a:ext>
            </a:extLst>
          </p:cNvPr>
          <p:cNvSpPr txBox="1"/>
          <p:nvPr/>
        </p:nvSpPr>
        <p:spPr>
          <a:xfrm>
            <a:off x="457200" y="6473952"/>
            <a:ext cx="11277295" cy="310896"/>
          </a:xfrm>
          <a:prstGeom prst="rect">
            <a:avLst/>
          </a:prstGeom>
          <a:noFill/>
        </p:spPr>
        <p:txBody>
          <a:bodyPr wrap="square" lIns="36576" tIns="18288" rIns="36576" bIns="18288" anchor="ctr">
            <a:spAutoFit/>
          </a:bodyPr>
          <a:lstStyle/>
          <a:p>
            <a:pPr algn="l">
              <a:lnSpc>
                <a:spcPct val="118000"/>
              </a:lnSpc>
              <a:spcBef>
                <a:spcPts val="0"/>
              </a:spcBef>
              <a:spcAft>
                <a:spcPts val="0"/>
              </a:spcAft>
            </a:pPr>
            <a:r>
              <a:rPr sz="1150" b="0" i="0">
                <a:solidFill>
                  <a:srgbClr val="64748B"/>
                </a:solidFill>
                <a:latin typeface="Calibri"/>
              </a:rPr>
              <a:t>DEET Data Governance  |  May 2026  |  Alation Data Catalog Overview</a:t>
            </a:r>
          </a:p>
        </p:txBody>
      </p:sp>
      <p:sp>
        <p:nvSpPr>
          <p:cNvPr id="18" name="TextBox 17"/>
          <p:cNvSpPr txBox="1"/>
          <p:nvPr/>
        </p:nvSpPr>
        <p:spPr>
          <a:xfrm>
            <a:off x="457200" y="1315773"/>
            <a:ext cx="11277600" cy="307777"/>
          </a:xfrm>
          <a:prstGeom prst="rect">
            <a:avLst/>
          </a:prstGeom>
          <a:noFill/>
        </p:spPr>
        <p:txBody>
          <a:bodyPr wrap="square">
            <a:spAutoFit/>
          </a:bodyPr>
          <a:lstStyle/>
          <a:p>
            <a:r>
              <a:rPr sz="1400"/>
              <a:t>AI-driven use cases that accelerate data discovery, improve decision-making, and enable scalable governance across Disney Ad Platforms.</a:t>
            </a:r>
          </a:p>
        </p:txBody>
      </p:sp>
      <p:sp>
        <p:nvSpPr>
          <p:cNvPr id="19" name="Rounded Rectangle 3"/>
          <p:cNvSpPr/>
          <p:nvPr/>
        </p:nvSpPr>
        <p:spPr>
          <a:xfrm>
            <a:off x="457200" y="1778508"/>
            <a:ext cx="3625088"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21792" y="1943100"/>
            <a:ext cx="329184" cy="329184"/>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200" b="1">
                <a:solidFill>
                  <a:srgbClr val="FFFFFF"/>
                </a:solidFill>
                <a:latin typeface="Calibri"/>
              </a:defRPr>
            </a:pPr>
            <a:r>
              <a:rPr sz="1400" b="1">
                <a:solidFill>
                  <a:srgbClr val="FFFFFF"/>
                </a:solidFill>
                <a:latin typeface="Calibri"/>
              </a:rPr>
              <a:t>1</a:t>
            </a:r>
          </a:p>
        </p:txBody>
      </p:sp>
      <p:sp>
        <p:nvSpPr>
          <p:cNvPr id="21" name="TextBox 20"/>
          <p:cNvSpPr txBox="1"/>
          <p:nvPr/>
        </p:nvSpPr>
        <p:spPr>
          <a:xfrm>
            <a:off x="1078992" y="1924812"/>
            <a:ext cx="2838704" cy="323165"/>
          </a:xfrm>
          <a:prstGeom prst="rect">
            <a:avLst/>
          </a:prstGeom>
          <a:noFill/>
        </p:spPr>
        <p:txBody>
          <a:bodyPr wrap="square">
            <a:spAutoFit/>
          </a:bodyPr>
          <a:lstStyle/>
          <a:p>
            <a:r>
              <a:rPr sz="1500" b="1"/>
              <a:t>AI-Assisted Data Discovery</a:t>
            </a:r>
          </a:p>
        </p:txBody>
      </p:sp>
      <p:sp>
        <p:nvSpPr>
          <p:cNvPr id="46" name="TextBox 45"/>
          <p:cNvSpPr txBox="1"/>
          <p:nvPr/>
        </p:nvSpPr>
        <p:spPr>
          <a:xfrm>
            <a:off x="621792" y="2455164"/>
            <a:ext cx="3295904" cy="523220"/>
          </a:xfrm>
          <a:prstGeom prst="rect">
            <a:avLst/>
          </a:prstGeom>
          <a:noFill/>
        </p:spPr>
        <p:txBody>
          <a:bodyPr wrap="square">
            <a:spAutoFit/>
          </a:bodyPr>
          <a:lstStyle/>
          <a:p>
            <a:r>
              <a:rPr sz="1400"/>
              <a:t>Find trusted data in minutes using natural-language search across the catalog.</a:t>
            </a:r>
          </a:p>
        </p:txBody>
      </p:sp>
      <p:sp>
        <p:nvSpPr>
          <p:cNvPr id="47" name="Rounded Rectangle 7"/>
          <p:cNvSpPr/>
          <p:nvPr/>
        </p:nvSpPr>
        <p:spPr>
          <a:xfrm>
            <a:off x="4283456" y="1778508"/>
            <a:ext cx="3625088"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4448048" y="1943100"/>
            <a:ext cx="329184" cy="329184"/>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200" b="1">
                <a:solidFill>
                  <a:srgbClr val="FFFFFF"/>
                </a:solidFill>
                <a:latin typeface="Calibri"/>
              </a:defRPr>
            </a:pPr>
            <a:r>
              <a:rPr sz="1400" b="1">
                <a:solidFill>
                  <a:srgbClr val="FFFFFF"/>
                </a:solidFill>
                <a:latin typeface="Calibri"/>
              </a:rPr>
              <a:t>2</a:t>
            </a:r>
          </a:p>
        </p:txBody>
      </p:sp>
      <p:sp>
        <p:nvSpPr>
          <p:cNvPr id="49" name="TextBox 48"/>
          <p:cNvSpPr txBox="1"/>
          <p:nvPr/>
        </p:nvSpPr>
        <p:spPr>
          <a:xfrm>
            <a:off x="4905248" y="1924812"/>
            <a:ext cx="2838704" cy="323165"/>
          </a:xfrm>
          <a:prstGeom prst="rect">
            <a:avLst/>
          </a:prstGeom>
          <a:noFill/>
        </p:spPr>
        <p:txBody>
          <a:bodyPr wrap="square">
            <a:spAutoFit/>
          </a:bodyPr>
          <a:lstStyle/>
          <a:p>
            <a:r>
              <a:rPr sz="1500" b="1"/>
              <a:t>Automated Impact Analysis</a:t>
            </a:r>
          </a:p>
        </p:txBody>
      </p:sp>
      <p:sp>
        <p:nvSpPr>
          <p:cNvPr id="50" name="TextBox 49"/>
          <p:cNvSpPr txBox="1"/>
          <p:nvPr/>
        </p:nvSpPr>
        <p:spPr>
          <a:xfrm>
            <a:off x="4448048" y="2455164"/>
            <a:ext cx="3295904" cy="523220"/>
          </a:xfrm>
          <a:prstGeom prst="rect">
            <a:avLst/>
          </a:prstGeom>
          <a:noFill/>
        </p:spPr>
        <p:txBody>
          <a:bodyPr wrap="square">
            <a:spAutoFit/>
          </a:bodyPr>
          <a:lstStyle/>
          <a:p>
            <a:r>
              <a:rPr sz="1400"/>
              <a:t>Predict downstream impact of schema and definition changes before release.</a:t>
            </a:r>
          </a:p>
        </p:txBody>
      </p:sp>
      <p:sp>
        <p:nvSpPr>
          <p:cNvPr id="51" name="Rounded Rectangle 11"/>
          <p:cNvSpPr/>
          <p:nvPr/>
        </p:nvSpPr>
        <p:spPr>
          <a:xfrm>
            <a:off x="8109712" y="1778508"/>
            <a:ext cx="3625088"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8274304" y="1943100"/>
            <a:ext cx="329184" cy="329184"/>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200" b="1">
                <a:solidFill>
                  <a:srgbClr val="FFFFFF"/>
                </a:solidFill>
                <a:latin typeface="Calibri"/>
              </a:defRPr>
            </a:pPr>
            <a:r>
              <a:rPr sz="1400" b="1">
                <a:solidFill>
                  <a:srgbClr val="FFFFFF"/>
                </a:solidFill>
                <a:latin typeface="Calibri"/>
              </a:rPr>
              <a:t>3</a:t>
            </a:r>
          </a:p>
        </p:txBody>
      </p:sp>
      <p:sp>
        <p:nvSpPr>
          <p:cNvPr id="53" name="TextBox 52"/>
          <p:cNvSpPr txBox="1"/>
          <p:nvPr/>
        </p:nvSpPr>
        <p:spPr>
          <a:xfrm>
            <a:off x="8731504" y="1924812"/>
            <a:ext cx="2838704" cy="323165"/>
          </a:xfrm>
          <a:prstGeom prst="rect">
            <a:avLst/>
          </a:prstGeom>
          <a:noFill/>
        </p:spPr>
        <p:txBody>
          <a:bodyPr wrap="square">
            <a:spAutoFit/>
          </a:bodyPr>
          <a:lstStyle/>
          <a:p>
            <a:r>
              <a:rPr sz="1500" b="1"/>
              <a:t>Audit &amp; Compliance Reporting</a:t>
            </a:r>
          </a:p>
        </p:txBody>
      </p:sp>
      <p:sp>
        <p:nvSpPr>
          <p:cNvPr id="54" name="TextBox 53"/>
          <p:cNvSpPr txBox="1"/>
          <p:nvPr/>
        </p:nvSpPr>
        <p:spPr>
          <a:xfrm>
            <a:off x="8274304" y="2455164"/>
            <a:ext cx="3295904" cy="523220"/>
          </a:xfrm>
          <a:prstGeom prst="rect">
            <a:avLst/>
          </a:prstGeom>
          <a:noFill/>
        </p:spPr>
        <p:txBody>
          <a:bodyPr wrap="square">
            <a:spAutoFit/>
          </a:bodyPr>
          <a:lstStyle/>
          <a:p>
            <a:r>
              <a:rPr sz="1400"/>
              <a:t>Generate consistent, defensible PII, SOX, and GDPR evidence packs on demand.</a:t>
            </a:r>
          </a:p>
        </p:txBody>
      </p:sp>
      <p:sp>
        <p:nvSpPr>
          <p:cNvPr id="55" name="Rounded Rectangle 15"/>
          <p:cNvSpPr/>
          <p:nvPr/>
        </p:nvSpPr>
        <p:spPr>
          <a:xfrm>
            <a:off x="457200" y="3746754"/>
            <a:ext cx="3625088"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621792" y="3911346"/>
            <a:ext cx="329184" cy="329184"/>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200" b="1">
                <a:solidFill>
                  <a:srgbClr val="FFFFFF"/>
                </a:solidFill>
                <a:latin typeface="Calibri"/>
              </a:defRPr>
            </a:pPr>
            <a:r>
              <a:rPr sz="1400" b="1">
                <a:solidFill>
                  <a:srgbClr val="FFFFFF"/>
                </a:solidFill>
                <a:latin typeface="Calibri"/>
              </a:rPr>
              <a:t>4</a:t>
            </a:r>
          </a:p>
        </p:txBody>
      </p:sp>
      <p:sp>
        <p:nvSpPr>
          <p:cNvPr id="57" name="TextBox 56"/>
          <p:cNvSpPr txBox="1"/>
          <p:nvPr/>
        </p:nvSpPr>
        <p:spPr>
          <a:xfrm>
            <a:off x="1078992" y="3893058"/>
            <a:ext cx="2838704" cy="323165"/>
          </a:xfrm>
          <a:prstGeom prst="rect">
            <a:avLst/>
          </a:prstGeom>
          <a:noFill/>
        </p:spPr>
        <p:txBody>
          <a:bodyPr wrap="square">
            <a:spAutoFit/>
          </a:bodyPr>
          <a:lstStyle/>
          <a:p>
            <a:r>
              <a:rPr sz="1500" b="1"/>
              <a:t>Personal Data / PII Assessments</a:t>
            </a:r>
          </a:p>
        </p:txBody>
      </p:sp>
      <p:sp>
        <p:nvSpPr>
          <p:cNvPr id="58" name="TextBox 57"/>
          <p:cNvSpPr txBox="1"/>
          <p:nvPr/>
        </p:nvSpPr>
        <p:spPr>
          <a:xfrm>
            <a:off x="621792" y="4423410"/>
            <a:ext cx="3295904" cy="523220"/>
          </a:xfrm>
          <a:prstGeom prst="rect">
            <a:avLst/>
          </a:prstGeom>
          <a:noFill/>
        </p:spPr>
        <p:txBody>
          <a:bodyPr wrap="square">
            <a:spAutoFit/>
          </a:bodyPr>
          <a:lstStyle/>
          <a:p>
            <a:r>
              <a:rPr sz="1400"/>
              <a:t>Identify PII fields, classifications, and gaps to accelerate audit remediation.</a:t>
            </a:r>
          </a:p>
        </p:txBody>
      </p:sp>
      <p:sp>
        <p:nvSpPr>
          <p:cNvPr id="59" name="Rounded Rectangle 19"/>
          <p:cNvSpPr/>
          <p:nvPr/>
        </p:nvSpPr>
        <p:spPr>
          <a:xfrm>
            <a:off x="4283456" y="3746754"/>
            <a:ext cx="3625088"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4448048" y="3911346"/>
            <a:ext cx="329184" cy="329184"/>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200" b="1">
                <a:solidFill>
                  <a:srgbClr val="FFFFFF"/>
                </a:solidFill>
                <a:latin typeface="Calibri"/>
              </a:defRPr>
            </a:pPr>
            <a:r>
              <a:rPr sz="1400" b="1">
                <a:solidFill>
                  <a:srgbClr val="FFFFFF"/>
                </a:solidFill>
                <a:latin typeface="Calibri"/>
              </a:rPr>
              <a:t>5</a:t>
            </a:r>
          </a:p>
        </p:txBody>
      </p:sp>
      <p:sp>
        <p:nvSpPr>
          <p:cNvPr id="61" name="TextBox 60"/>
          <p:cNvSpPr txBox="1"/>
          <p:nvPr/>
        </p:nvSpPr>
        <p:spPr>
          <a:xfrm>
            <a:off x="4905248" y="3893058"/>
            <a:ext cx="2838704" cy="553998"/>
          </a:xfrm>
          <a:prstGeom prst="rect">
            <a:avLst/>
          </a:prstGeom>
          <a:noFill/>
        </p:spPr>
        <p:txBody>
          <a:bodyPr wrap="square">
            <a:spAutoFit/>
          </a:bodyPr>
          <a:lstStyle/>
          <a:p>
            <a:r>
              <a:rPr sz="1500" b="1"/>
              <a:t>Field-Class Definition Standardization</a:t>
            </a:r>
          </a:p>
        </p:txBody>
      </p:sp>
      <p:sp>
        <p:nvSpPr>
          <p:cNvPr id="62" name="TextBox 61"/>
          <p:cNvSpPr txBox="1"/>
          <p:nvPr/>
        </p:nvSpPr>
        <p:spPr>
          <a:xfrm>
            <a:off x="4448048" y="4423410"/>
            <a:ext cx="3295904" cy="523220"/>
          </a:xfrm>
          <a:prstGeom prst="rect">
            <a:avLst/>
          </a:prstGeom>
          <a:noFill/>
        </p:spPr>
        <p:txBody>
          <a:bodyPr wrap="square">
            <a:spAutoFit/>
          </a:bodyPr>
          <a:lstStyle/>
          <a:p>
            <a:r>
              <a:rPr sz="1400"/>
              <a:t>Standardize column definitions and inherit them automatically from source to BI.</a:t>
            </a:r>
          </a:p>
        </p:txBody>
      </p:sp>
      <p:sp>
        <p:nvSpPr>
          <p:cNvPr id="63" name="Rounded Rectangle 23"/>
          <p:cNvSpPr/>
          <p:nvPr/>
        </p:nvSpPr>
        <p:spPr>
          <a:xfrm>
            <a:off x="8109712" y="3746754"/>
            <a:ext cx="3625088"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8274304" y="3911346"/>
            <a:ext cx="329184" cy="329184"/>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200" b="1">
                <a:solidFill>
                  <a:srgbClr val="FFFFFF"/>
                </a:solidFill>
                <a:latin typeface="Calibri"/>
              </a:defRPr>
            </a:pPr>
            <a:r>
              <a:rPr sz="1400" b="1">
                <a:solidFill>
                  <a:srgbClr val="FFFFFF"/>
                </a:solidFill>
                <a:latin typeface="Calibri"/>
              </a:rPr>
              <a:t>6</a:t>
            </a:r>
          </a:p>
        </p:txBody>
      </p:sp>
      <p:sp>
        <p:nvSpPr>
          <p:cNvPr id="65" name="TextBox 64"/>
          <p:cNvSpPr txBox="1"/>
          <p:nvPr/>
        </p:nvSpPr>
        <p:spPr>
          <a:xfrm>
            <a:off x="8731504" y="3893058"/>
            <a:ext cx="2838704" cy="553998"/>
          </a:xfrm>
          <a:prstGeom prst="rect">
            <a:avLst/>
          </a:prstGeom>
          <a:noFill/>
        </p:spPr>
        <p:txBody>
          <a:bodyPr wrap="square">
            <a:spAutoFit/>
          </a:bodyPr>
          <a:lstStyle/>
          <a:p>
            <a:r>
              <a:rPr sz="1500" b="1"/>
              <a:t>Metadata Enrichment &amp; Documentation</a:t>
            </a:r>
          </a:p>
        </p:txBody>
      </p:sp>
      <p:sp>
        <p:nvSpPr>
          <p:cNvPr id="66" name="TextBox 65"/>
          <p:cNvSpPr txBox="1"/>
          <p:nvPr/>
        </p:nvSpPr>
        <p:spPr>
          <a:xfrm>
            <a:off x="8274304" y="4423410"/>
            <a:ext cx="3295904" cy="738664"/>
          </a:xfrm>
          <a:prstGeom prst="rect">
            <a:avLst/>
          </a:prstGeom>
          <a:noFill/>
        </p:spPr>
        <p:txBody>
          <a:bodyPr wrap="square">
            <a:spAutoFit/>
          </a:bodyPr>
          <a:lstStyle/>
          <a:p>
            <a:r>
              <a:rPr sz="1400"/>
              <a:t>AI-drafted descriptions, glossary links, and stewards — approved by humans, applied at scale.</a:t>
            </a:r>
          </a:p>
        </p:txBody>
      </p:sp>
      <p:sp>
        <p:nvSpPr>
          <p:cNvPr id="68" name="TextBox 67"/>
          <p:cNvSpPr txBox="1"/>
          <p:nvPr/>
        </p:nvSpPr>
        <p:spPr>
          <a:xfrm>
            <a:off x="1782775" y="5708602"/>
            <a:ext cx="9951720" cy="461665"/>
          </a:xfrm>
          <a:prstGeom prst="rect">
            <a:avLst/>
          </a:prstGeom>
          <a:noFill/>
        </p:spPr>
        <p:txBody>
          <a:bodyPr wrap="square" anchor="ctr">
            <a:spAutoFit/>
          </a:bodyPr>
          <a:lstStyle/>
          <a:p>
            <a:pPr>
              <a:defRPr sz="1300" b="1">
                <a:solidFill>
                  <a:srgbClr val="152342"/>
                </a:solidFill>
                <a:latin typeface="Calibri Light"/>
              </a:defRPr>
            </a:pPr>
            <a:r>
              <a:rPr lang="en-US" sz="1200" b="1">
                <a:solidFill>
                  <a:srgbClr val="152342"/>
                </a:solidFill>
                <a:latin typeface="Calibri Light"/>
              </a:rPr>
              <a:t>Note: Alation metadata is accessed via an internal Cursor MCP integration for read-only analysis, with restricted admin-controlled write access. This is separate from Alation’s vendor MCP.</a:t>
            </a:r>
          </a:p>
        </p:txBody>
      </p:sp>
      <p:pic>
        <p:nvPicPr>
          <p:cNvPr id="40" name="Picture 39">
            <a:extLst>
              <a:ext uri="{FF2B5EF4-FFF2-40B4-BE49-F238E27FC236}">
                <a16:creationId xmlns:a16="http://schemas.microsoft.com/office/drawing/2014/main" id="{5E4DC1BD-AC50-3CF8-0E55-23DFDEF204CE}"/>
              </a:ext>
            </a:extLst>
          </p:cNvPr>
          <p:cNvPicPr>
            <a:picLocks noChangeAspect="1"/>
          </p:cNvPicPr>
          <p:nvPr/>
        </p:nvPicPr>
        <p:blipFill>
          <a:blip r:embed="rId2"/>
          <a:stretch>
            <a:fillRect/>
          </a:stretch>
        </p:blipFill>
        <p:spPr>
          <a:xfrm>
            <a:off x="602229" y="5713583"/>
            <a:ext cx="1149191" cy="451705"/>
          </a:xfrm>
          <a:prstGeom prst="rect">
            <a:avLst/>
          </a:prstGeom>
        </p:spPr>
      </p:pic>
      <p:sp>
        <p:nvSpPr>
          <p:cNvPr id="5" name="TextBox 4">
            <a:extLst>
              <a:ext uri="{FF2B5EF4-FFF2-40B4-BE49-F238E27FC236}">
                <a16:creationId xmlns:a16="http://schemas.microsoft.com/office/drawing/2014/main" id="{E8F2C87B-9930-121B-DE89-151F9D182FFC}"/>
              </a:ext>
            </a:extLst>
          </p:cNvPr>
          <p:cNvSpPr txBox="1"/>
          <p:nvPr/>
        </p:nvSpPr>
        <p:spPr>
          <a:xfrm>
            <a:off x="9839074" y="661938"/>
            <a:ext cx="2079056" cy="461665"/>
          </a:xfrm>
          <a:prstGeom prst="rect">
            <a:avLst/>
          </a:prstGeom>
          <a:solidFill>
            <a:schemeClr val="accent2">
              <a:lumMod val="20000"/>
              <a:lumOff val="80000"/>
            </a:schemeClr>
          </a:solidFill>
        </p:spPr>
        <p:txBody>
          <a:bodyPr wrap="square" rtlCol="0">
            <a:spAutoFit/>
          </a:bodyPr>
          <a:lstStyle/>
          <a:p>
            <a:pPr algn="ctr"/>
            <a:r>
              <a:rPr lang="en-US" sz="1200" b="1"/>
              <a:t>Please see Appendix for additional details</a:t>
            </a:r>
          </a:p>
        </p:txBody>
      </p:sp>
    </p:spTree>
    <p:extLst>
      <p:ext uri="{BB962C8B-B14F-4D97-AF65-F5344CB8AC3E}">
        <p14:creationId xmlns:p14="http://schemas.microsoft.com/office/powerpoint/2010/main" val="16743797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E66F7-E872-FEF4-5FD1-08B3F6AABD5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168689E-1312-E395-9C0F-520F6645DC5C}"/>
              </a:ext>
            </a:extLst>
          </p:cNvPr>
          <p:cNvSpPr/>
          <p:nvPr/>
        </p:nvSpPr>
        <p:spPr>
          <a:xfrm>
            <a:off x="0" y="0"/>
            <a:ext cx="12191695" cy="502920"/>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F8EC4DA-9B19-120B-6AB9-0CE1FED245C7}"/>
              </a:ext>
            </a:extLst>
          </p:cNvPr>
          <p:cNvSpPr txBox="1"/>
          <p:nvPr/>
        </p:nvSpPr>
        <p:spPr>
          <a:xfrm>
            <a:off x="457200" y="804672"/>
            <a:ext cx="11430000" cy="406265"/>
          </a:xfrm>
          <a:prstGeom prst="rect">
            <a:avLst/>
          </a:prstGeom>
          <a:noFill/>
        </p:spPr>
        <p:txBody>
          <a:bodyPr wrap="square" lIns="36576" tIns="18288" rIns="36576" bIns="18288" anchor="t">
            <a:spAutoFit/>
          </a:bodyPr>
          <a:lstStyle/>
          <a:p>
            <a:pPr rtl="0"/>
            <a:r>
              <a:rPr lang="en-US" sz="2400" b="1" i="0" u="none" strike="noStrike" kern="1200" baseline="0">
                <a:solidFill>
                  <a:srgbClr val="152342"/>
                </a:solidFill>
                <a:latin typeface="Calibri Light" panose="020F0302020204030204" pitchFamily="34" charset="0"/>
              </a:rPr>
              <a:t>Data Governance Tools and Capabilities in Development</a:t>
            </a:r>
          </a:p>
        </p:txBody>
      </p:sp>
      <p:sp>
        <p:nvSpPr>
          <p:cNvPr id="43" name="Rectangle 42">
            <a:extLst>
              <a:ext uri="{FF2B5EF4-FFF2-40B4-BE49-F238E27FC236}">
                <a16:creationId xmlns:a16="http://schemas.microsoft.com/office/drawing/2014/main" id="{EFEFC2BB-26FA-2DC2-C759-8335DA3D33B0}"/>
              </a:ext>
            </a:extLst>
          </p:cNvPr>
          <p:cNvSpPr/>
          <p:nvPr/>
        </p:nvSpPr>
        <p:spPr>
          <a:xfrm>
            <a:off x="0" y="6400800"/>
            <a:ext cx="12191695"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a:extLst>
              <a:ext uri="{FF2B5EF4-FFF2-40B4-BE49-F238E27FC236}">
                <a16:creationId xmlns:a16="http://schemas.microsoft.com/office/drawing/2014/main" id="{AC7F3DED-E8DB-4896-1497-5EDB33B8C824}"/>
              </a:ext>
            </a:extLst>
          </p:cNvPr>
          <p:cNvSpPr txBox="1"/>
          <p:nvPr/>
        </p:nvSpPr>
        <p:spPr>
          <a:xfrm>
            <a:off x="457200" y="6473952"/>
            <a:ext cx="11277295" cy="310896"/>
          </a:xfrm>
          <a:prstGeom prst="rect">
            <a:avLst/>
          </a:prstGeom>
          <a:noFill/>
        </p:spPr>
        <p:txBody>
          <a:bodyPr wrap="square" lIns="36576" tIns="18288" rIns="36576" bIns="18288" anchor="ctr">
            <a:spAutoFit/>
          </a:bodyPr>
          <a:lstStyle/>
          <a:p>
            <a:pPr algn="l">
              <a:lnSpc>
                <a:spcPct val="118000"/>
              </a:lnSpc>
              <a:spcBef>
                <a:spcPts val="0"/>
              </a:spcBef>
              <a:spcAft>
                <a:spcPts val="0"/>
              </a:spcAft>
            </a:pPr>
            <a:r>
              <a:rPr sz="1150" b="0" i="0">
                <a:solidFill>
                  <a:srgbClr val="64748B"/>
                </a:solidFill>
                <a:latin typeface="Calibri"/>
              </a:rPr>
              <a:t>DEET Data Governance  |  May 2026  |  Alation Data Catalog Overview</a:t>
            </a:r>
          </a:p>
        </p:txBody>
      </p:sp>
      <p:sp>
        <p:nvSpPr>
          <p:cNvPr id="4" name="TextBox 3"/>
          <p:cNvSpPr txBox="1"/>
          <p:nvPr/>
        </p:nvSpPr>
        <p:spPr>
          <a:xfrm>
            <a:off x="457200" y="1245489"/>
            <a:ext cx="11277600" cy="276999"/>
          </a:xfrm>
          <a:prstGeom prst="rect">
            <a:avLst/>
          </a:prstGeom>
          <a:noFill/>
        </p:spPr>
        <p:txBody>
          <a:bodyPr wrap="square">
            <a:spAutoFit/>
          </a:bodyPr>
          <a:lstStyle/>
          <a:p>
            <a:pPr>
              <a:defRPr sz="1200" b="0">
                <a:solidFill>
                  <a:srgbClr val="475569"/>
                </a:solidFill>
                <a:latin typeface="Calibri"/>
              </a:defRPr>
            </a:pPr>
            <a:r>
              <a:rPr lang="en-US" sz="1200" b="0">
                <a:solidFill>
                  <a:srgbClr val="475569"/>
                </a:solidFill>
                <a:latin typeface="Calibri"/>
              </a:rPr>
              <a:t>AI-driven tools being developed and deployed on Alation, built using Cursor and MCP to improve visibility, reduce risk, and scale governance.</a:t>
            </a:r>
            <a:endParaRPr sz="1200" b="0">
              <a:solidFill>
                <a:srgbClr val="FF0000"/>
              </a:solidFill>
              <a:latin typeface="Calibri"/>
            </a:endParaRPr>
          </a:p>
        </p:txBody>
      </p:sp>
      <p:sp>
        <p:nvSpPr>
          <p:cNvPr id="34" name="TextBox 33"/>
          <p:cNvSpPr txBox="1"/>
          <p:nvPr/>
        </p:nvSpPr>
        <p:spPr>
          <a:xfrm>
            <a:off x="640080" y="5941805"/>
            <a:ext cx="10911840" cy="292388"/>
          </a:xfrm>
          <a:prstGeom prst="rect">
            <a:avLst/>
          </a:prstGeom>
          <a:noFill/>
        </p:spPr>
        <p:txBody>
          <a:bodyPr wrap="square" anchor="ctr">
            <a:spAutoFit/>
          </a:bodyPr>
          <a:lstStyle/>
          <a:p>
            <a:pPr>
              <a:defRPr sz="1300" b="1">
                <a:solidFill>
                  <a:srgbClr val="152342"/>
                </a:solidFill>
                <a:latin typeface="Calibri Light"/>
              </a:defRPr>
            </a:pPr>
            <a:r>
              <a:rPr sz="1300" b="1">
                <a:solidFill>
                  <a:srgbClr val="152342"/>
                </a:solidFill>
                <a:latin typeface="Calibri Light"/>
              </a:rPr>
              <a:t>AI-enabled tooling on top of trusted metadata is transforming governance from manual processes into scalable, intelligent systems.</a:t>
            </a:r>
          </a:p>
        </p:txBody>
      </p:sp>
      <p:sp>
        <p:nvSpPr>
          <p:cNvPr id="19" name="TextBox 18">
            <a:extLst>
              <a:ext uri="{FF2B5EF4-FFF2-40B4-BE49-F238E27FC236}">
                <a16:creationId xmlns:a16="http://schemas.microsoft.com/office/drawing/2014/main" id="{B4F6E160-621A-B502-718D-9B8436A56AA8}"/>
              </a:ext>
            </a:extLst>
          </p:cNvPr>
          <p:cNvSpPr txBox="1"/>
          <p:nvPr/>
        </p:nvSpPr>
        <p:spPr>
          <a:xfrm>
            <a:off x="9839074" y="661938"/>
            <a:ext cx="2079056" cy="646331"/>
          </a:xfrm>
          <a:prstGeom prst="rect">
            <a:avLst/>
          </a:prstGeom>
          <a:solidFill>
            <a:schemeClr val="accent2">
              <a:lumMod val="20000"/>
              <a:lumOff val="80000"/>
            </a:schemeClr>
          </a:solidFill>
        </p:spPr>
        <p:txBody>
          <a:bodyPr wrap="square" rtlCol="0">
            <a:spAutoFit/>
          </a:bodyPr>
          <a:lstStyle/>
          <a:p>
            <a:pPr algn="ctr"/>
            <a:r>
              <a:rPr lang="en-US" sz="1200" b="1"/>
              <a:t>All tools developed or in development by Srikanth Gurram</a:t>
            </a:r>
          </a:p>
        </p:txBody>
      </p:sp>
      <p:sp>
        <p:nvSpPr>
          <p:cNvPr id="45" name="Rounded Rectangle 44"/>
          <p:cNvSpPr/>
          <p:nvPr/>
        </p:nvSpPr>
        <p:spPr>
          <a:xfrm>
            <a:off x="454152" y="1636776"/>
            <a:ext cx="5522976"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637032" y="1819656"/>
            <a:ext cx="384048" cy="384048"/>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300" b="1">
                <a:solidFill>
                  <a:srgbClr val="FFFFFF"/>
                </a:solidFill>
                <a:latin typeface="Calibri"/>
              </a:defRPr>
            </a:pPr>
            <a:r>
              <a:rPr sz="1300" b="1">
                <a:solidFill>
                  <a:srgbClr val="FFFFFF"/>
                </a:solidFill>
                <a:latin typeface="Calibri"/>
              </a:rPr>
              <a:t>1</a:t>
            </a:r>
          </a:p>
        </p:txBody>
      </p:sp>
      <p:sp>
        <p:nvSpPr>
          <p:cNvPr id="47" name="Rounded Rectangle 46"/>
          <p:cNvSpPr/>
          <p:nvPr/>
        </p:nvSpPr>
        <p:spPr>
          <a:xfrm>
            <a:off x="4605528" y="1856232"/>
            <a:ext cx="1188720" cy="237744"/>
          </a:xfrm>
          <a:prstGeom prst="roundRect">
            <a:avLst/>
          </a:prstGeom>
          <a:solidFill>
            <a:srgbClr val="92D050"/>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1E40AF"/>
                </a:solidFill>
                <a:latin typeface="Calibri"/>
              </a:defRPr>
            </a:pPr>
            <a:r>
              <a:rPr sz="1200" b="1">
                <a:solidFill>
                  <a:schemeClr val="tx1"/>
                </a:solidFill>
                <a:latin typeface="Calibri"/>
              </a:rPr>
              <a:t>Production</a:t>
            </a:r>
          </a:p>
        </p:txBody>
      </p:sp>
      <p:sp>
        <p:nvSpPr>
          <p:cNvPr id="48" name="TextBox 47"/>
          <p:cNvSpPr txBox="1"/>
          <p:nvPr/>
        </p:nvSpPr>
        <p:spPr>
          <a:xfrm>
            <a:off x="1167384" y="1746504"/>
            <a:ext cx="3346704" cy="786384"/>
          </a:xfrm>
          <a:prstGeom prst="rect">
            <a:avLst/>
          </a:prstGeom>
          <a:noFill/>
        </p:spPr>
        <p:txBody>
          <a:bodyPr wrap="square" lIns="0" tIns="0" rIns="0" bIns="0">
            <a:spAutoFit/>
          </a:bodyPr>
          <a:lstStyle/>
          <a:p>
            <a:pPr>
              <a:lnSpc>
                <a:spcPct val="102000"/>
              </a:lnSpc>
              <a:defRPr sz="1600" b="1">
                <a:solidFill>
                  <a:srgbClr val="152342"/>
                </a:solidFill>
                <a:latin typeface="Calibri Light"/>
              </a:defRPr>
            </a:pPr>
            <a:r>
              <a:rPr sz="1600" b="1">
                <a:solidFill>
                  <a:srgbClr val="152342"/>
                </a:solidFill>
                <a:latin typeface="Calibri Light"/>
              </a:rPr>
              <a:t>Data Lineage Finder Tool</a:t>
            </a:r>
          </a:p>
          <a:p>
            <a:pPr>
              <a:lnSpc>
                <a:spcPct val="105000"/>
              </a:lnSpc>
              <a:defRPr sz="1200" b="1">
                <a:solidFill>
                  <a:srgbClr val="334155"/>
                </a:solidFill>
                <a:latin typeface="Calibri Light"/>
              </a:defRPr>
            </a:pPr>
            <a:r>
              <a:rPr sz="1200" b="1">
                <a:solidFill>
                  <a:srgbClr val="334155"/>
                </a:solidFill>
                <a:latin typeface="Calibri Light"/>
              </a:rPr>
              <a:t>Technology: Alation + React JS &amp; Fast API</a:t>
            </a:r>
          </a:p>
        </p:txBody>
      </p:sp>
      <p:cxnSp>
        <p:nvCxnSpPr>
          <p:cNvPr id="49" name="Connector 48"/>
          <p:cNvCxnSpPr/>
          <p:nvPr/>
        </p:nvCxnSpPr>
        <p:spPr>
          <a:xfrm>
            <a:off x="637032" y="2551176"/>
            <a:ext cx="5157216"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37032" y="2624328"/>
            <a:ext cx="5157216" cy="877824"/>
          </a:xfrm>
          <a:prstGeom prst="rect">
            <a:avLst/>
          </a:prstGeom>
          <a:noFill/>
        </p:spPr>
        <p:txBody>
          <a:bodyPr wrap="square" lIns="0" tIns="0" rIns="0" bIns="0" anchor="t">
            <a:spAutoFit/>
          </a:bodyPr>
          <a:lstStyle/>
          <a:p>
            <a:pPr algn="l">
              <a:lnSpc>
                <a:spcPct val="115000"/>
              </a:lnSpc>
              <a:spcAft>
                <a:spcPts val="300"/>
              </a:spcAft>
            </a:pPr>
            <a:r>
              <a:rPr sz="1100" b="1">
                <a:solidFill>
                  <a:srgbClr val="152342"/>
                </a:solidFill>
                <a:latin typeface="Calibri"/>
              </a:rPr>
              <a:t>What it does:  </a:t>
            </a:r>
            <a:r>
              <a:rPr sz="1100">
                <a:solidFill>
                  <a:srgbClr val="334155"/>
                </a:solidFill>
                <a:latin typeface="Calibri"/>
              </a:rPr>
              <a:t>Dynamically surfaces upstream and downstream lineage using catalog metadata and MCP.</a:t>
            </a:r>
          </a:p>
          <a:p>
            <a:pPr algn="l">
              <a:lnSpc>
                <a:spcPct val="115000"/>
              </a:lnSpc>
              <a:spcAft>
                <a:spcPts val="0"/>
              </a:spcAft>
            </a:pPr>
            <a:r>
              <a:rPr sz="1100" b="1">
                <a:solidFill>
                  <a:srgbClr val="152342"/>
                </a:solidFill>
                <a:latin typeface="Calibri"/>
              </a:rPr>
              <a:t>Impact:  </a:t>
            </a:r>
            <a:r>
              <a:rPr sz="1100">
                <a:solidFill>
                  <a:srgbClr val="334155"/>
                </a:solidFill>
                <a:latin typeface="Calibri"/>
              </a:rPr>
              <a:t>Accelerates impact analysis, change management, and incident triage.</a:t>
            </a:r>
          </a:p>
        </p:txBody>
      </p:sp>
      <p:sp>
        <p:nvSpPr>
          <p:cNvPr id="51" name="Rounded Rectangle 50"/>
          <p:cNvSpPr/>
          <p:nvPr/>
        </p:nvSpPr>
        <p:spPr>
          <a:xfrm>
            <a:off x="6214872" y="1636776"/>
            <a:ext cx="5522976"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6397752" y="1819656"/>
            <a:ext cx="384048" cy="384048"/>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300" b="1">
                <a:solidFill>
                  <a:srgbClr val="FFFFFF"/>
                </a:solidFill>
                <a:latin typeface="Calibri"/>
              </a:defRPr>
            </a:pPr>
            <a:r>
              <a:rPr sz="1300" b="1">
                <a:solidFill>
                  <a:srgbClr val="FFFFFF"/>
                </a:solidFill>
                <a:latin typeface="Calibri"/>
              </a:rPr>
              <a:t>2</a:t>
            </a:r>
          </a:p>
        </p:txBody>
      </p:sp>
      <p:sp>
        <p:nvSpPr>
          <p:cNvPr id="53" name="Rounded Rectangle 52"/>
          <p:cNvSpPr/>
          <p:nvPr/>
        </p:nvSpPr>
        <p:spPr>
          <a:xfrm>
            <a:off x="10366248" y="1856232"/>
            <a:ext cx="1188720" cy="237744"/>
          </a:xfrm>
          <a:prstGeom prst="roundRect">
            <a:avLst/>
          </a:prstGeom>
          <a:solidFill>
            <a:srgbClr val="92D050"/>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chemeClr val="tx1"/>
                </a:solidFill>
                <a:latin typeface="Calibri"/>
              </a:rPr>
              <a:t>Production</a:t>
            </a:r>
          </a:p>
        </p:txBody>
      </p:sp>
      <p:sp>
        <p:nvSpPr>
          <p:cNvPr id="54" name="TextBox 53"/>
          <p:cNvSpPr txBox="1"/>
          <p:nvPr/>
        </p:nvSpPr>
        <p:spPr>
          <a:xfrm>
            <a:off x="6928104" y="1746504"/>
            <a:ext cx="3346704" cy="786384"/>
          </a:xfrm>
          <a:prstGeom prst="rect">
            <a:avLst/>
          </a:prstGeom>
          <a:noFill/>
        </p:spPr>
        <p:txBody>
          <a:bodyPr wrap="square" lIns="0" tIns="0" rIns="0" bIns="0">
            <a:spAutoFit/>
          </a:bodyPr>
          <a:lstStyle/>
          <a:p>
            <a:pPr>
              <a:lnSpc>
                <a:spcPct val="102000"/>
              </a:lnSpc>
              <a:defRPr sz="1600" b="1">
                <a:solidFill>
                  <a:srgbClr val="152342"/>
                </a:solidFill>
                <a:latin typeface="Calibri Light"/>
              </a:defRPr>
            </a:pPr>
            <a:r>
              <a:rPr sz="1600" b="1">
                <a:solidFill>
                  <a:srgbClr val="152342"/>
                </a:solidFill>
                <a:latin typeface="Calibri Light"/>
              </a:rPr>
              <a:t>Alation Curation Dashboard</a:t>
            </a:r>
          </a:p>
          <a:p>
            <a:pPr>
              <a:lnSpc>
                <a:spcPct val="105000"/>
              </a:lnSpc>
              <a:defRPr sz="1200" b="1">
                <a:solidFill>
                  <a:srgbClr val="334155"/>
                </a:solidFill>
                <a:latin typeface="Calibri Light"/>
              </a:defRPr>
            </a:pPr>
            <a:r>
              <a:rPr sz="1200" b="1">
                <a:solidFill>
                  <a:srgbClr val="334155"/>
                </a:solidFill>
                <a:latin typeface="Calibri Light"/>
              </a:rPr>
              <a:t>Technology: Alation + MicroStrategy</a:t>
            </a:r>
          </a:p>
        </p:txBody>
      </p:sp>
      <p:cxnSp>
        <p:nvCxnSpPr>
          <p:cNvPr id="55" name="Connector 54"/>
          <p:cNvCxnSpPr/>
          <p:nvPr/>
        </p:nvCxnSpPr>
        <p:spPr>
          <a:xfrm>
            <a:off x="6397752" y="2551176"/>
            <a:ext cx="5157216"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6397752" y="2624328"/>
            <a:ext cx="5157216" cy="877824"/>
          </a:xfrm>
          <a:prstGeom prst="rect">
            <a:avLst/>
          </a:prstGeom>
          <a:noFill/>
        </p:spPr>
        <p:txBody>
          <a:bodyPr wrap="square" lIns="0" tIns="0" rIns="0" bIns="0" anchor="t">
            <a:spAutoFit/>
          </a:bodyPr>
          <a:lstStyle/>
          <a:p>
            <a:pPr algn="l">
              <a:lnSpc>
                <a:spcPct val="115000"/>
              </a:lnSpc>
              <a:spcAft>
                <a:spcPts val="300"/>
              </a:spcAft>
            </a:pPr>
            <a:r>
              <a:rPr sz="1100" b="1">
                <a:latin typeface="Calibri"/>
              </a:rPr>
              <a:t>What it does: </a:t>
            </a:r>
            <a:r>
              <a:rPr sz="1100">
                <a:latin typeface="Calibri"/>
              </a:rPr>
              <a:t>Provides visibility into the completeness of Alation descriptions at the schema and column level.</a:t>
            </a:r>
          </a:p>
          <a:p>
            <a:pPr algn="l">
              <a:lnSpc>
                <a:spcPct val="115000"/>
              </a:lnSpc>
              <a:spcAft>
                <a:spcPts val="0"/>
              </a:spcAft>
            </a:pPr>
            <a:r>
              <a:rPr sz="1100" b="1">
                <a:latin typeface="Calibri"/>
              </a:rPr>
              <a:t>Impact:  </a:t>
            </a:r>
            <a:r>
              <a:rPr sz="1100">
                <a:latin typeface="Calibri"/>
              </a:rPr>
              <a:t>Accelerates metadata curation at scale while ensuring human oversight and approval.</a:t>
            </a:r>
          </a:p>
        </p:txBody>
      </p:sp>
      <p:sp>
        <p:nvSpPr>
          <p:cNvPr id="57" name="Rounded Rectangle 56"/>
          <p:cNvSpPr/>
          <p:nvPr/>
        </p:nvSpPr>
        <p:spPr>
          <a:xfrm>
            <a:off x="454152" y="3776472"/>
            <a:ext cx="5522976"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637032" y="3959352"/>
            <a:ext cx="384048" cy="384048"/>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300" b="1">
                <a:solidFill>
                  <a:srgbClr val="FFFFFF"/>
                </a:solidFill>
                <a:latin typeface="Calibri"/>
              </a:defRPr>
            </a:pPr>
            <a:r>
              <a:rPr sz="1300" b="1">
                <a:solidFill>
                  <a:srgbClr val="FFFFFF"/>
                </a:solidFill>
                <a:latin typeface="Calibri"/>
              </a:rPr>
              <a:t>3</a:t>
            </a:r>
          </a:p>
        </p:txBody>
      </p:sp>
      <p:sp>
        <p:nvSpPr>
          <p:cNvPr id="59" name="Rounded Rectangle 58"/>
          <p:cNvSpPr/>
          <p:nvPr/>
        </p:nvSpPr>
        <p:spPr>
          <a:xfrm>
            <a:off x="4605528" y="3995928"/>
            <a:ext cx="1188720" cy="237744"/>
          </a:xfrm>
          <a:prstGeom prst="roundRect">
            <a:avLst/>
          </a:prstGeom>
          <a:solidFill>
            <a:srgbClr val="92D050"/>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chemeClr val="tx1"/>
                </a:solidFill>
                <a:latin typeface="Calibri"/>
              </a:rPr>
              <a:t>Production</a:t>
            </a:r>
          </a:p>
        </p:txBody>
      </p:sp>
      <p:sp>
        <p:nvSpPr>
          <p:cNvPr id="60" name="TextBox 59"/>
          <p:cNvSpPr txBox="1"/>
          <p:nvPr/>
        </p:nvSpPr>
        <p:spPr>
          <a:xfrm>
            <a:off x="1167384" y="3886200"/>
            <a:ext cx="3346704" cy="786384"/>
          </a:xfrm>
          <a:prstGeom prst="rect">
            <a:avLst/>
          </a:prstGeom>
          <a:noFill/>
        </p:spPr>
        <p:txBody>
          <a:bodyPr wrap="square" lIns="0" tIns="0" rIns="0" bIns="0">
            <a:spAutoFit/>
          </a:bodyPr>
          <a:lstStyle/>
          <a:p>
            <a:pPr>
              <a:lnSpc>
                <a:spcPct val="102000"/>
              </a:lnSpc>
              <a:defRPr sz="1600" b="1">
                <a:solidFill>
                  <a:srgbClr val="152342"/>
                </a:solidFill>
                <a:latin typeface="Calibri Light"/>
              </a:defRPr>
            </a:pPr>
            <a:r>
              <a:rPr sz="1600" b="1">
                <a:solidFill>
                  <a:srgbClr val="152342"/>
                </a:solidFill>
                <a:latin typeface="Calibri Light"/>
              </a:rPr>
              <a:t>Data Privacy / PII Detection Tool</a:t>
            </a:r>
          </a:p>
          <a:p>
            <a:pPr>
              <a:lnSpc>
                <a:spcPct val="105000"/>
              </a:lnSpc>
              <a:defRPr sz="1200" b="1">
                <a:solidFill>
                  <a:srgbClr val="334155"/>
                </a:solidFill>
                <a:latin typeface="Calibri Light"/>
              </a:defRPr>
            </a:pPr>
            <a:r>
              <a:rPr sz="1200" b="1">
                <a:solidFill>
                  <a:srgbClr val="334155"/>
                </a:solidFill>
                <a:latin typeface="Calibri Light"/>
              </a:rPr>
              <a:t>Technology: Alation + React JS &amp; Fast API  + LLM</a:t>
            </a:r>
          </a:p>
        </p:txBody>
      </p:sp>
      <p:cxnSp>
        <p:nvCxnSpPr>
          <p:cNvPr id="61" name="Connector 60"/>
          <p:cNvCxnSpPr/>
          <p:nvPr/>
        </p:nvCxnSpPr>
        <p:spPr>
          <a:xfrm>
            <a:off x="637032" y="4690872"/>
            <a:ext cx="5157216"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637032" y="4764024"/>
            <a:ext cx="5157216" cy="877824"/>
          </a:xfrm>
          <a:prstGeom prst="rect">
            <a:avLst/>
          </a:prstGeom>
          <a:noFill/>
        </p:spPr>
        <p:txBody>
          <a:bodyPr wrap="square" lIns="0" tIns="0" rIns="0" bIns="0" anchor="t">
            <a:spAutoFit/>
          </a:bodyPr>
          <a:lstStyle/>
          <a:p>
            <a:pPr algn="l">
              <a:lnSpc>
                <a:spcPct val="115000"/>
              </a:lnSpc>
              <a:spcAft>
                <a:spcPts val="300"/>
              </a:spcAft>
            </a:pPr>
            <a:r>
              <a:rPr sz="1100" b="1">
                <a:solidFill>
                  <a:srgbClr val="152342"/>
                </a:solidFill>
                <a:latin typeface="Calibri"/>
              </a:rPr>
              <a:t>What it does:  </a:t>
            </a:r>
            <a:r>
              <a:rPr sz="1100">
                <a:solidFill>
                  <a:srgbClr val="334155"/>
                </a:solidFill>
                <a:latin typeface="Calibri"/>
              </a:rPr>
              <a:t>Uses Alation metadata via MCP to identify and flag sensitive or personal data across datasets.</a:t>
            </a:r>
          </a:p>
          <a:p>
            <a:pPr algn="l">
              <a:lnSpc>
                <a:spcPct val="115000"/>
              </a:lnSpc>
              <a:spcAft>
                <a:spcPts val="0"/>
              </a:spcAft>
            </a:pPr>
            <a:r>
              <a:rPr sz="1100" b="1">
                <a:solidFill>
                  <a:srgbClr val="152342"/>
                </a:solidFill>
                <a:latin typeface="Calibri"/>
              </a:rPr>
              <a:t>Impact:  </a:t>
            </a:r>
            <a:r>
              <a:rPr sz="1100">
                <a:solidFill>
                  <a:srgbClr val="334155"/>
                </a:solidFill>
                <a:latin typeface="Calibri"/>
              </a:rPr>
              <a:t>Supports audit response, compliance posture, and proactive risk reduction.</a:t>
            </a:r>
          </a:p>
        </p:txBody>
      </p:sp>
      <p:sp>
        <p:nvSpPr>
          <p:cNvPr id="63" name="Rounded Rectangle 62"/>
          <p:cNvSpPr/>
          <p:nvPr/>
        </p:nvSpPr>
        <p:spPr>
          <a:xfrm>
            <a:off x="6214872" y="3776472"/>
            <a:ext cx="5522976"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6397752" y="3959352"/>
            <a:ext cx="384048" cy="384048"/>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300" b="1">
                <a:solidFill>
                  <a:srgbClr val="FFFFFF"/>
                </a:solidFill>
                <a:latin typeface="Calibri"/>
              </a:defRPr>
            </a:pPr>
            <a:r>
              <a:rPr sz="1300" b="1">
                <a:solidFill>
                  <a:srgbClr val="FFFFFF"/>
                </a:solidFill>
                <a:latin typeface="Calibri"/>
              </a:rPr>
              <a:t>4</a:t>
            </a:r>
          </a:p>
        </p:txBody>
      </p:sp>
      <p:sp>
        <p:nvSpPr>
          <p:cNvPr id="65" name="Rounded Rectangle 64"/>
          <p:cNvSpPr/>
          <p:nvPr/>
        </p:nvSpPr>
        <p:spPr>
          <a:xfrm>
            <a:off x="10366248" y="3995928"/>
            <a:ext cx="1188720" cy="237744"/>
          </a:xfrm>
          <a:prstGeom prst="roundRect">
            <a:avLst/>
          </a:prstGeom>
          <a:solidFill>
            <a:srgbClr val="E0E7F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1E40AF"/>
                </a:solidFill>
                <a:latin typeface="Calibri"/>
              </a:rPr>
              <a:t>In Development</a:t>
            </a:r>
          </a:p>
        </p:txBody>
      </p:sp>
      <p:sp>
        <p:nvSpPr>
          <p:cNvPr id="66" name="TextBox 65"/>
          <p:cNvSpPr txBox="1"/>
          <p:nvPr/>
        </p:nvSpPr>
        <p:spPr>
          <a:xfrm>
            <a:off x="6928104" y="3886200"/>
            <a:ext cx="3346704" cy="786384"/>
          </a:xfrm>
          <a:prstGeom prst="rect">
            <a:avLst/>
          </a:prstGeom>
          <a:noFill/>
        </p:spPr>
        <p:txBody>
          <a:bodyPr wrap="square" lIns="0" tIns="0" rIns="0" bIns="0">
            <a:spAutoFit/>
          </a:bodyPr>
          <a:lstStyle/>
          <a:p>
            <a:pPr>
              <a:lnSpc>
                <a:spcPct val="102000"/>
              </a:lnSpc>
              <a:defRPr sz="1600" b="1">
                <a:solidFill>
                  <a:srgbClr val="152342"/>
                </a:solidFill>
                <a:latin typeface="Calibri Light"/>
              </a:defRPr>
            </a:pPr>
            <a:r>
              <a:rPr sz="1600" b="1">
                <a:solidFill>
                  <a:srgbClr val="152342"/>
                </a:solidFill>
                <a:latin typeface="Calibri Light"/>
              </a:rPr>
              <a:t>Alation Data Dictionary Transfer Tool</a:t>
            </a:r>
          </a:p>
          <a:p>
            <a:pPr>
              <a:lnSpc>
                <a:spcPct val="105000"/>
              </a:lnSpc>
              <a:defRPr sz="1200" b="1">
                <a:solidFill>
                  <a:srgbClr val="334155"/>
                </a:solidFill>
                <a:latin typeface="Calibri Light"/>
              </a:defRPr>
            </a:pPr>
            <a:r>
              <a:rPr sz="1200" b="1">
                <a:solidFill>
                  <a:srgbClr val="334155"/>
                </a:solidFill>
                <a:latin typeface="Calibri Light"/>
              </a:rPr>
              <a:t>Technology: Alation + React JS &amp; Fast API</a:t>
            </a:r>
          </a:p>
        </p:txBody>
      </p:sp>
      <p:cxnSp>
        <p:nvCxnSpPr>
          <p:cNvPr id="67" name="Connector 66"/>
          <p:cNvCxnSpPr/>
          <p:nvPr/>
        </p:nvCxnSpPr>
        <p:spPr>
          <a:xfrm>
            <a:off x="6397752" y="4690872"/>
            <a:ext cx="5157216"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6397752" y="4764024"/>
            <a:ext cx="5157216" cy="877824"/>
          </a:xfrm>
          <a:prstGeom prst="rect">
            <a:avLst/>
          </a:prstGeom>
          <a:noFill/>
        </p:spPr>
        <p:txBody>
          <a:bodyPr wrap="square" lIns="0" tIns="0" rIns="0" bIns="0" anchor="t">
            <a:spAutoFit/>
          </a:bodyPr>
          <a:lstStyle/>
          <a:p>
            <a:pPr algn="l">
              <a:lnSpc>
                <a:spcPct val="115000"/>
              </a:lnSpc>
              <a:spcAft>
                <a:spcPts val="300"/>
              </a:spcAft>
            </a:pPr>
            <a:r>
              <a:rPr sz="1100" b="1">
                <a:solidFill>
                  <a:srgbClr val="152342"/>
                </a:solidFill>
                <a:latin typeface="Calibri"/>
              </a:rPr>
              <a:t>What it does:  </a:t>
            </a:r>
            <a:r>
              <a:rPr sz="1100">
                <a:solidFill>
                  <a:srgbClr val="334155"/>
                </a:solidFill>
                <a:latin typeface="Calibri"/>
              </a:rPr>
              <a:t>Automatically copies and applies data definitions across systems, schemas, and tables (e.g. copies definition for ad_id from table A to table B)</a:t>
            </a:r>
          </a:p>
          <a:p>
            <a:pPr algn="l">
              <a:lnSpc>
                <a:spcPct val="115000"/>
              </a:lnSpc>
              <a:spcAft>
                <a:spcPts val="0"/>
              </a:spcAft>
            </a:pPr>
            <a:r>
              <a:rPr sz="1100" b="1">
                <a:solidFill>
                  <a:srgbClr val="152342"/>
                </a:solidFill>
                <a:latin typeface="Calibri"/>
              </a:rPr>
              <a:t>Impact:  </a:t>
            </a:r>
            <a:r>
              <a:rPr sz="1100">
                <a:solidFill>
                  <a:srgbClr val="334155"/>
                </a:solidFill>
                <a:latin typeface="Calibri"/>
              </a:rPr>
              <a:t>Eliminates repetitive manual work while ensuring consistent business definitions across systems improving data quality. </a:t>
            </a:r>
          </a:p>
          <a:p>
            <a:pPr algn="l">
              <a:lnSpc>
                <a:spcPct val="115000"/>
              </a:lnSpc>
              <a:spcAft>
                <a:spcPts val="0"/>
              </a:spcAft>
            </a:pPr>
            <a:endParaRPr sz="1100">
              <a:solidFill>
                <a:srgbClr val="334155"/>
              </a:solidFill>
              <a:latin typeface="Calibri"/>
            </a:endParaRPr>
          </a:p>
        </p:txBody>
      </p:sp>
    </p:spTree>
    <p:extLst>
      <p:ext uri="{BB962C8B-B14F-4D97-AF65-F5344CB8AC3E}">
        <p14:creationId xmlns:p14="http://schemas.microsoft.com/office/powerpoint/2010/main" val="4029333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0814C-8E67-C9FB-AB87-EC93AAF533B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84F102B-5AAA-A4B2-3F0A-4B34BBFF0621}"/>
              </a:ext>
            </a:extLst>
          </p:cNvPr>
          <p:cNvSpPr/>
          <p:nvPr/>
        </p:nvSpPr>
        <p:spPr>
          <a:xfrm>
            <a:off x="0" y="0"/>
            <a:ext cx="12191695" cy="502920"/>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A8D1F2C6-E32D-D730-45EB-D25692EBA85C}"/>
              </a:ext>
            </a:extLst>
          </p:cNvPr>
          <p:cNvSpPr txBox="1"/>
          <p:nvPr/>
        </p:nvSpPr>
        <p:spPr>
          <a:xfrm>
            <a:off x="457200" y="804672"/>
            <a:ext cx="11430000" cy="422873"/>
          </a:xfrm>
          <a:prstGeom prst="rect">
            <a:avLst/>
          </a:prstGeom>
          <a:noFill/>
        </p:spPr>
        <p:txBody>
          <a:bodyPr wrap="square" lIns="36576" tIns="18288" rIns="36576" bIns="18288" anchor="t">
            <a:spAutoFit/>
          </a:bodyPr>
          <a:lstStyle/>
          <a:p>
            <a:pPr algn="l"/>
            <a:r>
              <a:rPr sz="2400" b="1" i="0">
                <a:solidFill>
                  <a:srgbClr val="152342"/>
                </a:solidFill>
                <a:latin typeface="Calibri Light"/>
              </a:rPr>
              <a:t>Scaling Data Governance: Foundation to Enterprise (FY26–FY28)</a:t>
            </a:r>
          </a:p>
        </p:txBody>
      </p:sp>
      <p:sp>
        <p:nvSpPr>
          <p:cNvPr id="43" name="Rectangle 42">
            <a:extLst>
              <a:ext uri="{FF2B5EF4-FFF2-40B4-BE49-F238E27FC236}">
                <a16:creationId xmlns:a16="http://schemas.microsoft.com/office/drawing/2014/main" id="{E8A166CB-2286-C754-0778-3DFEABFB97AE}"/>
              </a:ext>
            </a:extLst>
          </p:cNvPr>
          <p:cNvSpPr/>
          <p:nvPr/>
        </p:nvSpPr>
        <p:spPr>
          <a:xfrm>
            <a:off x="0" y="6400800"/>
            <a:ext cx="12191695"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a:extLst>
              <a:ext uri="{FF2B5EF4-FFF2-40B4-BE49-F238E27FC236}">
                <a16:creationId xmlns:a16="http://schemas.microsoft.com/office/drawing/2014/main" id="{7923A272-7AE3-E1DC-5757-AD0818345660}"/>
              </a:ext>
            </a:extLst>
          </p:cNvPr>
          <p:cNvSpPr txBox="1"/>
          <p:nvPr/>
        </p:nvSpPr>
        <p:spPr>
          <a:xfrm>
            <a:off x="457200" y="6473952"/>
            <a:ext cx="11277295" cy="310896"/>
          </a:xfrm>
          <a:prstGeom prst="rect">
            <a:avLst/>
          </a:prstGeom>
          <a:noFill/>
        </p:spPr>
        <p:txBody>
          <a:bodyPr wrap="square" lIns="36576" tIns="18288" rIns="36576" bIns="18288" anchor="ctr">
            <a:spAutoFit/>
          </a:bodyPr>
          <a:lstStyle/>
          <a:p>
            <a:pPr algn="l">
              <a:lnSpc>
                <a:spcPct val="118000"/>
              </a:lnSpc>
              <a:spcBef>
                <a:spcPts val="0"/>
              </a:spcBef>
              <a:spcAft>
                <a:spcPts val="0"/>
              </a:spcAft>
            </a:pPr>
            <a:r>
              <a:rPr sz="1150" b="0" i="0">
                <a:solidFill>
                  <a:srgbClr val="64748B"/>
                </a:solidFill>
                <a:latin typeface="Calibri"/>
              </a:rPr>
              <a:t>DEET Data Governance  |  May 2026  |  Alation Data Catalog Overview</a:t>
            </a:r>
          </a:p>
        </p:txBody>
      </p:sp>
      <p:sp>
        <p:nvSpPr>
          <p:cNvPr id="4" name="TextBox 3"/>
          <p:cNvSpPr txBox="1"/>
          <p:nvPr/>
        </p:nvSpPr>
        <p:spPr>
          <a:xfrm>
            <a:off x="457200" y="1362936"/>
            <a:ext cx="11277600" cy="461665"/>
          </a:xfrm>
          <a:prstGeom prst="rect">
            <a:avLst/>
          </a:prstGeom>
          <a:noFill/>
        </p:spPr>
        <p:txBody>
          <a:bodyPr wrap="square">
            <a:spAutoFit/>
          </a:bodyPr>
          <a:lstStyle/>
          <a:p>
            <a:r>
              <a:rPr sz="1200" b="0">
                <a:solidFill>
                  <a:srgbClr val="475569"/>
                </a:solidFill>
                <a:latin typeface="Calibri"/>
              </a:rPr>
              <a:t>Scaling data governance through Alation</a:t>
            </a:r>
            <a:r>
              <a:rPr lang="en-US" sz="1200" b="0">
                <a:solidFill>
                  <a:srgbClr val="475569"/>
                </a:solidFill>
                <a:latin typeface="Calibri"/>
              </a:rPr>
              <a:t>,</a:t>
            </a:r>
            <a:r>
              <a:rPr sz="1200" b="0">
                <a:solidFill>
                  <a:srgbClr val="475569"/>
                </a:solidFill>
                <a:latin typeface="Calibri"/>
              </a:rPr>
              <a:t> from foundational catalog to enterprise-scale, AI-enabled metadata platform.</a:t>
            </a:r>
            <a:r>
              <a:rPr lang="en-US" sz="1200" b="0">
                <a:solidFill>
                  <a:srgbClr val="475569"/>
                </a:solidFill>
                <a:latin typeface="Calibri"/>
              </a:rPr>
              <a:t> </a:t>
            </a:r>
          </a:p>
          <a:p>
            <a:endParaRPr sz="1200" b="0">
              <a:solidFill>
                <a:srgbClr val="475569"/>
              </a:solidFill>
              <a:latin typeface="Calibri"/>
            </a:endParaRPr>
          </a:p>
        </p:txBody>
      </p:sp>
      <p:cxnSp>
        <p:nvCxnSpPr>
          <p:cNvPr id="5" name="Connector 3"/>
          <p:cNvCxnSpPr/>
          <p:nvPr/>
        </p:nvCxnSpPr>
        <p:spPr>
          <a:xfrm>
            <a:off x="640080" y="1865376"/>
            <a:ext cx="10911840" cy="0"/>
          </a:xfrm>
          <a:prstGeom prst="line">
            <a:avLst/>
          </a:prstGeom>
          <a:ln w="22225">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2193544" y="1783080"/>
            <a:ext cx="164592" cy="164592"/>
          </a:xfrm>
          <a:prstGeom prst="ellipse">
            <a:avLst/>
          </a:prstGeom>
          <a:solidFill>
            <a:srgbClr val="156F4A"/>
          </a:solidFill>
          <a:ln w="25400">
            <a:solidFill>
              <a:srgbClr val="FAFB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5"/>
          <p:cNvSpPr/>
          <p:nvPr/>
        </p:nvSpPr>
        <p:spPr>
          <a:xfrm>
            <a:off x="457200" y="2011680"/>
            <a:ext cx="3637280" cy="4206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6"/>
          <p:cNvSpPr/>
          <p:nvPr/>
        </p:nvSpPr>
        <p:spPr>
          <a:xfrm>
            <a:off x="457200" y="2011680"/>
            <a:ext cx="3637280" cy="91440"/>
          </a:xfrm>
          <a:prstGeom prst="roundRect">
            <a:avLst/>
          </a:prstGeom>
          <a:solidFill>
            <a:srgbClr val="156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1792" y="2176272"/>
            <a:ext cx="966675" cy="276999"/>
          </a:xfrm>
          <a:prstGeom prst="rect">
            <a:avLst/>
          </a:prstGeom>
          <a:noFill/>
        </p:spPr>
        <p:txBody>
          <a:bodyPr wrap="none">
            <a:spAutoFit/>
          </a:bodyPr>
          <a:lstStyle/>
          <a:p>
            <a:r>
              <a:rPr sz="1200" b="1">
                <a:solidFill>
                  <a:srgbClr val="156F4A"/>
                </a:solidFill>
                <a:latin typeface="Calibri"/>
              </a:rPr>
              <a:t>NOW (FY26)</a:t>
            </a:r>
          </a:p>
        </p:txBody>
      </p:sp>
      <p:sp>
        <p:nvSpPr>
          <p:cNvPr id="10" name="TextBox 9"/>
          <p:cNvSpPr txBox="1"/>
          <p:nvPr/>
        </p:nvSpPr>
        <p:spPr>
          <a:xfrm>
            <a:off x="621792" y="2468880"/>
            <a:ext cx="2642968" cy="369332"/>
          </a:xfrm>
          <a:prstGeom prst="rect">
            <a:avLst/>
          </a:prstGeom>
          <a:noFill/>
        </p:spPr>
        <p:txBody>
          <a:bodyPr wrap="none">
            <a:spAutoFit/>
          </a:bodyPr>
          <a:lstStyle/>
          <a:p>
            <a:r>
              <a:rPr sz="1800" b="1">
                <a:solidFill>
                  <a:srgbClr val="152342"/>
                </a:solidFill>
                <a:latin typeface="Calibri Light"/>
              </a:rPr>
              <a:t>Alation </a:t>
            </a:r>
            <a:r>
              <a:rPr lang="en-US" sz="1800" b="1">
                <a:solidFill>
                  <a:srgbClr val="152342"/>
                </a:solidFill>
                <a:latin typeface="Calibri Light"/>
              </a:rPr>
              <a:t>C</a:t>
            </a:r>
            <a:r>
              <a:rPr sz="1800" b="1">
                <a:solidFill>
                  <a:srgbClr val="152342"/>
                </a:solidFill>
                <a:latin typeface="Calibri Light"/>
              </a:rPr>
              <a:t>atalog </a:t>
            </a:r>
            <a:r>
              <a:rPr lang="en-US" b="1">
                <a:solidFill>
                  <a:srgbClr val="152342"/>
                </a:solidFill>
                <a:latin typeface="Calibri Light"/>
              </a:rPr>
              <a:t>F</a:t>
            </a:r>
            <a:r>
              <a:rPr sz="1800" b="1">
                <a:solidFill>
                  <a:srgbClr val="152342"/>
                </a:solidFill>
                <a:latin typeface="Calibri Light"/>
              </a:rPr>
              <a:t>oundation</a:t>
            </a:r>
          </a:p>
        </p:txBody>
      </p:sp>
      <p:sp>
        <p:nvSpPr>
          <p:cNvPr id="11" name="TextBox 10"/>
          <p:cNvSpPr txBox="1"/>
          <p:nvPr/>
        </p:nvSpPr>
        <p:spPr>
          <a:xfrm>
            <a:off x="621792" y="2880360"/>
            <a:ext cx="3308096" cy="256032"/>
          </a:xfrm>
          <a:prstGeom prst="rect">
            <a:avLst/>
          </a:prstGeom>
          <a:noFill/>
        </p:spPr>
        <p:txBody>
          <a:bodyPr wrap="none">
            <a:spAutoFit/>
          </a:bodyPr>
          <a:lstStyle/>
          <a:p>
            <a:r>
              <a:rPr sz="1100" b="0">
                <a:solidFill>
                  <a:srgbClr val="475569"/>
                </a:solidFill>
                <a:latin typeface="Calibri"/>
              </a:rPr>
              <a:t>Foundation in place • Buy vs Build decision</a:t>
            </a:r>
          </a:p>
        </p:txBody>
      </p:sp>
      <p:cxnSp>
        <p:nvCxnSpPr>
          <p:cNvPr id="12" name="Connector 10"/>
          <p:cNvCxnSpPr/>
          <p:nvPr/>
        </p:nvCxnSpPr>
        <p:spPr>
          <a:xfrm>
            <a:off x="621792" y="3218688"/>
            <a:ext cx="3308096"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21792" y="3346704"/>
            <a:ext cx="3308096" cy="2797112"/>
          </a:xfrm>
          <a:prstGeom prst="rect">
            <a:avLst/>
          </a:prstGeom>
          <a:noFill/>
        </p:spPr>
        <p:txBody>
          <a:bodyPr wrap="square" anchor="t">
            <a:spAutoFit/>
          </a:bodyPr>
          <a:lstStyle/>
          <a:p>
            <a:pPr marL="171450" indent="-171450" algn="l">
              <a:lnSpc>
                <a:spcPct val="118000"/>
              </a:lnSpc>
              <a:spcAft>
                <a:spcPts val="500"/>
              </a:spcAft>
              <a:buFont typeface="Wingdings" panose="05000000000000000000" pitchFamily="2" charset="2"/>
              <a:buChar char="§"/>
            </a:pPr>
            <a:r>
              <a:rPr sz="1100" b="1">
                <a:solidFill>
                  <a:srgbClr val="334155"/>
                </a:solidFill>
                <a:latin typeface="Calibri"/>
              </a:rPr>
              <a:t>Alation established</a:t>
            </a:r>
            <a:r>
              <a:rPr sz="1100" b="0">
                <a:solidFill>
                  <a:srgbClr val="334155"/>
                </a:solidFill>
                <a:latin typeface="Calibri"/>
              </a:rPr>
              <a:t> as system of record for priority Ad Platforms data</a:t>
            </a:r>
            <a:endParaRPr lang="en-US" sz="1100" b="0">
              <a:solidFill>
                <a:srgbClr val="334155"/>
              </a:solidFill>
              <a:latin typeface="Calibri"/>
            </a:endParaRPr>
          </a:p>
          <a:p>
            <a:pPr marL="171450" indent="-171450" algn="l">
              <a:lnSpc>
                <a:spcPct val="118000"/>
              </a:lnSpc>
              <a:spcAft>
                <a:spcPts val="500"/>
              </a:spcAft>
              <a:buFont typeface="Wingdings" panose="05000000000000000000" pitchFamily="2" charset="2"/>
              <a:buChar char="§"/>
            </a:pPr>
            <a:r>
              <a:rPr sz="1100" b="1">
                <a:solidFill>
                  <a:srgbClr val="334155"/>
                </a:solidFill>
                <a:latin typeface="Calibri"/>
              </a:rPr>
              <a:t>Priority sources onboarded</a:t>
            </a:r>
            <a:r>
              <a:rPr sz="1100" b="0">
                <a:solidFill>
                  <a:srgbClr val="334155"/>
                </a:solidFill>
                <a:latin typeface="Calibri"/>
              </a:rPr>
              <a:t> — Snowflake, </a:t>
            </a:r>
            <a:r>
              <a:rPr lang="en-US" sz="1100" b="0">
                <a:solidFill>
                  <a:srgbClr val="334155"/>
                </a:solidFill>
                <a:latin typeface="Calibri"/>
              </a:rPr>
              <a:t>Databricks, </a:t>
            </a:r>
            <a:r>
              <a:rPr sz="1100" b="0">
                <a:solidFill>
                  <a:srgbClr val="334155"/>
                </a:solidFill>
                <a:latin typeface="Calibri"/>
              </a:rPr>
              <a:t>Oracle, ODS, and BI ecosystems</a:t>
            </a:r>
            <a:endParaRPr lang="en-US" sz="1100" b="0">
              <a:solidFill>
                <a:srgbClr val="334155"/>
              </a:solidFill>
              <a:latin typeface="Calibri"/>
            </a:endParaRPr>
          </a:p>
          <a:p>
            <a:pPr marL="171450" indent="-171450" algn="l">
              <a:lnSpc>
                <a:spcPct val="118000"/>
              </a:lnSpc>
              <a:spcAft>
                <a:spcPts val="500"/>
              </a:spcAft>
              <a:buFont typeface="Wingdings" panose="05000000000000000000" pitchFamily="2" charset="2"/>
              <a:buChar char="§"/>
            </a:pPr>
            <a:r>
              <a:rPr sz="1100" b="1">
                <a:solidFill>
                  <a:srgbClr val="334155"/>
                </a:solidFill>
                <a:latin typeface="Calibri"/>
              </a:rPr>
              <a:t>PII classification</a:t>
            </a:r>
            <a:r>
              <a:rPr sz="1100" b="0">
                <a:solidFill>
                  <a:srgbClr val="334155"/>
                </a:solidFill>
                <a:latin typeface="Calibri"/>
              </a:rPr>
              <a:t> and sensitivity tagging in place on critical assets</a:t>
            </a:r>
            <a:endParaRPr lang="en-US" sz="1100" b="0">
              <a:solidFill>
                <a:srgbClr val="334155"/>
              </a:solidFill>
              <a:latin typeface="Calibri"/>
            </a:endParaRPr>
          </a:p>
          <a:p>
            <a:pPr marL="171450" indent="-171450" algn="l">
              <a:lnSpc>
                <a:spcPct val="118000"/>
              </a:lnSpc>
              <a:spcAft>
                <a:spcPts val="500"/>
              </a:spcAft>
              <a:buFont typeface="Wingdings" panose="05000000000000000000" pitchFamily="2" charset="2"/>
              <a:buChar char="§"/>
            </a:pPr>
            <a:r>
              <a:rPr sz="1100" b="1">
                <a:solidFill>
                  <a:srgbClr val="334155"/>
                </a:solidFill>
                <a:latin typeface="Calibri"/>
              </a:rPr>
              <a:t>Initial lineage and dictionaries</a:t>
            </a:r>
            <a:r>
              <a:rPr sz="1100" b="0">
                <a:solidFill>
                  <a:srgbClr val="334155"/>
                </a:solidFill>
                <a:latin typeface="Calibri"/>
              </a:rPr>
              <a:t> curated across top-tier domains</a:t>
            </a:r>
            <a:endParaRPr lang="en-US" sz="1100" b="0">
              <a:solidFill>
                <a:srgbClr val="334155"/>
              </a:solidFill>
              <a:latin typeface="Calibri"/>
            </a:endParaRPr>
          </a:p>
          <a:p>
            <a:pPr marL="171450" indent="-171450" algn="l">
              <a:lnSpc>
                <a:spcPct val="118000"/>
              </a:lnSpc>
              <a:spcAft>
                <a:spcPts val="500"/>
              </a:spcAft>
              <a:buFont typeface="Wingdings" panose="05000000000000000000" pitchFamily="2" charset="2"/>
              <a:buChar char="§"/>
            </a:pPr>
            <a:r>
              <a:rPr sz="1100" b="1">
                <a:solidFill>
                  <a:srgbClr val="334155"/>
                </a:solidFill>
                <a:latin typeface="Calibri"/>
              </a:rPr>
              <a:t>Stewardship model</a:t>
            </a:r>
            <a:r>
              <a:rPr sz="1100" b="0">
                <a:solidFill>
                  <a:srgbClr val="334155"/>
                </a:solidFill>
                <a:latin typeface="Calibri"/>
              </a:rPr>
              <a:t> and ownership assigned for priority assets</a:t>
            </a:r>
            <a:endParaRPr lang="en-US" sz="1100" b="0">
              <a:solidFill>
                <a:srgbClr val="334155"/>
              </a:solidFill>
              <a:latin typeface="Calibri"/>
            </a:endParaRPr>
          </a:p>
          <a:p>
            <a:pPr marL="171450" indent="-171450" algn="l">
              <a:lnSpc>
                <a:spcPct val="118000"/>
              </a:lnSpc>
              <a:spcAft>
                <a:spcPts val="500"/>
              </a:spcAft>
              <a:buFont typeface="Wingdings" panose="05000000000000000000" pitchFamily="2" charset="2"/>
              <a:buChar char="§"/>
            </a:pPr>
            <a:r>
              <a:rPr sz="1100" b="1">
                <a:solidFill>
                  <a:srgbClr val="334155"/>
                </a:solidFill>
                <a:latin typeface="Calibri"/>
              </a:rPr>
              <a:t>Buy vs Build decision</a:t>
            </a:r>
            <a:r>
              <a:rPr sz="1100" b="0">
                <a:solidFill>
                  <a:srgbClr val="334155"/>
                </a:solidFill>
                <a:latin typeface="Calibri"/>
              </a:rPr>
              <a:t> completed for the enterprise data catalog</a:t>
            </a:r>
            <a:r>
              <a:rPr lang="en-US" sz="1100" b="0">
                <a:solidFill>
                  <a:srgbClr val="334155"/>
                </a:solidFill>
                <a:latin typeface="Calibri"/>
              </a:rPr>
              <a:t>*</a:t>
            </a:r>
            <a:endParaRPr sz="1100" b="0">
              <a:solidFill>
                <a:srgbClr val="334155"/>
              </a:solidFill>
              <a:latin typeface="Calibri"/>
            </a:endParaRPr>
          </a:p>
        </p:txBody>
      </p:sp>
      <p:sp>
        <p:nvSpPr>
          <p:cNvPr id="14" name="Oval 13"/>
          <p:cNvSpPr/>
          <p:nvPr/>
        </p:nvSpPr>
        <p:spPr>
          <a:xfrm>
            <a:off x="6013704" y="1783080"/>
            <a:ext cx="164592" cy="164592"/>
          </a:xfrm>
          <a:prstGeom prst="ellipse">
            <a:avLst/>
          </a:prstGeom>
          <a:solidFill>
            <a:srgbClr val="1E40AF"/>
          </a:solidFill>
          <a:ln w="25400">
            <a:solidFill>
              <a:srgbClr val="FAFB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3"/>
          <p:cNvSpPr/>
          <p:nvPr/>
        </p:nvSpPr>
        <p:spPr>
          <a:xfrm>
            <a:off x="4277360" y="2011680"/>
            <a:ext cx="3637280" cy="4206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4"/>
          <p:cNvSpPr/>
          <p:nvPr/>
        </p:nvSpPr>
        <p:spPr>
          <a:xfrm>
            <a:off x="4277360" y="2011680"/>
            <a:ext cx="3637280" cy="91440"/>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41952" y="2176272"/>
            <a:ext cx="1233030" cy="276999"/>
          </a:xfrm>
          <a:prstGeom prst="rect">
            <a:avLst/>
          </a:prstGeom>
          <a:noFill/>
        </p:spPr>
        <p:txBody>
          <a:bodyPr wrap="none">
            <a:spAutoFit/>
          </a:bodyPr>
          <a:lstStyle/>
          <a:p>
            <a:r>
              <a:rPr sz="1200" b="1">
                <a:solidFill>
                  <a:srgbClr val="1E40AF"/>
                </a:solidFill>
                <a:latin typeface="Calibri"/>
              </a:rPr>
              <a:t>CURRENT (FY27)</a:t>
            </a:r>
          </a:p>
        </p:txBody>
      </p:sp>
      <p:sp>
        <p:nvSpPr>
          <p:cNvPr id="22" name="TextBox 21"/>
          <p:cNvSpPr txBox="1"/>
          <p:nvPr/>
        </p:nvSpPr>
        <p:spPr>
          <a:xfrm>
            <a:off x="4441952" y="2468880"/>
            <a:ext cx="3344121" cy="338554"/>
          </a:xfrm>
          <a:prstGeom prst="rect">
            <a:avLst/>
          </a:prstGeom>
          <a:noFill/>
        </p:spPr>
        <p:txBody>
          <a:bodyPr wrap="none">
            <a:spAutoFit/>
          </a:bodyPr>
          <a:lstStyle/>
          <a:p>
            <a:r>
              <a:rPr sz="1600" b="1">
                <a:solidFill>
                  <a:srgbClr val="152342"/>
                </a:solidFill>
                <a:latin typeface="Calibri Light"/>
              </a:rPr>
              <a:t>Scaling Alation </a:t>
            </a:r>
            <a:r>
              <a:rPr lang="en-US" sz="1600" b="1">
                <a:solidFill>
                  <a:srgbClr val="152342"/>
                </a:solidFill>
                <a:latin typeface="Calibri Light"/>
              </a:rPr>
              <a:t>C</a:t>
            </a:r>
            <a:r>
              <a:rPr sz="1600" b="1">
                <a:solidFill>
                  <a:srgbClr val="152342"/>
                </a:solidFill>
                <a:latin typeface="Calibri Light"/>
              </a:rPr>
              <a:t>overage &amp; </a:t>
            </a:r>
            <a:r>
              <a:rPr lang="en-US" sz="1600" b="1">
                <a:solidFill>
                  <a:srgbClr val="152342"/>
                </a:solidFill>
                <a:latin typeface="Calibri Light"/>
              </a:rPr>
              <a:t>I</a:t>
            </a:r>
            <a:r>
              <a:rPr sz="1600" b="1">
                <a:solidFill>
                  <a:srgbClr val="152342"/>
                </a:solidFill>
                <a:latin typeface="Calibri Light"/>
              </a:rPr>
              <a:t>ntegrations</a:t>
            </a:r>
          </a:p>
        </p:txBody>
      </p:sp>
      <p:sp>
        <p:nvSpPr>
          <p:cNvPr id="23" name="TextBox 22"/>
          <p:cNvSpPr txBox="1"/>
          <p:nvPr/>
        </p:nvSpPr>
        <p:spPr>
          <a:xfrm>
            <a:off x="4441952" y="2880360"/>
            <a:ext cx="3308096" cy="256032"/>
          </a:xfrm>
          <a:prstGeom prst="rect">
            <a:avLst/>
          </a:prstGeom>
          <a:noFill/>
        </p:spPr>
        <p:txBody>
          <a:bodyPr wrap="none">
            <a:spAutoFit/>
          </a:bodyPr>
          <a:lstStyle/>
          <a:p>
            <a:r>
              <a:rPr sz="1100" b="0">
                <a:solidFill>
                  <a:srgbClr val="475569"/>
                </a:solidFill>
                <a:latin typeface="Calibri"/>
              </a:rPr>
              <a:t>In progress • Alation contract renewal (2027)</a:t>
            </a:r>
          </a:p>
        </p:txBody>
      </p:sp>
      <p:cxnSp>
        <p:nvCxnSpPr>
          <p:cNvPr id="24" name="Connector 18"/>
          <p:cNvCxnSpPr/>
          <p:nvPr/>
        </p:nvCxnSpPr>
        <p:spPr>
          <a:xfrm>
            <a:off x="4441952" y="3218688"/>
            <a:ext cx="3308096"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441952" y="3346704"/>
            <a:ext cx="3308096" cy="2689134"/>
          </a:xfrm>
          <a:prstGeom prst="rect">
            <a:avLst/>
          </a:prstGeom>
          <a:noFill/>
        </p:spPr>
        <p:txBody>
          <a:bodyPr wrap="square" anchor="t">
            <a:spAutoFit/>
          </a:bodyPr>
          <a:lstStyle/>
          <a:p>
            <a:pPr marL="171450" indent="-171450" algn="l">
              <a:lnSpc>
                <a:spcPct val="118000"/>
              </a:lnSpc>
              <a:spcAft>
                <a:spcPts val="500"/>
              </a:spcAft>
              <a:buFont typeface="Wingdings" panose="05000000000000000000" pitchFamily="2" charset="2"/>
              <a:buChar char="§"/>
            </a:pPr>
            <a:r>
              <a:rPr sz="1050" b="0">
                <a:solidFill>
                  <a:srgbClr val="334155"/>
                </a:solidFill>
                <a:latin typeface="Calibri"/>
              </a:rPr>
              <a:t>Expand </a:t>
            </a:r>
            <a:r>
              <a:rPr sz="1050" b="1">
                <a:solidFill>
                  <a:srgbClr val="334155"/>
                </a:solidFill>
                <a:latin typeface="Calibri"/>
              </a:rPr>
              <a:t>data source onboarding</a:t>
            </a:r>
            <a:r>
              <a:rPr sz="1050" b="0">
                <a:solidFill>
                  <a:srgbClr val="334155"/>
                </a:solidFill>
                <a:latin typeface="Calibri"/>
              </a:rPr>
              <a:t> across the Ads data ecosystem, including virtual sources</a:t>
            </a:r>
            <a:endParaRPr lang="en-US" sz="1050" b="0">
              <a:solidFill>
                <a:srgbClr val="334155"/>
              </a:solidFill>
              <a:latin typeface="Calibri"/>
            </a:endParaRPr>
          </a:p>
          <a:p>
            <a:pPr marL="171450" indent="-171450" algn="l">
              <a:lnSpc>
                <a:spcPct val="118000"/>
              </a:lnSpc>
              <a:spcAft>
                <a:spcPts val="500"/>
              </a:spcAft>
              <a:buFont typeface="Wingdings" panose="05000000000000000000" pitchFamily="2" charset="2"/>
              <a:buChar char="§"/>
            </a:pPr>
            <a:r>
              <a:rPr sz="1050" b="0">
                <a:solidFill>
                  <a:srgbClr val="334155"/>
                </a:solidFill>
                <a:latin typeface="Calibri"/>
              </a:rPr>
              <a:t>Scale </a:t>
            </a:r>
            <a:r>
              <a:rPr sz="1050" b="1">
                <a:solidFill>
                  <a:srgbClr val="334155"/>
                </a:solidFill>
                <a:latin typeface="Calibri"/>
              </a:rPr>
              <a:t>lineage coverage and accuracy</a:t>
            </a:r>
            <a:r>
              <a:rPr sz="1050" b="0">
                <a:solidFill>
                  <a:srgbClr val="334155"/>
                </a:solidFill>
                <a:latin typeface="Calibri"/>
              </a:rPr>
              <a:t> across priority Ad Platforms domains</a:t>
            </a:r>
            <a:endParaRPr lang="en-US" sz="1050" b="0">
              <a:solidFill>
                <a:srgbClr val="334155"/>
              </a:solidFill>
              <a:latin typeface="Calibri"/>
            </a:endParaRPr>
          </a:p>
          <a:p>
            <a:pPr marL="171450" indent="-171450" algn="l">
              <a:lnSpc>
                <a:spcPct val="118000"/>
              </a:lnSpc>
              <a:spcAft>
                <a:spcPts val="500"/>
              </a:spcAft>
              <a:buFont typeface="Wingdings" panose="05000000000000000000" pitchFamily="2" charset="2"/>
              <a:buChar char="§"/>
            </a:pPr>
            <a:r>
              <a:rPr sz="1050" b="0">
                <a:solidFill>
                  <a:srgbClr val="334155"/>
                </a:solidFill>
                <a:latin typeface="Calibri"/>
              </a:rPr>
              <a:t>Improve </a:t>
            </a:r>
            <a:r>
              <a:rPr sz="1050" b="1">
                <a:solidFill>
                  <a:srgbClr val="334155"/>
                </a:solidFill>
                <a:latin typeface="Calibri"/>
              </a:rPr>
              <a:t>glossary and data dictionaries</a:t>
            </a:r>
            <a:r>
              <a:rPr sz="1050" b="0">
                <a:solidFill>
                  <a:srgbClr val="334155"/>
                </a:solidFill>
                <a:latin typeface="Calibri"/>
              </a:rPr>
              <a:t> with active steward SLAs</a:t>
            </a:r>
            <a:endParaRPr lang="en-US" sz="1050" b="0">
              <a:solidFill>
                <a:srgbClr val="334155"/>
              </a:solidFill>
              <a:latin typeface="Calibri"/>
            </a:endParaRPr>
          </a:p>
          <a:p>
            <a:pPr marL="171450" indent="-171450" algn="l">
              <a:lnSpc>
                <a:spcPct val="118000"/>
              </a:lnSpc>
              <a:spcAft>
                <a:spcPts val="500"/>
              </a:spcAft>
              <a:buFont typeface="Wingdings" panose="05000000000000000000" pitchFamily="2" charset="2"/>
              <a:buChar char="§"/>
            </a:pPr>
            <a:r>
              <a:rPr sz="1050" b="0">
                <a:solidFill>
                  <a:srgbClr val="334155"/>
                </a:solidFill>
                <a:latin typeface="Calibri"/>
              </a:rPr>
              <a:t>Enable </a:t>
            </a:r>
            <a:r>
              <a:rPr sz="1050" b="1">
                <a:solidFill>
                  <a:srgbClr val="334155"/>
                </a:solidFill>
                <a:latin typeface="Calibri"/>
              </a:rPr>
              <a:t>AI-assisted enrichment</a:t>
            </a:r>
            <a:r>
              <a:rPr sz="1050" b="0">
                <a:solidFill>
                  <a:srgbClr val="334155"/>
                </a:solidFill>
                <a:latin typeface="Calibri"/>
              </a:rPr>
              <a:t> for metadata, documentation, and definitions</a:t>
            </a:r>
            <a:endParaRPr lang="en-US" sz="1050" b="0">
              <a:solidFill>
                <a:srgbClr val="334155"/>
              </a:solidFill>
              <a:latin typeface="Calibri"/>
            </a:endParaRPr>
          </a:p>
          <a:p>
            <a:pPr marL="171450" indent="-171450" algn="l">
              <a:lnSpc>
                <a:spcPct val="118000"/>
              </a:lnSpc>
              <a:spcAft>
                <a:spcPts val="500"/>
              </a:spcAft>
              <a:buFont typeface="Wingdings" panose="05000000000000000000" pitchFamily="2" charset="2"/>
              <a:buChar char="§"/>
            </a:pPr>
            <a:r>
              <a:rPr sz="1050" b="0">
                <a:solidFill>
                  <a:srgbClr val="334155"/>
                </a:solidFill>
                <a:latin typeface="Calibri"/>
              </a:rPr>
              <a:t>Enable </a:t>
            </a:r>
            <a:r>
              <a:rPr sz="1050" b="1">
                <a:solidFill>
                  <a:srgbClr val="334155"/>
                </a:solidFill>
                <a:latin typeface="Calibri"/>
              </a:rPr>
              <a:t>API and MCP access</a:t>
            </a:r>
            <a:r>
              <a:rPr sz="1050" b="0">
                <a:solidFill>
                  <a:srgbClr val="334155"/>
                </a:solidFill>
                <a:latin typeface="Calibri"/>
              </a:rPr>
              <a:t> for Cursor and downstream AI tooling</a:t>
            </a:r>
            <a:endParaRPr lang="en-US" sz="1050" b="0">
              <a:solidFill>
                <a:srgbClr val="334155"/>
              </a:solidFill>
              <a:latin typeface="Calibri"/>
            </a:endParaRPr>
          </a:p>
          <a:p>
            <a:pPr marL="171450" indent="-171450" algn="l">
              <a:lnSpc>
                <a:spcPct val="118000"/>
              </a:lnSpc>
              <a:spcAft>
                <a:spcPts val="500"/>
              </a:spcAft>
              <a:buFont typeface="Wingdings" panose="05000000000000000000" pitchFamily="2" charset="2"/>
              <a:buChar char="§"/>
            </a:pPr>
            <a:r>
              <a:rPr sz="1050" b="0">
                <a:solidFill>
                  <a:srgbClr val="334155"/>
                </a:solidFill>
                <a:latin typeface="Calibri"/>
              </a:rPr>
              <a:t>Track </a:t>
            </a:r>
            <a:r>
              <a:rPr sz="1050" b="1">
                <a:solidFill>
                  <a:srgbClr val="334155"/>
                </a:solidFill>
                <a:latin typeface="Calibri"/>
              </a:rPr>
              <a:t>governance metrics</a:t>
            </a:r>
            <a:r>
              <a:rPr sz="1050" b="0">
                <a:solidFill>
                  <a:srgbClr val="334155"/>
                </a:solidFill>
                <a:latin typeface="Calibri"/>
              </a:rPr>
              <a:t>; prepare Alation contract renewal (2027)</a:t>
            </a:r>
          </a:p>
        </p:txBody>
      </p:sp>
      <p:sp>
        <p:nvSpPr>
          <p:cNvPr id="26" name="Oval 25"/>
          <p:cNvSpPr/>
          <p:nvPr/>
        </p:nvSpPr>
        <p:spPr>
          <a:xfrm>
            <a:off x="9833864" y="1783080"/>
            <a:ext cx="164592" cy="164592"/>
          </a:xfrm>
          <a:prstGeom prst="ellipse">
            <a:avLst/>
          </a:prstGeom>
          <a:solidFill>
            <a:srgbClr val="6B218A"/>
          </a:solidFill>
          <a:ln w="25400">
            <a:solidFill>
              <a:srgbClr val="FAFB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1"/>
          <p:cNvSpPr/>
          <p:nvPr/>
        </p:nvSpPr>
        <p:spPr>
          <a:xfrm>
            <a:off x="8097520" y="2011680"/>
            <a:ext cx="3637280" cy="4206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2"/>
          <p:cNvSpPr/>
          <p:nvPr/>
        </p:nvSpPr>
        <p:spPr>
          <a:xfrm>
            <a:off x="8097520" y="2011680"/>
            <a:ext cx="3637280" cy="91440"/>
          </a:xfrm>
          <a:prstGeom prst="roundRect">
            <a:avLst/>
          </a:prstGeom>
          <a:solidFill>
            <a:srgbClr val="6B21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62112" y="2176272"/>
            <a:ext cx="1127232" cy="276999"/>
          </a:xfrm>
          <a:prstGeom prst="rect">
            <a:avLst/>
          </a:prstGeom>
          <a:noFill/>
        </p:spPr>
        <p:txBody>
          <a:bodyPr wrap="none">
            <a:spAutoFit/>
          </a:bodyPr>
          <a:lstStyle/>
          <a:p>
            <a:r>
              <a:rPr sz="1200" b="1">
                <a:solidFill>
                  <a:srgbClr val="6B218A"/>
                </a:solidFill>
                <a:latin typeface="Calibri"/>
              </a:rPr>
              <a:t>FUTURE (FY28</a:t>
            </a:r>
            <a:r>
              <a:rPr sz="1000" b="1">
                <a:solidFill>
                  <a:srgbClr val="6B218A"/>
                </a:solidFill>
                <a:latin typeface="Calibri"/>
              </a:rPr>
              <a:t>)</a:t>
            </a:r>
          </a:p>
        </p:txBody>
      </p:sp>
      <p:sp>
        <p:nvSpPr>
          <p:cNvPr id="30" name="TextBox 29"/>
          <p:cNvSpPr txBox="1"/>
          <p:nvPr/>
        </p:nvSpPr>
        <p:spPr>
          <a:xfrm>
            <a:off x="8262112" y="2468880"/>
            <a:ext cx="3431965" cy="338554"/>
          </a:xfrm>
          <a:prstGeom prst="rect">
            <a:avLst/>
          </a:prstGeom>
          <a:noFill/>
        </p:spPr>
        <p:txBody>
          <a:bodyPr wrap="none">
            <a:spAutoFit/>
          </a:bodyPr>
          <a:lstStyle/>
          <a:p>
            <a:r>
              <a:rPr sz="1600" b="1">
                <a:solidFill>
                  <a:srgbClr val="152342"/>
                </a:solidFill>
                <a:latin typeface="Calibri Light"/>
              </a:rPr>
              <a:t>Enterprise-scale, AI-enabled </a:t>
            </a:r>
            <a:r>
              <a:rPr lang="en-US" sz="1600" b="1">
                <a:solidFill>
                  <a:srgbClr val="152342"/>
                </a:solidFill>
                <a:latin typeface="Calibri Light"/>
              </a:rPr>
              <a:t>G</a:t>
            </a:r>
            <a:r>
              <a:rPr sz="1600" b="1">
                <a:solidFill>
                  <a:srgbClr val="152342"/>
                </a:solidFill>
                <a:latin typeface="Calibri Light"/>
              </a:rPr>
              <a:t>overnance</a:t>
            </a:r>
          </a:p>
        </p:txBody>
      </p:sp>
      <p:sp>
        <p:nvSpPr>
          <p:cNvPr id="31" name="TextBox 30"/>
          <p:cNvSpPr txBox="1"/>
          <p:nvPr/>
        </p:nvSpPr>
        <p:spPr>
          <a:xfrm>
            <a:off x="8262112" y="2880360"/>
            <a:ext cx="3308096" cy="256032"/>
          </a:xfrm>
          <a:prstGeom prst="rect">
            <a:avLst/>
          </a:prstGeom>
          <a:noFill/>
        </p:spPr>
        <p:txBody>
          <a:bodyPr wrap="none">
            <a:spAutoFit/>
          </a:bodyPr>
          <a:lstStyle/>
          <a:p>
            <a:r>
              <a:rPr sz="1100" b="0">
                <a:solidFill>
                  <a:srgbClr val="475569"/>
                </a:solidFill>
                <a:latin typeface="Calibri"/>
              </a:rPr>
              <a:t>Scale &amp; maturity • Enterprise governance maturity</a:t>
            </a:r>
          </a:p>
        </p:txBody>
      </p:sp>
      <p:cxnSp>
        <p:nvCxnSpPr>
          <p:cNvPr id="32" name="Connector 26"/>
          <p:cNvCxnSpPr/>
          <p:nvPr/>
        </p:nvCxnSpPr>
        <p:spPr>
          <a:xfrm>
            <a:off x="8262112" y="3218688"/>
            <a:ext cx="3308096"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8262112" y="3346704"/>
            <a:ext cx="3308096" cy="2689134"/>
          </a:xfrm>
          <a:prstGeom prst="rect">
            <a:avLst/>
          </a:prstGeom>
          <a:noFill/>
        </p:spPr>
        <p:txBody>
          <a:bodyPr wrap="square" anchor="t">
            <a:spAutoFit/>
          </a:bodyPr>
          <a:lstStyle/>
          <a:p>
            <a:pPr marL="171450" indent="-171450" algn="l">
              <a:lnSpc>
                <a:spcPct val="118000"/>
              </a:lnSpc>
              <a:spcAft>
                <a:spcPts val="500"/>
              </a:spcAft>
              <a:buFont typeface="Wingdings" panose="05000000000000000000" pitchFamily="2" charset="2"/>
              <a:buChar char="§"/>
            </a:pPr>
            <a:r>
              <a:rPr sz="1050" b="1">
                <a:solidFill>
                  <a:srgbClr val="334155"/>
                </a:solidFill>
                <a:latin typeface="Calibri"/>
              </a:rPr>
              <a:t>Enterprise-scale governance</a:t>
            </a:r>
            <a:r>
              <a:rPr sz="1050" b="0">
                <a:solidFill>
                  <a:srgbClr val="334155"/>
                </a:solidFill>
                <a:latin typeface="Calibri"/>
              </a:rPr>
              <a:t> anchored on Alation across Ad Platforms</a:t>
            </a:r>
            <a:endParaRPr lang="en-US" sz="1050" b="0">
              <a:solidFill>
                <a:srgbClr val="334155"/>
              </a:solidFill>
              <a:latin typeface="Calibri"/>
            </a:endParaRPr>
          </a:p>
          <a:p>
            <a:pPr marL="171450" indent="-171450" algn="l">
              <a:lnSpc>
                <a:spcPct val="118000"/>
              </a:lnSpc>
              <a:spcAft>
                <a:spcPts val="500"/>
              </a:spcAft>
              <a:buFont typeface="Wingdings" panose="05000000000000000000" pitchFamily="2" charset="2"/>
              <a:buChar char="§"/>
            </a:pPr>
            <a:r>
              <a:rPr sz="1050" b="1">
                <a:solidFill>
                  <a:srgbClr val="334155"/>
                </a:solidFill>
                <a:latin typeface="Calibri"/>
              </a:rPr>
              <a:t>Consistent lineage and definitions</a:t>
            </a:r>
            <a:r>
              <a:rPr sz="1050" b="0">
                <a:solidFill>
                  <a:srgbClr val="334155"/>
                </a:solidFill>
                <a:latin typeface="Calibri"/>
              </a:rPr>
              <a:t> across Ad event data and downstream reporting</a:t>
            </a:r>
            <a:endParaRPr lang="en-US" sz="1050" b="0">
              <a:solidFill>
                <a:srgbClr val="334155"/>
              </a:solidFill>
              <a:latin typeface="Calibri"/>
            </a:endParaRPr>
          </a:p>
          <a:p>
            <a:pPr marL="171450" indent="-171450" algn="l">
              <a:lnSpc>
                <a:spcPct val="118000"/>
              </a:lnSpc>
              <a:spcAft>
                <a:spcPts val="500"/>
              </a:spcAft>
              <a:buFont typeface="Wingdings" panose="05000000000000000000" pitchFamily="2" charset="2"/>
              <a:buChar char="§"/>
            </a:pPr>
            <a:r>
              <a:rPr sz="1050" b="1">
                <a:solidFill>
                  <a:srgbClr val="334155"/>
                </a:solidFill>
                <a:latin typeface="Calibri"/>
              </a:rPr>
              <a:t>AI-assisted curation at scale</a:t>
            </a:r>
            <a:r>
              <a:rPr sz="1050" b="0">
                <a:solidFill>
                  <a:srgbClr val="334155"/>
                </a:solidFill>
                <a:latin typeface="Calibri"/>
              </a:rPr>
              <a:t> — definition inheritance and auto-enrichment</a:t>
            </a:r>
            <a:endParaRPr lang="en-US" sz="1050" b="0">
              <a:solidFill>
                <a:srgbClr val="334155"/>
              </a:solidFill>
              <a:latin typeface="Calibri"/>
            </a:endParaRPr>
          </a:p>
          <a:p>
            <a:pPr marL="171450" indent="-171450" algn="l">
              <a:lnSpc>
                <a:spcPct val="118000"/>
              </a:lnSpc>
              <a:spcAft>
                <a:spcPts val="500"/>
              </a:spcAft>
              <a:buFont typeface="Wingdings" panose="05000000000000000000" pitchFamily="2" charset="2"/>
              <a:buChar char="§"/>
            </a:pPr>
            <a:r>
              <a:rPr sz="1050" b="1">
                <a:solidFill>
                  <a:srgbClr val="334155"/>
                </a:solidFill>
                <a:latin typeface="Calibri"/>
              </a:rPr>
              <a:t>Coverage and time-to-answer</a:t>
            </a:r>
            <a:r>
              <a:rPr sz="1050" b="0">
                <a:solidFill>
                  <a:srgbClr val="334155"/>
                </a:solidFill>
                <a:latin typeface="Calibri"/>
              </a:rPr>
              <a:t> metrics meeting enterprise governance targets</a:t>
            </a:r>
            <a:endParaRPr lang="en-US" sz="1050" b="0">
              <a:solidFill>
                <a:srgbClr val="334155"/>
              </a:solidFill>
              <a:latin typeface="Calibri"/>
            </a:endParaRPr>
          </a:p>
          <a:p>
            <a:pPr marL="171450" indent="-171450" algn="l">
              <a:lnSpc>
                <a:spcPct val="118000"/>
              </a:lnSpc>
              <a:spcAft>
                <a:spcPts val="500"/>
              </a:spcAft>
              <a:buFont typeface="Wingdings" panose="05000000000000000000" pitchFamily="2" charset="2"/>
              <a:buChar char="§"/>
            </a:pPr>
            <a:r>
              <a:rPr sz="1050" b="1">
                <a:solidFill>
                  <a:srgbClr val="334155"/>
                </a:solidFill>
                <a:latin typeface="Calibri"/>
              </a:rPr>
              <a:t>Trusted, scalable data foundation</a:t>
            </a:r>
            <a:r>
              <a:rPr sz="1050" b="0">
                <a:solidFill>
                  <a:srgbClr val="334155"/>
                </a:solidFill>
                <a:latin typeface="Calibri"/>
              </a:rPr>
              <a:t> enabling faster decisions and reduced risk</a:t>
            </a:r>
            <a:endParaRPr lang="en-US" sz="1050" b="0">
              <a:solidFill>
                <a:srgbClr val="334155"/>
              </a:solidFill>
              <a:latin typeface="Calibri"/>
            </a:endParaRPr>
          </a:p>
          <a:p>
            <a:pPr marL="171450" indent="-171450" algn="l">
              <a:lnSpc>
                <a:spcPct val="118000"/>
              </a:lnSpc>
              <a:spcAft>
                <a:spcPts val="500"/>
              </a:spcAft>
              <a:buFont typeface="Wingdings" panose="05000000000000000000" pitchFamily="2" charset="2"/>
              <a:buChar char="§"/>
            </a:pPr>
            <a:r>
              <a:rPr sz="1050" b="1">
                <a:solidFill>
                  <a:srgbClr val="334155"/>
                </a:solidFill>
                <a:latin typeface="Calibri"/>
              </a:rPr>
              <a:t>Reusable metadata</a:t>
            </a:r>
            <a:r>
              <a:rPr sz="1050" b="0">
                <a:solidFill>
                  <a:srgbClr val="334155"/>
                </a:solidFill>
                <a:latin typeface="Calibri"/>
              </a:rPr>
              <a:t> fueling analytics, AI, and audit readiness</a:t>
            </a:r>
          </a:p>
        </p:txBody>
      </p:sp>
      <p:sp>
        <p:nvSpPr>
          <p:cNvPr id="19" name="TextBox 18">
            <a:extLst>
              <a:ext uri="{FF2B5EF4-FFF2-40B4-BE49-F238E27FC236}">
                <a16:creationId xmlns:a16="http://schemas.microsoft.com/office/drawing/2014/main" id="{6E9987A9-85BC-9DB2-348B-081539304F01}"/>
              </a:ext>
            </a:extLst>
          </p:cNvPr>
          <p:cNvSpPr txBox="1"/>
          <p:nvPr/>
        </p:nvSpPr>
        <p:spPr>
          <a:xfrm>
            <a:off x="9062212" y="6473952"/>
            <a:ext cx="2926080" cy="230832"/>
          </a:xfrm>
          <a:prstGeom prst="rect">
            <a:avLst/>
          </a:prstGeom>
          <a:noFill/>
        </p:spPr>
        <p:txBody>
          <a:bodyPr wrap="square" rtlCol="0">
            <a:spAutoFit/>
          </a:bodyPr>
          <a:lstStyle/>
          <a:p>
            <a:r>
              <a:rPr lang="en-US" sz="900"/>
              <a:t>* See Appendix for additional details on Buy vs. Build</a:t>
            </a:r>
          </a:p>
        </p:txBody>
      </p:sp>
    </p:spTree>
    <p:extLst>
      <p:ext uri="{BB962C8B-B14F-4D97-AF65-F5344CB8AC3E}">
        <p14:creationId xmlns:p14="http://schemas.microsoft.com/office/powerpoint/2010/main" val="30730009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6B269-1A7D-9049-7A6F-AAD1630CA30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9CAF7E8-E7F8-D745-F838-8E1C02102251}"/>
              </a:ext>
            </a:extLst>
          </p:cNvPr>
          <p:cNvSpPr/>
          <p:nvPr/>
        </p:nvSpPr>
        <p:spPr>
          <a:xfrm>
            <a:off x="0" y="0"/>
            <a:ext cx="12191695" cy="2194560"/>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C5F3228A-4177-CB45-572A-655777230C7C}"/>
              </a:ext>
            </a:extLst>
          </p:cNvPr>
          <p:cNvSpPr/>
          <p:nvPr/>
        </p:nvSpPr>
        <p:spPr>
          <a:xfrm>
            <a:off x="0" y="2194560"/>
            <a:ext cx="12191695" cy="54864"/>
          </a:xfrm>
          <a:prstGeom prst="rect">
            <a:avLst/>
          </a:prstGeom>
          <a:solidFill>
            <a:srgbClr val="152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9C6100DD-D93D-D9EB-BA2B-F25296C8272A}"/>
              </a:ext>
            </a:extLst>
          </p:cNvPr>
          <p:cNvSpPr txBox="1"/>
          <p:nvPr/>
        </p:nvSpPr>
        <p:spPr>
          <a:xfrm>
            <a:off x="640080" y="2651760"/>
            <a:ext cx="10881360" cy="874150"/>
          </a:xfrm>
          <a:prstGeom prst="rect">
            <a:avLst/>
          </a:prstGeom>
          <a:noFill/>
        </p:spPr>
        <p:txBody>
          <a:bodyPr wrap="square" lIns="36576" tIns="18288" rIns="36576" bIns="18288" anchor="t">
            <a:spAutoFit/>
          </a:bodyPr>
          <a:lstStyle/>
          <a:p>
            <a:pPr algn="l">
              <a:lnSpc>
                <a:spcPct val="105000"/>
              </a:lnSpc>
              <a:spcBef>
                <a:spcPts val="0"/>
              </a:spcBef>
              <a:spcAft>
                <a:spcPts val="0"/>
              </a:spcAft>
            </a:pPr>
            <a:r>
              <a:rPr lang="en-US" sz="5400" b="1" i="0">
                <a:solidFill>
                  <a:srgbClr val="152342"/>
                </a:solidFill>
                <a:latin typeface="Calibri Light"/>
              </a:rPr>
              <a:t>Appendix</a:t>
            </a:r>
            <a:endParaRPr sz="5400" b="1" i="0">
              <a:solidFill>
                <a:srgbClr val="152342"/>
              </a:solidFill>
              <a:latin typeface="Calibri Light"/>
            </a:endParaRPr>
          </a:p>
        </p:txBody>
      </p:sp>
      <p:sp>
        <p:nvSpPr>
          <p:cNvPr id="22" name="Rectangle 21">
            <a:extLst>
              <a:ext uri="{FF2B5EF4-FFF2-40B4-BE49-F238E27FC236}">
                <a16:creationId xmlns:a16="http://schemas.microsoft.com/office/drawing/2014/main" id="{02CF027F-EB61-1EC1-AE5B-130B2D3FDEF9}"/>
              </a:ext>
            </a:extLst>
          </p:cNvPr>
          <p:cNvSpPr/>
          <p:nvPr/>
        </p:nvSpPr>
        <p:spPr>
          <a:xfrm>
            <a:off x="0" y="6400800"/>
            <a:ext cx="12191695"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6156238A-913B-F7A1-EC1E-C8C766B157E9}"/>
              </a:ext>
            </a:extLst>
          </p:cNvPr>
          <p:cNvSpPr txBox="1"/>
          <p:nvPr/>
        </p:nvSpPr>
        <p:spPr>
          <a:xfrm>
            <a:off x="457200" y="6473952"/>
            <a:ext cx="11277295" cy="310896"/>
          </a:xfrm>
          <a:prstGeom prst="rect">
            <a:avLst/>
          </a:prstGeom>
          <a:noFill/>
        </p:spPr>
        <p:txBody>
          <a:bodyPr wrap="square" lIns="36576" tIns="18288" rIns="36576" bIns="18288" anchor="ctr">
            <a:spAutoFit/>
          </a:bodyPr>
          <a:lstStyle/>
          <a:p>
            <a:pPr algn="l">
              <a:lnSpc>
                <a:spcPct val="118000"/>
              </a:lnSpc>
              <a:spcBef>
                <a:spcPts val="0"/>
              </a:spcBef>
              <a:spcAft>
                <a:spcPts val="0"/>
              </a:spcAft>
            </a:pPr>
            <a:r>
              <a:rPr sz="950" b="0" i="0">
                <a:solidFill>
                  <a:srgbClr val="64748B"/>
                </a:solidFill>
                <a:latin typeface="Calibri"/>
              </a:rPr>
              <a:t>DEET Data Governance  |  May 2026  |  Alation Data Catalog Overview</a:t>
            </a:r>
          </a:p>
        </p:txBody>
      </p:sp>
    </p:spTree>
    <p:extLst>
      <p:ext uri="{BB962C8B-B14F-4D97-AF65-F5344CB8AC3E}">
        <p14:creationId xmlns:p14="http://schemas.microsoft.com/office/powerpoint/2010/main" val="1331648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445F9-42DD-AB93-394B-19A1EE3B693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118921A-D369-4B3F-1464-BDD9E69971A1}"/>
              </a:ext>
            </a:extLst>
          </p:cNvPr>
          <p:cNvSpPr/>
          <p:nvPr/>
        </p:nvSpPr>
        <p:spPr>
          <a:xfrm>
            <a:off x="0" y="0"/>
            <a:ext cx="12191695" cy="502920"/>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4350C65D-74BE-AB54-1F5C-2B4251692A23}"/>
              </a:ext>
            </a:extLst>
          </p:cNvPr>
          <p:cNvSpPr txBox="1"/>
          <p:nvPr/>
        </p:nvSpPr>
        <p:spPr>
          <a:xfrm>
            <a:off x="457200" y="804672"/>
            <a:ext cx="11430000" cy="422873"/>
          </a:xfrm>
          <a:prstGeom prst="rect">
            <a:avLst/>
          </a:prstGeom>
          <a:noFill/>
        </p:spPr>
        <p:txBody>
          <a:bodyPr wrap="square" lIns="36576" tIns="18288" rIns="36576" bIns="18288" anchor="t">
            <a:spAutoFit/>
          </a:bodyPr>
          <a:lstStyle/>
          <a:p>
            <a:pPr algn="l">
              <a:lnSpc>
                <a:spcPct val="110000"/>
              </a:lnSpc>
              <a:spcBef>
                <a:spcPts val="0"/>
              </a:spcBef>
              <a:spcAft>
                <a:spcPts val="0"/>
              </a:spcAft>
            </a:pPr>
            <a:r>
              <a:rPr lang="en-US" sz="2400" b="1" i="0">
                <a:solidFill>
                  <a:srgbClr val="152342"/>
                </a:solidFill>
                <a:latin typeface="Calibri Light"/>
              </a:rPr>
              <a:t>Cursor–Alation MCP Use Case — AI-Assisted Data Discovery</a:t>
            </a:r>
          </a:p>
        </p:txBody>
      </p:sp>
      <p:sp>
        <p:nvSpPr>
          <p:cNvPr id="43" name="Rectangle 42">
            <a:extLst>
              <a:ext uri="{FF2B5EF4-FFF2-40B4-BE49-F238E27FC236}">
                <a16:creationId xmlns:a16="http://schemas.microsoft.com/office/drawing/2014/main" id="{16FF6989-C756-9814-FE18-D802A1AFD37D}"/>
              </a:ext>
            </a:extLst>
          </p:cNvPr>
          <p:cNvSpPr/>
          <p:nvPr/>
        </p:nvSpPr>
        <p:spPr>
          <a:xfrm>
            <a:off x="0" y="6400800"/>
            <a:ext cx="12191695"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a:extLst>
              <a:ext uri="{FF2B5EF4-FFF2-40B4-BE49-F238E27FC236}">
                <a16:creationId xmlns:a16="http://schemas.microsoft.com/office/drawing/2014/main" id="{3854EDF0-7A0B-FAAB-CC2A-61CFDC88339C}"/>
              </a:ext>
            </a:extLst>
          </p:cNvPr>
          <p:cNvSpPr txBox="1"/>
          <p:nvPr/>
        </p:nvSpPr>
        <p:spPr>
          <a:xfrm>
            <a:off x="457200" y="6473952"/>
            <a:ext cx="11277295" cy="310896"/>
          </a:xfrm>
          <a:prstGeom prst="rect">
            <a:avLst/>
          </a:prstGeom>
          <a:noFill/>
        </p:spPr>
        <p:txBody>
          <a:bodyPr wrap="square" lIns="36576" tIns="18288" rIns="36576" bIns="18288" anchor="ctr">
            <a:spAutoFit/>
          </a:bodyPr>
          <a:lstStyle/>
          <a:p>
            <a:pPr algn="l">
              <a:lnSpc>
                <a:spcPct val="118000"/>
              </a:lnSpc>
              <a:spcBef>
                <a:spcPts val="0"/>
              </a:spcBef>
              <a:spcAft>
                <a:spcPts val="0"/>
              </a:spcAft>
            </a:pPr>
            <a:r>
              <a:rPr sz="1150" b="0" i="0">
                <a:solidFill>
                  <a:srgbClr val="64748B"/>
                </a:solidFill>
                <a:latin typeface="Calibri"/>
              </a:rPr>
              <a:t>DEET Data Governance  |  May 2026  |  Alation Data Catalog Overview</a:t>
            </a:r>
          </a:p>
        </p:txBody>
      </p:sp>
      <p:sp>
        <p:nvSpPr>
          <p:cNvPr id="7" name="TextBox 6">
            <a:extLst>
              <a:ext uri="{FF2B5EF4-FFF2-40B4-BE49-F238E27FC236}">
                <a16:creationId xmlns:a16="http://schemas.microsoft.com/office/drawing/2014/main" id="{8AB6CDFF-DA1A-0629-2860-D1A042679227}"/>
              </a:ext>
            </a:extLst>
          </p:cNvPr>
          <p:cNvSpPr txBox="1"/>
          <p:nvPr/>
        </p:nvSpPr>
        <p:spPr>
          <a:xfrm>
            <a:off x="411480" y="1554480"/>
            <a:ext cx="11365992" cy="219456"/>
          </a:xfrm>
          <a:prstGeom prst="rect">
            <a:avLst/>
          </a:prstGeom>
          <a:noFill/>
        </p:spPr>
        <p:txBody>
          <a:bodyPr wrap="square" lIns="0" tIns="0" rIns="0" bIns="0" anchor="t">
            <a:spAutoFit/>
          </a:bodyPr>
          <a:lstStyle/>
          <a:p>
            <a:pPr algn="l">
              <a:defRPr sz="1100" b="1">
                <a:solidFill>
                  <a:srgbClr val="152342"/>
                </a:solidFill>
                <a:latin typeface="Calibri"/>
              </a:defRPr>
            </a:pPr>
            <a:r>
              <a:rPr sz="1100" b="1">
                <a:solidFill>
                  <a:srgbClr val="152342"/>
                </a:solidFill>
                <a:latin typeface="Calibri"/>
              </a:rPr>
              <a:t>BUSINESS IMPACT</a:t>
            </a:r>
          </a:p>
        </p:txBody>
      </p:sp>
      <p:sp>
        <p:nvSpPr>
          <p:cNvPr id="8" name="Rounded Rectangle 7">
            <a:extLst>
              <a:ext uri="{FF2B5EF4-FFF2-40B4-BE49-F238E27FC236}">
                <a16:creationId xmlns:a16="http://schemas.microsoft.com/office/drawing/2014/main" id="{91BAD3C7-7507-9905-DFB9-729F020B8C62}"/>
              </a:ext>
            </a:extLst>
          </p:cNvPr>
          <p:cNvSpPr/>
          <p:nvPr/>
        </p:nvSpPr>
        <p:spPr>
          <a:xfrm>
            <a:off x="411480" y="1810512"/>
            <a:ext cx="2734056" cy="84124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a:extLst>
              <a:ext uri="{FF2B5EF4-FFF2-40B4-BE49-F238E27FC236}">
                <a16:creationId xmlns:a16="http://schemas.microsoft.com/office/drawing/2014/main" id="{62EBD49E-FBA4-7C08-53B6-5EAD49FBC465}"/>
              </a:ext>
            </a:extLst>
          </p:cNvPr>
          <p:cNvSpPr/>
          <p:nvPr/>
        </p:nvSpPr>
        <p:spPr>
          <a:xfrm>
            <a:off x="411480" y="1810512"/>
            <a:ext cx="91440" cy="84124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3B308F81-39B0-DFA4-3C45-5EE94E07240E}"/>
              </a:ext>
            </a:extLst>
          </p:cNvPr>
          <p:cNvSpPr txBox="1"/>
          <p:nvPr/>
        </p:nvSpPr>
        <p:spPr>
          <a:xfrm>
            <a:off x="649224" y="1956816"/>
            <a:ext cx="2331720" cy="384048"/>
          </a:xfrm>
          <a:prstGeom prst="rect">
            <a:avLst/>
          </a:prstGeom>
          <a:noFill/>
        </p:spPr>
        <p:txBody>
          <a:bodyPr wrap="square" lIns="0" tIns="0" rIns="0" bIns="0" anchor="t">
            <a:spAutoFit/>
          </a:bodyPr>
          <a:lstStyle/>
          <a:p>
            <a:pPr algn="l">
              <a:defRPr sz="2200" b="1">
                <a:solidFill>
                  <a:srgbClr val="152342"/>
                </a:solidFill>
                <a:latin typeface="Calibri Light"/>
              </a:defRPr>
            </a:pPr>
            <a:r>
              <a:rPr sz="2200" b="1">
                <a:solidFill>
                  <a:srgbClr val="152342"/>
                </a:solidFill>
                <a:latin typeface="Calibri Light"/>
              </a:rPr>
              <a:t>Days → Mins</a:t>
            </a:r>
          </a:p>
        </p:txBody>
      </p:sp>
      <p:sp>
        <p:nvSpPr>
          <p:cNvPr id="11" name="TextBox 10">
            <a:extLst>
              <a:ext uri="{FF2B5EF4-FFF2-40B4-BE49-F238E27FC236}">
                <a16:creationId xmlns:a16="http://schemas.microsoft.com/office/drawing/2014/main" id="{6B238652-6C19-183F-0BFA-43322D27E1D8}"/>
              </a:ext>
            </a:extLst>
          </p:cNvPr>
          <p:cNvSpPr txBox="1"/>
          <p:nvPr/>
        </p:nvSpPr>
        <p:spPr>
          <a:xfrm>
            <a:off x="649224" y="2359152"/>
            <a:ext cx="2331720" cy="274320"/>
          </a:xfrm>
          <a:prstGeom prst="rect">
            <a:avLst/>
          </a:prstGeom>
          <a:noFill/>
        </p:spPr>
        <p:txBody>
          <a:bodyPr wrap="square" lIns="0" tIns="0" rIns="0" bIns="0" anchor="t">
            <a:spAutoFit/>
          </a:bodyPr>
          <a:lstStyle/>
          <a:p>
            <a:pPr algn="l">
              <a:defRPr sz="1000" b="0">
                <a:solidFill>
                  <a:srgbClr val="475569"/>
                </a:solidFill>
                <a:latin typeface="Calibri"/>
              </a:defRPr>
            </a:pPr>
            <a:r>
              <a:rPr sz="1000" b="0">
                <a:solidFill>
                  <a:srgbClr val="475569"/>
                </a:solidFill>
                <a:latin typeface="Calibri"/>
              </a:rPr>
              <a:t>Time to trusted data</a:t>
            </a:r>
          </a:p>
        </p:txBody>
      </p:sp>
      <p:sp>
        <p:nvSpPr>
          <p:cNvPr id="12" name="Rounded Rectangle 11">
            <a:extLst>
              <a:ext uri="{FF2B5EF4-FFF2-40B4-BE49-F238E27FC236}">
                <a16:creationId xmlns:a16="http://schemas.microsoft.com/office/drawing/2014/main" id="{636702C4-1A1D-122F-8C98-79AE22F00EE6}"/>
              </a:ext>
            </a:extLst>
          </p:cNvPr>
          <p:cNvSpPr/>
          <p:nvPr/>
        </p:nvSpPr>
        <p:spPr>
          <a:xfrm>
            <a:off x="3291840" y="1810512"/>
            <a:ext cx="2734056" cy="84124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a:extLst>
              <a:ext uri="{FF2B5EF4-FFF2-40B4-BE49-F238E27FC236}">
                <a16:creationId xmlns:a16="http://schemas.microsoft.com/office/drawing/2014/main" id="{D4D377C8-ADD1-2824-E708-1E028636E48C}"/>
              </a:ext>
            </a:extLst>
          </p:cNvPr>
          <p:cNvSpPr/>
          <p:nvPr/>
        </p:nvSpPr>
        <p:spPr>
          <a:xfrm>
            <a:off x="3291840" y="1810512"/>
            <a:ext cx="91440" cy="84124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738FCFA1-B194-48DB-FB3C-2AD11BFCA240}"/>
              </a:ext>
            </a:extLst>
          </p:cNvPr>
          <p:cNvSpPr txBox="1"/>
          <p:nvPr/>
        </p:nvSpPr>
        <p:spPr>
          <a:xfrm>
            <a:off x="3529584" y="1956816"/>
            <a:ext cx="2331720" cy="384048"/>
          </a:xfrm>
          <a:prstGeom prst="rect">
            <a:avLst/>
          </a:prstGeom>
          <a:noFill/>
        </p:spPr>
        <p:txBody>
          <a:bodyPr wrap="square" lIns="0" tIns="0" rIns="0" bIns="0" anchor="t">
            <a:spAutoFit/>
          </a:bodyPr>
          <a:lstStyle/>
          <a:p>
            <a:pPr algn="l">
              <a:defRPr sz="2200" b="1">
                <a:solidFill>
                  <a:srgbClr val="152342"/>
                </a:solidFill>
                <a:latin typeface="Calibri Light"/>
              </a:defRPr>
            </a:pPr>
            <a:r>
              <a:rPr sz="2200" b="1">
                <a:solidFill>
                  <a:srgbClr val="152342"/>
                </a:solidFill>
                <a:latin typeface="Calibri Light"/>
              </a:rPr>
              <a:t>All Domains</a:t>
            </a:r>
          </a:p>
        </p:txBody>
      </p:sp>
      <p:sp>
        <p:nvSpPr>
          <p:cNvPr id="15" name="TextBox 14">
            <a:extLst>
              <a:ext uri="{FF2B5EF4-FFF2-40B4-BE49-F238E27FC236}">
                <a16:creationId xmlns:a16="http://schemas.microsoft.com/office/drawing/2014/main" id="{A9D60B45-14B2-FCBC-BFB2-AEDA98DE7C67}"/>
              </a:ext>
            </a:extLst>
          </p:cNvPr>
          <p:cNvSpPr txBox="1"/>
          <p:nvPr/>
        </p:nvSpPr>
        <p:spPr>
          <a:xfrm>
            <a:off x="3529584" y="2359152"/>
            <a:ext cx="2331720" cy="274320"/>
          </a:xfrm>
          <a:prstGeom prst="rect">
            <a:avLst/>
          </a:prstGeom>
          <a:noFill/>
        </p:spPr>
        <p:txBody>
          <a:bodyPr wrap="square" lIns="0" tIns="0" rIns="0" bIns="0" anchor="t">
            <a:spAutoFit/>
          </a:bodyPr>
          <a:lstStyle/>
          <a:p>
            <a:pPr algn="l">
              <a:defRPr sz="1000" b="0">
                <a:solidFill>
                  <a:srgbClr val="475569"/>
                </a:solidFill>
                <a:latin typeface="Calibri"/>
              </a:defRPr>
            </a:pPr>
            <a:r>
              <a:rPr sz="1000" b="0">
                <a:solidFill>
                  <a:srgbClr val="475569"/>
                </a:solidFill>
                <a:latin typeface="Calibri"/>
              </a:rPr>
              <a:t>Discovery scope</a:t>
            </a:r>
          </a:p>
        </p:txBody>
      </p:sp>
      <p:sp>
        <p:nvSpPr>
          <p:cNvPr id="16" name="Rounded Rectangle 15">
            <a:extLst>
              <a:ext uri="{FF2B5EF4-FFF2-40B4-BE49-F238E27FC236}">
                <a16:creationId xmlns:a16="http://schemas.microsoft.com/office/drawing/2014/main" id="{5211B3AC-73DE-4F70-2F84-1CA600541230}"/>
              </a:ext>
            </a:extLst>
          </p:cNvPr>
          <p:cNvSpPr/>
          <p:nvPr/>
        </p:nvSpPr>
        <p:spPr>
          <a:xfrm>
            <a:off x="6172200" y="1810512"/>
            <a:ext cx="2734056" cy="84124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a:extLst>
              <a:ext uri="{FF2B5EF4-FFF2-40B4-BE49-F238E27FC236}">
                <a16:creationId xmlns:a16="http://schemas.microsoft.com/office/drawing/2014/main" id="{7FCAC4F3-4FCA-EE90-58BB-8FDEE6E5D1A1}"/>
              </a:ext>
            </a:extLst>
          </p:cNvPr>
          <p:cNvSpPr/>
          <p:nvPr/>
        </p:nvSpPr>
        <p:spPr>
          <a:xfrm>
            <a:off x="6172200" y="1810512"/>
            <a:ext cx="91440" cy="841248"/>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4A6D7147-DE7C-8CBA-58BB-352C29FF56A6}"/>
              </a:ext>
            </a:extLst>
          </p:cNvPr>
          <p:cNvSpPr txBox="1"/>
          <p:nvPr/>
        </p:nvSpPr>
        <p:spPr>
          <a:xfrm>
            <a:off x="6409944" y="1956816"/>
            <a:ext cx="2331720" cy="384048"/>
          </a:xfrm>
          <a:prstGeom prst="rect">
            <a:avLst/>
          </a:prstGeom>
          <a:noFill/>
        </p:spPr>
        <p:txBody>
          <a:bodyPr wrap="square" lIns="0" tIns="0" rIns="0" bIns="0" anchor="t">
            <a:spAutoFit/>
          </a:bodyPr>
          <a:lstStyle/>
          <a:p>
            <a:pPr algn="l">
              <a:defRPr sz="2200" b="1">
                <a:solidFill>
                  <a:srgbClr val="152342"/>
                </a:solidFill>
                <a:latin typeface="Calibri Light"/>
              </a:defRPr>
            </a:pPr>
            <a:r>
              <a:rPr sz="2200" b="1">
                <a:solidFill>
                  <a:srgbClr val="152342"/>
                </a:solidFill>
                <a:latin typeface="Calibri Light"/>
              </a:rPr>
              <a:t>Certified-first</a:t>
            </a:r>
          </a:p>
        </p:txBody>
      </p:sp>
      <p:sp>
        <p:nvSpPr>
          <p:cNvPr id="19" name="TextBox 18">
            <a:extLst>
              <a:ext uri="{FF2B5EF4-FFF2-40B4-BE49-F238E27FC236}">
                <a16:creationId xmlns:a16="http://schemas.microsoft.com/office/drawing/2014/main" id="{7B62E5D3-A7EC-AD85-482A-EA6CF77F5530}"/>
              </a:ext>
            </a:extLst>
          </p:cNvPr>
          <p:cNvSpPr txBox="1"/>
          <p:nvPr/>
        </p:nvSpPr>
        <p:spPr>
          <a:xfrm>
            <a:off x="6409944" y="2359152"/>
            <a:ext cx="2331720" cy="153888"/>
          </a:xfrm>
          <a:prstGeom prst="rect">
            <a:avLst/>
          </a:prstGeom>
          <a:noFill/>
        </p:spPr>
        <p:txBody>
          <a:bodyPr wrap="square" lIns="0" tIns="0" rIns="0" bIns="0" anchor="t">
            <a:spAutoFit/>
          </a:bodyPr>
          <a:lstStyle/>
          <a:p>
            <a:pPr algn="l">
              <a:defRPr sz="1000" b="0">
                <a:solidFill>
                  <a:srgbClr val="475569"/>
                </a:solidFill>
                <a:latin typeface="Calibri"/>
              </a:defRPr>
            </a:pPr>
            <a:r>
              <a:rPr lang="en-US" sz="1000" b="0">
                <a:solidFill>
                  <a:srgbClr val="475569"/>
                </a:solidFill>
                <a:latin typeface="Calibri"/>
              </a:rPr>
              <a:t>Search results prioritize</a:t>
            </a:r>
            <a:endParaRPr sz="1000" b="0">
              <a:solidFill>
                <a:srgbClr val="475569"/>
              </a:solidFill>
              <a:latin typeface="Calibri"/>
            </a:endParaRPr>
          </a:p>
        </p:txBody>
      </p:sp>
      <p:sp>
        <p:nvSpPr>
          <p:cNvPr id="20" name="Rounded Rectangle 19">
            <a:extLst>
              <a:ext uri="{FF2B5EF4-FFF2-40B4-BE49-F238E27FC236}">
                <a16:creationId xmlns:a16="http://schemas.microsoft.com/office/drawing/2014/main" id="{BB8A072E-CA08-31BB-8518-AE0D9BE68EA6}"/>
              </a:ext>
            </a:extLst>
          </p:cNvPr>
          <p:cNvSpPr/>
          <p:nvPr/>
        </p:nvSpPr>
        <p:spPr>
          <a:xfrm>
            <a:off x="9043416" y="1810512"/>
            <a:ext cx="2734056" cy="84124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a:extLst>
              <a:ext uri="{FF2B5EF4-FFF2-40B4-BE49-F238E27FC236}">
                <a16:creationId xmlns:a16="http://schemas.microsoft.com/office/drawing/2014/main" id="{BF037880-A192-4E2A-0983-381EFA6C9E7D}"/>
              </a:ext>
            </a:extLst>
          </p:cNvPr>
          <p:cNvSpPr/>
          <p:nvPr/>
        </p:nvSpPr>
        <p:spPr>
          <a:xfrm>
            <a:off x="9043416" y="1810512"/>
            <a:ext cx="91440" cy="841248"/>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3E387C66-E41B-1F22-ECD4-0A7DFA91F38F}"/>
              </a:ext>
            </a:extLst>
          </p:cNvPr>
          <p:cNvSpPr txBox="1"/>
          <p:nvPr/>
        </p:nvSpPr>
        <p:spPr>
          <a:xfrm>
            <a:off x="9281160" y="1956816"/>
            <a:ext cx="2331720" cy="384048"/>
          </a:xfrm>
          <a:prstGeom prst="rect">
            <a:avLst/>
          </a:prstGeom>
          <a:noFill/>
        </p:spPr>
        <p:txBody>
          <a:bodyPr wrap="square" lIns="0" tIns="0" rIns="0" bIns="0" anchor="t">
            <a:spAutoFit/>
          </a:bodyPr>
          <a:lstStyle/>
          <a:p>
            <a:pPr algn="l">
              <a:defRPr sz="2200" b="1">
                <a:solidFill>
                  <a:srgbClr val="152342"/>
                </a:solidFill>
                <a:latin typeface="Calibri Light"/>
              </a:defRPr>
            </a:pPr>
            <a:r>
              <a:rPr sz="2200" b="1">
                <a:solidFill>
                  <a:srgbClr val="152342"/>
                </a:solidFill>
                <a:latin typeface="Calibri Light"/>
              </a:rPr>
              <a:t>New analysts</a:t>
            </a:r>
          </a:p>
        </p:txBody>
      </p:sp>
      <p:sp>
        <p:nvSpPr>
          <p:cNvPr id="23" name="TextBox 22">
            <a:extLst>
              <a:ext uri="{FF2B5EF4-FFF2-40B4-BE49-F238E27FC236}">
                <a16:creationId xmlns:a16="http://schemas.microsoft.com/office/drawing/2014/main" id="{42FD600A-A5BD-06D6-73C5-3F77648149DD}"/>
              </a:ext>
            </a:extLst>
          </p:cNvPr>
          <p:cNvSpPr txBox="1"/>
          <p:nvPr/>
        </p:nvSpPr>
        <p:spPr>
          <a:xfrm>
            <a:off x="9281160" y="2359152"/>
            <a:ext cx="2331720" cy="274320"/>
          </a:xfrm>
          <a:prstGeom prst="rect">
            <a:avLst/>
          </a:prstGeom>
          <a:noFill/>
        </p:spPr>
        <p:txBody>
          <a:bodyPr wrap="square" lIns="0" tIns="0" rIns="0" bIns="0" anchor="t">
            <a:spAutoFit/>
          </a:bodyPr>
          <a:lstStyle/>
          <a:p>
            <a:pPr algn="l">
              <a:defRPr sz="1000" b="0">
                <a:solidFill>
                  <a:srgbClr val="475569"/>
                </a:solidFill>
                <a:latin typeface="Calibri"/>
              </a:defRPr>
            </a:pPr>
            <a:r>
              <a:rPr sz="1000" b="0">
                <a:solidFill>
                  <a:srgbClr val="475569"/>
                </a:solidFill>
                <a:latin typeface="Calibri"/>
              </a:rPr>
              <a:t>Onboarding accelerated</a:t>
            </a:r>
          </a:p>
        </p:txBody>
      </p:sp>
      <p:sp>
        <p:nvSpPr>
          <p:cNvPr id="24" name="TextBox 23">
            <a:extLst>
              <a:ext uri="{FF2B5EF4-FFF2-40B4-BE49-F238E27FC236}">
                <a16:creationId xmlns:a16="http://schemas.microsoft.com/office/drawing/2014/main" id="{D11C1EAB-8588-D5E1-1B2D-00BD8BF25E3F}"/>
              </a:ext>
            </a:extLst>
          </p:cNvPr>
          <p:cNvSpPr txBox="1"/>
          <p:nvPr/>
        </p:nvSpPr>
        <p:spPr>
          <a:xfrm>
            <a:off x="411480" y="2779776"/>
            <a:ext cx="5559552" cy="219456"/>
          </a:xfrm>
          <a:prstGeom prst="rect">
            <a:avLst/>
          </a:prstGeom>
          <a:noFill/>
        </p:spPr>
        <p:txBody>
          <a:bodyPr wrap="square" lIns="0" tIns="0" rIns="0" bIns="0" anchor="t">
            <a:spAutoFit/>
          </a:bodyPr>
          <a:lstStyle/>
          <a:p>
            <a:pPr algn="l">
              <a:defRPr sz="1100" b="1">
                <a:solidFill>
                  <a:srgbClr val="152342"/>
                </a:solidFill>
                <a:latin typeface="Calibri"/>
              </a:defRPr>
            </a:pPr>
            <a:r>
              <a:rPr sz="1100" b="1">
                <a:solidFill>
                  <a:srgbClr val="152342"/>
                </a:solidFill>
                <a:latin typeface="Calibri"/>
              </a:rPr>
              <a:t>THE CHALLENGE</a:t>
            </a:r>
          </a:p>
        </p:txBody>
      </p:sp>
      <p:sp>
        <p:nvSpPr>
          <p:cNvPr id="25" name="Rounded Rectangle 24">
            <a:extLst>
              <a:ext uri="{FF2B5EF4-FFF2-40B4-BE49-F238E27FC236}">
                <a16:creationId xmlns:a16="http://schemas.microsoft.com/office/drawing/2014/main" id="{D9473F1C-B937-AB80-C3F0-4747C040978C}"/>
              </a:ext>
            </a:extLst>
          </p:cNvPr>
          <p:cNvSpPr/>
          <p:nvPr/>
        </p:nvSpPr>
        <p:spPr>
          <a:xfrm>
            <a:off x="411480" y="3035808"/>
            <a:ext cx="5559552" cy="138988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a:extLst>
              <a:ext uri="{FF2B5EF4-FFF2-40B4-BE49-F238E27FC236}">
                <a16:creationId xmlns:a16="http://schemas.microsoft.com/office/drawing/2014/main" id="{5A9F6BED-378D-4A83-9CEB-5AA6629D1D5C}"/>
              </a:ext>
            </a:extLst>
          </p:cNvPr>
          <p:cNvSpPr/>
          <p:nvPr/>
        </p:nvSpPr>
        <p:spPr>
          <a:xfrm>
            <a:off x="411480" y="3035808"/>
            <a:ext cx="91440" cy="1389888"/>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a:extLst>
              <a:ext uri="{FF2B5EF4-FFF2-40B4-BE49-F238E27FC236}">
                <a16:creationId xmlns:a16="http://schemas.microsoft.com/office/drawing/2014/main" id="{1B010EA9-0155-B8D9-5532-B490CEBA358E}"/>
              </a:ext>
            </a:extLst>
          </p:cNvPr>
          <p:cNvSpPr txBox="1"/>
          <p:nvPr/>
        </p:nvSpPr>
        <p:spPr>
          <a:xfrm>
            <a:off x="649224" y="3163824"/>
            <a:ext cx="5157216" cy="916085"/>
          </a:xfrm>
          <a:prstGeom prst="rect">
            <a:avLst/>
          </a:prstGeom>
          <a:noFill/>
        </p:spPr>
        <p:txBody>
          <a:bodyPr wrap="square" tIns="0">
            <a:spAutoFit/>
          </a:bodyPr>
          <a:lstStyle/>
          <a:p>
            <a:pPr algn="l">
              <a:lnSpc>
                <a:spcPct val="125000"/>
              </a:lnSpc>
              <a:spcAft>
                <a:spcPts val="600"/>
              </a:spcAft>
              <a:defRPr sz="1050" b="0">
                <a:solidFill>
                  <a:srgbClr val="334155"/>
                </a:solidFill>
                <a:latin typeface="Calibri"/>
              </a:defRPr>
            </a:pPr>
            <a:r>
              <a:rPr lang="en-US" sz="1050" b="0">
                <a:latin typeface="Calibri"/>
              </a:rPr>
              <a:t>Ad Platforms analysts lose hours searching across systems to locate the right Snowflake, Databricks, etc. table or BI report for ad event data — onboarding takes weeks.</a:t>
            </a:r>
          </a:p>
          <a:p>
            <a:pPr algn="l">
              <a:lnSpc>
                <a:spcPct val="125000"/>
              </a:lnSpc>
              <a:spcAft>
                <a:spcPts val="600"/>
              </a:spcAft>
              <a:defRPr sz="1050" b="0">
                <a:solidFill>
                  <a:srgbClr val="334155"/>
                </a:solidFill>
                <a:latin typeface="Calibri"/>
              </a:defRPr>
            </a:pPr>
            <a:r>
              <a:rPr sz="1050" b="0">
                <a:latin typeface="Calibri"/>
              </a:rPr>
              <a:t>Tribal knowledge of </a:t>
            </a:r>
            <a:r>
              <a:rPr sz="1050" b="0" err="1">
                <a:latin typeface="Calibri"/>
              </a:rPr>
              <a:t>raw_beacon</a:t>
            </a:r>
            <a:r>
              <a:rPr sz="1050" b="0">
                <a:latin typeface="Calibri"/>
              </a:rPr>
              <a:t>, AGG_GATEWAY_ADS, and UNIVERSE360.ADVERTISING slows decisions and risks using the wrong source.</a:t>
            </a:r>
          </a:p>
        </p:txBody>
      </p:sp>
      <p:sp>
        <p:nvSpPr>
          <p:cNvPr id="28" name="TextBox 27">
            <a:extLst>
              <a:ext uri="{FF2B5EF4-FFF2-40B4-BE49-F238E27FC236}">
                <a16:creationId xmlns:a16="http://schemas.microsoft.com/office/drawing/2014/main" id="{FCCDA81C-AE5F-E9D9-960B-E87F0FD84EE4}"/>
              </a:ext>
            </a:extLst>
          </p:cNvPr>
          <p:cNvSpPr txBox="1"/>
          <p:nvPr/>
        </p:nvSpPr>
        <p:spPr>
          <a:xfrm>
            <a:off x="6227064" y="2779776"/>
            <a:ext cx="5559552" cy="219456"/>
          </a:xfrm>
          <a:prstGeom prst="rect">
            <a:avLst/>
          </a:prstGeom>
          <a:noFill/>
        </p:spPr>
        <p:txBody>
          <a:bodyPr wrap="square" lIns="0" tIns="0" rIns="0" bIns="0" anchor="t">
            <a:spAutoFit/>
          </a:bodyPr>
          <a:lstStyle/>
          <a:p>
            <a:pPr algn="l">
              <a:defRPr sz="1100" b="1">
                <a:solidFill>
                  <a:srgbClr val="152342"/>
                </a:solidFill>
                <a:latin typeface="Calibri"/>
              </a:defRPr>
            </a:pPr>
            <a:r>
              <a:rPr sz="1100" b="1">
                <a:solidFill>
                  <a:srgbClr val="152342"/>
                </a:solidFill>
                <a:latin typeface="Calibri"/>
              </a:rPr>
              <a:t>AI-ASSISTED WORKFLOW</a:t>
            </a:r>
          </a:p>
        </p:txBody>
      </p:sp>
      <p:sp>
        <p:nvSpPr>
          <p:cNvPr id="29" name="Rounded Rectangle 28">
            <a:extLst>
              <a:ext uri="{FF2B5EF4-FFF2-40B4-BE49-F238E27FC236}">
                <a16:creationId xmlns:a16="http://schemas.microsoft.com/office/drawing/2014/main" id="{9A08092D-93FA-53CE-8846-AAE0DA58BB10}"/>
              </a:ext>
            </a:extLst>
          </p:cNvPr>
          <p:cNvSpPr/>
          <p:nvPr/>
        </p:nvSpPr>
        <p:spPr>
          <a:xfrm>
            <a:off x="6227064" y="3035808"/>
            <a:ext cx="5559552" cy="138988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a:extLst>
              <a:ext uri="{FF2B5EF4-FFF2-40B4-BE49-F238E27FC236}">
                <a16:creationId xmlns:a16="http://schemas.microsoft.com/office/drawing/2014/main" id="{00A183EC-F9BF-6C4A-860D-3721E9485F0F}"/>
              </a:ext>
            </a:extLst>
          </p:cNvPr>
          <p:cNvSpPr/>
          <p:nvPr/>
        </p:nvSpPr>
        <p:spPr>
          <a:xfrm>
            <a:off x="6391656" y="3145536"/>
            <a:ext cx="256032" cy="256032"/>
          </a:xfrm>
          <a:prstGeom prst="ellipse">
            <a:avLst/>
          </a:prstGeom>
          <a:solidFill>
            <a:srgbClr val="152342"/>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00" b="1">
                <a:solidFill>
                  <a:srgbClr val="FFFFFF"/>
                </a:solidFill>
                <a:latin typeface="Calibri"/>
              </a:defRPr>
            </a:pPr>
            <a:r>
              <a:rPr sz="1000" b="1">
                <a:solidFill>
                  <a:srgbClr val="FFFFFF"/>
                </a:solidFill>
                <a:latin typeface="Calibri"/>
              </a:rPr>
              <a:t>1</a:t>
            </a:r>
          </a:p>
        </p:txBody>
      </p:sp>
      <p:sp>
        <p:nvSpPr>
          <p:cNvPr id="31" name="TextBox 30">
            <a:extLst>
              <a:ext uri="{FF2B5EF4-FFF2-40B4-BE49-F238E27FC236}">
                <a16:creationId xmlns:a16="http://schemas.microsoft.com/office/drawing/2014/main" id="{03C8E571-2C04-C1C5-CA39-6B1007B8690B}"/>
              </a:ext>
            </a:extLst>
          </p:cNvPr>
          <p:cNvSpPr txBox="1"/>
          <p:nvPr/>
        </p:nvSpPr>
        <p:spPr>
          <a:xfrm>
            <a:off x="6736842" y="3127248"/>
            <a:ext cx="4828032" cy="201168"/>
          </a:xfrm>
          <a:prstGeom prst="rect">
            <a:avLst/>
          </a:prstGeom>
          <a:noFill/>
        </p:spPr>
        <p:txBody>
          <a:bodyPr wrap="square" lIns="0" tIns="0" rIns="0" bIns="0" anchor="t">
            <a:spAutoFit/>
          </a:bodyPr>
          <a:lstStyle/>
          <a:p>
            <a:pPr algn="l">
              <a:defRPr sz="1000" b="1">
                <a:solidFill>
                  <a:srgbClr val="152342"/>
                </a:solidFill>
                <a:latin typeface="Calibri"/>
              </a:defRPr>
            </a:pPr>
            <a:r>
              <a:rPr sz="1000" b="1">
                <a:solidFill>
                  <a:srgbClr val="152342"/>
                </a:solidFill>
                <a:latin typeface="Calibri"/>
              </a:rPr>
              <a:t>Natural-Language Query</a:t>
            </a:r>
          </a:p>
        </p:txBody>
      </p:sp>
      <p:sp>
        <p:nvSpPr>
          <p:cNvPr id="32" name="TextBox 31">
            <a:extLst>
              <a:ext uri="{FF2B5EF4-FFF2-40B4-BE49-F238E27FC236}">
                <a16:creationId xmlns:a16="http://schemas.microsoft.com/office/drawing/2014/main" id="{49AFA933-8001-AC15-AD07-EFFC40808AB2}"/>
              </a:ext>
            </a:extLst>
          </p:cNvPr>
          <p:cNvSpPr txBox="1"/>
          <p:nvPr/>
        </p:nvSpPr>
        <p:spPr>
          <a:xfrm>
            <a:off x="6647688" y="3252978"/>
            <a:ext cx="4828032" cy="201168"/>
          </a:xfrm>
          <a:prstGeom prst="rect">
            <a:avLst/>
          </a:prstGeom>
          <a:noFill/>
        </p:spPr>
        <p:txBody>
          <a:bodyPr wrap="square" tIns="0">
            <a:spAutoFit/>
          </a:bodyPr>
          <a:lstStyle/>
          <a:p>
            <a:pPr algn="l">
              <a:lnSpc>
                <a:spcPct val="118000"/>
              </a:lnSpc>
              <a:defRPr sz="1000" b="0">
                <a:solidFill>
                  <a:srgbClr val="334155"/>
                </a:solidFill>
                <a:latin typeface="Calibri"/>
              </a:defRPr>
            </a:pPr>
            <a:r>
              <a:rPr sz="1000" b="0">
                <a:solidFill>
                  <a:srgbClr val="334155"/>
                </a:solidFill>
                <a:latin typeface="Calibri"/>
              </a:rPr>
              <a:t>Analyst asks Cursor (e.g., "where is Hulu off-platform impression data?") via MCP.</a:t>
            </a:r>
          </a:p>
        </p:txBody>
      </p:sp>
      <p:sp>
        <p:nvSpPr>
          <p:cNvPr id="33" name="Oval 32">
            <a:extLst>
              <a:ext uri="{FF2B5EF4-FFF2-40B4-BE49-F238E27FC236}">
                <a16:creationId xmlns:a16="http://schemas.microsoft.com/office/drawing/2014/main" id="{9901C179-2F1B-4EE1-F8D4-10B042B54EFC}"/>
              </a:ext>
            </a:extLst>
          </p:cNvPr>
          <p:cNvSpPr/>
          <p:nvPr/>
        </p:nvSpPr>
        <p:spPr>
          <a:xfrm>
            <a:off x="6391656" y="3456432"/>
            <a:ext cx="256032" cy="256032"/>
          </a:xfrm>
          <a:prstGeom prst="ellipse">
            <a:avLst/>
          </a:prstGeom>
          <a:solidFill>
            <a:srgbClr val="152342"/>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00" b="1">
                <a:solidFill>
                  <a:srgbClr val="FFFFFF"/>
                </a:solidFill>
                <a:latin typeface="Calibri"/>
              </a:defRPr>
            </a:pPr>
            <a:r>
              <a:rPr sz="1000" b="1">
                <a:solidFill>
                  <a:srgbClr val="FFFFFF"/>
                </a:solidFill>
                <a:latin typeface="Calibri"/>
              </a:rPr>
              <a:t>2</a:t>
            </a:r>
          </a:p>
        </p:txBody>
      </p:sp>
      <p:sp>
        <p:nvSpPr>
          <p:cNvPr id="34" name="TextBox 33">
            <a:extLst>
              <a:ext uri="{FF2B5EF4-FFF2-40B4-BE49-F238E27FC236}">
                <a16:creationId xmlns:a16="http://schemas.microsoft.com/office/drawing/2014/main" id="{3B29B1C0-EABC-9ACE-24A0-FA3ACC99CD3C}"/>
              </a:ext>
            </a:extLst>
          </p:cNvPr>
          <p:cNvSpPr txBox="1"/>
          <p:nvPr/>
        </p:nvSpPr>
        <p:spPr>
          <a:xfrm>
            <a:off x="6736842" y="3438144"/>
            <a:ext cx="4828032" cy="201168"/>
          </a:xfrm>
          <a:prstGeom prst="rect">
            <a:avLst/>
          </a:prstGeom>
          <a:noFill/>
        </p:spPr>
        <p:txBody>
          <a:bodyPr wrap="square" lIns="0" tIns="0" rIns="0" bIns="0" anchor="t">
            <a:spAutoFit/>
          </a:bodyPr>
          <a:lstStyle/>
          <a:p>
            <a:pPr algn="l">
              <a:defRPr sz="1000" b="1">
                <a:solidFill>
                  <a:srgbClr val="152342"/>
                </a:solidFill>
                <a:latin typeface="Calibri"/>
              </a:defRPr>
            </a:pPr>
            <a:r>
              <a:rPr sz="1000" b="1">
                <a:solidFill>
                  <a:srgbClr val="152342"/>
                </a:solidFill>
                <a:latin typeface="Calibri"/>
              </a:rPr>
              <a:t>Catalog Resolution</a:t>
            </a:r>
          </a:p>
        </p:txBody>
      </p:sp>
      <p:sp>
        <p:nvSpPr>
          <p:cNvPr id="35" name="TextBox 34">
            <a:extLst>
              <a:ext uri="{FF2B5EF4-FFF2-40B4-BE49-F238E27FC236}">
                <a16:creationId xmlns:a16="http://schemas.microsoft.com/office/drawing/2014/main" id="{E1E7DFF9-4FCD-141F-C2C4-61B654CEA264}"/>
              </a:ext>
            </a:extLst>
          </p:cNvPr>
          <p:cNvSpPr txBox="1"/>
          <p:nvPr/>
        </p:nvSpPr>
        <p:spPr>
          <a:xfrm>
            <a:off x="6647688" y="3557523"/>
            <a:ext cx="4828032" cy="216213"/>
          </a:xfrm>
          <a:prstGeom prst="rect">
            <a:avLst/>
          </a:prstGeom>
          <a:noFill/>
        </p:spPr>
        <p:txBody>
          <a:bodyPr wrap="square" tIns="0">
            <a:spAutoFit/>
          </a:bodyPr>
          <a:lstStyle/>
          <a:p>
            <a:pPr algn="l">
              <a:lnSpc>
                <a:spcPct val="118000"/>
              </a:lnSpc>
              <a:defRPr sz="1000" b="0">
                <a:solidFill>
                  <a:srgbClr val="334155"/>
                </a:solidFill>
                <a:latin typeface="Calibri"/>
              </a:defRPr>
            </a:pPr>
            <a:r>
              <a:rPr sz="1000" b="0">
                <a:solidFill>
                  <a:srgbClr val="334155"/>
                </a:solidFill>
                <a:latin typeface="Calibri"/>
              </a:rPr>
              <a:t>MCP queries Alation glossary, tables, columns, and lineage for matches.</a:t>
            </a:r>
          </a:p>
        </p:txBody>
      </p:sp>
      <p:sp>
        <p:nvSpPr>
          <p:cNvPr id="36" name="Oval 35">
            <a:extLst>
              <a:ext uri="{FF2B5EF4-FFF2-40B4-BE49-F238E27FC236}">
                <a16:creationId xmlns:a16="http://schemas.microsoft.com/office/drawing/2014/main" id="{9396CC96-0761-77C0-5FC3-0A360E346A79}"/>
              </a:ext>
            </a:extLst>
          </p:cNvPr>
          <p:cNvSpPr/>
          <p:nvPr/>
        </p:nvSpPr>
        <p:spPr>
          <a:xfrm>
            <a:off x="6391656" y="3767328"/>
            <a:ext cx="256032" cy="256032"/>
          </a:xfrm>
          <a:prstGeom prst="ellipse">
            <a:avLst/>
          </a:prstGeom>
          <a:solidFill>
            <a:srgbClr val="152342"/>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00" b="1">
                <a:solidFill>
                  <a:srgbClr val="FFFFFF"/>
                </a:solidFill>
                <a:latin typeface="Calibri"/>
              </a:defRPr>
            </a:pPr>
            <a:r>
              <a:rPr sz="1000" b="1">
                <a:solidFill>
                  <a:srgbClr val="FFFFFF"/>
                </a:solidFill>
                <a:latin typeface="Calibri"/>
              </a:rPr>
              <a:t>3</a:t>
            </a:r>
          </a:p>
        </p:txBody>
      </p:sp>
      <p:sp>
        <p:nvSpPr>
          <p:cNvPr id="37" name="TextBox 36">
            <a:extLst>
              <a:ext uri="{FF2B5EF4-FFF2-40B4-BE49-F238E27FC236}">
                <a16:creationId xmlns:a16="http://schemas.microsoft.com/office/drawing/2014/main" id="{D7CBF722-2AC3-ECFE-0953-969FECF9185D}"/>
              </a:ext>
            </a:extLst>
          </p:cNvPr>
          <p:cNvSpPr txBox="1"/>
          <p:nvPr/>
        </p:nvSpPr>
        <p:spPr>
          <a:xfrm>
            <a:off x="6736842" y="3749039"/>
            <a:ext cx="4828032" cy="201168"/>
          </a:xfrm>
          <a:prstGeom prst="rect">
            <a:avLst/>
          </a:prstGeom>
          <a:noFill/>
        </p:spPr>
        <p:txBody>
          <a:bodyPr wrap="square" lIns="0" tIns="0" rIns="0" bIns="0" anchor="t">
            <a:spAutoFit/>
          </a:bodyPr>
          <a:lstStyle/>
          <a:p>
            <a:pPr algn="l">
              <a:defRPr sz="1000" b="1">
                <a:solidFill>
                  <a:srgbClr val="152342"/>
                </a:solidFill>
                <a:latin typeface="Calibri"/>
              </a:defRPr>
            </a:pPr>
            <a:r>
              <a:rPr sz="1000" b="1">
                <a:solidFill>
                  <a:srgbClr val="152342"/>
                </a:solidFill>
                <a:latin typeface="Calibri"/>
              </a:rPr>
              <a:t>Trust Signals</a:t>
            </a:r>
          </a:p>
        </p:txBody>
      </p:sp>
      <p:sp>
        <p:nvSpPr>
          <p:cNvPr id="38" name="TextBox 37">
            <a:extLst>
              <a:ext uri="{FF2B5EF4-FFF2-40B4-BE49-F238E27FC236}">
                <a16:creationId xmlns:a16="http://schemas.microsoft.com/office/drawing/2014/main" id="{CE5BADCF-B374-D1C1-E63F-89F27B5E3E0D}"/>
              </a:ext>
            </a:extLst>
          </p:cNvPr>
          <p:cNvSpPr txBox="1"/>
          <p:nvPr/>
        </p:nvSpPr>
        <p:spPr>
          <a:xfrm>
            <a:off x="6647688" y="3864186"/>
            <a:ext cx="4828032" cy="201168"/>
          </a:xfrm>
          <a:prstGeom prst="rect">
            <a:avLst/>
          </a:prstGeom>
          <a:noFill/>
        </p:spPr>
        <p:txBody>
          <a:bodyPr wrap="square" tIns="0">
            <a:spAutoFit/>
          </a:bodyPr>
          <a:lstStyle/>
          <a:p>
            <a:pPr algn="l">
              <a:lnSpc>
                <a:spcPct val="118000"/>
              </a:lnSpc>
              <a:defRPr sz="1000" b="0">
                <a:solidFill>
                  <a:srgbClr val="334155"/>
                </a:solidFill>
                <a:latin typeface="Calibri"/>
              </a:defRPr>
            </a:pPr>
            <a:r>
              <a:rPr sz="1000" b="0">
                <a:solidFill>
                  <a:srgbClr val="334155"/>
                </a:solidFill>
                <a:latin typeface="Calibri"/>
              </a:rPr>
              <a:t>Surface ownership, freshness, classification, certification for each match.</a:t>
            </a:r>
          </a:p>
        </p:txBody>
      </p:sp>
      <p:sp>
        <p:nvSpPr>
          <p:cNvPr id="39" name="Oval 38">
            <a:extLst>
              <a:ext uri="{FF2B5EF4-FFF2-40B4-BE49-F238E27FC236}">
                <a16:creationId xmlns:a16="http://schemas.microsoft.com/office/drawing/2014/main" id="{8EB3FF63-6179-EE99-CDF7-EBBE02824AAD}"/>
              </a:ext>
            </a:extLst>
          </p:cNvPr>
          <p:cNvSpPr/>
          <p:nvPr/>
        </p:nvSpPr>
        <p:spPr>
          <a:xfrm>
            <a:off x="6391656" y="4078224"/>
            <a:ext cx="256032" cy="256032"/>
          </a:xfrm>
          <a:prstGeom prst="ellipse">
            <a:avLst/>
          </a:prstGeom>
          <a:solidFill>
            <a:srgbClr val="152342"/>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00" b="1">
                <a:solidFill>
                  <a:srgbClr val="FFFFFF"/>
                </a:solidFill>
                <a:latin typeface="Calibri"/>
              </a:defRPr>
            </a:pPr>
            <a:r>
              <a:rPr sz="1000" b="1">
                <a:solidFill>
                  <a:srgbClr val="FFFFFF"/>
                </a:solidFill>
                <a:latin typeface="Calibri"/>
              </a:rPr>
              <a:t>4</a:t>
            </a:r>
          </a:p>
        </p:txBody>
      </p:sp>
      <p:sp>
        <p:nvSpPr>
          <p:cNvPr id="40" name="TextBox 39">
            <a:extLst>
              <a:ext uri="{FF2B5EF4-FFF2-40B4-BE49-F238E27FC236}">
                <a16:creationId xmlns:a16="http://schemas.microsoft.com/office/drawing/2014/main" id="{DC7E5FFD-1FD1-6172-5F76-D35ADCB81CAC}"/>
              </a:ext>
            </a:extLst>
          </p:cNvPr>
          <p:cNvSpPr txBox="1"/>
          <p:nvPr/>
        </p:nvSpPr>
        <p:spPr>
          <a:xfrm>
            <a:off x="6736842" y="4059936"/>
            <a:ext cx="4828032" cy="201168"/>
          </a:xfrm>
          <a:prstGeom prst="rect">
            <a:avLst/>
          </a:prstGeom>
          <a:noFill/>
        </p:spPr>
        <p:txBody>
          <a:bodyPr wrap="square" lIns="0" tIns="0" rIns="0" bIns="0" anchor="t">
            <a:spAutoFit/>
          </a:bodyPr>
          <a:lstStyle/>
          <a:p>
            <a:pPr algn="l">
              <a:defRPr sz="1000" b="1">
                <a:solidFill>
                  <a:srgbClr val="152342"/>
                </a:solidFill>
                <a:latin typeface="Calibri"/>
              </a:defRPr>
            </a:pPr>
            <a:r>
              <a:rPr sz="1000" b="1">
                <a:solidFill>
                  <a:srgbClr val="152342"/>
                </a:solidFill>
                <a:latin typeface="Calibri"/>
              </a:rPr>
              <a:t>Guided Handoff</a:t>
            </a:r>
          </a:p>
        </p:txBody>
      </p:sp>
      <p:sp>
        <p:nvSpPr>
          <p:cNvPr id="41" name="TextBox 40">
            <a:extLst>
              <a:ext uri="{FF2B5EF4-FFF2-40B4-BE49-F238E27FC236}">
                <a16:creationId xmlns:a16="http://schemas.microsoft.com/office/drawing/2014/main" id="{6898C6B5-590F-8960-5576-945A319A0C06}"/>
              </a:ext>
            </a:extLst>
          </p:cNvPr>
          <p:cNvSpPr txBox="1"/>
          <p:nvPr/>
        </p:nvSpPr>
        <p:spPr>
          <a:xfrm>
            <a:off x="6647688" y="4170849"/>
            <a:ext cx="4828032" cy="201168"/>
          </a:xfrm>
          <a:prstGeom prst="rect">
            <a:avLst/>
          </a:prstGeom>
          <a:noFill/>
        </p:spPr>
        <p:txBody>
          <a:bodyPr wrap="square" tIns="0">
            <a:spAutoFit/>
          </a:bodyPr>
          <a:lstStyle/>
          <a:p>
            <a:pPr algn="l">
              <a:lnSpc>
                <a:spcPct val="118000"/>
              </a:lnSpc>
              <a:defRPr sz="1000" b="0">
                <a:solidFill>
                  <a:srgbClr val="334155"/>
                </a:solidFill>
                <a:latin typeface="Calibri"/>
              </a:defRPr>
            </a:pPr>
            <a:r>
              <a:rPr sz="1000" b="0">
                <a:solidFill>
                  <a:srgbClr val="334155"/>
                </a:solidFill>
                <a:latin typeface="Calibri"/>
              </a:rPr>
              <a:t>Cursor returns curated assets + sample queries; links open in Alation.</a:t>
            </a:r>
          </a:p>
        </p:txBody>
      </p:sp>
      <p:sp>
        <p:nvSpPr>
          <p:cNvPr id="42" name="TextBox 41">
            <a:extLst>
              <a:ext uri="{FF2B5EF4-FFF2-40B4-BE49-F238E27FC236}">
                <a16:creationId xmlns:a16="http://schemas.microsoft.com/office/drawing/2014/main" id="{A36DAD2A-EC4B-7D1F-9225-826C82C069E0}"/>
              </a:ext>
            </a:extLst>
          </p:cNvPr>
          <p:cNvSpPr txBox="1"/>
          <p:nvPr/>
        </p:nvSpPr>
        <p:spPr>
          <a:xfrm>
            <a:off x="411480" y="4517136"/>
            <a:ext cx="11365992" cy="219456"/>
          </a:xfrm>
          <a:prstGeom prst="rect">
            <a:avLst/>
          </a:prstGeom>
          <a:noFill/>
        </p:spPr>
        <p:txBody>
          <a:bodyPr wrap="square" lIns="0" tIns="0" rIns="0" bIns="0" anchor="t">
            <a:spAutoFit/>
          </a:bodyPr>
          <a:lstStyle/>
          <a:p>
            <a:pPr algn="l">
              <a:defRPr sz="1100" b="1">
                <a:solidFill>
                  <a:srgbClr val="152342"/>
                </a:solidFill>
                <a:latin typeface="Calibri"/>
              </a:defRPr>
            </a:pPr>
            <a:r>
              <a:rPr sz="1100" b="1">
                <a:solidFill>
                  <a:srgbClr val="152342"/>
                </a:solidFill>
                <a:latin typeface="Calibri"/>
              </a:rPr>
              <a:t>KEY FINDINGS</a:t>
            </a:r>
          </a:p>
        </p:txBody>
      </p:sp>
      <p:sp>
        <p:nvSpPr>
          <p:cNvPr id="4" name="Rounded Rectangle 42">
            <a:extLst>
              <a:ext uri="{FF2B5EF4-FFF2-40B4-BE49-F238E27FC236}">
                <a16:creationId xmlns:a16="http://schemas.microsoft.com/office/drawing/2014/main" id="{148AF086-6C98-4520-0C3E-B56949B92FC0}"/>
              </a:ext>
            </a:extLst>
          </p:cNvPr>
          <p:cNvSpPr/>
          <p:nvPr/>
        </p:nvSpPr>
        <p:spPr>
          <a:xfrm>
            <a:off x="411480" y="4773168"/>
            <a:ext cx="5559552" cy="713232"/>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3">
            <a:extLst>
              <a:ext uri="{FF2B5EF4-FFF2-40B4-BE49-F238E27FC236}">
                <a16:creationId xmlns:a16="http://schemas.microsoft.com/office/drawing/2014/main" id="{8A885C37-37FF-9BDC-1ABF-D0C12869C281}"/>
              </a:ext>
            </a:extLst>
          </p:cNvPr>
          <p:cNvSpPr/>
          <p:nvPr/>
        </p:nvSpPr>
        <p:spPr>
          <a:xfrm>
            <a:off x="411480" y="4773168"/>
            <a:ext cx="91440" cy="71323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a:extLst>
              <a:ext uri="{FF2B5EF4-FFF2-40B4-BE49-F238E27FC236}">
                <a16:creationId xmlns:a16="http://schemas.microsoft.com/office/drawing/2014/main" id="{5AB4D8E0-8756-5977-4611-F6B186FDF166}"/>
              </a:ext>
            </a:extLst>
          </p:cNvPr>
          <p:cNvSpPr txBox="1"/>
          <p:nvPr/>
        </p:nvSpPr>
        <p:spPr>
          <a:xfrm>
            <a:off x="649224" y="4846320"/>
            <a:ext cx="5157216" cy="256032"/>
          </a:xfrm>
          <a:prstGeom prst="rect">
            <a:avLst/>
          </a:prstGeom>
          <a:noFill/>
        </p:spPr>
        <p:txBody>
          <a:bodyPr wrap="square" lIns="0" tIns="0" rIns="0" bIns="0" anchor="t">
            <a:spAutoFit/>
          </a:bodyPr>
          <a:lstStyle/>
          <a:p>
            <a:pPr algn="l">
              <a:defRPr sz="1100" b="1">
                <a:solidFill>
                  <a:srgbClr val="152342"/>
                </a:solidFill>
                <a:latin typeface="Calibri"/>
              </a:defRPr>
            </a:pPr>
            <a:r>
              <a:rPr sz="1100" b="1">
                <a:solidFill>
                  <a:srgbClr val="152342"/>
                </a:solidFill>
                <a:latin typeface="Calibri"/>
              </a:rPr>
              <a:t>Onboarding accelerated</a:t>
            </a:r>
          </a:p>
        </p:txBody>
      </p:sp>
      <p:sp>
        <p:nvSpPr>
          <p:cNvPr id="47" name="TextBox 46">
            <a:extLst>
              <a:ext uri="{FF2B5EF4-FFF2-40B4-BE49-F238E27FC236}">
                <a16:creationId xmlns:a16="http://schemas.microsoft.com/office/drawing/2014/main" id="{3405030D-9AA6-2347-FD35-C2DF1B7B4177}"/>
              </a:ext>
            </a:extLst>
          </p:cNvPr>
          <p:cNvSpPr txBox="1"/>
          <p:nvPr/>
        </p:nvSpPr>
        <p:spPr>
          <a:xfrm>
            <a:off x="649224" y="5072253"/>
            <a:ext cx="5157216" cy="426655"/>
          </a:xfrm>
          <a:prstGeom prst="rect">
            <a:avLst/>
          </a:prstGeom>
          <a:noFill/>
        </p:spPr>
        <p:txBody>
          <a:bodyPr wrap="square" tIns="0">
            <a:spAutoFit/>
          </a:bodyPr>
          <a:lstStyle/>
          <a:p>
            <a:pPr algn="l">
              <a:lnSpc>
                <a:spcPct val="122000"/>
              </a:lnSpc>
              <a:defRPr sz="1050" b="0">
                <a:solidFill>
                  <a:srgbClr val="334155"/>
                </a:solidFill>
                <a:latin typeface="Calibri"/>
              </a:defRPr>
            </a:pPr>
            <a:r>
              <a:rPr lang="en-US" sz="1050" b="0">
                <a:solidFill>
                  <a:srgbClr val="334155"/>
                </a:solidFill>
                <a:latin typeface="Calibri"/>
              </a:rPr>
              <a:t>New analysts reach productive analysis in days vs. weeks — fewer back-and-</a:t>
            </a:r>
            <a:r>
              <a:rPr lang="en-US" sz="1050" b="0" err="1">
                <a:solidFill>
                  <a:srgbClr val="334155"/>
                </a:solidFill>
                <a:latin typeface="Calibri"/>
              </a:rPr>
              <a:t>forths</a:t>
            </a:r>
            <a:r>
              <a:rPr lang="en-US" sz="1050" b="0">
                <a:solidFill>
                  <a:srgbClr val="334155"/>
                </a:solidFill>
                <a:latin typeface="Calibri"/>
              </a:rPr>
              <a:t>, fewer wrong-table mistakes.</a:t>
            </a:r>
            <a:endParaRPr sz="1050" b="0">
              <a:solidFill>
                <a:srgbClr val="334155"/>
              </a:solidFill>
              <a:latin typeface="Calibri"/>
            </a:endParaRPr>
          </a:p>
        </p:txBody>
      </p:sp>
      <p:sp>
        <p:nvSpPr>
          <p:cNvPr id="48" name="Rounded Rectangle 46">
            <a:extLst>
              <a:ext uri="{FF2B5EF4-FFF2-40B4-BE49-F238E27FC236}">
                <a16:creationId xmlns:a16="http://schemas.microsoft.com/office/drawing/2014/main" id="{1CBFF02A-5F6A-C84F-B66E-886BD36A3156}"/>
              </a:ext>
            </a:extLst>
          </p:cNvPr>
          <p:cNvSpPr/>
          <p:nvPr/>
        </p:nvSpPr>
        <p:spPr>
          <a:xfrm>
            <a:off x="6227064" y="4773168"/>
            <a:ext cx="5559552" cy="713232"/>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7">
            <a:extLst>
              <a:ext uri="{FF2B5EF4-FFF2-40B4-BE49-F238E27FC236}">
                <a16:creationId xmlns:a16="http://schemas.microsoft.com/office/drawing/2014/main" id="{4DC1F930-5A50-93CC-25A9-686D1D88FDEB}"/>
              </a:ext>
            </a:extLst>
          </p:cNvPr>
          <p:cNvSpPr/>
          <p:nvPr/>
        </p:nvSpPr>
        <p:spPr>
          <a:xfrm>
            <a:off x="6227064" y="4773168"/>
            <a:ext cx="91440" cy="71323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a:extLst>
              <a:ext uri="{FF2B5EF4-FFF2-40B4-BE49-F238E27FC236}">
                <a16:creationId xmlns:a16="http://schemas.microsoft.com/office/drawing/2014/main" id="{7F5C4A5C-C129-91D0-5E4A-77065B48EE0C}"/>
              </a:ext>
            </a:extLst>
          </p:cNvPr>
          <p:cNvSpPr txBox="1"/>
          <p:nvPr/>
        </p:nvSpPr>
        <p:spPr>
          <a:xfrm>
            <a:off x="6464808" y="4846320"/>
            <a:ext cx="5157216" cy="256032"/>
          </a:xfrm>
          <a:prstGeom prst="rect">
            <a:avLst/>
          </a:prstGeom>
          <a:noFill/>
        </p:spPr>
        <p:txBody>
          <a:bodyPr wrap="square" lIns="0" tIns="0" rIns="0" bIns="0" anchor="t">
            <a:spAutoFit/>
          </a:bodyPr>
          <a:lstStyle/>
          <a:p>
            <a:pPr algn="l">
              <a:defRPr sz="1100" b="1">
                <a:solidFill>
                  <a:srgbClr val="152342"/>
                </a:solidFill>
                <a:latin typeface="Calibri"/>
              </a:defRPr>
            </a:pPr>
            <a:r>
              <a:rPr sz="1100" b="1">
                <a:solidFill>
                  <a:srgbClr val="152342"/>
                </a:solidFill>
                <a:latin typeface="Calibri"/>
              </a:rPr>
              <a:t>Highest-trust assets surface first</a:t>
            </a:r>
          </a:p>
        </p:txBody>
      </p:sp>
      <p:sp>
        <p:nvSpPr>
          <p:cNvPr id="51" name="TextBox 50">
            <a:extLst>
              <a:ext uri="{FF2B5EF4-FFF2-40B4-BE49-F238E27FC236}">
                <a16:creationId xmlns:a16="http://schemas.microsoft.com/office/drawing/2014/main" id="{023D7BAE-2CC8-AA5D-3BF2-A8051DA11606}"/>
              </a:ext>
            </a:extLst>
          </p:cNvPr>
          <p:cNvSpPr txBox="1"/>
          <p:nvPr/>
        </p:nvSpPr>
        <p:spPr>
          <a:xfrm>
            <a:off x="6464808" y="5072253"/>
            <a:ext cx="5157216" cy="310896"/>
          </a:xfrm>
          <a:prstGeom prst="rect">
            <a:avLst/>
          </a:prstGeom>
          <a:noFill/>
        </p:spPr>
        <p:txBody>
          <a:bodyPr wrap="square" tIns="0">
            <a:spAutoFit/>
          </a:bodyPr>
          <a:lstStyle/>
          <a:p>
            <a:pPr algn="l">
              <a:lnSpc>
                <a:spcPct val="122000"/>
              </a:lnSpc>
              <a:defRPr sz="1050" b="0">
                <a:solidFill>
                  <a:srgbClr val="334155"/>
                </a:solidFill>
                <a:latin typeface="Calibri"/>
              </a:defRPr>
            </a:pPr>
            <a:r>
              <a:rPr sz="1050" b="0">
                <a:solidFill>
                  <a:srgbClr val="334155"/>
                </a:solidFill>
                <a:latin typeface="Calibri"/>
              </a:rPr>
              <a:t>Certified, owned, recently-refreshed assets are prioritized — reducing risk of building on stale sources.</a:t>
            </a:r>
          </a:p>
        </p:txBody>
      </p:sp>
      <p:sp>
        <p:nvSpPr>
          <p:cNvPr id="52" name="TextBox 51">
            <a:extLst>
              <a:ext uri="{FF2B5EF4-FFF2-40B4-BE49-F238E27FC236}">
                <a16:creationId xmlns:a16="http://schemas.microsoft.com/office/drawing/2014/main" id="{679FDC42-724C-139E-98F5-20C0331FF886}"/>
              </a:ext>
            </a:extLst>
          </p:cNvPr>
          <p:cNvSpPr txBox="1"/>
          <p:nvPr/>
        </p:nvSpPr>
        <p:spPr>
          <a:xfrm>
            <a:off x="411480" y="5577840"/>
            <a:ext cx="11365992" cy="201168"/>
          </a:xfrm>
          <a:prstGeom prst="rect">
            <a:avLst/>
          </a:prstGeom>
          <a:noFill/>
        </p:spPr>
        <p:txBody>
          <a:bodyPr wrap="square" lIns="0" tIns="0" rIns="0" bIns="0" anchor="t">
            <a:spAutoFit/>
          </a:bodyPr>
          <a:lstStyle/>
          <a:p>
            <a:pPr algn="l">
              <a:defRPr sz="1100" b="1">
                <a:solidFill>
                  <a:srgbClr val="152342"/>
                </a:solidFill>
                <a:latin typeface="Calibri"/>
              </a:defRPr>
            </a:pPr>
            <a:r>
              <a:rPr sz="1100" b="1">
                <a:solidFill>
                  <a:srgbClr val="152342"/>
                </a:solidFill>
                <a:latin typeface="Calibri"/>
              </a:rPr>
              <a:t>REUSABLE TEMPLATE — AI-ASSISTED DATA DISCOVERY</a:t>
            </a:r>
          </a:p>
        </p:txBody>
      </p:sp>
      <p:sp>
        <p:nvSpPr>
          <p:cNvPr id="53" name="Rounded Rectangle 51">
            <a:extLst>
              <a:ext uri="{FF2B5EF4-FFF2-40B4-BE49-F238E27FC236}">
                <a16:creationId xmlns:a16="http://schemas.microsoft.com/office/drawing/2014/main" id="{95E5A92B-EDCE-FDE0-C45C-910DD7E37E6C}"/>
              </a:ext>
            </a:extLst>
          </p:cNvPr>
          <p:cNvSpPr/>
          <p:nvPr/>
        </p:nvSpPr>
        <p:spPr>
          <a:xfrm>
            <a:off x="411480" y="5815584"/>
            <a:ext cx="2734056" cy="56692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2">
            <a:extLst>
              <a:ext uri="{FF2B5EF4-FFF2-40B4-BE49-F238E27FC236}">
                <a16:creationId xmlns:a16="http://schemas.microsoft.com/office/drawing/2014/main" id="{038C8E4E-A17E-064B-FDBC-956B6F8FA58B}"/>
              </a:ext>
            </a:extLst>
          </p:cNvPr>
          <p:cNvSpPr/>
          <p:nvPr/>
        </p:nvSpPr>
        <p:spPr>
          <a:xfrm>
            <a:off x="411480" y="5815584"/>
            <a:ext cx="2734056"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a:extLst>
              <a:ext uri="{FF2B5EF4-FFF2-40B4-BE49-F238E27FC236}">
                <a16:creationId xmlns:a16="http://schemas.microsoft.com/office/drawing/2014/main" id="{A555783F-69DF-7ADF-D84E-A8E685DF90C0}"/>
              </a:ext>
            </a:extLst>
          </p:cNvPr>
          <p:cNvSpPr txBox="1"/>
          <p:nvPr/>
        </p:nvSpPr>
        <p:spPr>
          <a:xfrm>
            <a:off x="539496" y="5843016"/>
            <a:ext cx="731520" cy="201168"/>
          </a:xfrm>
          <a:prstGeom prst="rect">
            <a:avLst/>
          </a:prstGeom>
          <a:noFill/>
        </p:spPr>
        <p:txBody>
          <a:bodyPr wrap="square" lIns="0" tIns="0" rIns="0" bIns="0" anchor="t">
            <a:spAutoFit/>
          </a:bodyPr>
          <a:lstStyle/>
          <a:p>
            <a:pPr algn="l">
              <a:defRPr sz="1000" b="1">
                <a:solidFill>
                  <a:srgbClr val="FFFFFF"/>
                </a:solidFill>
                <a:latin typeface="Calibri"/>
              </a:defRPr>
            </a:pPr>
            <a:r>
              <a:rPr sz="1000" b="1">
                <a:solidFill>
                  <a:srgbClr val="FFFFFF"/>
                </a:solidFill>
                <a:latin typeface="Calibri"/>
              </a:rPr>
              <a:t>Step 1</a:t>
            </a:r>
          </a:p>
        </p:txBody>
      </p:sp>
      <p:sp>
        <p:nvSpPr>
          <p:cNvPr id="56" name="TextBox 55">
            <a:extLst>
              <a:ext uri="{FF2B5EF4-FFF2-40B4-BE49-F238E27FC236}">
                <a16:creationId xmlns:a16="http://schemas.microsoft.com/office/drawing/2014/main" id="{B4448E90-8146-62E3-8583-76B188805D0E}"/>
              </a:ext>
            </a:extLst>
          </p:cNvPr>
          <p:cNvSpPr txBox="1"/>
          <p:nvPr/>
        </p:nvSpPr>
        <p:spPr>
          <a:xfrm>
            <a:off x="1362456" y="5843016"/>
            <a:ext cx="1655064" cy="201168"/>
          </a:xfrm>
          <a:prstGeom prst="rect">
            <a:avLst/>
          </a:prstGeom>
          <a:noFill/>
        </p:spPr>
        <p:txBody>
          <a:bodyPr wrap="square" lIns="0" tIns="0" rIns="0" bIns="0" anchor="t">
            <a:spAutoFit/>
          </a:bodyPr>
          <a:lstStyle/>
          <a:p>
            <a:pPr algn="r">
              <a:defRPr sz="1000" b="1">
                <a:solidFill>
                  <a:srgbClr val="FFFFFF"/>
                </a:solidFill>
                <a:latin typeface="Calibri"/>
              </a:defRPr>
            </a:pPr>
            <a:r>
              <a:rPr sz="1000" b="1">
                <a:solidFill>
                  <a:srgbClr val="FFFFFF"/>
                </a:solidFill>
                <a:latin typeface="Calibri"/>
              </a:rPr>
              <a:t>Ask</a:t>
            </a:r>
          </a:p>
        </p:txBody>
      </p:sp>
      <p:sp>
        <p:nvSpPr>
          <p:cNvPr id="57" name="TextBox 56">
            <a:extLst>
              <a:ext uri="{FF2B5EF4-FFF2-40B4-BE49-F238E27FC236}">
                <a16:creationId xmlns:a16="http://schemas.microsoft.com/office/drawing/2014/main" id="{45C4405C-4927-0039-E310-90258DE0098C}"/>
              </a:ext>
            </a:extLst>
          </p:cNvPr>
          <p:cNvSpPr txBox="1"/>
          <p:nvPr/>
        </p:nvSpPr>
        <p:spPr>
          <a:xfrm>
            <a:off x="539496" y="6108192"/>
            <a:ext cx="2478024" cy="192681"/>
          </a:xfrm>
          <a:prstGeom prst="rect">
            <a:avLst/>
          </a:prstGeom>
          <a:noFill/>
        </p:spPr>
        <p:txBody>
          <a:bodyPr wrap="square" tIns="0">
            <a:spAutoFit/>
          </a:bodyPr>
          <a:lstStyle/>
          <a:p>
            <a:pPr algn="l">
              <a:lnSpc>
                <a:spcPct val="120000"/>
              </a:lnSpc>
              <a:defRPr sz="1000" b="0">
                <a:solidFill>
                  <a:srgbClr val="334155"/>
                </a:solidFill>
                <a:latin typeface="Calibri"/>
              </a:defRPr>
            </a:pPr>
            <a:r>
              <a:rPr sz="850" b="0">
                <a:solidFill>
                  <a:srgbClr val="334155"/>
                </a:solidFill>
                <a:latin typeface="Calibri"/>
              </a:rPr>
              <a:t>Pose a plain-English data question via Cursor MCP.</a:t>
            </a:r>
          </a:p>
        </p:txBody>
      </p:sp>
      <p:sp>
        <p:nvSpPr>
          <p:cNvPr id="58" name="Rounded Rectangle 56">
            <a:extLst>
              <a:ext uri="{FF2B5EF4-FFF2-40B4-BE49-F238E27FC236}">
                <a16:creationId xmlns:a16="http://schemas.microsoft.com/office/drawing/2014/main" id="{E5D441E7-33CB-151E-110F-A6E05C177A30}"/>
              </a:ext>
            </a:extLst>
          </p:cNvPr>
          <p:cNvSpPr/>
          <p:nvPr/>
        </p:nvSpPr>
        <p:spPr>
          <a:xfrm>
            <a:off x="3291840" y="5815584"/>
            <a:ext cx="2734056" cy="56692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7">
            <a:extLst>
              <a:ext uri="{FF2B5EF4-FFF2-40B4-BE49-F238E27FC236}">
                <a16:creationId xmlns:a16="http://schemas.microsoft.com/office/drawing/2014/main" id="{528CF6EA-D26A-755B-7CC3-8EE76C71751D}"/>
              </a:ext>
            </a:extLst>
          </p:cNvPr>
          <p:cNvSpPr/>
          <p:nvPr/>
        </p:nvSpPr>
        <p:spPr>
          <a:xfrm>
            <a:off x="3291840" y="5815584"/>
            <a:ext cx="2734056" cy="25603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a:extLst>
              <a:ext uri="{FF2B5EF4-FFF2-40B4-BE49-F238E27FC236}">
                <a16:creationId xmlns:a16="http://schemas.microsoft.com/office/drawing/2014/main" id="{8851C1E3-54C8-BC1F-F1D2-81CDFB3572A7}"/>
              </a:ext>
            </a:extLst>
          </p:cNvPr>
          <p:cNvSpPr txBox="1"/>
          <p:nvPr/>
        </p:nvSpPr>
        <p:spPr>
          <a:xfrm>
            <a:off x="3419856" y="5843016"/>
            <a:ext cx="731520" cy="201168"/>
          </a:xfrm>
          <a:prstGeom prst="rect">
            <a:avLst/>
          </a:prstGeom>
          <a:noFill/>
        </p:spPr>
        <p:txBody>
          <a:bodyPr wrap="square" lIns="0" tIns="0" rIns="0" bIns="0" anchor="t">
            <a:spAutoFit/>
          </a:bodyPr>
          <a:lstStyle/>
          <a:p>
            <a:pPr algn="l">
              <a:defRPr sz="1000" b="1">
                <a:solidFill>
                  <a:srgbClr val="FFFFFF"/>
                </a:solidFill>
                <a:latin typeface="Calibri"/>
              </a:defRPr>
            </a:pPr>
            <a:r>
              <a:rPr sz="1000" b="1">
                <a:solidFill>
                  <a:srgbClr val="FFFFFF"/>
                </a:solidFill>
                <a:latin typeface="Calibri"/>
              </a:rPr>
              <a:t>Step 2</a:t>
            </a:r>
          </a:p>
        </p:txBody>
      </p:sp>
      <p:sp>
        <p:nvSpPr>
          <p:cNvPr id="61" name="TextBox 60">
            <a:extLst>
              <a:ext uri="{FF2B5EF4-FFF2-40B4-BE49-F238E27FC236}">
                <a16:creationId xmlns:a16="http://schemas.microsoft.com/office/drawing/2014/main" id="{DA9446ED-D541-091C-DE2D-ED4C2E97F03B}"/>
              </a:ext>
            </a:extLst>
          </p:cNvPr>
          <p:cNvSpPr txBox="1"/>
          <p:nvPr/>
        </p:nvSpPr>
        <p:spPr>
          <a:xfrm>
            <a:off x="4242816" y="5843016"/>
            <a:ext cx="1655064" cy="201168"/>
          </a:xfrm>
          <a:prstGeom prst="rect">
            <a:avLst/>
          </a:prstGeom>
          <a:noFill/>
        </p:spPr>
        <p:txBody>
          <a:bodyPr wrap="square" lIns="0" tIns="0" rIns="0" bIns="0" anchor="t">
            <a:spAutoFit/>
          </a:bodyPr>
          <a:lstStyle/>
          <a:p>
            <a:pPr algn="r">
              <a:defRPr sz="1000" b="1">
                <a:solidFill>
                  <a:srgbClr val="FFFFFF"/>
                </a:solidFill>
                <a:latin typeface="Calibri"/>
              </a:defRPr>
            </a:pPr>
            <a:r>
              <a:rPr sz="1000" b="1">
                <a:solidFill>
                  <a:srgbClr val="FFFFFF"/>
                </a:solidFill>
                <a:latin typeface="Calibri"/>
              </a:rPr>
              <a:t>Match</a:t>
            </a:r>
          </a:p>
        </p:txBody>
      </p:sp>
      <p:sp>
        <p:nvSpPr>
          <p:cNvPr id="62" name="TextBox 61">
            <a:extLst>
              <a:ext uri="{FF2B5EF4-FFF2-40B4-BE49-F238E27FC236}">
                <a16:creationId xmlns:a16="http://schemas.microsoft.com/office/drawing/2014/main" id="{FEB7F2A1-B9D4-CA4C-810A-203CEDD0586A}"/>
              </a:ext>
            </a:extLst>
          </p:cNvPr>
          <p:cNvSpPr txBox="1"/>
          <p:nvPr/>
        </p:nvSpPr>
        <p:spPr>
          <a:xfrm>
            <a:off x="3419856" y="6108192"/>
            <a:ext cx="2478024" cy="192681"/>
          </a:xfrm>
          <a:prstGeom prst="rect">
            <a:avLst/>
          </a:prstGeom>
          <a:noFill/>
        </p:spPr>
        <p:txBody>
          <a:bodyPr wrap="square" tIns="0">
            <a:spAutoFit/>
          </a:bodyPr>
          <a:lstStyle/>
          <a:p>
            <a:pPr algn="l">
              <a:lnSpc>
                <a:spcPct val="120000"/>
              </a:lnSpc>
              <a:defRPr sz="1000" b="0">
                <a:solidFill>
                  <a:srgbClr val="334155"/>
                </a:solidFill>
                <a:latin typeface="Calibri"/>
              </a:defRPr>
            </a:pPr>
            <a:r>
              <a:rPr sz="850" b="0">
                <a:solidFill>
                  <a:srgbClr val="334155"/>
                </a:solidFill>
                <a:latin typeface="Calibri"/>
              </a:rPr>
              <a:t>MCP queries Alation catalog, glossary, lineage.</a:t>
            </a:r>
          </a:p>
        </p:txBody>
      </p:sp>
      <p:sp>
        <p:nvSpPr>
          <p:cNvPr id="63" name="Rounded Rectangle 61">
            <a:extLst>
              <a:ext uri="{FF2B5EF4-FFF2-40B4-BE49-F238E27FC236}">
                <a16:creationId xmlns:a16="http://schemas.microsoft.com/office/drawing/2014/main" id="{6D18FD4C-7155-90A7-573C-F55AF1803F33}"/>
              </a:ext>
            </a:extLst>
          </p:cNvPr>
          <p:cNvSpPr/>
          <p:nvPr/>
        </p:nvSpPr>
        <p:spPr>
          <a:xfrm>
            <a:off x="6172200" y="5815584"/>
            <a:ext cx="2734056" cy="56692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ounded Rectangle 62">
            <a:extLst>
              <a:ext uri="{FF2B5EF4-FFF2-40B4-BE49-F238E27FC236}">
                <a16:creationId xmlns:a16="http://schemas.microsoft.com/office/drawing/2014/main" id="{CA4D0244-4D16-959D-EA42-DD85B830FAFE}"/>
              </a:ext>
            </a:extLst>
          </p:cNvPr>
          <p:cNvSpPr/>
          <p:nvPr/>
        </p:nvSpPr>
        <p:spPr>
          <a:xfrm>
            <a:off x="6172200" y="5815584"/>
            <a:ext cx="2734056" cy="25603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a:extLst>
              <a:ext uri="{FF2B5EF4-FFF2-40B4-BE49-F238E27FC236}">
                <a16:creationId xmlns:a16="http://schemas.microsoft.com/office/drawing/2014/main" id="{BAD06951-793D-04C6-4984-0B0B9F7C61B7}"/>
              </a:ext>
            </a:extLst>
          </p:cNvPr>
          <p:cNvSpPr txBox="1"/>
          <p:nvPr/>
        </p:nvSpPr>
        <p:spPr>
          <a:xfrm>
            <a:off x="6300216" y="5843016"/>
            <a:ext cx="731520" cy="201168"/>
          </a:xfrm>
          <a:prstGeom prst="rect">
            <a:avLst/>
          </a:prstGeom>
          <a:noFill/>
        </p:spPr>
        <p:txBody>
          <a:bodyPr wrap="square" lIns="0" tIns="0" rIns="0" bIns="0" anchor="t">
            <a:spAutoFit/>
          </a:bodyPr>
          <a:lstStyle/>
          <a:p>
            <a:pPr algn="l">
              <a:defRPr sz="1000" b="1">
                <a:solidFill>
                  <a:srgbClr val="FFFFFF"/>
                </a:solidFill>
                <a:latin typeface="Calibri"/>
              </a:defRPr>
            </a:pPr>
            <a:r>
              <a:rPr sz="1000" b="1">
                <a:solidFill>
                  <a:srgbClr val="FFFFFF"/>
                </a:solidFill>
                <a:latin typeface="Calibri"/>
              </a:rPr>
              <a:t>Step 3</a:t>
            </a:r>
          </a:p>
        </p:txBody>
      </p:sp>
      <p:sp>
        <p:nvSpPr>
          <p:cNvPr id="66" name="TextBox 65">
            <a:extLst>
              <a:ext uri="{FF2B5EF4-FFF2-40B4-BE49-F238E27FC236}">
                <a16:creationId xmlns:a16="http://schemas.microsoft.com/office/drawing/2014/main" id="{E16C2EDE-BA44-B946-4B74-D8F2D6366E22}"/>
              </a:ext>
            </a:extLst>
          </p:cNvPr>
          <p:cNvSpPr txBox="1"/>
          <p:nvPr/>
        </p:nvSpPr>
        <p:spPr>
          <a:xfrm>
            <a:off x="7123176" y="5843016"/>
            <a:ext cx="1655064" cy="201168"/>
          </a:xfrm>
          <a:prstGeom prst="rect">
            <a:avLst/>
          </a:prstGeom>
          <a:noFill/>
        </p:spPr>
        <p:txBody>
          <a:bodyPr wrap="square" lIns="0" tIns="0" rIns="0" bIns="0" anchor="t">
            <a:spAutoFit/>
          </a:bodyPr>
          <a:lstStyle/>
          <a:p>
            <a:pPr algn="r">
              <a:defRPr sz="1000" b="1">
                <a:solidFill>
                  <a:srgbClr val="FFFFFF"/>
                </a:solidFill>
                <a:latin typeface="Calibri"/>
              </a:defRPr>
            </a:pPr>
            <a:r>
              <a:rPr sz="1000" b="1">
                <a:solidFill>
                  <a:srgbClr val="FFFFFF"/>
                </a:solidFill>
                <a:latin typeface="Calibri"/>
              </a:rPr>
              <a:t>Rank</a:t>
            </a:r>
          </a:p>
        </p:txBody>
      </p:sp>
      <p:sp>
        <p:nvSpPr>
          <p:cNvPr id="67" name="TextBox 66">
            <a:extLst>
              <a:ext uri="{FF2B5EF4-FFF2-40B4-BE49-F238E27FC236}">
                <a16:creationId xmlns:a16="http://schemas.microsoft.com/office/drawing/2014/main" id="{E3F24325-A416-2B26-70F0-637D4BAAE8E4}"/>
              </a:ext>
            </a:extLst>
          </p:cNvPr>
          <p:cNvSpPr txBox="1"/>
          <p:nvPr/>
        </p:nvSpPr>
        <p:spPr>
          <a:xfrm>
            <a:off x="6300216" y="6108192"/>
            <a:ext cx="2478024" cy="349648"/>
          </a:xfrm>
          <a:prstGeom prst="rect">
            <a:avLst/>
          </a:prstGeom>
          <a:noFill/>
        </p:spPr>
        <p:txBody>
          <a:bodyPr wrap="square" tIns="0">
            <a:spAutoFit/>
          </a:bodyPr>
          <a:lstStyle/>
          <a:p>
            <a:pPr algn="l">
              <a:lnSpc>
                <a:spcPct val="120000"/>
              </a:lnSpc>
              <a:defRPr sz="1000" b="0">
                <a:solidFill>
                  <a:srgbClr val="334155"/>
                </a:solidFill>
                <a:latin typeface="Calibri"/>
              </a:defRPr>
            </a:pPr>
            <a:r>
              <a:rPr sz="850" b="0">
                <a:solidFill>
                  <a:srgbClr val="334155"/>
                </a:solidFill>
                <a:latin typeface="Calibri"/>
              </a:rPr>
              <a:t>Surface trust signals — ownership, freshness, certification.</a:t>
            </a:r>
          </a:p>
        </p:txBody>
      </p:sp>
      <p:sp>
        <p:nvSpPr>
          <p:cNvPr id="68" name="Rounded Rectangle 66">
            <a:extLst>
              <a:ext uri="{FF2B5EF4-FFF2-40B4-BE49-F238E27FC236}">
                <a16:creationId xmlns:a16="http://schemas.microsoft.com/office/drawing/2014/main" id="{FBEE06ED-6E98-C30C-ABAA-AFE74766A432}"/>
              </a:ext>
            </a:extLst>
          </p:cNvPr>
          <p:cNvSpPr/>
          <p:nvPr/>
        </p:nvSpPr>
        <p:spPr>
          <a:xfrm>
            <a:off x="9043416" y="5815584"/>
            <a:ext cx="2734056" cy="56692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ounded Rectangle 67">
            <a:extLst>
              <a:ext uri="{FF2B5EF4-FFF2-40B4-BE49-F238E27FC236}">
                <a16:creationId xmlns:a16="http://schemas.microsoft.com/office/drawing/2014/main" id="{98B71D49-22D5-2FAB-BB29-A87B43F94722}"/>
              </a:ext>
            </a:extLst>
          </p:cNvPr>
          <p:cNvSpPr/>
          <p:nvPr/>
        </p:nvSpPr>
        <p:spPr>
          <a:xfrm>
            <a:off x="9043416" y="5815584"/>
            <a:ext cx="2734056" cy="256032"/>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a:extLst>
              <a:ext uri="{FF2B5EF4-FFF2-40B4-BE49-F238E27FC236}">
                <a16:creationId xmlns:a16="http://schemas.microsoft.com/office/drawing/2014/main" id="{6A7B3013-C615-F385-60FD-2B2A8972572E}"/>
              </a:ext>
            </a:extLst>
          </p:cNvPr>
          <p:cNvSpPr txBox="1"/>
          <p:nvPr/>
        </p:nvSpPr>
        <p:spPr>
          <a:xfrm>
            <a:off x="9180576" y="5843016"/>
            <a:ext cx="731520" cy="201168"/>
          </a:xfrm>
          <a:prstGeom prst="rect">
            <a:avLst/>
          </a:prstGeom>
          <a:noFill/>
        </p:spPr>
        <p:txBody>
          <a:bodyPr wrap="square" lIns="0" tIns="0" rIns="0" bIns="0" anchor="t">
            <a:spAutoFit/>
          </a:bodyPr>
          <a:lstStyle/>
          <a:p>
            <a:pPr algn="l">
              <a:defRPr sz="1000" b="1">
                <a:solidFill>
                  <a:srgbClr val="FFFFFF"/>
                </a:solidFill>
                <a:latin typeface="Calibri"/>
              </a:defRPr>
            </a:pPr>
            <a:r>
              <a:rPr sz="1000" b="1">
                <a:solidFill>
                  <a:srgbClr val="FFFFFF"/>
                </a:solidFill>
                <a:latin typeface="Calibri"/>
              </a:rPr>
              <a:t>Step 4</a:t>
            </a:r>
          </a:p>
        </p:txBody>
      </p:sp>
      <p:sp>
        <p:nvSpPr>
          <p:cNvPr id="71" name="TextBox 70">
            <a:extLst>
              <a:ext uri="{FF2B5EF4-FFF2-40B4-BE49-F238E27FC236}">
                <a16:creationId xmlns:a16="http://schemas.microsoft.com/office/drawing/2014/main" id="{850C77E4-7402-5CAD-ED9E-D80294EBE3EA}"/>
              </a:ext>
            </a:extLst>
          </p:cNvPr>
          <p:cNvSpPr txBox="1"/>
          <p:nvPr/>
        </p:nvSpPr>
        <p:spPr>
          <a:xfrm>
            <a:off x="10003536" y="5843016"/>
            <a:ext cx="1655064" cy="201168"/>
          </a:xfrm>
          <a:prstGeom prst="rect">
            <a:avLst/>
          </a:prstGeom>
          <a:noFill/>
        </p:spPr>
        <p:txBody>
          <a:bodyPr wrap="square" lIns="0" tIns="0" rIns="0" bIns="0" anchor="t">
            <a:spAutoFit/>
          </a:bodyPr>
          <a:lstStyle/>
          <a:p>
            <a:pPr algn="r">
              <a:defRPr sz="1000" b="1">
                <a:solidFill>
                  <a:srgbClr val="FFFFFF"/>
                </a:solidFill>
                <a:latin typeface="Calibri"/>
              </a:defRPr>
            </a:pPr>
            <a:r>
              <a:rPr sz="1000" b="1">
                <a:solidFill>
                  <a:srgbClr val="FFFFFF"/>
                </a:solidFill>
                <a:latin typeface="Calibri"/>
              </a:rPr>
              <a:t>Use</a:t>
            </a:r>
          </a:p>
        </p:txBody>
      </p:sp>
      <p:sp>
        <p:nvSpPr>
          <p:cNvPr id="72" name="TextBox 71">
            <a:extLst>
              <a:ext uri="{FF2B5EF4-FFF2-40B4-BE49-F238E27FC236}">
                <a16:creationId xmlns:a16="http://schemas.microsoft.com/office/drawing/2014/main" id="{28B3FE87-454F-956F-1C53-AB24DAD7BC9B}"/>
              </a:ext>
            </a:extLst>
          </p:cNvPr>
          <p:cNvSpPr txBox="1"/>
          <p:nvPr/>
        </p:nvSpPr>
        <p:spPr>
          <a:xfrm>
            <a:off x="9180576" y="6108192"/>
            <a:ext cx="2478024" cy="349648"/>
          </a:xfrm>
          <a:prstGeom prst="rect">
            <a:avLst/>
          </a:prstGeom>
          <a:noFill/>
        </p:spPr>
        <p:txBody>
          <a:bodyPr wrap="square" tIns="0">
            <a:spAutoFit/>
          </a:bodyPr>
          <a:lstStyle/>
          <a:p>
            <a:pPr algn="l">
              <a:lnSpc>
                <a:spcPct val="120000"/>
              </a:lnSpc>
              <a:defRPr sz="1000" b="0">
                <a:solidFill>
                  <a:srgbClr val="334155"/>
                </a:solidFill>
                <a:latin typeface="Calibri"/>
              </a:defRPr>
            </a:pPr>
            <a:r>
              <a:rPr sz="850" b="0">
                <a:solidFill>
                  <a:srgbClr val="334155"/>
                </a:solidFill>
                <a:latin typeface="Calibri"/>
              </a:rPr>
              <a:t>Hand off curated assets and sample queries; open in Alation.</a:t>
            </a:r>
          </a:p>
        </p:txBody>
      </p:sp>
      <p:sp>
        <p:nvSpPr>
          <p:cNvPr id="73" name="TextBox 72">
            <a:extLst>
              <a:ext uri="{FF2B5EF4-FFF2-40B4-BE49-F238E27FC236}">
                <a16:creationId xmlns:a16="http://schemas.microsoft.com/office/drawing/2014/main" id="{9293430A-6B65-AC9E-C82C-56840A88F694}"/>
              </a:ext>
            </a:extLst>
          </p:cNvPr>
          <p:cNvSpPr txBox="1"/>
          <p:nvPr/>
        </p:nvSpPr>
        <p:spPr>
          <a:xfrm>
            <a:off x="411480" y="1245870"/>
            <a:ext cx="11521440" cy="232884"/>
          </a:xfrm>
          <a:prstGeom prst="rect">
            <a:avLst/>
          </a:prstGeom>
          <a:noFill/>
        </p:spPr>
        <p:txBody>
          <a:bodyPr wrap="square" lIns="36576" tIns="18288" rIns="36576" bIns="18288" anchor="t">
            <a:spAutoFit/>
          </a:bodyPr>
          <a:lstStyle/>
          <a:p>
            <a:pPr algn="l">
              <a:lnSpc>
                <a:spcPct val="125000"/>
              </a:lnSpc>
              <a:spcBef>
                <a:spcPts val="0"/>
              </a:spcBef>
              <a:spcAft>
                <a:spcPts val="0"/>
              </a:spcAft>
            </a:pPr>
            <a:r>
              <a:rPr lang="en-US" sz="1100" b="0" i="0">
                <a:solidFill>
                  <a:srgbClr val="475569"/>
                </a:solidFill>
                <a:latin typeface="Calibri"/>
              </a:rPr>
              <a:t>Plain-English questions over the Ad Platforms catalog return trusted assets in minutes — eliminating tribal-knowledge bottlenecks.</a:t>
            </a:r>
          </a:p>
        </p:txBody>
      </p:sp>
      <p:sp>
        <p:nvSpPr>
          <p:cNvPr id="74" name="TextBox 73">
            <a:extLst>
              <a:ext uri="{FF2B5EF4-FFF2-40B4-BE49-F238E27FC236}">
                <a16:creationId xmlns:a16="http://schemas.microsoft.com/office/drawing/2014/main" id="{0DCB6C5B-7FF7-9945-F55B-E225B010CA6F}"/>
              </a:ext>
            </a:extLst>
          </p:cNvPr>
          <p:cNvSpPr txBox="1"/>
          <p:nvPr/>
        </p:nvSpPr>
        <p:spPr>
          <a:xfrm>
            <a:off x="9546336" y="510831"/>
            <a:ext cx="2715768" cy="365760"/>
          </a:xfrm>
          <a:prstGeom prst="rect">
            <a:avLst/>
          </a:prstGeom>
          <a:solidFill>
            <a:schemeClr val="accent2">
              <a:lumMod val="20000"/>
              <a:lumOff val="80000"/>
            </a:schemeClr>
          </a:solidFill>
        </p:spPr>
        <p:txBody>
          <a:bodyPr wrap="square" rtlCol="0">
            <a:spAutoFit/>
          </a:bodyPr>
          <a:lstStyle/>
          <a:p>
            <a:pPr algn="ctr"/>
            <a:r>
              <a:rPr lang="en-US" sz="1000" b="1"/>
              <a:t>Deep Dive from AI-Enabled Use Cases with Alation and Cursor MCP slide </a:t>
            </a:r>
          </a:p>
        </p:txBody>
      </p:sp>
      <p:sp>
        <p:nvSpPr>
          <p:cNvPr id="75" name="Oval 74">
            <a:extLst>
              <a:ext uri="{FF2B5EF4-FFF2-40B4-BE49-F238E27FC236}">
                <a16:creationId xmlns:a16="http://schemas.microsoft.com/office/drawing/2014/main" id="{6973141D-3688-BC71-557F-F0881B8D4A36}"/>
              </a:ext>
            </a:extLst>
          </p:cNvPr>
          <p:cNvSpPr/>
          <p:nvPr/>
        </p:nvSpPr>
        <p:spPr>
          <a:xfrm>
            <a:off x="11768328" y="786347"/>
            <a:ext cx="329184" cy="329184"/>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200" b="1">
                <a:solidFill>
                  <a:srgbClr val="FFFFFF"/>
                </a:solidFill>
                <a:latin typeface="Calibri"/>
              </a:defRPr>
            </a:pPr>
            <a:r>
              <a:rPr sz="1400" b="1">
                <a:solidFill>
                  <a:srgbClr val="FFFFFF"/>
                </a:solidFill>
                <a:latin typeface="Calibri"/>
              </a:rPr>
              <a:t>1</a:t>
            </a:r>
          </a:p>
        </p:txBody>
      </p:sp>
    </p:spTree>
    <p:extLst>
      <p:ext uri="{BB962C8B-B14F-4D97-AF65-F5344CB8AC3E}">
        <p14:creationId xmlns:p14="http://schemas.microsoft.com/office/powerpoint/2010/main" val="5181873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50CAC-CF26-F984-A541-A5A3362E09E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EC9B238-7341-64A0-DEF5-7E7658B27F73}"/>
              </a:ext>
            </a:extLst>
          </p:cNvPr>
          <p:cNvSpPr/>
          <p:nvPr/>
        </p:nvSpPr>
        <p:spPr>
          <a:xfrm>
            <a:off x="0" y="0"/>
            <a:ext cx="12191695" cy="502920"/>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F9A1246F-224F-965D-D497-461B866FF362}"/>
              </a:ext>
            </a:extLst>
          </p:cNvPr>
          <p:cNvSpPr txBox="1"/>
          <p:nvPr/>
        </p:nvSpPr>
        <p:spPr>
          <a:xfrm>
            <a:off x="457200" y="804672"/>
            <a:ext cx="11430000" cy="406265"/>
          </a:xfrm>
          <a:prstGeom prst="rect">
            <a:avLst/>
          </a:prstGeom>
          <a:noFill/>
        </p:spPr>
        <p:txBody>
          <a:bodyPr wrap="square" lIns="36576" tIns="18288" rIns="36576" bIns="18288" anchor="t">
            <a:spAutoFit/>
          </a:bodyPr>
          <a:lstStyle/>
          <a:p>
            <a:pPr>
              <a:defRPr sz="2400" b="1">
                <a:solidFill>
                  <a:srgbClr val="152342"/>
                </a:solidFill>
                <a:latin typeface="Calibri Light"/>
              </a:defRPr>
            </a:pPr>
            <a:r>
              <a:rPr lang="en-US" sz="2400" b="1">
                <a:solidFill>
                  <a:srgbClr val="152342"/>
                </a:solidFill>
                <a:latin typeface="Calibri Light"/>
              </a:rPr>
              <a:t>Cursor–Alation MCP Use Case — Automated Impact Analysis</a:t>
            </a:r>
          </a:p>
        </p:txBody>
      </p:sp>
      <p:sp>
        <p:nvSpPr>
          <p:cNvPr id="43" name="Rectangle 42">
            <a:extLst>
              <a:ext uri="{FF2B5EF4-FFF2-40B4-BE49-F238E27FC236}">
                <a16:creationId xmlns:a16="http://schemas.microsoft.com/office/drawing/2014/main" id="{BC1D7F20-DA21-E6BE-A661-3BF328C77BEF}"/>
              </a:ext>
            </a:extLst>
          </p:cNvPr>
          <p:cNvSpPr/>
          <p:nvPr/>
        </p:nvSpPr>
        <p:spPr>
          <a:xfrm>
            <a:off x="0" y="6400800"/>
            <a:ext cx="12191695"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a:extLst>
              <a:ext uri="{FF2B5EF4-FFF2-40B4-BE49-F238E27FC236}">
                <a16:creationId xmlns:a16="http://schemas.microsoft.com/office/drawing/2014/main" id="{1A67DD80-C8B5-9A37-9B99-7F9F31FEDB23}"/>
              </a:ext>
            </a:extLst>
          </p:cNvPr>
          <p:cNvSpPr txBox="1"/>
          <p:nvPr/>
        </p:nvSpPr>
        <p:spPr>
          <a:xfrm>
            <a:off x="457200" y="6473952"/>
            <a:ext cx="11277295" cy="310896"/>
          </a:xfrm>
          <a:prstGeom prst="rect">
            <a:avLst/>
          </a:prstGeom>
          <a:noFill/>
        </p:spPr>
        <p:txBody>
          <a:bodyPr wrap="square" lIns="36576" tIns="18288" rIns="36576" bIns="18288" anchor="ctr">
            <a:spAutoFit/>
          </a:bodyPr>
          <a:lstStyle/>
          <a:p>
            <a:pPr algn="l">
              <a:lnSpc>
                <a:spcPct val="118000"/>
              </a:lnSpc>
              <a:spcBef>
                <a:spcPts val="0"/>
              </a:spcBef>
              <a:spcAft>
                <a:spcPts val="0"/>
              </a:spcAft>
            </a:pPr>
            <a:r>
              <a:rPr sz="1150" b="0" i="0">
                <a:solidFill>
                  <a:srgbClr val="64748B"/>
                </a:solidFill>
                <a:latin typeface="Calibri"/>
              </a:rPr>
              <a:t>DEET Data Governance  |  May 2026  |  Alation Data Catalog Overview</a:t>
            </a:r>
          </a:p>
        </p:txBody>
      </p:sp>
      <p:sp>
        <p:nvSpPr>
          <p:cNvPr id="7" name="TextBox 6"/>
          <p:cNvSpPr txBox="1"/>
          <p:nvPr/>
        </p:nvSpPr>
        <p:spPr>
          <a:xfrm>
            <a:off x="411480" y="1554480"/>
            <a:ext cx="11365992" cy="219456"/>
          </a:xfrm>
          <a:prstGeom prst="rect">
            <a:avLst/>
          </a:prstGeom>
          <a:noFill/>
        </p:spPr>
        <p:txBody>
          <a:bodyPr wrap="square" lIns="0" tIns="0" rIns="0" bIns="0" anchor="t">
            <a:spAutoFit/>
          </a:bodyPr>
          <a:lstStyle/>
          <a:p>
            <a:pPr algn="l">
              <a:defRPr sz="1100" b="1">
                <a:solidFill>
                  <a:srgbClr val="152342"/>
                </a:solidFill>
                <a:latin typeface="Calibri"/>
              </a:defRPr>
            </a:pPr>
            <a:r>
              <a:rPr sz="1100" b="1">
                <a:solidFill>
                  <a:srgbClr val="152342"/>
                </a:solidFill>
                <a:latin typeface="Calibri"/>
              </a:rPr>
              <a:t>BUSINESS IMPACT</a:t>
            </a:r>
          </a:p>
        </p:txBody>
      </p:sp>
      <p:sp>
        <p:nvSpPr>
          <p:cNvPr id="8" name="Rounded Rectangle 7"/>
          <p:cNvSpPr/>
          <p:nvPr/>
        </p:nvSpPr>
        <p:spPr>
          <a:xfrm>
            <a:off x="411480" y="1810512"/>
            <a:ext cx="2734056" cy="84124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11480" y="1810512"/>
            <a:ext cx="91440" cy="84124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 y="1956816"/>
            <a:ext cx="2331720" cy="384048"/>
          </a:xfrm>
          <a:prstGeom prst="rect">
            <a:avLst/>
          </a:prstGeom>
          <a:noFill/>
        </p:spPr>
        <p:txBody>
          <a:bodyPr wrap="square" lIns="0" tIns="0" rIns="0" bIns="0" anchor="t">
            <a:spAutoFit/>
          </a:bodyPr>
          <a:lstStyle/>
          <a:p>
            <a:pPr algn="l">
              <a:defRPr sz="2200" b="1">
                <a:solidFill>
                  <a:srgbClr val="152342"/>
                </a:solidFill>
                <a:latin typeface="Calibri Light"/>
              </a:defRPr>
            </a:pPr>
            <a:r>
              <a:rPr sz="2200" b="1">
                <a:solidFill>
                  <a:srgbClr val="152342"/>
                </a:solidFill>
                <a:latin typeface="Calibri Light"/>
              </a:rPr>
              <a:t>Days → Hrs</a:t>
            </a:r>
          </a:p>
        </p:txBody>
      </p:sp>
      <p:sp>
        <p:nvSpPr>
          <p:cNvPr id="11" name="TextBox 10"/>
          <p:cNvSpPr txBox="1"/>
          <p:nvPr/>
        </p:nvSpPr>
        <p:spPr>
          <a:xfrm>
            <a:off x="649224" y="2359152"/>
            <a:ext cx="2331720" cy="274320"/>
          </a:xfrm>
          <a:prstGeom prst="rect">
            <a:avLst/>
          </a:prstGeom>
          <a:noFill/>
        </p:spPr>
        <p:txBody>
          <a:bodyPr wrap="square" lIns="0" tIns="0" rIns="0" bIns="0" anchor="t">
            <a:spAutoFit/>
          </a:bodyPr>
          <a:lstStyle/>
          <a:p>
            <a:pPr algn="l">
              <a:defRPr sz="1000" b="0">
                <a:solidFill>
                  <a:srgbClr val="475569"/>
                </a:solidFill>
                <a:latin typeface="Calibri"/>
              </a:defRPr>
            </a:pPr>
            <a:r>
              <a:rPr sz="1000" b="0">
                <a:solidFill>
                  <a:srgbClr val="475569"/>
                </a:solidFill>
                <a:latin typeface="Calibri"/>
              </a:rPr>
              <a:t>Time to impact brief</a:t>
            </a:r>
          </a:p>
        </p:txBody>
      </p:sp>
      <p:sp>
        <p:nvSpPr>
          <p:cNvPr id="12" name="Rounded Rectangle 11"/>
          <p:cNvSpPr/>
          <p:nvPr/>
        </p:nvSpPr>
        <p:spPr>
          <a:xfrm>
            <a:off x="3291840" y="1810512"/>
            <a:ext cx="2734056" cy="84124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291840" y="1810512"/>
            <a:ext cx="91440" cy="84124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29584" y="1956816"/>
            <a:ext cx="2331720" cy="338554"/>
          </a:xfrm>
          <a:prstGeom prst="rect">
            <a:avLst/>
          </a:prstGeom>
          <a:noFill/>
        </p:spPr>
        <p:txBody>
          <a:bodyPr wrap="square" lIns="0" tIns="0" rIns="0" bIns="0" anchor="t">
            <a:spAutoFit/>
          </a:bodyPr>
          <a:lstStyle/>
          <a:p>
            <a:pPr algn="l">
              <a:defRPr sz="2200" b="1">
                <a:solidFill>
                  <a:srgbClr val="152342"/>
                </a:solidFill>
                <a:latin typeface="Calibri Light"/>
              </a:defRPr>
            </a:pPr>
            <a:r>
              <a:rPr sz="2200" b="1">
                <a:solidFill>
                  <a:srgbClr val="152342"/>
                </a:solidFill>
                <a:latin typeface="Calibri Light"/>
              </a:rPr>
              <a:t>100</a:t>
            </a:r>
            <a:r>
              <a:rPr lang="en-US" sz="2200" b="1">
                <a:solidFill>
                  <a:srgbClr val="152342"/>
                </a:solidFill>
                <a:latin typeface="Calibri Light"/>
              </a:rPr>
              <a:t>+</a:t>
            </a:r>
            <a:endParaRPr sz="2200" b="1">
              <a:solidFill>
                <a:srgbClr val="152342"/>
              </a:solidFill>
              <a:latin typeface="Calibri Light"/>
            </a:endParaRPr>
          </a:p>
        </p:txBody>
      </p:sp>
      <p:sp>
        <p:nvSpPr>
          <p:cNvPr id="15" name="TextBox 14"/>
          <p:cNvSpPr txBox="1"/>
          <p:nvPr/>
        </p:nvSpPr>
        <p:spPr>
          <a:xfrm>
            <a:off x="3529584" y="2359152"/>
            <a:ext cx="2331720" cy="153888"/>
          </a:xfrm>
          <a:prstGeom prst="rect">
            <a:avLst/>
          </a:prstGeom>
          <a:noFill/>
        </p:spPr>
        <p:txBody>
          <a:bodyPr wrap="square" lIns="0" tIns="0" rIns="0" bIns="0" anchor="t">
            <a:spAutoFit/>
          </a:bodyPr>
          <a:lstStyle/>
          <a:p>
            <a:pPr algn="l">
              <a:defRPr sz="1000" b="0">
                <a:solidFill>
                  <a:srgbClr val="475569"/>
                </a:solidFill>
                <a:latin typeface="Calibri"/>
              </a:defRPr>
            </a:pPr>
            <a:r>
              <a:rPr lang="en-US" sz="1000" b="0">
                <a:solidFill>
                  <a:srgbClr val="475569"/>
                </a:solidFill>
                <a:latin typeface="Calibri"/>
              </a:rPr>
              <a:t>Downstream dependencies traced</a:t>
            </a:r>
            <a:endParaRPr sz="1000" b="0">
              <a:solidFill>
                <a:srgbClr val="475569"/>
              </a:solidFill>
              <a:latin typeface="Calibri"/>
            </a:endParaRPr>
          </a:p>
        </p:txBody>
      </p:sp>
      <p:sp>
        <p:nvSpPr>
          <p:cNvPr id="16" name="Rounded Rectangle 15"/>
          <p:cNvSpPr/>
          <p:nvPr/>
        </p:nvSpPr>
        <p:spPr>
          <a:xfrm>
            <a:off x="6172200" y="1810512"/>
            <a:ext cx="2734056" cy="84124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172200" y="1810512"/>
            <a:ext cx="91440" cy="841248"/>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9944" y="1956816"/>
            <a:ext cx="2331720" cy="384048"/>
          </a:xfrm>
          <a:prstGeom prst="rect">
            <a:avLst/>
          </a:prstGeom>
          <a:noFill/>
        </p:spPr>
        <p:txBody>
          <a:bodyPr wrap="square" lIns="0" tIns="0" rIns="0" bIns="0" anchor="t">
            <a:spAutoFit/>
          </a:bodyPr>
          <a:lstStyle/>
          <a:p>
            <a:pPr algn="l">
              <a:defRPr sz="2200" b="1">
                <a:solidFill>
                  <a:srgbClr val="152342"/>
                </a:solidFill>
                <a:latin typeface="Calibri Light"/>
              </a:defRPr>
            </a:pPr>
            <a:r>
              <a:rPr sz="2200" b="1">
                <a:solidFill>
                  <a:srgbClr val="152342"/>
                </a:solidFill>
                <a:latin typeface="Calibri Light"/>
              </a:rPr>
              <a:t>Pre-release</a:t>
            </a:r>
          </a:p>
        </p:txBody>
      </p:sp>
      <p:sp>
        <p:nvSpPr>
          <p:cNvPr id="19" name="TextBox 18"/>
          <p:cNvSpPr txBox="1"/>
          <p:nvPr/>
        </p:nvSpPr>
        <p:spPr>
          <a:xfrm>
            <a:off x="6409944" y="2359152"/>
            <a:ext cx="2331720" cy="274320"/>
          </a:xfrm>
          <a:prstGeom prst="rect">
            <a:avLst/>
          </a:prstGeom>
          <a:noFill/>
        </p:spPr>
        <p:txBody>
          <a:bodyPr wrap="square" lIns="0" tIns="0" rIns="0" bIns="0" anchor="t">
            <a:spAutoFit/>
          </a:bodyPr>
          <a:lstStyle/>
          <a:p>
            <a:pPr algn="l">
              <a:defRPr sz="1000" b="0">
                <a:solidFill>
                  <a:srgbClr val="475569"/>
                </a:solidFill>
                <a:latin typeface="Calibri"/>
              </a:defRPr>
            </a:pPr>
            <a:r>
              <a:rPr sz="1000" b="0">
                <a:solidFill>
                  <a:srgbClr val="475569"/>
                </a:solidFill>
                <a:latin typeface="Calibri"/>
              </a:rPr>
              <a:t>Issues caught earlier</a:t>
            </a:r>
          </a:p>
        </p:txBody>
      </p:sp>
      <p:sp>
        <p:nvSpPr>
          <p:cNvPr id="20" name="Rounded Rectangle 19"/>
          <p:cNvSpPr/>
          <p:nvPr/>
        </p:nvSpPr>
        <p:spPr>
          <a:xfrm>
            <a:off x="9043416" y="1810512"/>
            <a:ext cx="2734056" cy="84124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043416" y="1810512"/>
            <a:ext cx="91440" cy="841248"/>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281160" y="1956816"/>
            <a:ext cx="2331720" cy="384048"/>
          </a:xfrm>
          <a:prstGeom prst="rect">
            <a:avLst/>
          </a:prstGeom>
          <a:noFill/>
        </p:spPr>
        <p:txBody>
          <a:bodyPr wrap="square" lIns="0" tIns="0" rIns="0" bIns="0" anchor="t">
            <a:spAutoFit/>
          </a:bodyPr>
          <a:lstStyle/>
          <a:p>
            <a:pPr algn="l">
              <a:defRPr sz="2200" b="1">
                <a:solidFill>
                  <a:srgbClr val="152342"/>
                </a:solidFill>
                <a:latin typeface="Calibri Light"/>
              </a:defRPr>
            </a:pPr>
            <a:r>
              <a:rPr sz="2200" b="1">
                <a:solidFill>
                  <a:srgbClr val="152342"/>
                </a:solidFill>
                <a:latin typeface="Calibri Light"/>
              </a:rPr>
              <a:t>All Domains</a:t>
            </a:r>
          </a:p>
        </p:txBody>
      </p:sp>
      <p:sp>
        <p:nvSpPr>
          <p:cNvPr id="23" name="TextBox 22"/>
          <p:cNvSpPr txBox="1"/>
          <p:nvPr/>
        </p:nvSpPr>
        <p:spPr>
          <a:xfrm>
            <a:off x="9281160" y="2359152"/>
            <a:ext cx="2331720" cy="274320"/>
          </a:xfrm>
          <a:prstGeom prst="rect">
            <a:avLst/>
          </a:prstGeom>
          <a:noFill/>
        </p:spPr>
        <p:txBody>
          <a:bodyPr wrap="square" lIns="0" tIns="0" rIns="0" bIns="0" anchor="t">
            <a:spAutoFit/>
          </a:bodyPr>
          <a:lstStyle/>
          <a:p>
            <a:pPr algn="l">
              <a:defRPr sz="1000" b="0">
                <a:solidFill>
                  <a:srgbClr val="475569"/>
                </a:solidFill>
                <a:latin typeface="Calibri"/>
              </a:defRPr>
            </a:pPr>
            <a:r>
              <a:rPr sz="1000" b="0">
                <a:solidFill>
                  <a:srgbClr val="475569"/>
                </a:solidFill>
                <a:latin typeface="Calibri"/>
              </a:rPr>
              <a:t>Lineage coverage</a:t>
            </a:r>
          </a:p>
        </p:txBody>
      </p:sp>
      <p:sp>
        <p:nvSpPr>
          <p:cNvPr id="24" name="TextBox 23"/>
          <p:cNvSpPr txBox="1"/>
          <p:nvPr/>
        </p:nvSpPr>
        <p:spPr>
          <a:xfrm>
            <a:off x="411480" y="2779776"/>
            <a:ext cx="5559552" cy="219456"/>
          </a:xfrm>
          <a:prstGeom prst="rect">
            <a:avLst/>
          </a:prstGeom>
          <a:noFill/>
        </p:spPr>
        <p:txBody>
          <a:bodyPr wrap="square" lIns="0" tIns="0" rIns="0" bIns="0" anchor="t">
            <a:spAutoFit/>
          </a:bodyPr>
          <a:lstStyle/>
          <a:p>
            <a:pPr algn="l">
              <a:defRPr sz="1100" b="1">
                <a:solidFill>
                  <a:srgbClr val="152342"/>
                </a:solidFill>
                <a:latin typeface="Calibri"/>
              </a:defRPr>
            </a:pPr>
            <a:r>
              <a:rPr sz="1100" b="1">
                <a:solidFill>
                  <a:srgbClr val="152342"/>
                </a:solidFill>
                <a:latin typeface="Calibri"/>
              </a:rPr>
              <a:t>THE CHALLENGE</a:t>
            </a:r>
          </a:p>
        </p:txBody>
      </p:sp>
      <p:sp>
        <p:nvSpPr>
          <p:cNvPr id="25" name="Rounded Rectangle 24"/>
          <p:cNvSpPr/>
          <p:nvPr/>
        </p:nvSpPr>
        <p:spPr>
          <a:xfrm>
            <a:off x="411480" y="3035808"/>
            <a:ext cx="5559552" cy="138988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411480" y="3035808"/>
            <a:ext cx="91440" cy="1389888"/>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9224" y="3163824"/>
            <a:ext cx="5157216" cy="916085"/>
          </a:xfrm>
          <a:prstGeom prst="rect">
            <a:avLst/>
          </a:prstGeom>
          <a:noFill/>
        </p:spPr>
        <p:txBody>
          <a:bodyPr wrap="square" tIns="0">
            <a:spAutoFit/>
          </a:bodyPr>
          <a:lstStyle/>
          <a:p>
            <a:pPr algn="l">
              <a:lnSpc>
                <a:spcPct val="125000"/>
              </a:lnSpc>
              <a:spcAft>
                <a:spcPts val="600"/>
              </a:spcAft>
              <a:defRPr sz="1050" b="0">
                <a:solidFill>
                  <a:srgbClr val="334155"/>
                </a:solidFill>
                <a:latin typeface="Calibri"/>
              </a:defRPr>
            </a:pPr>
            <a:r>
              <a:rPr sz="1050" b="0">
                <a:solidFill>
                  <a:srgbClr val="334155"/>
                </a:solidFill>
                <a:latin typeface="Calibri"/>
              </a:rPr>
              <a:t>A </a:t>
            </a:r>
            <a:r>
              <a:rPr sz="1050" b="0">
                <a:latin typeface="Calibri"/>
              </a:rPr>
              <a:t>schema or definition change in Snowflake ODS ad event tables (</a:t>
            </a:r>
            <a:r>
              <a:rPr sz="1050" b="0" err="1">
                <a:latin typeface="Calibri"/>
              </a:rPr>
              <a:t>raw_beacon</a:t>
            </a:r>
            <a:r>
              <a:rPr sz="1050" b="0">
                <a:latin typeface="Calibri"/>
              </a:rPr>
              <a:t>, AGG_GATEWAY_ADS views) can silently break BI dashboards and 3P feeds.</a:t>
            </a:r>
          </a:p>
          <a:p>
            <a:pPr algn="l">
              <a:lnSpc>
                <a:spcPct val="125000"/>
              </a:lnSpc>
              <a:spcAft>
                <a:spcPts val="600"/>
              </a:spcAft>
              <a:defRPr sz="1050" b="0">
                <a:solidFill>
                  <a:srgbClr val="334155"/>
                </a:solidFill>
                <a:latin typeface="Calibri"/>
              </a:defRPr>
            </a:pPr>
            <a:r>
              <a:rPr lang="en-US" sz="1050" b="0">
                <a:latin typeface="Calibri"/>
              </a:rPr>
              <a:t>Manual impact analysis is slow and partial — easy to miss downstream systems such as DCM dashboards, STAQ feeds, and Linear BI until production breaks.</a:t>
            </a:r>
            <a:endParaRPr sz="1050" b="0">
              <a:latin typeface="Calibri"/>
            </a:endParaRPr>
          </a:p>
        </p:txBody>
      </p:sp>
      <p:sp>
        <p:nvSpPr>
          <p:cNvPr id="28" name="TextBox 27"/>
          <p:cNvSpPr txBox="1"/>
          <p:nvPr/>
        </p:nvSpPr>
        <p:spPr>
          <a:xfrm>
            <a:off x="6227064" y="2779776"/>
            <a:ext cx="5559552" cy="219456"/>
          </a:xfrm>
          <a:prstGeom prst="rect">
            <a:avLst/>
          </a:prstGeom>
          <a:noFill/>
        </p:spPr>
        <p:txBody>
          <a:bodyPr wrap="square" lIns="0" tIns="0" rIns="0" bIns="0" anchor="t">
            <a:spAutoFit/>
          </a:bodyPr>
          <a:lstStyle/>
          <a:p>
            <a:pPr algn="l">
              <a:defRPr sz="1100" b="1">
                <a:solidFill>
                  <a:srgbClr val="152342"/>
                </a:solidFill>
                <a:latin typeface="Calibri"/>
              </a:defRPr>
            </a:pPr>
            <a:r>
              <a:rPr sz="1100" b="1">
                <a:solidFill>
                  <a:srgbClr val="152342"/>
                </a:solidFill>
                <a:latin typeface="Calibri"/>
              </a:rPr>
              <a:t>AI-ASSISTED WORKFLOW</a:t>
            </a:r>
          </a:p>
        </p:txBody>
      </p:sp>
      <p:sp>
        <p:nvSpPr>
          <p:cNvPr id="29" name="Rounded Rectangle 28"/>
          <p:cNvSpPr/>
          <p:nvPr/>
        </p:nvSpPr>
        <p:spPr>
          <a:xfrm>
            <a:off x="6227064" y="3035808"/>
            <a:ext cx="5559552" cy="138988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6391656" y="3145536"/>
            <a:ext cx="256032" cy="256032"/>
          </a:xfrm>
          <a:prstGeom prst="ellipse">
            <a:avLst/>
          </a:prstGeom>
          <a:solidFill>
            <a:srgbClr val="152342"/>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00" b="1">
                <a:solidFill>
                  <a:srgbClr val="FFFFFF"/>
                </a:solidFill>
                <a:latin typeface="Calibri"/>
              </a:defRPr>
            </a:pPr>
            <a:r>
              <a:rPr sz="1000" b="1">
                <a:solidFill>
                  <a:srgbClr val="FFFFFF"/>
                </a:solidFill>
                <a:latin typeface="Calibri"/>
              </a:rPr>
              <a:t>1</a:t>
            </a:r>
          </a:p>
        </p:txBody>
      </p:sp>
      <p:sp>
        <p:nvSpPr>
          <p:cNvPr id="31" name="TextBox 30"/>
          <p:cNvSpPr txBox="1"/>
          <p:nvPr/>
        </p:nvSpPr>
        <p:spPr>
          <a:xfrm>
            <a:off x="6793992" y="3127248"/>
            <a:ext cx="4828032" cy="201168"/>
          </a:xfrm>
          <a:prstGeom prst="rect">
            <a:avLst/>
          </a:prstGeom>
          <a:noFill/>
        </p:spPr>
        <p:txBody>
          <a:bodyPr wrap="square" lIns="0" tIns="0" rIns="0" bIns="0" anchor="t">
            <a:spAutoFit/>
          </a:bodyPr>
          <a:lstStyle/>
          <a:p>
            <a:pPr algn="l">
              <a:defRPr sz="1000" b="1">
                <a:solidFill>
                  <a:srgbClr val="152342"/>
                </a:solidFill>
                <a:latin typeface="Calibri"/>
              </a:defRPr>
            </a:pPr>
            <a:r>
              <a:rPr sz="1000" b="1">
                <a:solidFill>
                  <a:srgbClr val="152342"/>
                </a:solidFill>
                <a:latin typeface="Calibri"/>
              </a:rPr>
              <a:t>Define Change Scope</a:t>
            </a:r>
          </a:p>
        </p:txBody>
      </p:sp>
      <p:sp>
        <p:nvSpPr>
          <p:cNvPr id="32" name="TextBox 31"/>
          <p:cNvSpPr txBox="1"/>
          <p:nvPr/>
        </p:nvSpPr>
        <p:spPr>
          <a:xfrm>
            <a:off x="6692392" y="3243453"/>
            <a:ext cx="5157216" cy="216213"/>
          </a:xfrm>
          <a:prstGeom prst="rect">
            <a:avLst/>
          </a:prstGeom>
          <a:noFill/>
        </p:spPr>
        <p:txBody>
          <a:bodyPr wrap="square" tIns="0">
            <a:spAutoFit/>
          </a:bodyPr>
          <a:lstStyle/>
          <a:p>
            <a:pPr algn="l">
              <a:lnSpc>
                <a:spcPct val="118000"/>
              </a:lnSpc>
              <a:defRPr sz="1000" b="0">
                <a:solidFill>
                  <a:srgbClr val="334155"/>
                </a:solidFill>
                <a:latin typeface="Calibri"/>
              </a:defRPr>
            </a:pPr>
            <a:r>
              <a:rPr sz="1000" b="0">
                <a:solidFill>
                  <a:srgbClr val="334155"/>
                </a:solidFill>
                <a:latin typeface="Calibri"/>
              </a:rPr>
              <a:t>Engineer supplies the changed asset (e.g.,</a:t>
            </a:r>
            <a:r>
              <a:rPr lang="en-US" sz="1000" b="0">
                <a:solidFill>
                  <a:srgbClr val="334155"/>
                </a:solidFill>
                <a:latin typeface="Calibri"/>
              </a:rPr>
              <a:t> </a:t>
            </a:r>
            <a:r>
              <a:rPr sz="1000" b="0">
                <a:solidFill>
                  <a:srgbClr val="334155"/>
                </a:solidFill>
                <a:latin typeface="Calibri"/>
              </a:rPr>
              <a:t>UNIVERSE360.ADVERTISING.AGG_GATEWAY_ADS).</a:t>
            </a:r>
          </a:p>
        </p:txBody>
      </p:sp>
      <p:sp>
        <p:nvSpPr>
          <p:cNvPr id="33" name="Oval 32"/>
          <p:cNvSpPr/>
          <p:nvPr/>
        </p:nvSpPr>
        <p:spPr>
          <a:xfrm>
            <a:off x="6391656" y="3456432"/>
            <a:ext cx="256032" cy="256032"/>
          </a:xfrm>
          <a:prstGeom prst="ellipse">
            <a:avLst/>
          </a:prstGeom>
          <a:solidFill>
            <a:srgbClr val="152342"/>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00" b="1">
                <a:solidFill>
                  <a:srgbClr val="FFFFFF"/>
                </a:solidFill>
                <a:latin typeface="Calibri"/>
              </a:defRPr>
            </a:pPr>
            <a:r>
              <a:rPr sz="1000" b="1">
                <a:solidFill>
                  <a:srgbClr val="FFFFFF"/>
                </a:solidFill>
                <a:latin typeface="Calibri"/>
              </a:rPr>
              <a:t>2</a:t>
            </a:r>
          </a:p>
        </p:txBody>
      </p:sp>
      <p:sp>
        <p:nvSpPr>
          <p:cNvPr id="34" name="TextBox 33"/>
          <p:cNvSpPr txBox="1"/>
          <p:nvPr/>
        </p:nvSpPr>
        <p:spPr>
          <a:xfrm>
            <a:off x="6793992" y="3438144"/>
            <a:ext cx="4828032" cy="201168"/>
          </a:xfrm>
          <a:prstGeom prst="rect">
            <a:avLst/>
          </a:prstGeom>
          <a:noFill/>
        </p:spPr>
        <p:txBody>
          <a:bodyPr wrap="square" lIns="0" tIns="0" rIns="0" bIns="0" anchor="t">
            <a:spAutoFit/>
          </a:bodyPr>
          <a:lstStyle/>
          <a:p>
            <a:pPr algn="l">
              <a:defRPr sz="1000" b="1">
                <a:solidFill>
                  <a:srgbClr val="152342"/>
                </a:solidFill>
                <a:latin typeface="Calibri"/>
              </a:defRPr>
            </a:pPr>
            <a:r>
              <a:rPr sz="1000" b="1">
                <a:solidFill>
                  <a:srgbClr val="152342"/>
                </a:solidFill>
                <a:latin typeface="Calibri"/>
              </a:rPr>
              <a:t>Lineage Trace via MCP</a:t>
            </a:r>
          </a:p>
        </p:txBody>
      </p:sp>
      <p:sp>
        <p:nvSpPr>
          <p:cNvPr id="35" name="TextBox 34"/>
          <p:cNvSpPr txBox="1"/>
          <p:nvPr/>
        </p:nvSpPr>
        <p:spPr>
          <a:xfrm>
            <a:off x="6692392" y="3592449"/>
            <a:ext cx="4828032" cy="201168"/>
          </a:xfrm>
          <a:prstGeom prst="rect">
            <a:avLst/>
          </a:prstGeom>
          <a:noFill/>
        </p:spPr>
        <p:txBody>
          <a:bodyPr wrap="square" tIns="0">
            <a:spAutoFit/>
          </a:bodyPr>
          <a:lstStyle/>
          <a:p>
            <a:pPr algn="l">
              <a:lnSpc>
                <a:spcPct val="118000"/>
              </a:lnSpc>
              <a:defRPr sz="1000" b="0">
                <a:solidFill>
                  <a:srgbClr val="334155"/>
                </a:solidFill>
                <a:latin typeface="Calibri"/>
              </a:defRPr>
            </a:pPr>
            <a:r>
              <a:rPr sz="1000" b="0">
                <a:solidFill>
                  <a:srgbClr val="334155"/>
                </a:solidFill>
                <a:latin typeface="Calibri"/>
              </a:rPr>
              <a:t>MCP walks Alation lineage both upstream and downstream of the changed asset.</a:t>
            </a:r>
          </a:p>
        </p:txBody>
      </p:sp>
      <p:sp>
        <p:nvSpPr>
          <p:cNvPr id="36" name="Oval 35"/>
          <p:cNvSpPr/>
          <p:nvPr/>
        </p:nvSpPr>
        <p:spPr>
          <a:xfrm>
            <a:off x="6391656" y="3767328"/>
            <a:ext cx="256032" cy="256032"/>
          </a:xfrm>
          <a:prstGeom prst="ellipse">
            <a:avLst/>
          </a:prstGeom>
          <a:solidFill>
            <a:srgbClr val="152342"/>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00" b="1">
                <a:solidFill>
                  <a:srgbClr val="FFFFFF"/>
                </a:solidFill>
                <a:latin typeface="Calibri"/>
              </a:defRPr>
            </a:pPr>
            <a:r>
              <a:rPr sz="1000" b="1">
                <a:solidFill>
                  <a:srgbClr val="FFFFFF"/>
                </a:solidFill>
                <a:latin typeface="Calibri"/>
              </a:rPr>
              <a:t>3</a:t>
            </a:r>
          </a:p>
        </p:txBody>
      </p:sp>
      <p:sp>
        <p:nvSpPr>
          <p:cNvPr id="37" name="TextBox 36"/>
          <p:cNvSpPr txBox="1"/>
          <p:nvPr/>
        </p:nvSpPr>
        <p:spPr>
          <a:xfrm>
            <a:off x="6793992" y="3749039"/>
            <a:ext cx="4828032" cy="201168"/>
          </a:xfrm>
          <a:prstGeom prst="rect">
            <a:avLst/>
          </a:prstGeom>
          <a:noFill/>
        </p:spPr>
        <p:txBody>
          <a:bodyPr wrap="square" lIns="0" tIns="0" rIns="0" bIns="0" anchor="t">
            <a:spAutoFit/>
          </a:bodyPr>
          <a:lstStyle/>
          <a:p>
            <a:pPr algn="l">
              <a:defRPr sz="1000" b="1">
                <a:solidFill>
                  <a:srgbClr val="152342"/>
                </a:solidFill>
                <a:latin typeface="Calibri"/>
              </a:defRPr>
            </a:pPr>
            <a:r>
              <a:rPr sz="1000" b="1">
                <a:solidFill>
                  <a:srgbClr val="152342"/>
                </a:solidFill>
                <a:latin typeface="Calibri"/>
              </a:rPr>
              <a:t>Consumer Inventory</a:t>
            </a:r>
          </a:p>
        </p:txBody>
      </p:sp>
      <p:sp>
        <p:nvSpPr>
          <p:cNvPr id="38" name="TextBox 37"/>
          <p:cNvSpPr txBox="1"/>
          <p:nvPr/>
        </p:nvSpPr>
        <p:spPr>
          <a:xfrm>
            <a:off x="6692392" y="3884295"/>
            <a:ext cx="4828032" cy="201168"/>
          </a:xfrm>
          <a:prstGeom prst="rect">
            <a:avLst/>
          </a:prstGeom>
          <a:noFill/>
        </p:spPr>
        <p:txBody>
          <a:bodyPr wrap="square" tIns="0">
            <a:spAutoFit/>
          </a:bodyPr>
          <a:lstStyle/>
          <a:p>
            <a:pPr algn="l">
              <a:lnSpc>
                <a:spcPct val="118000"/>
              </a:lnSpc>
              <a:defRPr sz="1000" b="0">
                <a:solidFill>
                  <a:srgbClr val="334155"/>
                </a:solidFill>
                <a:latin typeface="Calibri"/>
              </a:defRPr>
            </a:pPr>
            <a:r>
              <a:rPr sz="1000" b="0">
                <a:solidFill>
                  <a:srgbClr val="334155"/>
                </a:solidFill>
                <a:latin typeface="Calibri"/>
              </a:rPr>
              <a:t>Identify affected dashboards, reports, scheduled jobs, 3P feeds, and stewards.</a:t>
            </a:r>
          </a:p>
        </p:txBody>
      </p:sp>
      <p:sp>
        <p:nvSpPr>
          <p:cNvPr id="39" name="Oval 38"/>
          <p:cNvSpPr/>
          <p:nvPr/>
        </p:nvSpPr>
        <p:spPr>
          <a:xfrm>
            <a:off x="6391656" y="4078224"/>
            <a:ext cx="256032" cy="256032"/>
          </a:xfrm>
          <a:prstGeom prst="ellipse">
            <a:avLst/>
          </a:prstGeom>
          <a:solidFill>
            <a:srgbClr val="152342"/>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00" b="1">
                <a:solidFill>
                  <a:srgbClr val="FFFFFF"/>
                </a:solidFill>
                <a:latin typeface="Calibri"/>
              </a:defRPr>
            </a:pPr>
            <a:r>
              <a:rPr sz="1000" b="1">
                <a:solidFill>
                  <a:srgbClr val="FFFFFF"/>
                </a:solidFill>
                <a:latin typeface="Calibri"/>
              </a:rPr>
              <a:t>4</a:t>
            </a:r>
          </a:p>
        </p:txBody>
      </p:sp>
      <p:sp>
        <p:nvSpPr>
          <p:cNvPr id="40" name="TextBox 39"/>
          <p:cNvSpPr txBox="1"/>
          <p:nvPr/>
        </p:nvSpPr>
        <p:spPr>
          <a:xfrm>
            <a:off x="6793992" y="4059936"/>
            <a:ext cx="4828032" cy="201168"/>
          </a:xfrm>
          <a:prstGeom prst="rect">
            <a:avLst/>
          </a:prstGeom>
          <a:noFill/>
        </p:spPr>
        <p:txBody>
          <a:bodyPr wrap="square" lIns="0" tIns="0" rIns="0" bIns="0" anchor="t">
            <a:spAutoFit/>
          </a:bodyPr>
          <a:lstStyle/>
          <a:p>
            <a:pPr algn="l">
              <a:defRPr sz="1000" b="1">
                <a:solidFill>
                  <a:srgbClr val="152342"/>
                </a:solidFill>
                <a:latin typeface="Calibri"/>
              </a:defRPr>
            </a:pPr>
            <a:r>
              <a:rPr sz="1000" b="1">
                <a:solidFill>
                  <a:srgbClr val="152342"/>
                </a:solidFill>
                <a:latin typeface="Calibri"/>
              </a:rPr>
              <a:t>Impact Brief</a:t>
            </a:r>
          </a:p>
        </p:txBody>
      </p:sp>
      <p:sp>
        <p:nvSpPr>
          <p:cNvPr id="41" name="TextBox 40"/>
          <p:cNvSpPr txBox="1"/>
          <p:nvPr/>
        </p:nvSpPr>
        <p:spPr>
          <a:xfrm>
            <a:off x="6692392" y="4195191"/>
            <a:ext cx="4828032" cy="201168"/>
          </a:xfrm>
          <a:prstGeom prst="rect">
            <a:avLst/>
          </a:prstGeom>
          <a:noFill/>
        </p:spPr>
        <p:txBody>
          <a:bodyPr wrap="square" tIns="0">
            <a:spAutoFit/>
          </a:bodyPr>
          <a:lstStyle/>
          <a:p>
            <a:pPr algn="l">
              <a:lnSpc>
                <a:spcPct val="118000"/>
              </a:lnSpc>
              <a:defRPr sz="1000" b="0">
                <a:solidFill>
                  <a:srgbClr val="334155"/>
                </a:solidFill>
                <a:latin typeface="Calibri"/>
              </a:defRPr>
            </a:pPr>
            <a:r>
              <a:rPr sz="1000" b="0">
                <a:solidFill>
                  <a:srgbClr val="334155"/>
                </a:solidFill>
                <a:latin typeface="Calibri"/>
              </a:rPr>
              <a:t>Generate a stakeholder-ready brief with affected assets, owners, and risk.</a:t>
            </a:r>
          </a:p>
        </p:txBody>
      </p:sp>
      <p:sp>
        <p:nvSpPr>
          <p:cNvPr id="42" name="TextBox 41"/>
          <p:cNvSpPr txBox="1"/>
          <p:nvPr/>
        </p:nvSpPr>
        <p:spPr>
          <a:xfrm>
            <a:off x="411480" y="4517136"/>
            <a:ext cx="11365992" cy="219456"/>
          </a:xfrm>
          <a:prstGeom prst="rect">
            <a:avLst/>
          </a:prstGeom>
          <a:noFill/>
        </p:spPr>
        <p:txBody>
          <a:bodyPr wrap="square" lIns="0" tIns="0" rIns="0" bIns="0" anchor="t">
            <a:spAutoFit/>
          </a:bodyPr>
          <a:lstStyle/>
          <a:p>
            <a:pPr algn="l">
              <a:defRPr sz="1100" b="1">
                <a:solidFill>
                  <a:srgbClr val="152342"/>
                </a:solidFill>
                <a:latin typeface="Calibri"/>
              </a:defRPr>
            </a:pPr>
            <a:r>
              <a:rPr sz="1100" b="1">
                <a:solidFill>
                  <a:srgbClr val="152342"/>
                </a:solidFill>
                <a:latin typeface="Calibri"/>
              </a:rPr>
              <a:t>KEY FINDINGS</a:t>
            </a:r>
          </a:p>
        </p:txBody>
      </p:sp>
      <p:sp>
        <p:nvSpPr>
          <p:cNvPr id="45" name="Rounded Rectangle 42"/>
          <p:cNvSpPr/>
          <p:nvPr/>
        </p:nvSpPr>
        <p:spPr>
          <a:xfrm>
            <a:off x="411480" y="4773168"/>
            <a:ext cx="5559552" cy="713232"/>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3"/>
          <p:cNvSpPr/>
          <p:nvPr/>
        </p:nvSpPr>
        <p:spPr>
          <a:xfrm>
            <a:off x="411480" y="4773168"/>
            <a:ext cx="91440" cy="71323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49224" y="4846320"/>
            <a:ext cx="5157216" cy="256032"/>
          </a:xfrm>
          <a:prstGeom prst="rect">
            <a:avLst/>
          </a:prstGeom>
          <a:noFill/>
        </p:spPr>
        <p:txBody>
          <a:bodyPr wrap="square" lIns="0" tIns="0" rIns="0" bIns="0" anchor="t">
            <a:spAutoFit/>
          </a:bodyPr>
          <a:lstStyle/>
          <a:p>
            <a:pPr algn="l">
              <a:defRPr sz="1100" b="1">
                <a:solidFill>
                  <a:srgbClr val="152342"/>
                </a:solidFill>
                <a:latin typeface="Calibri"/>
              </a:defRPr>
            </a:pPr>
            <a:r>
              <a:rPr sz="1100" b="1">
                <a:solidFill>
                  <a:srgbClr val="152342"/>
                </a:solidFill>
                <a:latin typeface="Calibri"/>
              </a:rPr>
              <a:t>Hidden consumers surfaced</a:t>
            </a:r>
          </a:p>
        </p:txBody>
      </p:sp>
      <p:sp>
        <p:nvSpPr>
          <p:cNvPr id="48" name="TextBox 47"/>
          <p:cNvSpPr txBox="1"/>
          <p:nvPr/>
        </p:nvSpPr>
        <p:spPr>
          <a:xfrm>
            <a:off x="649224" y="5062728"/>
            <a:ext cx="5157216" cy="426655"/>
          </a:xfrm>
          <a:prstGeom prst="rect">
            <a:avLst/>
          </a:prstGeom>
          <a:noFill/>
        </p:spPr>
        <p:txBody>
          <a:bodyPr wrap="square" tIns="0">
            <a:spAutoFit/>
          </a:bodyPr>
          <a:lstStyle/>
          <a:p>
            <a:pPr algn="l">
              <a:lnSpc>
                <a:spcPct val="122000"/>
              </a:lnSpc>
              <a:defRPr sz="1050" b="0">
                <a:solidFill>
                  <a:srgbClr val="334155"/>
                </a:solidFill>
                <a:latin typeface="Calibri"/>
              </a:defRPr>
            </a:pPr>
            <a:r>
              <a:rPr lang="en-US" sz="1050" b="0">
                <a:solidFill>
                  <a:srgbClr val="334155"/>
                </a:solidFill>
                <a:latin typeface="Calibri"/>
              </a:rPr>
              <a:t>Downstream assets such as DCM dashboards, STAQ feeds, and Linear BI routinely missed by manual reviews are flagged before release.</a:t>
            </a:r>
            <a:endParaRPr sz="1050" b="0">
              <a:solidFill>
                <a:srgbClr val="334155"/>
              </a:solidFill>
              <a:latin typeface="Calibri"/>
            </a:endParaRPr>
          </a:p>
        </p:txBody>
      </p:sp>
      <p:sp>
        <p:nvSpPr>
          <p:cNvPr id="49" name="Rounded Rectangle 46"/>
          <p:cNvSpPr/>
          <p:nvPr/>
        </p:nvSpPr>
        <p:spPr>
          <a:xfrm>
            <a:off x="6227064" y="4773168"/>
            <a:ext cx="5559552" cy="713232"/>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47"/>
          <p:cNvSpPr/>
          <p:nvPr/>
        </p:nvSpPr>
        <p:spPr>
          <a:xfrm>
            <a:off x="6227064" y="4773168"/>
            <a:ext cx="91440" cy="71323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464808" y="4846320"/>
            <a:ext cx="5157216" cy="256032"/>
          </a:xfrm>
          <a:prstGeom prst="rect">
            <a:avLst/>
          </a:prstGeom>
          <a:noFill/>
        </p:spPr>
        <p:txBody>
          <a:bodyPr wrap="square" lIns="0" tIns="0" rIns="0" bIns="0" anchor="t">
            <a:spAutoFit/>
          </a:bodyPr>
          <a:lstStyle/>
          <a:p>
            <a:pPr algn="l">
              <a:defRPr sz="1100" b="1">
                <a:solidFill>
                  <a:srgbClr val="152342"/>
                </a:solidFill>
                <a:latin typeface="Calibri"/>
              </a:defRPr>
            </a:pPr>
            <a:r>
              <a:rPr sz="1100" b="1">
                <a:solidFill>
                  <a:srgbClr val="152342"/>
                </a:solidFill>
                <a:latin typeface="Calibri"/>
              </a:rPr>
              <a:t>Owners notified pre-deploy</a:t>
            </a:r>
          </a:p>
        </p:txBody>
      </p:sp>
      <p:sp>
        <p:nvSpPr>
          <p:cNvPr id="52" name="TextBox 51"/>
          <p:cNvSpPr txBox="1"/>
          <p:nvPr/>
        </p:nvSpPr>
        <p:spPr>
          <a:xfrm>
            <a:off x="6464808" y="5062728"/>
            <a:ext cx="5157216" cy="310896"/>
          </a:xfrm>
          <a:prstGeom prst="rect">
            <a:avLst/>
          </a:prstGeom>
          <a:noFill/>
        </p:spPr>
        <p:txBody>
          <a:bodyPr wrap="square" tIns="0">
            <a:spAutoFit/>
          </a:bodyPr>
          <a:lstStyle/>
          <a:p>
            <a:pPr algn="l">
              <a:lnSpc>
                <a:spcPct val="122000"/>
              </a:lnSpc>
              <a:defRPr sz="1050" b="0">
                <a:solidFill>
                  <a:srgbClr val="334155"/>
                </a:solidFill>
                <a:latin typeface="Calibri"/>
              </a:defRPr>
            </a:pPr>
            <a:r>
              <a:rPr sz="1050" b="0">
                <a:solidFill>
                  <a:srgbClr val="334155"/>
                </a:solidFill>
                <a:latin typeface="Calibri"/>
              </a:rPr>
              <a:t>Stewards and SMEs identified up front — change socialized before code, reducing rework and outages.</a:t>
            </a:r>
          </a:p>
        </p:txBody>
      </p:sp>
      <p:sp>
        <p:nvSpPr>
          <p:cNvPr id="53" name="TextBox 52"/>
          <p:cNvSpPr txBox="1"/>
          <p:nvPr/>
        </p:nvSpPr>
        <p:spPr>
          <a:xfrm>
            <a:off x="411480" y="5577840"/>
            <a:ext cx="11365992" cy="201168"/>
          </a:xfrm>
          <a:prstGeom prst="rect">
            <a:avLst/>
          </a:prstGeom>
          <a:noFill/>
        </p:spPr>
        <p:txBody>
          <a:bodyPr wrap="square" lIns="0" tIns="0" rIns="0" bIns="0" anchor="t">
            <a:spAutoFit/>
          </a:bodyPr>
          <a:lstStyle/>
          <a:p>
            <a:pPr algn="l">
              <a:defRPr sz="1100" b="1">
                <a:solidFill>
                  <a:srgbClr val="152342"/>
                </a:solidFill>
                <a:latin typeface="Calibri"/>
              </a:defRPr>
            </a:pPr>
            <a:r>
              <a:rPr sz="1100" b="1">
                <a:solidFill>
                  <a:srgbClr val="152342"/>
                </a:solidFill>
                <a:latin typeface="Calibri"/>
              </a:rPr>
              <a:t>REUSABLE TEMPLATE — IMPACT ANALYSIS</a:t>
            </a:r>
          </a:p>
        </p:txBody>
      </p:sp>
      <p:sp>
        <p:nvSpPr>
          <p:cNvPr id="54" name="Rounded Rectangle 51"/>
          <p:cNvSpPr/>
          <p:nvPr/>
        </p:nvSpPr>
        <p:spPr>
          <a:xfrm>
            <a:off x="411480" y="5815584"/>
            <a:ext cx="2734056" cy="56692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ounded Rectangle 52"/>
          <p:cNvSpPr/>
          <p:nvPr/>
        </p:nvSpPr>
        <p:spPr>
          <a:xfrm>
            <a:off x="411480" y="5815584"/>
            <a:ext cx="2734056"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539496" y="5843016"/>
            <a:ext cx="731520" cy="201168"/>
          </a:xfrm>
          <a:prstGeom prst="rect">
            <a:avLst/>
          </a:prstGeom>
          <a:noFill/>
        </p:spPr>
        <p:txBody>
          <a:bodyPr wrap="square" lIns="0" tIns="0" rIns="0" bIns="0" anchor="t">
            <a:spAutoFit/>
          </a:bodyPr>
          <a:lstStyle/>
          <a:p>
            <a:pPr algn="l">
              <a:defRPr sz="1000" b="1">
                <a:solidFill>
                  <a:srgbClr val="FFFFFF"/>
                </a:solidFill>
                <a:latin typeface="Calibri"/>
              </a:defRPr>
            </a:pPr>
            <a:r>
              <a:rPr sz="1000" b="1">
                <a:solidFill>
                  <a:srgbClr val="FFFFFF"/>
                </a:solidFill>
                <a:latin typeface="Calibri"/>
              </a:rPr>
              <a:t>Step 1</a:t>
            </a:r>
          </a:p>
        </p:txBody>
      </p:sp>
      <p:sp>
        <p:nvSpPr>
          <p:cNvPr id="57" name="TextBox 56"/>
          <p:cNvSpPr txBox="1"/>
          <p:nvPr/>
        </p:nvSpPr>
        <p:spPr>
          <a:xfrm>
            <a:off x="1362456" y="5843016"/>
            <a:ext cx="1655064" cy="201168"/>
          </a:xfrm>
          <a:prstGeom prst="rect">
            <a:avLst/>
          </a:prstGeom>
          <a:noFill/>
        </p:spPr>
        <p:txBody>
          <a:bodyPr wrap="square" lIns="0" tIns="0" rIns="0" bIns="0" anchor="t">
            <a:spAutoFit/>
          </a:bodyPr>
          <a:lstStyle/>
          <a:p>
            <a:pPr algn="r">
              <a:defRPr sz="1000" b="1">
                <a:solidFill>
                  <a:srgbClr val="FFFFFF"/>
                </a:solidFill>
                <a:latin typeface="Calibri"/>
              </a:defRPr>
            </a:pPr>
            <a:r>
              <a:rPr sz="1000" b="1">
                <a:solidFill>
                  <a:srgbClr val="FFFFFF"/>
                </a:solidFill>
                <a:latin typeface="Calibri"/>
              </a:rPr>
              <a:t>Scope</a:t>
            </a:r>
          </a:p>
        </p:txBody>
      </p:sp>
      <p:sp>
        <p:nvSpPr>
          <p:cNvPr id="58" name="TextBox 57"/>
          <p:cNvSpPr txBox="1"/>
          <p:nvPr/>
        </p:nvSpPr>
        <p:spPr>
          <a:xfrm>
            <a:off x="539496" y="6108192"/>
            <a:ext cx="2478024" cy="192681"/>
          </a:xfrm>
          <a:prstGeom prst="rect">
            <a:avLst/>
          </a:prstGeom>
          <a:noFill/>
        </p:spPr>
        <p:txBody>
          <a:bodyPr wrap="square" tIns="0">
            <a:spAutoFit/>
          </a:bodyPr>
          <a:lstStyle/>
          <a:p>
            <a:pPr algn="l">
              <a:lnSpc>
                <a:spcPct val="120000"/>
              </a:lnSpc>
              <a:defRPr sz="1000" b="0">
                <a:solidFill>
                  <a:srgbClr val="334155"/>
                </a:solidFill>
                <a:latin typeface="Calibri"/>
              </a:defRPr>
            </a:pPr>
            <a:r>
              <a:rPr sz="850" b="0">
                <a:solidFill>
                  <a:srgbClr val="334155"/>
                </a:solidFill>
                <a:latin typeface="Calibri"/>
              </a:rPr>
              <a:t>Identify the changed table, column, or definition.</a:t>
            </a:r>
          </a:p>
        </p:txBody>
      </p:sp>
      <p:sp>
        <p:nvSpPr>
          <p:cNvPr id="59" name="Rounded Rectangle 56"/>
          <p:cNvSpPr/>
          <p:nvPr/>
        </p:nvSpPr>
        <p:spPr>
          <a:xfrm>
            <a:off x="3291840" y="5815584"/>
            <a:ext cx="2734056" cy="56692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57"/>
          <p:cNvSpPr/>
          <p:nvPr/>
        </p:nvSpPr>
        <p:spPr>
          <a:xfrm>
            <a:off x="3291840" y="5815584"/>
            <a:ext cx="2734056" cy="25603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419856" y="5843016"/>
            <a:ext cx="731520" cy="201168"/>
          </a:xfrm>
          <a:prstGeom prst="rect">
            <a:avLst/>
          </a:prstGeom>
          <a:noFill/>
        </p:spPr>
        <p:txBody>
          <a:bodyPr wrap="square" lIns="0" tIns="0" rIns="0" bIns="0" anchor="t">
            <a:spAutoFit/>
          </a:bodyPr>
          <a:lstStyle/>
          <a:p>
            <a:pPr algn="l">
              <a:defRPr sz="1000" b="1">
                <a:solidFill>
                  <a:srgbClr val="FFFFFF"/>
                </a:solidFill>
                <a:latin typeface="Calibri"/>
              </a:defRPr>
            </a:pPr>
            <a:r>
              <a:rPr sz="1000" b="1">
                <a:solidFill>
                  <a:srgbClr val="FFFFFF"/>
                </a:solidFill>
                <a:latin typeface="Calibri"/>
              </a:rPr>
              <a:t>Step 2</a:t>
            </a:r>
          </a:p>
        </p:txBody>
      </p:sp>
      <p:sp>
        <p:nvSpPr>
          <p:cNvPr id="62" name="TextBox 61"/>
          <p:cNvSpPr txBox="1"/>
          <p:nvPr/>
        </p:nvSpPr>
        <p:spPr>
          <a:xfrm>
            <a:off x="4242816" y="5843016"/>
            <a:ext cx="1655064" cy="201168"/>
          </a:xfrm>
          <a:prstGeom prst="rect">
            <a:avLst/>
          </a:prstGeom>
          <a:noFill/>
        </p:spPr>
        <p:txBody>
          <a:bodyPr wrap="square" lIns="0" tIns="0" rIns="0" bIns="0" anchor="t">
            <a:spAutoFit/>
          </a:bodyPr>
          <a:lstStyle/>
          <a:p>
            <a:pPr algn="r">
              <a:defRPr sz="1000" b="1">
                <a:solidFill>
                  <a:srgbClr val="FFFFFF"/>
                </a:solidFill>
                <a:latin typeface="Calibri"/>
              </a:defRPr>
            </a:pPr>
            <a:r>
              <a:rPr sz="1000" b="1">
                <a:solidFill>
                  <a:srgbClr val="FFFFFF"/>
                </a:solidFill>
                <a:latin typeface="Calibri"/>
              </a:rPr>
              <a:t>Trace</a:t>
            </a:r>
          </a:p>
        </p:txBody>
      </p:sp>
      <p:sp>
        <p:nvSpPr>
          <p:cNvPr id="63" name="TextBox 62"/>
          <p:cNvSpPr txBox="1"/>
          <p:nvPr/>
        </p:nvSpPr>
        <p:spPr>
          <a:xfrm>
            <a:off x="3419856" y="6108192"/>
            <a:ext cx="2478024" cy="349648"/>
          </a:xfrm>
          <a:prstGeom prst="rect">
            <a:avLst/>
          </a:prstGeom>
          <a:noFill/>
        </p:spPr>
        <p:txBody>
          <a:bodyPr wrap="square" tIns="0">
            <a:spAutoFit/>
          </a:bodyPr>
          <a:lstStyle/>
          <a:p>
            <a:pPr algn="l">
              <a:lnSpc>
                <a:spcPct val="120000"/>
              </a:lnSpc>
              <a:defRPr sz="1000" b="0">
                <a:solidFill>
                  <a:srgbClr val="334155"/>
                </a:solidFill>
                <a:latin typeface="Calibri"/>
              </a:defRPr>
            </a:pPr>
            <a:r>
              <a:rPr sz="850" b="0">
                <a:solidFill>
                  <a:srgbClr val="334155"/>
                </a:solidFill>
                <a:latin typeface="Calibri"/>
              </a:rPr>
              <a:t>Pull upstream + downstream lineage via Alation MCP.</a:t>
            </a:r>
          </a:p>
        </p:txBody>
      </p:sp>
      <p:sp>
        <p:nvSpPr>
          <p:cNvPr id="64" name="Rounded Rectangle 61"/>
          <p:cNvSpPr/>
          <p:nvPr/>
        </p:nvSpPr>
        <p:spPr>
          <a:xfrm>
            <a:off x="6172200" y="5815584"/>
            <a:ext cx="2734056" cy="56692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ounded Rectangle 62"/>
          <p:cNvSpPr/>
          <p:nvPr/>
        </p:nvSpPr>
        <p:spPr>
          <a:xfrm>
            <a:off x="6172200" y="5815584"/>
            <a:ext cx="2734056" cy="25603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300216" y="5843016"/>
            <a:ext cx="731520" cy="201168"/>
          </a:xfrm>
          <a:prstGeom prst="rect">
            <a:avLst/>
          </a:prstGeom>
          <a:noFill/>
        </p:spPr>
        <p:txBody>
          <a:bodyPr wrap="square" lIns="0" tIns="0" rIns="0" bIns="0" anchor="t">
            <a:spAutoFit/>
          </a:bodyPr>
          <a:lstStyle/>
          <a:p>
            <a:pPr algn="l">
              <a:defRPr sz="1000" b="1">
                <a:solidFill>
                  <a:srgbClr val="FFFFFF"/>
                </a:solidFill>
                <a:latin typeface="Calibri"/>
              </a:defRPr>
            </a:pPr>
            <a:r>
              <a:rPr sz="1000" b="1">
                <a:solidFill>
                  <a:srgbClr val="FFFFFF"/>
                </a:solidFill>
                <a:latin typeface="Calibri"/>
              </a:rPr>
              <a:t>Step 3</a:t>
            </a:r>
          </a:p>
        </p:txBody>
      </p:sp>
      <p:sp>
        <p:nvSpPr>
          <p:cNvPr id="67" name="TextBox 66"/>
          <p:cNvSpPr txBox="1"/>
          <p:nvPr/>
        </p:nvSpPr>
        <p:spPr>
          <a:xfrm>
            <a:off x="7123176" y="5843016"/>
            <a:ext cx="1655064" cy="201168"/>
          </a:xfrm>
          <a:prstGeom prst="rect">
            <a:avLst/>
          </a:prstGeom>
          <a:noFill/>
        </p:spPr>
        <p:txBody>
          <a:bodyPr wrap="square" lIns="0" tIns="0" rIns="0" bIns="0" anchor="t">
            <a:spAutoFit/>
          </a:bodyPr>
          <a:lstStyle/>
          <a:p>
            <a:pPr algn="r">
              <a:defRPr sz="1000" b="1">
                <a:solidFill>
                  <a:srgbClr val="FFFFFF"/>
                </a:solidFill>
                <a:latin typeface="Calibri"/>
              </a:defRPr>
            </a:pPr>
            <a:r>
              <a:rPr sz="1000" b="1">
                <a:solidFill>
                  <a:srgbClr val="FFFFFF"/>
                </a:solidFill>
                <a:latin typeface="Calibri"/>
              </a:rPr>
              <a:t>Map</a:t>
            </a:r>
          </a:p>
        </p:txBody>
      </p:sp>
      <p:sp>
        <p:nvSpPr>
          <p:cNvPr id="68" name="TextBox 67"/>
          <p:cNvSpPr txBox="1"/>
          <p:nvPr/>
        </p:nvSpPr>
        <p:spPr>
          <a:xfrm>
            <a:off x="6300216" y="6108192"/>
            <a:ext cx="2478024" cy="349648"/>
          </a:xfrm>
          <a:prstGeom prst="rect">
            <a:avLst/>
          </a:prstGeom>
          <a:noFill/>
        </p:spPr>
        <p:txBody>
          <a:bodyPr wrap="square" tIns="0">
            <a:spAutoFit/>
          </a:bodyPr>
          <a:lstStyle/>
          <a:p>
            <a:pPr algn="l">
              <a:lnSpc>
                <a:spcPct val="120000"/>
              </a:lnSpc>
              <a:defRPr sz="1000" b="0">
                <a:solidFill>
                  <a:srgbClr val="334155"/>
                </a:solidFill>
                <a:latin typeface="Calibri"/>
              </a:defRPr>
            </a:pPr>
            <a:r>
              <a:rPr sz="850" b="0">
                <a:solidFill>
                  <a:srgbClr val="334155"/>
                </a:solidFill>
                <a:latin typeface="Calibri"/>
              </a:rPr>
              <a:t>List downstream consumers, owners, dependent jobs.</a:t>
            </a:r>
          </a:p>
        </p:txBody>
      </p:sp>
      <p:sp>
        <p:nvSpPr>
          <p:cNvPr id="69" name="Rounded Rectangle 66"/>
          <p:cNvSpPr/>
          <p:nvPr/>
        </p:nvSpPr>
        <p:spPr>
          <a:xfrm>
            <a:off x="9043416" y="5815584"/>
            <a:ext cx="2734056" cy="56692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ounded Rectangle 67"/>
          <p:cNvSpPr/>
          <p:nvPr/>
        </p:nvSpPr>
        <p:spPr>
          <a:xfrm>
            <a:off x="9043416" y="5815584"/>
            <a:ext cx="2734056" cy="256032"/>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9180576" y="5843016"/>
            <a:ext cx="731520" cy="201168"/>
          </a:xfrm>
          <a:prstGeom prst="rect">
            <a:avLst/>
          </a:prstGeom>
          <a:noFill/>
        </p:spPr>
        <p:txBody>
          <a:bodyPr wrap="square" lIns="0" tIns="0" rIns="0" bIns="0" anchor="t">
            <a:spAutoFit/>
          </a:bodyPr>
          <a:lstStyle/>
          <a:p>
            <a:pPr algn="l">
              <a:defRPr sz="1000" b="1">
                <a:solidFill>
                  <a:srgbClr val="FFFFFF"/>
                </a:solidFill>
                <a:latin typeface="Calibri"/>
              </a:defRPr>
            </a:pPr>
            <a:r>
              <a:rPr sz="1000" b="1">
                <a:solidFill>
                  <a:srgbClr val="FFFFFF"/>
                </a:solidFill>
                <a:latin typeface="Calibri"/>
              </a:rPr>
              <a:t>Step 4</a:t>
            </a:r>
          </a:p>
        </p:txBody>
      </p:sp>
      <p:sp>
        <p:nvSpPr>
          <p:cNvPr id="72" name="TextBox 71"/>
          <p:cNvSpPr txBox="1"/>
          <p:nvPr/>
        </p:nvSpPr>
        <p:spPr>
          <a:xfrm>
            <a:off x="10003536" y="5843016"/>
            <a:ext cx="1655064" cy="201168"/>
          </a:xfrm>
          <a:prstGeom prst="rect">
            <a:avLst/>
          </a:prstGeom>
          <a:noFill/>
        </p:spPr>
        <p:txBody>
          <a:bodyPr wrap="square" lIns="0" tIns="0" rIns="0" bIns="0" anchor="t">
            <a:spAutoFit/>
          </a:bodyPr>
          <a:lstStyle/>
          <a:p>
            <a:pPr algn="r">
              <a:defRPr sz="1000" b="1">
                <a:solidFill>
                  <a:srgbClr val="FFFFFF"/>
                </a:solidFill>
                <a:latin typeface="Calibri"/>
              </a:defRPr>
            </a:pPr>
            <a:r>
              <a:rPr sz="1000" b="1">
                <a:solidFill>
                  <a:srgbClr val="FFFFFF"/>
                </a:solidFill>
                <a:latin typeface="Calibri"/>
              </a:rPr>
              <a:t>Brief</a:t>
            </a:r>
          </a:p>
        </p:txBody>
      </p:sp>
      <p:sp>
        <p:nvSpPr>
          <p:cNvPr id="73" name="TextBox 72"/>
          <p:cNvSpPr txBox="1"/>
          <p:nvPr/>
        </p:nvSpPr>
        <p:spPr>
          <a:xfrm>
            <a:off x="9180576" y="6108192"/>
            <a:ext cx="2478024" cy="349648"/>
          </a:xfrm>
          <a:prstGeom prst="rect">
            <a:avLst/>
          </a:prstGeom>
          <a:noFill/>
        </p:spPr>
        <p:txBody>
          <a:bodyPr wrap="square" tIns="0">
            <a:spAutoFit/>
          </a:bodyPr>
          <a:lstStyle/>
          <a:p>
            <a:pPr algn="l">
              <a:lnSpc>
                <a:spcPct val="120000"/>
              </a:lnSpc>
              <a:defRPr sz="1000" b="0">
                <a:solidFill>
                  <a:srgbClr val="334155"/>
                </a:solidFill>
                <a:latin typeface="Calibri"/>
              </a:defRPr>
            </a:pPr>
            <a:r>
              <a:rPr sz="850" b="0">
                <a:solidFill>
                  <a:srgbClr val="334155"/>
                </a:solidFill>
                <a:latin typeface="Calibri"/>
              </a:rPr>
              <a:t>Generate the change-impact summary with action items.</a:t>
            </a:r>
          </a:p>
        </p:txBody>
      </p:sp>
      <p:sp>
        <p:nvSpPr>
          <p:cNvPr id="74" name="TextBox 73">
            <a:extLst>
              <a:ext uri="{FF2B5EF4-FFF2-40B4-BE49-F238E27FC236}">
                <a16:creationId xmlns:a16="http://schemas.microsoft.com/office/drawing/2014/main" id="{16B0DBB4-ABE3-4FB4-61F7-8ADAD48FB4BF}"/>
              </a:ext>
            </a:extLst>
          </p:cNvPr>
          <p:cNvSpPr txBox="1"/>
          <p:nvPr/>
        </p:nvSpPr>
        <p:spPr>
          <a:xfrm>
            <a:off x="411480" y="1245870"/>
            <a:ext cx="11521440" cy="232884"/>
          </a:xfrm>
          <a:prstGeom prst="rect">
            <a:avLst/>
          </a:prstGeom>
          <a:noFill/>
        </p:spPr>
        <p:txBody>
          <a:bodyPr wrap="square" lIns="36576" tIns="18288" rIns="36576" bIns="18288" anchor="t">
            <a:spAutoFit/>
          </a:bodyPr>
          <a:lstStyle/>
          <a:p>
            <a:pPr>
              <a:lnSpc>
                <a:spcPct val="125000"/>
              </a:lnSpc>
            </a:pPr>
            <a:r>
              <a:rPr lang="en-US" sz="1100">
                <a:solidFill>
                  <a:srgbClr val="475569"/>
                </a:solidFill>
              </a:rPr>
              <a:t>Predict the downstream impact of schema and definition changes across Ad Platforms pipelines, BI, and 3P consumers — before code goes out.</a:t>
            </a:r>
          </a:p>
        </p:txBody>
      </p:sp>
      <p:sp>
        <p:nvSpPr>
          <p:cNvPr id="78" name="TextBox 77">
            <a:extLst>
              <a:ext uri="{FF2B5EF4-FFF2-40B4-BE49-F238E27FC236}">
                <a16:creationId xmlns:a16="http://schemas.microsoft.com/office/drawing/2014/main" id="{54303344-85FD-F6A9-D1CF-37624C898E2A}"/>
              </a:ext>
            </a:extLst>
          </p:cNvPr>
          <p:cNvSpPr txBox="1"/>
          <p:nvPr/>
        </p:nvSpPr>
        <p:spPr>
          <a:xfrm>
            <a:off x="9546336" y="510831"/>
            <a:ext cx="2715768" cy="365760"/>
          </a:xfrm>
          <a:prstGeom prst="rect">
            <a:avLst/>
          </a:prstGeom>
          <a:solidFill>
            <a:schemeClr val="accent2">
              <a:lumMod val="20000"/>
              <a:lumOff val="80000"/>
            </a:schemeClr>
          </a:solidFill>
        </p:spPr>
        <p:txBody>
          <a:bodyPr wrap="square" rtlCol="0">
            <a:spAutoFit/>
          </a:bodyPr>
          <a:lstStyle/>
          <a:p>
            <a:pPr algn="ctr"/>
            <a:r>
              <a:rPr lang="en-US" sz="1000" b="1"/>
              <a:t>Deep Dive from AI-Enabled Use Cases with Alation and Cursor MCP slide </a:t>
            </a:r>
          </a:p>
        </p:txBody>
      </p:sp>
      <p:sp>
        <p:nvSpPr>
          <p:cNvPr id="79" name="Oval 78">
            <a:extLst>
              <a:ext uri="{FF2B5EF4-FFF2-40B4-BE49-F238E27FC236}">
                <a16:creationId xmlns:a16="http://schemas.microsoft.com/office/drawing/2014/main" id="{B0D9D81B-F5BA-32DD-9CFB-C215655F78A5}"/>
              </a:ext>
            </a:extLst>
          </p:cNvPr>
          <p:cNvSpPr/>
          <p:nvPr/>
        </p:nvSpPr>
        <p:spPr>
          <a:xfrm>
            <a:off x="11768328" y="786347"/>
            <a:ext cx="329184" cy="329184"/>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200" b="1">
                <a:solidFill>
                  <a:srgbClr val="FFFFFF"/>
                </a:solidFill>
                <a:latin typeface="Calibri"/>
              </a:defRPr>
            </a:pPr>
            <a:r>
              <a:rPr lang="en-US" sz="1400" b="1">
                <a:solidFill>
                  <a:srgbClr val="FFFFFF"/>
                </a:solidFill>
                <a:latin typeface="Calibri"/>
              </a:rPr>
              <a:t>2</a:t>
            </a:r>
            <a:endParaRPr sz="1400" b="1">
              <a:solidFill>
                <a:srgbClr val="FFFFFF"/>
              </a:solidFill>
              <a:latin typeface="Calibri"/>
            </a:endParaRPr>
          </a:p>
        </p:txBody>
      </p:sp>
    </p:spTree>
    <p:extLst>
      <p:ext uri="{BB962C8B-B14F-4D97-AF65-F5344CB8AC3E}">
        <p14:creationId xmlns:p14="http://schemas.microsoft.com/office/powerpoint/2010/main" val="3059167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517BD-CACE-F577-F929-BF9AB5C1761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2754327-A096-6EA5-0B5A-EE826D54E923}"/>
              </a:ext>
            </a:extLst>
          </p:cNvPr>
          <p:cNvSpPr/>
          <p:nvPr/>
        </p:nvSpPr>
        <p:spPr>
          <a:xfrm>
            <a:off x="0" y="0"/>
            <a:ext cx="12191695" cy="502920"/>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5BFB6D40-20CE-8D03-0417-A45AA9D49BB3}"/>
              </a:ext>
            </a:extLst>
          </p:cNvPr>
          <p:cNvSpPr txBox="1"/>
          <p:nvPr/>
        </p:nvSpPr>
        <p:spPr>
          <a:xfrm>
            <a:off x="457200" y="804672"/>
            <a:ext cx="11430000" cy="422873"/>
          </a:xfrm>
          <a:prstGeom prst="rect">
            <a:avLst/>
          </a:prstGeom>
          <a:noFill/>
        </p:spPr>
        <p:txBody>
          <a:bodyPr wrap="square" lIns="36576" tIns="18288" rIns="36576" bIns="18288" anchor="t">
            <a:spAutoFit/>
          </a:bodyPr>
          <a:lstStyle/>
          <a:p>
            <a:pPr algn="l">
              <a:lnSpc>
                <a:spcPct val="110000"/>
              </a:lnSpc>
              <a:spcBef>
                <a:spcPts val="0"/>
              </a:spcBef>
              <a:spcAft>
                <a:spcPts val="0"/>
              </a:spcAft>
            </a:pPr>
            <a:r>
              <a:rPr lang="en-US" sz="2400" b="1" i="0">
                <a:solidFill>
                  <a:srgbClr val="152342"/>
                </a:solidFill>
                <a:latin typeface="Calibri Light"/>
              </a:rPr>
              <a:t>Cursor–Alation MCP Use Case — Audit &amp; Compliance Reporting</a:t>
            </a:r>
          </a:p>
        </p:txBody>
      </p:sp>
      <p:sp>
        <p:nvSpPr>
          <p:cNvPr id="43" name="Rectangle 42">
            <a:extLst>
              <a:ext uri="{FF2B5EF4-FFF2-40B4-BE49-F238E27FC236}">
                <a16:creationId xmlns:a16="http://schemas.microsoft.com/office/drawing/2014/main" id="{F0F9E706-DAE6-14E3-DFA2-2FE3F69BB2A1}"/>
              </a:ext>
            </a:extLst>
          </p:cNvPr>
          <p:cNvSpPr/>
          <p:nvPr/>
        </p:nvSpPr>
        <p:spPr>
          <a:xfrm>
            <a:off x="0" y="6400800"/>
            <a:ext cx="12191695"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a:extLst>
              <a:ext uri="{FF2B5EF4-FFF2-40B4-BE49-F238E27FC236}">
                <a16:creationId xmlns:a16="http://schemas.microsoft.com/office/drawing/2014/main" id="{B17D5D41-3D01-6327-EA6F-D1458ADC511F}"/>
              </a:ext>
            </a:extLst>
          </p:cNvPr>
          <p:cNvSpPr txBox="1"/>
          <p:nvPr/>
        </p:nvSpPr>
        <p:spPr>
          <a:xfrm>
            <a:off x="457200" y="6473952"/>
            <a:ext cx="11277295" cy="310896"/>
          </a:xfrm>
          <a:prstGeom prst="rect">
            <a:avLst/>
          </a:prstGeom>
          <a:noFill/>
        </p:spPr>
        <p:txBody>
          <a:bodyPr wrap="square" lIns="36576" tIns="18288" rIns="36576" bIns="18288" anchor="ctr">
            <a:spAutoFit/>
          </a:bodyPr>
          <a:lstStyle/>
          <a:p>
            <a:pPr algn="l">
              <a:lnSpc>
                <a:spcPct val="118000"/>
              </a:lnSpc>
              <a:spcBef>
                <a:spcPts val="0"/>
              </a:spcBef>
              <a:spcAft>
                <a:spcPts val="0"/>
              </a:spcAft>
            </a:pPr>
            <a:r>
              <a:rPr sz="1150" b="0" i="0">
                <a:solidFill>
                  <a:srgbClr val="64748B"/>
                </a:solidFill>
                <a:latin typeface="Calibri"/>
              </a:rPr>
              <a:t>DEET Data Governance  |  May 2026  |  Alation Data Catalog Overview</a:t>
            </a:r>
          </a:p>
        </p:txBody>
      </p:sp>
      <p:sp>
        <p:nvSpPr>
          <p:cNvPr id="7" name="TextBox 6"/>
          <p:cNvSpPr txBox="1"/>
          <p:nvPr/>
        </p:nvSpPr>
        <p:spPr>
          <a:xfrm>
            <a:off x="411480" y="1554480"/>
            <a:ext cx="11365992" cy="219456"/>
          </a:xfrm>
          <a:prstGeom prst="rect">
            <a:avLst/>
          </a:prstGeom>
          <a:noFill/>
        </p:spPr>
        <p:txBody>
          <a:bodyPr wrap="square" lIns="0" tIns="0" rIns="0" bIns="0" anchor="t">
            <a:spAutoFit/>
          </a:bodyPr>
          <a:lstStyle/>
          <a:p>
            <a:pPr algn="l">
              <a:defRPr sz="1100" b="1">
                <a:solidFill>
                  <a:srgbClr val="152342"/>
                </a:solidFill>
                <a:latin typeface="Calibri"/>
              </a:defRPr>
            </a:pPr>
            <a:r>
              <a:rPr sz="1100" b="1">
                <a:solidFill>
                  <a:srgbClr val="152342"/>
                </a:solidFill>
                <a:latin typeface="Calibri"/>
              </a:rPr>
              <a:t>BUSINESS IMPACT</a:t>
            </a:r>
          </a:p>
        </p:txBody>
      </p:sp>
      <p:sp>
        <p:nvSpPr>
          <p:cNvPr id="8" name="Rounded Rectangle 7"/>
          <p:cNvSpPr/>
          <p:nvPr/>
        </p:nvSpPr>
        <p:spPr>
          <a:xfrm>
            <a:off x="411480" y="1810512"/>
            <a:ext cx="2734056" cy="84124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11480" y="1810512"/>
            <a:ext cx="91440" cy="84124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 y="1956816"/>
            <a:ext cx="2331720" cy="384048"/>
          </a:xfrm>
          <a:prstGeom prst="rect">
            <a:avLst/>
          </a:prstGeom>
          <a:noFill/>
        </p:spPr>
        <p:txBody>
          <a:bodyPr wrap="square" lIns="0" tIns="0" rIns="0" bIns="0" anchor="t">
            <a:spAutoFit/>
          </a:bodyPr>
          <a:lstStyle/>
          <a:p>
            <a:pPr algn="l">
              <a:defRPr sz="2200" b="1">
                <a:solidFill>
                  <a:srgbClr val="152342"/>
                </a:solidFill>
                <a:latin typeface="Calibri Light"/>
              </a:defRPr>
            </a:pPr>
            <a:r>
              <a:rPr sz="2200" b="1">
                <a:solidFill>
                  <a:srgbClr val="152342"/>
                </a:solidFill>
                <a:latin typeface="Calibri Light"/>
              </a:rPr>
              <a:t>Days → Hrs</a:t>
            </a:r>
          </a:p>
        </p:txBody>
      </p:sp>
      <p:sp>
        <p:nvSpPr>
          <p:cNvPr id="11" name="TextBox 10"/>
          <p:cNvSpPr txBox="1"/>
          <p:nvPr/>
        </p:nvSpPr>
        <p:spPr>
          <a:xfrm>
            <a:off x="649224" y="2359152"/>
            <a:ext cx="2331720" cy="274320"/>
          </a:xfrm>
          <a:prstGeom prst="rect">
            <a:avLst/>
          </a:prstGeom>
          <a:noFill/>
        </p:spPr>
        <p:txBody>
          <a:bodyPr wrap="square" lIns="0" tIns="0" rIns="0" bIns="0" anchor="t">
            <a:spAutoFit/>
          </a:bodyPr>
          <a:lstStyle/>
          <a:p>
            <a:pPr algn="l">
              <a:defRPr sz="1000" b="0">
                <a:solidFill>
                  <a:srgbClr val="475569"/>
                </a:solidFill>
                <a:latin typeface="Calibri"/>
              </a:defRPr>
            </a:pPr>
            <a:r>
              <a:rPr sz="1000" b="0">
                <a:solidFill>
                  <a:srgbClr val="475569"/>
                </a:solidFill>
                <a:latin typeface="Calibri"/>
              </a:rPr>
              <a:t>Time to evidence pack</a:t>
            </a:r>
          </a:p>
        </p:txBody>
      </p:sp>
      <p:sp>
        <p:nvSpPr>
          <p:cNvPr id="12" name="Rounded Rectangle 11"/>
          <p:cNvSpPr/>
          <p:nvPr/>
        </p:nvSpPr>
        <p:spPr>
          <a:xfrm>
            <a:off x="3291840" y="1810512"/>
            <a:ext cx="2734056" cy="84124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291840" y="1810512"/>
            <a:ext cx="91440" cy="84124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29584" y="1956816"/>
            <a:ext cx="2331720" cy="338554"/>
          </a:xfrm>
          <a:prstGeom prst="rect">
            <a:avLst/>
          </a:prstGeom>
          <a:noFill/>
        </p:spPr>
        <p:txBody>
          <a:bodyPr wrap="square" lIns="0" tIns="0" rIns="0" bIns="0" anchor="t">
            <a:spAutoFit/>
          </a:bodyPr>
          <a:lstStyle/>
          <a:p>
            <a:pPr algn="l">
              <a:defRPr sz="2200" b="1">
                <a:solidFill>
                  <a:srgbClr val="152342"/>
                </a:solidFill>
                <a:latin typeface="Calibri Light"/>
              </a:defRPr>
            </a:pPr>
            <a:r>
              <a:rPr sz="2200" b="1">
                <a:solidFill>
                  <a:srgbClr val="152342"/>
                </a:solidFill>
                <a:latin typeface="Calibri Light"/>
              </a:rPr>
              <a:t>100</a:t>
            </a:r>
            <a:r>
              <a:rPr lang="en-US" sz="2200" b="1">
                <a:solidFill>
                  <a:srgbClr val="152342"/>
                </a:solidFill>
                <a:latin typeface="Calibri Light"/>
              </a:rPr>
              <a:t>+</a:t>
            </a:r>
            <a:endParaRPr sz="2200" b="1">
              <a:solidFill>
                <a:srgbClr val="152342"/>
              </a:solidFill>
              <a:latin typeface="Calibri Light"/>
            </a:endParaRPr>
          </a:p>
        </p:txBody>
      </p:sp>
      <p:sp>
        <p:nvSpPr>
          <p:cNvPr id="15" name="TextBox 14"/>
          <p:cNvSpPr txBox="1"/>
          <p:nvPr/>
        </p:nvSpPr>
        <p:spPr>
          <a:xfrm>
            <a:off x="3529584" y="2359152"/>
            <a:ext cx="2331720" cy="274320"/>
          </a:xfrm>
          <a:prstGeom prst="rect">
            <a:avLst/>
          </a:prstGeom>
          <a:noFill/>
        </p:spPr>
        <p:txBody>
          <a:bodyPr wrap="square" lIns="0" tIns="0" rIns="0" bIns="0" anchor="t">
            <a:spAutoFit/>
          </a:bodyPr>
          <a:lstStyle/>
          <a:p>
            <a:pPr algn="l">
              <a:defRPr sz="1000" b="0">
                <a:solidFill>
                  <a:srgbClr val="475569"/>
                </a:solidFill>
                <a:latin typeface="Calibri"/>
              </a:defRPr>
            </a:pPr>
            <a:r>
              <a:rPr sz="1000" b="0">
                <a:solidFill>
                  <a:srgbClr val="475569"/>
                </a:solidFill>
                <a:latin typeface="Calibri"/>
              </a:rPr>
              <a:t>Controls evidenced</a:t>
            </a:r>
          </a:p>
        </p:txBody>
      </p:sp>
      <p:sp>
        <p:nvSpPr>
          <p:cNvPr id="16" name="Rounded Rectangle 15"/>
          <p:cNvSpPr/>
          <p:nvPr/>
        </p:nvSpPr>
        <p:spPr>
          <a:xfrm>
            <a:off x="6172200" y="1810512"/>
            <a:ext cx="2734056" cy="84124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172200" y="1810512"/>
            <a:ext cx="91440" cy="841248"/>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9944" y="1956816"/>
            <a:ext cx="2331720" cy="384048"/>
          </a:xfrm>
          <a:prstGeom prst="rect">
            <a:avLst/>
          </a:prstGeom>
          <a:noFill/>
        </p:spPr>
        <p:txBody>
          <a:bodyPr wrap="square" lIns="0" tIns="0" rIns="0" bIns="0" anchor="t">
            <a:spAutoFit/>
          </a:bodyPr>
          <a:lstStyle/>
          <a:p>
            <a:pPr algn="l">
              <a:defRPr sz="2200" b="1">
                <a:solidFill>
                  <a:srgbClr val="152342"/>
                </a:solidFill>
                <a:latin typeface="Calibri Light"/>
              </a:defRPr>
            </a:pPr>
            <a:r>
              <a:rPr sz="2200" b="1">
                <a:solidFill>
                  <a:srgbClr val="152342"/>
                </a:solidFill>
                <a:latin typeface="Calibri Light"/>
              </a:rPr>
              <a:t>PII · SOX · GDPR</a:t>
            </a:r>
          </a:p>
        </p:txBody>
      </p:sp>
      <p:sp>
        <p:nvSpPr>
          <p:cNvPr id="19" name="TextBox 18"/>
          <p:cNvSpPr txBox="1"/>
          <p:nvPr/>
        </p:nvSpPr>
        <p:spPr>
          <a:xfrm>
            <a:off x="6409944" y="2359152"/>
            <a:ext cx="2331720" cy="274320"/>
          </a:xfrm>
          <a:prstGeom prst="rect">
            <a:avLst/>
          </a:prstGeom>
          <a:noFill/>
        </p:spPr>
        <p:txBody>
          <a:bodyPr wrap="square" lIns="0" tIns="0" rIns="0" bIns="0" anchor="t">
            <a:spAutoFit/>
          </a:bodyPr>
          <a:lstStyle/>
          <a:p>
            <a:pPr algn="l">
              <a:defRPr sz="1000" b="0">
                <a:solidFill>
                  <a:srgbClr val="475569"/>
                </a:solidFill>
                <a:latin typeface="Calibri"/>
              </a:defRPr>
            </a:pPr>
            <a:r>
              <a:rPr sz="1000" b="0">
                <a:solidFill>
                  <a:srgbClr val="475569"/>
                </a:solidFill>
                <a:latin typeface="Calibri"/>
              </a:rPr>
              <a:t>Frameworks supported</a:t>
            </a:r>
          </a:p>
        </p:txBody>
      </p:sp>
      <p:sp>
        <p:nvSpPr>
          <p:cNvPr id="20" name="Rounded Rectangle 19"/>
          <p:cNvSpPr/>
          <p:nvPr/>
        </p:nvSpPr>
        <p:spPr>
          <a:xfrm>
            <a:off x="9043416" y="1810512"/>
            <a:ext cx="2734056" cy="84124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043416" y="1810512"/>
            <a:ext cx="91440" cy="841248"/>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281160" y="1956816"/>
            <a:ext cx="2331720" cy="384048"/>
          </a:xfrm>
          <a:prstGeom prst="rect">
            <a:avLst/>
          </a:prstGeom>
          <a:noFill/>
        </p:spPr>
        <p:txBody>
          <a:bodyPr wrap="square" lIns="0" tIns="0" rIns="0" bIns="0" anchor="t">
            <a:spAutoFit/>
          </a:bodyPr>
          <a:lstStyle/>
          <a:p>
            <a:pPr algn="l">
              <a:defRPr sz="2200" b="1">
                <a:solidFill>
                  <a:srgbClr val="152342"/>
                </a:solidFill>
                <a:latin typeface="Calibri Light"/>
              </a:defRPr>
            </a:pPr>
            <a:r>
              <a:rPr sz="2200" b="1">
                <a:solidFill>
                  <a:srgbClr val="152342"/>
                </a:solidFill>
                <a:latin typeface="Calibri Light"/>
              </a:rPr>
              <a:t>Repeatable</a:t>
            </a:r>
          </a:p>
        </p:txBody>
      </p:sp>
      <p:sp>
        <p:nvSpPr>
          <p:cNvPr id="23" name="TextBox 22"/>
          <p:cNvSpPr txBox="1"/>
          <p:nvPr/>
        </p:nvSpPr>
        <p:spPr>
          <a:xfrm>
            <a:off x="9281160" y="2359152"/>
            <a:ext cx="2331720" cy="274320"/>
          </a:xfrm>
          <a:prstGeom prst="rect">
            <a:avLst/>
          </a:prstGeom>
          <a:noFill/>
        </p:spPr>
        <p:txBody>
          <a:bodyPr wrap="square" lIns="0" tIns="0" rIns="0" bIns="0" anchor="t">
            <a:spAutoFit/>
          </a:bodyPr>
          <a:lstStyle/>
          <a:p>
            <a:pPr algn="l">
              <a:defRPr sz="1000" b="0">
                <a:solidFill>
                  <a:srgbClr val="475569"/>
                </a:solidFill>
                <a:latin typeface="Calibri"/>
              </a:defRPr>
            </a:pPr>
            <a:r>
              <a:rPr sz="1000" b="0">
                <a:solidFill>
                  <a:srgbClr val="475569"/>
                </a:solidFill>
                <a:latin typeface="Calibri"/>
              </a:rPr>
              <a:t>Consistent every cycle</a:t>
            </a:r>
          </a:p>
        </p:txBody>
      </p:sp>
      <p:sp>
        <p:nvSpPr>
          <p:cNvPr id="24" name="TextBox 23"/>
          <p:cNvSpPr txBox="1"/>
          <p:nvPr/>
        </p:nvSpPr>
        <p:spPr>
          <a:xfrm>
            <a:off x="411480" y="2779776"/>
            <a:ext cx="5559552" cy="219456"/>
          </a:xfrm>
          <a:prstGeom prst="rect">
            <a:avLst/>
          </a:prstGeom>
          <a:noFill/>
        </p:spPr>
        <p:txBody>
          <a:bodyPr wrap="square" lIns="0" tIns="0" rIns="0" bIns="0" anchor="t">
            <a:spAutoFit/>
          </a:bodyPr>
          <a:lstStyle/>
          <a:p>
            <a:pPr algn="l">
              <a:defRPr sz="1100" b="1">
                <a:solidFill>
                  <a:srgbClr val="152342"/>
                </a:solidFill>
                <a:latin typeface="Calibri"/>
              </a:defRPr>
            </a:pPr>
            <a:r>
              <a:rPr sz="1100" b="1">
                <a:solidFill>
                  <a:srgbClr val="152342"/>
                </a:solidFill>
                <a:latin typeface="Calibri"/>
              </a:rPr>
              <a:t>THE CHALLENGE</a:t>
            </a:r>
          </a:p>
        </p:txBody>
      </p:sp>
      <p:sp>
        <p:nvSpPr>
          <p:cNvPr id="25" name="Rounded Rectangle 24"/>
          <p:cNvSpPr/>
          <p:nvPr/>
        </p:nvSpPr>
        <p:spPr>
          <a:xfrm>
            <a:off x="411480" y="3035808"/>
            <a:ext cx="5559552" cy="138988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411480" y="3035808"/>
            <a:ext cx="91440" cy="1389888"/>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9224" y="3163824"/>
            <a:ext cx="5157216" cy="1041119"/>
          </a:xfrm>
          <a:prstGeom prst="rect">
            <a:avLst/>
          </a:prstGeom>
          <a:noFill/>
        </p:spPr>
        <p:txBody>
          <a:bodyPr wrap="square" tIns="0">
            <a:spAutoFit/>
          </a:bodyPr>
          <a:lstStyle/>
          <a:p>
            <a:pPr algn="l">
              <a:lnSpc>
                <a:spcPct val="125000"/>
              </a:lnSpc>
              <a:spcAft>
                <a:spcPts val="600"/>
              </a:spcAft>
              <a:defRPr sz="1050" b="0">
                <a:solidFill>
                  <a:srgbClr val="334155"/>
                </a:solidFill>
                <a:latin typeface="Calibri"/>
              </a:defRPr>
            </a:pPr>
            <a:r>
              <a:rPr lang="en-US" sz="1050" b="0">
                <a:solidFill>
                  <a:srgbClr val="334155"/>
                </a:solidFill>
                <a:latin typeface="Calibri"/>
              </a:rPr>
              <a:t>Audit cycles (EY findings, SOX walkthroughs, GDPR DSARs) force stewards to manually assemble audit evidence across Snowflake, Databricks, Oracle, ODS, and BI (e.g., identifying where PII exists, who owns it, and how it is used). This process is slow and error-prone. Outputs vary between cycles and reviewers, eroding auditor confidence and making remediation tracking difficult.</a:t>
            </a:r>
            <a:endParaRPr sz="1050" b="0">
              <a:solidFill>
                <a:srgbClr val="334155"/>
              </a:solidFill>
              <a:latin typeface="Calibri"/>
            </a:endParaRPr>
          </a:p>
        </p:txBody>
      </p:sp>
      <p:sp>
        <p:nvSpPr>
          <p:cNvPr id="28" name="TextBox 27"/>
          <p:cNvSpPr txBox="1"/>
          <p:nvPr/>
        </p:nvSpPr>
        <p:spPr>
          <a:xfrm>
            <a:off x="6227064" y="2779776"/>
            <a:ext cx="5559552" cy="219456"/>
          </a:xfrm>
          <a:prstGeom prst="rect">
            <a:avLst/>
          </a:prstGeom>
          <a:noFill/>
        </p:spPr>
        <p:txBody>
          <a:bodyPr wrap="square" lIns="0" tIns="0" rIns="0" bIns="0" anchor="t">
            <a:spAutoFit/>
          </a:bodyPr>
          <a:lstStyle/>
          <a:p>
            <a:pPr algn="l">
              <a:defRPr sz="1100" b="1">
                <a:solidFill>
                  <a:srgbClr val="152342"/>
                </a:solidFill>
                <a:latin typeface="Calibri"/>
              </a:defRPr>
            </a:pPr>
            <a:r>
              <a:rPr sz="1100" b="1">
                <a:solidFill>
                  <a:srgbClr val="152342"/>
                </a:solidFill>
                <a:latin typeface="Calibri"/>
              </a:rPr>
              <a:t>AI-ASSISTED WORKFLOW</a:t>
            </a:r>
          </a:p>
        </p:txBody>
      </p:sp>
      <p:sp>
        <p:nvSpPr>
          <p:cNvPr id="29" name="Rounded Rectangle 28"/>
          <p:cNvSpPr/>
          <p:nvPr/>
        </p:nvSpPr>
        <p:spPr>
          <a:xfrm>
            <a:off x="6227064" y="3035808"/>
            <a:ext cx="5559552" cy="138988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6391656" y="3145536"/>
            <a:ext cx="256032" cy="256032"/>
          </a:xfrm>
          <a:prstGeom prst="ellipse">
            <a:avLst/>
          </a:prstGeom>
          <a:solidFill>
            <a:srgbClr val="152342"/>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00" b="1">
                <a:solidFill>
                  <a:srgbClr val="FFFFFF"/>
                </a:solidFill>
                <a:latin typeface="Calibri"/>
              </a:defRPr>
            </a:pPr>
            <a:r>
              <a:rPr sz="1000" b="1">
                <a:solidFill>
                  <a:srgbClr val="FFFFFF"/>
                </a:solidFill>
                <a:latin typeface="Calibri"/>
              </a:rPr>
              <a:t>1</a:t>
            </a:r>
          </a:p>
        </p:txBody>
      </p:sp>
      <p:sp>
        <p:nvSpPr>
          <p:cNvPr id="31" name="TextBox 30"/>
          <p:cNvSpPr txBox="1"/>
          <p:nvPr/>
        </p:nvSpPr>
        <p:spPr>
          <a:xfrm>
            <a:off x="6793992" y="3127248"/>
            <a:ext cx="4828032" cy="201168"/>
          </a:xfrm>
          <a:prstGeom prst="rect">
            <a:avLst/>
          </a:prstGeom>
          <a:noFill/>
        </p:spPr>
        <p:txBody>
          <a:bodyPr wrap="square" lIns="0" tIns="0" rIns="0" bIns="0" anchor="t">
            <a:spAutoFit/>
          </a:bodyPr>
          <a:lstStyle/>
          <a:p>
            <a:pPr algn="l">
              <a:defRPr sz="1000" b="1">
                <a:solidFill>
                  <a:srgbClr val="152342"/>
                </a:solidFill>
                <a:latin typeface="Calibri"/>
              </a:defRPr>
            </a:pPr>
            <a:r>
              <a:rPr sz="1000" b="1">
                <a:solidFill>
                  <a:srgbClr val="152342"/>
                </a:solidFill>
                <a:latin typeface="Calibri"/>
              </a:rPr>
              <a:t>Define Audit Scope</a:t>
            </a:r>
          </a:p>
        </p:txBody>
      </p:sp>
      <p:sp>
        <p:nvSpPr>
          <p:cNvPr id="32" name="TextBox 31"/>
          <p:cNvSpPr txBox="1"/>
          <p:nvPr/>
        </p:nvSpPr>
        <p:spPr>
          <a:xfrm>
            <a:off x="6700520" y="3267964"/>
            <a:ext cx="4828032" cy="201168"/>
          </a:xfrm>
          <a:prstGeom prst="rect">
            <a:avLst/>
          </a:prstGeom>
          <a:noFill/>
        </p:spPr>
        <p:txBody>
          <a:bodyPr wrap="square" tIns="0">
            <a:spAutoFit/>
          </a:bodyPr>
          <a:lstStyle/>
          <a:p>
            <a:pPr algn="l">
              <a:lnSpc>
                <a:spcPct val="118000"/>
              </a:lnSpc>
              <a:defRPr sz="1000" b="0">
                <a:solidFill>
                  <a:srgbClr val="334155"/>
                </a:solidFill>
                <a:latin typeface="Calibri"/>
              </a:defRPr>
            </a:pPr>
            <a:r>
              <a:rPr sz="1000" b="0">
                <a:solidFill>
                  <a:srgbClr val="334155"/>
                </a:solidFill>
                <a:latin typeface="Calibri"/>
              </a:rPr>
              <a:t>Auditor / steward defines framework (PII, SOX, GDPR) and in-scope domains.</a:t>
            </a:r>
          </a:p>
        </p:txBody>
      </p:sp>
      <p:sp>
        <p:nvSpPr>
          <p:cNvPr id="33" name="Oval 32"/>
          <p:cNvSpPr/>
          <p:nvPr/>
        </p:nvSpPr>
        <p:spPr>
          <a:xfrm>
            <a:off x="6391656" y="3456432"/>
            <a:ext cx="256032" cy="256032"/>
          </a:xfrm>
          <a:prstGeom prst="ellipse">
            <a:avLst/>
          </a:prstGeom>
          <a:solidFill>
            <a:srgbClr val="152342"/>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00" b="1">
                <a:solidFill>
                  <a:srgbClr val="FFFFFF"/>
                </a:solidFill>
                <a:latin typeface="Calibri"/>
              </a:defRPr>
            </a:pPr>
            <a:r>
              <a:rPr sz="1000" b="1">
                <a:solidFill>
                  <a:srgbClr val="FFFFFF"/>
                </a:solidFill>
                <a:latin typeface="Calibri"/>
              </a:rPr>
              <a:t>2</a:t>
            </a:r>
          </a:p>
        </p:txBody>
      </p:sp>
      <p:sp>
        <p:nvSpPr>
          <p:cNvPr id="34" name="TextBox 33"/>
          <p:cNvSpPr txBox="1"/>
          <p:nvPr/>
        </p:nvSpPr>
        <p:spPr>
          <a:xfrm>
            <a:off x="6793992" y="3438144"/>
            <a:ext cx="4828032" cy="201168"/>
          </a:xfrm>
          <a:prstGeom prst="rect">
            <a:avLst/>
          </a:prstGeom>
          <a:noFill/>
        </p:spPr>
        <p:txBody>
          <a:bodyPr wrap="square" lIns="0" tIns="0" rIns="0" bIns="0" anchor="t">
            <a:spAutoFit/>
          </a:bodyPr>
          <a:lstStyle/>
          <a:p>
            <a:pPr algn="l">
              <a:defRPr sz="1000" b="1">
                <a:solidFill>
                  <a:srgbClr val="152342"/>
                </a:solidFill>
                <a:latin typeface="Calibri"/>
              </a:defRPr>
            </a:pPr>
            <a:r>
              <a:rPr sz="1000" b="1">
                <a:solidFill>
                  <a:srgbClr val="152342"/>
                </a:solidFill>
                <a:latin typeface="Calibri"/>
              </a:rPr>
              <a:t>Catalog Posture Pull</a:t>
            </a:r>
          </a:p>
        </p:txBody>
      </p:sp>
      <p:sp>
        <p:nvSpPr>
          <p:cNvPr id="35" name="TextBox 34"/>
          <p:cNvSpPr txBox="1"/>
          <p:nvPr/>
        </p:nvSpPr>
        <p:spPr>
          <a:xfrm>
            <a:off x="6700520" y="3565986"/>
            <a:ext cx="4828032" cy="201168"/>
          </a:xfrm>
          <a:prstGeom prst="rect">
            <a:avLst/>
          </a:prstGeom>
          <a:noFill/>
        </p:spPr>
        <p:txBody>
          <a:bodyPr wrap="square" tIns="0">
            <a:spAutoFit/>
          </a:bodyPr>
          <a:lstStyle/>
          <a:p>
            <a:pPr algn="l">
              <a:lnSpc>
                <a:spcPct val="118000"/>
              </a:lnSpc>
              <a:defRPr sz="1000" b="0">
                <a:solidFill>
                  <a:srgbClr val="334155"/>
                </a:solidFill>
                <a:latin typeface="Calibri"/>
              </a:defRPr>
            </a:pPr>
            <a:r>
              <a:rPr sz="1000" b="0">
                <a:solidFill>
                  <a:srgbClr val="334155"/>
                </a:solidFill>
                <a:latin typeface="Calibri"/>
              </a:rPr>
              <a:t>MCP queries Alation for classifications, ownership, lineage, freshness across scope.</a:t>
            </a:r>
          </a:p>
        </p:txBody>
      </p:sp>
      <p:sp>
        <p:nvSpPr>
          <p:cNvPr id="36" name="Oval 35"/>
          <p:cNvSpPr/>
          <p:nvPr/>
        </p:nvSpPr>
        <p:spPr>
          <a:xfrm>
            <a:off x="6391656" y="3767328"/>
            <a:ext cx="256032" cy="256032"/>
          </a:xfrm>
          <a:prstGeom prst="ellipse">
            <a:avLst/>
          </a:prstGeom>
          <a:solidFill>
            <a:srgbClr val="152342"/>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00" b="1">
                <a:solidFill>
                  <a:srgbClr val="FFFFFF"/>
                </a:solidFill>
                <a:latin typeface="Calibri"/>
              </a:defRPr>
            </a:pPr>
            <a:r>
              <a:rPr sz="1000" b="1">
                <a:solidFill>
                  <a:srgbClr val="FFFFFF"/>
                </a:solidFill>
                <a:latin typeface="Calibri"/>
              </a:rPr>
              <a:t>3</a:t>
            </a:r>
          </a:p>
        </p:txBody>
      </p:sp>
      <p:sp>
        <p:nvSpPr>
          <p:cNvPr id="37" name="TextBox 36"/>
          <p:cNvSpPr txBox="1"/>
          <p:nvPr/>
        </p:nvSpPr>
        <p:spPr>
          <a:xfrm>
            <a:off x="6793992" y="3749039"/>
            <a:ext cx="4828032" cy="201168"/>
          </a:xfrm>
          <a:prstGeom prst="rect">
            <a:avLst/>
          </a:prstGeom>
          <a:noFill/>
        </p:spPr>
        <p:txBody>
          <a:bodyPr wrap="square" lIns="0" tIns="0" rIns="0" bIns="0" anchor="t">
            <a:spAutoFit/>
          </a:bodyPr>
          <a:lstStyle/>
          <a:p>
            <a:pPr algn="l">
              <a:defRPr sz="1000" b="1">
                <a:solidFill>
                  <a:srgbClr val="152342"/>
                </a:solidFill>
                <a:latin typeface="Calibri"/>
              </a:defRPr>
            </a:pPr>
            <a:r>
              <a:rPr sz="1000" b="1">
                <a:solidFill>
                  <a:srgbClr val="152342"/>
                </a:solidFill>
                <a:latin typeface="Calibri"/>
              </a:rPr>
              <a:t>Map Metadata to Controls</a:t>
            </a:r>
          </a:p>
        </p:txBody>
      </p:sp>
      <p:sp>
        <p:nvSpPr>
          <p:cNvPr id="38" name="TextBox 37"/>
          <p:cNvSpPr txBox="1"/>
          <p:nvPr/>
        </p:nvSpPr>
        <p:spPr>
          <a:xfrm>
            <a:off x="6700520" y="3886199"/>
            <a:ext cx="4828032" cy="201168"/>
          </a:xfrm>
          <a:prstGeom prst="rect">
            <a:avLst/>
          </a:prstGeom>
          <a:noFill/>
        </p:spPr>
        <p:txBody>
          <a:bodyPr wrap="square" tIns="0">
            <a:spAutoFit/>
          </a:bodyPr>
          <a:lstStyle/>
          <a:p>
            <a:pPr algn="l">
              <a:lnSpc>
                <a:spcPct val="118000"/>
              </a:lnSpc>
              <a:defRPr sz="1000" b="0">
                <a:solidFill>
                  <a:srgbClr val="334155"/>
                </a:solidFill>
                <a:latin typeface="Calibri"/>
              </a:defRPr>
            </a:pPr>
            <a:r>
              <a:rPr sz="1000" b="0">
                <a:solidFill>
                  <a:srgbClr val="334155"/>
                </a:solidFill>
                <a:latin typeface="Calibri"/>
              </a:rPr>
              <a:t>Cross-reference Alation fields to audit controls (PII, ownership, retention).</a:t>
            </a:r>
          </a:p>
        </p:txBody>
      </p:sp>
      <p:sp>
        <p:nvSpPr>
          <p:cNvPr id="39" name="Oval 38"/>
          <p:cNvSpPr/>
          <p:nvPr/>
        </p:nvSpPr>
        <p:spPr>
          <a:xfrm>
            <a:off x="6391656" y="4078224"/>
            <a:ext cx="256032" cy="256032"/>
          </a:xfrm>
          <a:prstGeom prst="ellipse">
            <a:avLst/>
          </a:prstGeom>
          <a:solidFill>
            <a:srgbClr val="152342"/>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00" b="1">
                <a:solidFill>
                  <a:srgbClr val="FFFFFF"/>
                </a:solidFill>
                <a:latin typeface="Calibri"/>
              </a:defRPr>
            </a:pPr>
            <a:r>
              <a:rPr sz="1000" b="1">
                <a:solidFill>
                  <a:srgbClr val="FFFFFF"/>
                </a:solidFill>
                <a:latin typeface="Calibri"/>
              </a:rPr>
              <a:t>4</a:t>
            </a:r>
          </a:p>
        </p:txBody>
      </p:sp>
      <p:sp>
        <p:nvSpPr>
          <p:cNvPr id="40" name="TextBox 39"/>
          <p:cNvSpPr txBox="1"/>
          <p:nvPr/>
        </p:nvSpPr>
        <p:spPr>
          <a:xfrm>
            <a:off x="6793992" y="4059936"/>
            <a:ext cx="4828032" cy="201168"/>
          </a:xfrm>
          <a:prstGeom prst="rect">
            <a:avLst/>
          </a:prstGeom>
          <a:noFill/>
        </p:spPr>
        <p:txBody>
          <a:bodyPr wrap="square" lIns="0" tIns="0" rIns="0" bIns="0" anchor="t">
            <a:spAutoFit/>
          </a:bodyPr>
          <a:lstStyle/>
          <a:p>
            <a:pPr algn="l">
              <a:defRPr sz="1000" b="1">
                <a:solidFill>
                  <a:srgbClr val="152342"/>
                </a:solidFill>
                <a:latin typeface="Calibri"/>
              </a:defRPr>
            </a:pPr>
            <a:r>
              <a:rPr sz="1000" b="1">
                <a:solidFill>
                  <a:srgbClr val="152342"/>
                </a:solidFill>
                <a:latin typeface="Calibri"/>
              </a:rPr>
              <a:t>Generate Evidence Pack</a:t>
            </a:r>
          </a:p>
        </p:txBody>
      </p:sp>
      <p:sp>
        <p:nvSpPr>
          <p:cNvPr id="41" name="TextBox 40"/>
          <p:cNvSpPr txBox="1"/>
          <p:nvPr/>
        </p:nvSpPr>
        <p:spPr>
          <a:xfrm>
            <a:off x="6700520" y="4208948"/>
            <a:ext cx="4828032" cy="201168"/>
          </a:xfrm>
          <a:prstGeom prst="rect">
            <a:avLst/>
          </a:prstGeom>
          <a:noFill/>
        </p:spPr>
        <p:txBody>
          <a:bodyPr wrap="square" tIns="0">
            <a:spAutoFit/>
          </a:bodyPr>
          <a:lstStyle/>
          <a:p>
            <a:pPr algn="l">
              <a:lnSpc>
                <a:spcPct val="118000"/>
              </a:lnSpc>
              <a:defRPr sz="1000" b="0">
                <a:solidFill>
                  <a:srgbClr val="334155"/>
                </a:solidFill>
                <a:latin typeface="Calibri"/>
              </a:defRPr>
            </a:pPr>
            <a:r>
              <a:rPr sz="1000" b="0">
                <a:solidFill>
                  <a:srgbClr val="334155"/>
                </a:solidFill>
                <a:latin typeface="Calibri"/>
              </a:rPr>
              <a:t>Produce a consistent, repeatable export — same shape every cycle.</a:t>
            </a:r>
          </a:p>
        </p:txBody>
      </p:sp>
      <p:sp>
        <p:nvSpPr>
          <p:cNvPr id="42" name="TextBox 41"/>
          <p:cNvSpPr txBox="1"/>
          <p:nvPr/>
        </p:nvSpPr>
        <p:spPr>
          <a:xfrm>
            <a:off x="411480" y="4517136"/>
            <a:ext cx="11365992" cy="219456"/>
          </a:xfrm>
          <a:prstGeom prst="rect">
            <a:avLst/>
          </a:prstGeom>
          <a:noFill/>
        </p:spPr>
        <p:txBody>
          <a:bodyPr wrap="square" lIns="0" tIns="0" rIns="0" bIns="0" anchor="t">
            <a:spAutoFit/>
          </a:bodyPr>
          <a:lstStyle/>
          <a:p>
            <a:pPr algn="l">
              <a:defRPr sz="1100" b="1">
                <a:solidFill>
                  <a:srgbClr val="152342"/>
                </a:solidFill>
                <a:latin typeface="Calibri"/>
              </a:defRPr>
            </a:pPr>
            <a:r>
              <a:rPr sz="1100" b="1">
                <a:solidFill>
                  <a:srgbClr val="152342"/>
                </a:solidFill>
                <a:latin typeface="Calibri"/>
              </a:rPr>
              <a:t>KEY FINDINGS</a:t>
            </a:r>
          </a:p>
        </p:txBody>
      </p:sp>
      <p:sp>
        <p:nvSpPr>
          <p:cNvPr id="4" name="Rounded Rectangle 42"/>
          <p:cNvSpPr/>
          <p:nvPr/>
        </p:nvSpPr>
        <p:spPr>
          <a:xfrm>
            <a:off x="411480" y="4773168"/>
            <a:ext cx="5559552" cy="713232"/>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3"/>
          <p:cNvSpPr/>
          <p:nvPr/>
        </p:nvSpPr>
        <p:spPr>
          <a:xfrm>
            <a:off x="411480" y="4773168"/>
            <a:ext cx="91440" cy="71323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9224" y="4846320"/>
            <a:ext cx="5157216" cy="256032"/>
          </a:xfrm>
          <a:prstGeom prst="rect">
            <a:avLst/>
          </a:prstGeom>
          <a:noFill/>
        </p:spPr>
        <p:txBody>
          <a:bodyPr wrap="square" lIns="0" tIns="0" rIns="0" bIns="0" anchor="t">
            <a:spAutoFit/>
          </a:bodyPr>
          <a:lstStyle/>
          <a:p>
            <a:pPr algn="l">
              <a:defRPr sz="1100" b="1">
                <a:solidFill>
                  <a:srgbClr val="152342"/>
                </a:solidFill>
                <a:latin typeface="Calibri"/>
              </a:defRPr>
            </a:pPr>
            <a:r>
              <a:rPr sz="1100" b="1">
                <a:solidFill>
                  <a:srgbClr val="152342"/>
                </a:solidFill>
                <a:latin typeface="Calibri"/>
              </a:rPr>
              <a:t>Audit drift eliminated</a:t>
            </a:r>
          </a:p>
        </p:txBody>
      </p:sp>
      <p:sp>
        <p:nvSpPr>
          <p:cNvPr id="47" name="TextBox 46"/>
          <p:cNvSpPr txBox="1"/>
          <p:nvPr/>
        </p:nvSpPr>
        <p:spPr>
          <a:xfrm>
            <a:off x="649224" y="5081778"/>
            <a:ext cx="5157216" cy="310896"/>
          </a:xfrm>
          <a:prstGeom prst="rect">
            <a:avLst/>
          </a:prstGeom>
          <a:noFill/>
        </p:spPr>
        <p:txBody>
          <a:bodyPr wrap="square" tIns="0">
            <a:spAutoFit/>
          </a:bodyPr>
          <a:lstStyle/>
          <a:p>
            <a:pPr algn="l">
              <a:lnSpc>
                <a:spcPct val="122000"/>
              </a:lnSpc>
              <a:defRPr sz="1050" b="0">
                <a:solidFill>
                  <a:srgbClr val="334155"/>
                </a:solidFill>
                <a:latin typeface="Calibri"/>
              </a:defRPr>
            </a:pPr>
            <a:r>
              <a:rPr sz="1050" b="0">
                <a:solidFill>
                  <a:srgbClr val="334155"/>
                </a:solidFill>
                <a:latin typeface="Calibri"/>
              </a:rPr>
              <a:t>Same data, same format, same controls each cycle — auditor confidence improves and review time drops.</a:t>
            </a:r>
          </a:p>
        </p:txBody>
      </p:sp>
      <p:sp>
        <p:nvSpPr>
          <p:cNvPr id="48" name="Rounded Rectangle 46"/>
          <p:cNvSpPr/>
          <p:nvPr/>
        </p:nvSpPr>
        <p:spPr>
          <a:xfrm>
            <a:off x="6227064" y="4773168"/>
            <a:ext cx="5559552" cy="713232"/>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7"/>
          <p:cNvSpPr/>
          <p:nvPr/>
        </p:nvSpPr>
        <p:spPr>
          <a:xfrm>
            <a:off x="6227064" y="4773168"/>
            <a:ext cx="91440" cy="71323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464808" y="4846320"/>
            <a:ext cx="5157216" cy="256032"/>
          </a:xfrm>
          <a:prstGeom prst="rect">
            <a:avLst/>
          </a:prstGeom>
          <a:noFill/>
        </p:spPr>
        <p:txBody>
          <a:bodyPr wrap="square" lIns="0" tIns="0" rIns="0" bIns="0" anchor="t">
            <a:spAutoFit/>
          </a:bodyPr>
          <a:lstStyle/>
          <a:p>
            <a:pPr algn="l">
              <a:defRPr sz="1100" b="1">
                <a:solidFill>
                  <a:srgbClr val="152342"/>
                </a:solidFill>
                <a:latin typeface="Calibri"/>
              </a:defRPr>
            </a:pPr>
            <a:r>
              <a:rPr sz="1100" b="1">
                <a:solidFill>
                  <a:srgbClr val="152342"/>
                </a:solidFill>
                <a:latin typeface="Calibri"/>
              </a:rPr>
              <a:t>Gaps surface pre-audit</a:t>
            </a:r>
          </a:p>
        </p:txBody>
      </p:sp>
      <p:sp>
        <p:nvSpPr>
          <p:cNvPr id="51" name="TextBox 50"/>
          <p:cNvSpPr txBox="1"/>
          <p:nvPr/>
        </p:nvSpPr>
        <p:spPr>
          <a:xfrm>
            <a:off x="6464808" y="5081778"/>
            <a:ext cx="5157216" cy="310896"/>
          </a:xfrm>
          <a:prstGeom prst="rect">
            <a:avLst/>
          </a:prstGeom>
          <a:noFill/>
        </p:spPr>
        <p:txBody>
          <a:bodyPr wrap="square" tIns="0">
            <a:spAutoFit/>
          </a:bodyPr>
          <a:lstStyle/>
          <a:p>
            <a:pPr algn="l">
              <a:lnSpc>
                <a:spcPct val="122000"/>
              </a:lnSpc>
              <a:defRPr sz="1050" b="0">
                <a:solidFill>
                  <a:srgbClr val="334155"/>
                </a:solidFill>
                <a:latin typeface="Calibri"/>
              </a:defRPr>
            </a:pPr>
            <a:r>
              <a:rPr sz="1050" b="0">
                <a:solidFill>
                  <a:srgbClr val="334155"/>
                </a:solidFill>
                <a:latin typeface="Calibri"/>
              </a:rPr>
              <a:t>Unmanaged sources, missing owners, and untagged PII fields are identified early — remediated before review.</a:t>
            </a:r>
          </a:p>
        </p:txBody>
      </p:sp>
      <p:sp>
        <p:nvSpPr>
          <p:cNvPr id="52" name="TextBox 51"/>
          <p:cNvSpPr txBox="1"/>
          <p:nvPr/>
        </p:nvSpPr>
        <p:spPr>
          <a:xfrm>
            <a:off x="411480" y="5577840"/>
            <a:ext cx="11365992" cy="201168"/>
          </a:xfrm>
          <a:prstGeom prst="rect">
            <a:avLst/>
          </a:prstGeom>
          <a:noFill/>
        </p:spPr>
        <p:txBody>
          <a:bodyPr wrap="square" lIns="0" tIns="0" rIns="0" bIns="0" anchor="t">
            <a:spAutoFit/>
          </a:bodyPr>
          <a:lstStyle/>
          <a:p>
            <a:pPr algn="l">
              <a:defRPr sz="1100" b="1">
                <a:solidFill>
                  <a:srgbClr val="152342"/>
                </a:solidFill>
                <a:latin typeface="Calibri"/>
              </a:defRPr>
            </a:pPr>
            <a:r>
              <a:rPr sz="1100" b="1">
                <a:solidFill>
                  <a:srgbClr val="152342"/>
                </a:solidFill>
                <a:latin typeface="Calibri"/>
              </a:rPr>
              <a:t>REUSABLE TEMPLATE — AUDIT EVIDENCE PACK</a:t>
            </a:r>
          </a:p>
        </p:txBody>
      </p:sp>
      <p:sp>
        <p:nvSpPr>
          <p:cNvPr id="53" name="Rounded Rectangle 51"/>
          <p:cNvSpPr/>
          <p:nvPr/>
        </p:nvSpPr>
        <p:spPr>
          <a:xfrm>
            <a:off x="411480" y="5815584"/>
            <a:ext cx="2734056" cy="56692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2"/>
          <p:cNvSpPr/>
          <p:nvPr/>
        </p:nvSpPr>
        <p:spPr>
          <a:xfrm>
            <a:off x="411480" y="5815584"/>
            <a:ext cx="2734056"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39496" y="5843016"/>
            <a:ext cx="731520" cy="201168"/>
          </a:xfrm>
          <a:prstGeom prst="rect">
            <a:avLst/>
          </a:prstGeom>
          <a:noFill/>
        </p:spPr>
        <p:txBody>
          <a:bodyPr wrap="square" lIns="0" tIns="0" rIns="0" bIns="0" anchor="t">
            <a:spAutoFit/>
          </a:bodyPr>
          <a:lstStyle/>
          <a:p>
            <a:pPr algn="l">
              <a:defRPr sz="1000" b="1">
                <a:solidFill>
                  <a:srgbClr val="FFFFFF"/>
                </a:solidFill>
                <a:latin typeface="Calibri"/>
              </a:defRPr>
            </a:pPr>
            <a:r>
              <a:rPr sz="1000" b="1">
                <a:solidFill>
                  <a:srgbClr val="FFFFFF"/>
                </a:solidFill>
                <a:latin typeface="Calibri"/>
              </a:rPr>
              <a:t>Step 1</a:t>
            </a:r>
          </a:p>
        </p:txBody>
      </p:sp>
      <p:sp>
        <p:nvSpPr>
          <p:cNvPr id="56" name="TextBox 55"/>
          <p:cNvSpPr txBox="1"/>
          <p:nvPr/>
        </p:nvSpPr>
        <p:spPr>
          <a:xfrm>
            <a:off x="1362456" y="5843016"/>
            <a:ext cx="1655064" cy="201168"/>
          </a:xfrm>
          <a:prstGeom prst="rect">
            <a:avLst/>
          </a:prstGeom>
          <a:noFill/>
        </p:spPr>
        <p:txBody>
          <a:bodyPr wrap="square" lIns="0" tIns="0" rIns="0" bIns="0" anchor="t">
            <a:spAutoFit/>
          </a:bodyPr>
          <a:lstStyle/>
          <a:p>
            <a:pPr algn="r">
              <a:defRPr sz="1000" b="1">
                <a:solidFill>
                  <a:srgbClr val="FFFFFF"/>
                </a:solidFill>
                <a:latin typeface="Calibri"/>
              </a:defRPr>
            </a:pPr>
            <a:r>
              <a:rPr sz="1000" b="1">
                <a:solidFill>
                  <a:srgbClr val="FFFFFF"/>
                </a:solidFill>
                <a:latin typeface="Calibri"/>
              </a:rPr>
              <a:t>Scope</a:t>
            </a:r>
          </a:p>
        </p:txBody>
      </p:sp>
      <p:sp>
        <p:nvSpPr>
          <p:cNvPr id="57" name="TextBox 56"/>
          <p:cNvSpPr txBox="1"/>
          <p:nvPr/>
        </p:nvSpPr>
        <p:spPr>
          <a:xfrm>
            <a:off x="539496" y="6108192"/>
            <a:ext cx="2478024" cy="192681"/>
          </a:xfrm>
          <a:prstGeom prst="rect">
            <a:avLst/>
          </a:prstGeom>
          <a:noFill/>
        </p:spPr>
        <p:txBody>
          <a:bodyPr wrap="square" tIns="0">
            <a:spAutoFit/>
          </a:bodyPr>
          <a:lstStyle/>
          <a:p>
            <a:pPr algn="l">
              <a:lnSpc>
                <a:spcPct val="120000"/>
              </a:lnSpc>
              <a:defRPr sz="1000" b="0">
                <a:solidFill>
                  <a:srgbClr val="334155"/>
                </a:solidFill>
                <a:latin typeface="Calibri"/>
              </a:defRPr>
            </a:pPr>
            <a:r>
              <a:rPr sz="850" b="0">
                <a:solidFill>
                  <a:srgbClr val="334155"/>
                </a:solidFill>
                <a:latin typeface="Calibri"/>
              </a:rPr>
              <a:t>Define audit framework and asset universe.</a:t>
            </a:r>
          </a:p>
        </p:txBody>
      </p:sp>
      <p:sp>
        <p:nvSpPr>
          <p:cNvPr id="58" name="Rounded Rectangle 56"/>
          <p:cNvSpPr/>
          <p:nvPr/>
        </p:nvSpPr>
        <p:spPr>
          <a:xfrm>
            <a:off x="3291840" y="5815584"/>
            <a:ext cx="2734056" cy="56692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7"/>
          <p:cNvSpPr/>
          <p:nvPr/>
        </p:nvSpPr>
        <p:spPr>
          <a:xfrm>
            <a:off x="3291840" y="5815584"/>
            <a:ext cx="2734056" cy="25603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3419856" y="5843016"/>
            <a:ext cx="731520" cy="201168"/>
          </a:xfrm>
          <a:prstGeom prst="rect">
            <a:avLst/>
          </a:prstGeom>
          <a:noFill/>
        </p:spPr>
        <p:txBody>
          <a:bodyPr wrap="square" lIns="0" tIns="0" rIns="0" bIns="0" anchor="t">
            <a:spAutoFit/>
          </a:bodyPr>
          <a:lstStyle/>
          <a:p>
            <a:pPr algn="l">
              <a:defRPr sz="1000" b="1">
                <a:solidFill>
                  <a:srgbClr val="FFFFFF"/>
                </a:solidFill>
                <a:latin typeface="Calibri"/>
              </a:defRPr>
            </a:pPr>
            <a:r>
              <a:rPr sz="1000" b="1">
                <a:solidFill>
                  <a:srgbClr val="FFFFFF"/>
                </a:solidFill>
                <a:latin typeface="Calibri"/>
              </a:rPr>
              <a:t>Step 2</a:t>
            </a:r>
          </a:p>
        </p:txBody>
      </p:sp>
      <p:sp>
        <p:nvSpPr>
          <p:cNvPr id="61" name="TextBox 60"/>
          <p:cNvSpPr txBox="1"/>
          <p:nvPr/>
        </p:nvSpPr>
        <p:spPr>
          <a:xfrm>
            <a:off x="4242816" y="5843016"/>
            <a:ext cx="1655064" cy="201168"/>
          </a:xfrm>
          <a:prstGeom prst="rect">
            <a:avLst/>
          </a:prstGeom>
          <a:noFill/>
        </p:spPr>
        <p:txBody>
          <a:bodyPr wrap="square" lIns="0" tIns="0" rIns="0" bIns="0" anchor="t">
            <a:spAutoFit/>
          </a:bodyPr>
          <a:lstStyle/>
          <a:p>
            <a:pPr algn="r">
              <a:defRPr sz="1000" b="1">
                <a:solidFill>
                  <a:srgbClr val="FFFFFF"/>
                </a:solidFill>
                <a:latin typeface="Calibri"/>
              </a:defRPr>
            </a:pPr>
            <a:r>
              <a:rPr sz="1000" b="1">
                <a:solidFill>
                  <a:srgbClr val="FFFFFF"/>
                </a:solidFill>
                <a:latin typeface="Calibri"/>
              </a:rPr>
              <a:t>Pull</a:t>
            </a:r>
          </a:p>
        </p:txBody>
      </p:sp>
      <p:sp>
        <p:nvSpPr>
          <p:cNvPr id="62" name="TextBox 61"/>
          <p:cNvSpPr txBox="1"/>
          <p:nvPr/>
        </p:nvSpPr>
        <p:spPr>
          <a:xfrm>
            <a:off x="3419856" y="6108192"/>
            <a:ext cx="2478024" cy="192681"/>
          </a:xfrm>
          <a:prstGeom prst="rect">
            <a:avLst/>
          </a:prstGeom>
          <a:noFill/>
        </p:spPr>
        <p:txBody>
          <a:bodyPr wrap="square" tIns="0">
            <a:spAutoFit/>
          </a:bodyPr>
          <a:lstStyle/>
          <a:p>
            <a:pPr algn="l">
              <a:lnSpc>
                <a:spcPct val="120000"/>
              </a:lnSpc>
              <a:defRPr sz="1000" b="0">
                <a:solidFill>
                  <a:srgbClr val="334155"/>
                </a:solidFill>
                <a:latin typeface="Calibri"/>
              </a:defRPr>
            </a:pPr>
            <a:r>
              <a:rPr sz="850" b="0">
                <a:solidFill>
                  <a:srgbClr val="334155"/>
                </a:solidFill>
                <a:latin typeface="Calibri"/>
              </a:rPr>
              <a:t>Query Alation catalog posture via MCP.</a:t>
            </a:r>
          </a:p>
        </p:txBody>
      </p:sp>
      <p:sp>
        <p:nvSpPr>
          <p:cNvPr id="63" name="Rounded Rectangle 61"/>
          <p:cNvSpPr/>
          <p:nvPr/>
        </p:nvSpPr>
        <p:spPr>
          <a:xfrm>
            <a:off x="6172200" y="5815584"/>
            <a:ext cx="2734056" cy="56692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ounded Rectangle 62"/>
          <p:cNvSpPr/>
          <p:nvPr/>
        </p:nvSpPr>
        <p:spPr>
          <a:xfrm>
            <a:off x="6172200" y="5815584"/>
            <a:ext cx="2734056" cy="25603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6300216" y="5843016"/>
            <a:ext cx="731520" cy="201168"/>
          </a:xfrm>
          <a:prstGeom prst="rect">
            <a:avLst/>
          </a:prstGeom>
          <a:noFill/>
        </p:spPr>
        <p:txBody>
          <a:bodyPr wrap="square" lIns="0" tIns="0" rIns="0" bIns="0" anchor="t">
            <a:spAutoFit/>
          </a:bodyPr>
          <a:lstStyle/>
          <a:p>
            <a:pPr algn="l">
              <a:defRPr sz="1000" b="1">
                <a:solidFill>
                  <a:srgbClr val="FFFFFF"/>
                </a:solidFill>
                <a:latin typeface="Calibri"/>
              </a:defRPr>
            </a:pPr>
            <a:r>
              <a:rPr sz="1000" b="1">
                <a:solidFill>
                  <a:srgbClr val="FFFFFF"/>
                </a:solidFill>
                <a:latin typeface="Calibri"/>
              </a:rPr>
              <a:t>Step 3</a:t>
            </a:r>
          </a:p>
        </p:txBody>
      </p:sp>
      <p:sp>
        <p:nvSpPr>
          <p:cNvPr id="66" name="TextBox 65"/>
          <p:cNvSpPr txBox="1"/>
          <p:nvPr/>
        </p:nvSpPr>
        <p:spPr>
          <a:xfrm>
            <a:off x="7123176" y="5843016"/>
            <a:ext cx="1655064" cy="201168"/>
          </a:xfrm>
          <a:prstGeom prst="rect">
            <a:avLst/>
          </a:prstGeom>
          <a:noFill/>
        </p:spPr>
        <p:txBody>
          <a:bodyPr wrap="square" lIns="0" tIns="0" rIns="0" bIns="0" anchor="t">
            <a:spAutoFit/>
          </a:bodyPr>
          <a:lstStyle/>
          <a:p>
            <a:pPr algn="r">
              <a:defRPr sz="1000" b="1">
                <a:solidFill>
                  <a:srgbClr val="FFFFFF"/>
                </a:solidFill>
                <a:latin typeface="Calibri"/>
              </a:defRPr>
            </a:pPr>
            <a:r>
              <a:rPr sz="1000" b="1">
                <a:solidFill>
                  <a:srgbClr val="FFFFFF"/>
                </a:solidFill>
                <a:latin typeface="Calibri"/>
              </a:rPr>
              <a:t>Map</a:t>
            </a:r>
          </a:p>
        </p:txBody>
      </p:sp>
      <p:sp>
        <p:nvSpPr>
          <p:cNvPr id="67" name="TextBox 66"/>
          <p:cNvSpPr txBox="1"/>
          <p:nvPr/>
        </p:nvSpPr>
        <p:spPr>
          <a:xfrm>
            <a:off x="6300216" y="6108192"/>
            <a:ext cx="2478024" cy="192681"/>
          </a:xfrm>
          <a:prstGeom prst="rect">
            <a:avLst/>
          </a:prstGeom>
          <a:noFill/>
        </p:spPr>
        <p:txBody>
          <a:bodyPr wrap="square" tIns="0">
            <a:spAutoFit/>
          </a:bodyPr>
          <a:lstStyle/>
          <a:p>
            <a:pPr algn="l">
              <a:lnSpc>
                <a:spcPct val="120000"/>
              </a:lnSpc>
              <a:defRPr sz="1000" b="0">
                <a:solidFill>
                  <a:srgbClr val="334155"/>
                </a:solidFill>
                <a:latin typeface="Calibri"/>
              </a:defRPr>
            </a:pPr>
            <a:r>
              <a:rPr sz="850" b="0">
                <a:solidFill>
                  <a:srgbClr val="334155"/>
                </a:solidFill>
                <a:latin typeface="Calibri"/>
              </a:rPr>
              <a:t>Match metadata fields to audit controls.</a:t>
            </a:r>
          </a:p>
        </p:txBody>
      </p:sp>
      <p:sp>
        <p:nvSpPr>
          <p:cNvPr id="68" name="Rounded Rectangle 66"/>
          <p:cNvSpPr/>
          <p:nvPr/>
        </p:nvSpPr>
        <p:spPr>
          <a:xfrm>
            <a:off x="9043416" y="5815584"/>
            <a:ext cx="2734056" cy="56692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ounded Rectangle 67"/>
          <p:cNvSpPr/>
          <p:nvPr/>
        </p:nvSpPr>
        <p:spPr>
          <a:xfrm>
            <a:off x="9043416" y="5815584"/>
            <a:ext cx="2734056" cy="256032"/>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9180576" y="5843016"/>
            <a:ext cx="731520" cy="201168"/>
          </a:xfrm>
          <a:prstGeom prst="rect">
            <a:avLst/>
          </a:prstGeom>
          <a:noFill/>
        </p:spPr>
        <p:txBody>
          <a:bodyPr wrap="square" lIns="0" tIns="0" rIns="0" bIns="0" anchor="t">
            <a:spAutoFit/>
          </a:bodyPr>
          <a:lstStyle/>
          <a:p>
            <a:pPr algn="l">
              <a:defRPr sz="1000" b="1">
                <a:solidFill>
                  <a:srgbClr val="FFFFFF"/>
                </a:solidFill>
                <a:latin typeface="Calibri"/>
              </a:defRPr>
            </a:pPr>
            <a:r>
              <a:rPr sz="1000" b="1">
                <a:solidFill>
                  <a:srgbClr val="FFFFFF"/>
                </a:solidFill>
                <a:latin typeface="Calibri"/>
              </a:rPr>
              <a:t>Step 4</a:t>
            </a:r>
          </a:p>
        </p:txBody>
      </p:sp>
      <p:sp>
        <p:nvSpPr>
          <p:cNvPr id="71" name="TextBox 70"/>
          <p:cNvSpPr txBox="1"/>
          <p:nvPr/>
        </p:nvSpPr>
        <p:spPr>
          <a:xfrm>
            <a:off x="10003536" y="5843016"/>
            <a:ext cx="1655064" cy="201168"/>
          </a:xfrm>
          <a:prstGeom prst="rect">
            <a:avLst/>
          </a:prstGeom>
          <a:noFill/>
        </p:spPr>
        <p:txBody>
          <a:bodyPr wrap="square" lIns="0" tIns="0" rIns="0" bIns="0" anchor="t">
            <a:spAutoFit/>
          </a:bodyPr>
          <a:lstStyle/>
          <a:p>
            <a:pPr algn="r">
              <a:defRPr sz="1000" b="1">
                <a:solidFill>
                  <a:srgbClr val="FFFFFF"/>
                </a:solidFill>
                <a:latin typeface="Calibri"/>
              </a:defRPr>
            </a:pPr>
            <a:r>
              <a:rPr sz="1000" b="1">
                <a:solidFill>
                  <a:srgbClr val="FFFFFF"/>
                </a:solidFill>
                <a:latin typeface="Calibri"/>
              </a:rPr>
              <a:t>Pack</a:t>
            </a:r>
          </a:p>
        </p:txBody>
      </p:sp>
      <p:sp>
        <p:nvSpPr>
          <p:cNvPr id="72" name="TextBox 71"/>
          <p:cNvSpPr txBox="1"/>
          <p:nvPr/>
        </p:nvSpPr>
        <p:spPr>
          <a:xfrm>
            <a:off x="9180576" y="6108192"/>
            <a:ext cx="2478024" cy="349648"/>
          </a:xfrm>
          <a:prstGeom prst="rect">
            <a:avLst/>
          </a:prstGeom>
          <a:noFill/>
        </p:spPr>
        <p:txBody>
          <a:bodyPr wrap="square" tIns="0">
            <a:spAutoFit/>
          </a:bodyPr>
          <a:lstStyle/>
          <a:p>
            <a:pPr algn="l">
              <a:lnSpc>
                <a:spcPct val="120000"/>
              </a:lnSpc>
              <a:defRPr sz="1000" b="0">
                <a:solidFill>
                  <a:srgbClr val="334155"/>
                </a:solidFill>
                <a:latin typeface="Calibri"/>
              </a:defRPr>
            </a:pPr>
            <a:r>
              <a:rPr sz="850" b="0">
                <a:solidFill>
                  <a:srgbClr val="334155"/>
                </a:solidFill>
                <a:latin typeface="Calibri"/>
              </a:rPr>
              <a:t>Generate the repeatable, defensible evidence export.</a:t>
            </a:r>
          </a:p>
        </p:txBody>
      </p:sp>
      <p:sp>
        <p:nvSpPr>
          <p:cNvPr id="73" name="TextBox 72">
            <a:extLst>
              <a:ext uri="{FF2B5EF4-FFF2-40B4-BE49-F238E27FC236}">
                <a16:creationId xmlns:a16="http://schemas.microsoft.com/office/drawing/2014/main" id="{F2EB0BF3-2E78-4522-E8AA-1F294D469053}"/>
              </a:ext>
            </a:extLst>
          </p:cNvPr>
          <p:cNvSpPr txBox="1"/>
          <p:nvPr/>
        </p:nvSpPr>
        <p:spPr>
          <a:xfrm>
            <a:off x="411480" y="1245870"/>
            <a:ext cx="11521440" cy="232884"/>
          </a:xfrm>
          <a:prstGeom prst="rect">
            <a:avLst/>
          </a:prstGeom>
          <a:noFill/>
        </p:spPr>
        <p:txBody>
          <a:bodyPr wrap="square" lIns="36576" tIns="18288" rIns="36576" bIns="18288" anchor="t">
            <a:spAutoFit/>
          </a:bodyPr>
          <a:lstStyle/>
          <a:p>
            <a:pPr>
              <a:lnSpc>
                <a:spcPct val="125000"/>
              </a:lnSpc>
            </a:pPr>
            <a:r>
              <a:rPr lang="en-US" sz="1100">
                <a:solidFill>
                  <a:srgbClr val="475569"/>
                </a:solidFill>
              </a:rPr>
              <a:t>Repeatable, defensible evidence packs for PII, SOX, and GDPR cycles — generated directly from Ad Platforms catalog metadata.</a:t>
            </a:r>
          </a:p>
        </p:txBody>
      </p:sp>
      <p:sp>
        <p:nvSpPr>
          <p:cNvPr id="74" name="TextBox 73">
            <a:extLst>
              <a:ext uri="{FF2B5EF4-FFF2-40B4-BE49-F238E27FC236}">
                <a16:creationId xmlns:a16="http://schemas.microsoft.com/office/drawing/2014/main" id="{35C8D448-888E-2297-3993-1516596E3452}"/>
              </a:ext>
            </a:extLst>
          </p:cNvPr>
          <p:cNvSpPr txBox="1"/>
          <p:nvPr/>
        </p:nvSpPr>
        <p:spPr>
          <a:xfrm>
            <a:off x="9546336" y="510831"/>
            <a:ext cx="2715768" cy="365760"/>
          </a:xfrm>
          <a:prstGeom prst="rect">
            <a:avLst/>
          </a:prstGeom>
          <a:solidFill>
            <a:schemeClr val="accent2">
              <a:lumMod val="20000"/>
              <a:lumOff val="80000"/>
            </a:schemeClr>
          </a:solidFill>
        </p:spPr>
        <p:txBody>
          <a:bodyPr wrap="square" rtlCol="0">
            <a:spAutoFit/>
          </a:bodyPr>
          <a:lstStyle/>
          <a:p>
            <a:pPr algn="ctr"/>
            <a:r>
              <a:rPr lang="en-US" sz="1000" b="1"/>
              <a:t>Deep Dive from AI-Enabled Use Cases with Alation and Cursor MCP slide </a:t>
            </a:r>
          </a:p>
        </p:txBody>
      </p:sp>
      <p:sp>
        <p:nvSpPr>
          <p:cNvPr id="75" name="Oval 74">
            <a:extLst>
              <a:ext uri="{FF2B5EF4-FFF2-40B4-BE49-F238E27FC236}">
                <a16:creationId xmlns:a16="http://schemas.microsoft.com/office/drawing/2014/main" id="{53128EED-8B04-1756-4F6E-425548681B3F}"/>
              </a:ext>
            </a:extLst>
          </p:cNvPr>
          <p:cNvSpPr/>
          <p:nvPr/>
        </p:nvSpPr>
        <p:spPr>
          <a:xfrm>
            <a:off x="11768328" y="786347"/>
            <a:ext cx="329184" cy="329184"/>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200" b="1">
                <a:solidFill>
                  <a:srgbClr val="FFFFFF"/>
                </a:solidFill>
                <a:latin typeface="Calibri"/>
              </a:defRPr>
            </a:pPr>
            <a:r>
              <a:rPr lang="en-US" sz="1400" b="1">
                <a:solidFill>
                  <a:srgbClr val="FFFFFF"/>
                </a:solidFill>
                <a:latin typeface="Calibri"/>
              </a:rPr>
              <a:t>3</a:t>
            </a:r>
            <a:endParaRPr sz="1400" b="1">
              <a:solidFill>
                <a:srgbClr val="FFFFFF"/>
              </a:solidFill>
              <a:latin typeface="Calibri"/>
            </a:endParaRPr>
          </a:p>
        </p:txBody>
      </p:sp>
    </p:spTree>
    <p:extLst>
      <p:ext uri="{BB962C8B-B14F-4D97-AF65-F5344CB8AC3E}">
        <p14:creationId xmlns:p14="http://schemas.microsoft.com/office/powerpoint/2010/main" val="1024797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38CE3-95FF-0FAC-11B9-39029CCB29F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9269A78-93FF-4ECA-554D-DA77F3939C90}"/>
              </a:ext>
            </a:extLst>
          </p:cNvPr>
          <p:cNvSpPr/>
          <p:nvPr/>
        </p:nvSpPr>
        <p:spPr>
          <a:xfrm>
            <a:off x="0" y="0"/>
            <a:ext cx="12191695" cy="502920"/>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8C2AF4B2-FCDB-53B4-52B2-B9A7F3306444}"/>
              </a:ext>
            </a:extLst>
          </p:cNvPr>
          <p:cNvSpPr txBox="1"/>
          <p:nvPr/>
        </p:nvSpPr>
        <p:spPr>
          <a:xfrm>
            <a:off x="457200" y="804672"/>
            <a:ext cx="11430000" cy="422873"/>
          </a:xfrm>
          <a:prstGeom prst="rect">
            <a:avLst/>
          </a:prstGeom>
          <a:noFill/>
        </p:spPr>
        <p:txBody>
          <a:bodyPr wrap="square" lIns="36576" tIns="18288" rIns="36576" bIns="18288" anchor="t">
            <a:spAutoFit/>
          </a:bodyPr>
          <a:lstStyle/>
          <a:p>
            <a:pPr algn="l">
              <a:lnSpc>
                <a:spcPct val="110000"/>
              </a:lnSpc>
              <a:spcBef>
                <a:spcPts val="0"/>
              </a:spcBef>
              <a:spcAft>
                <a:spcPts val="0"/>
              </a:spcAft>
            </a:pPr>
            <a:r>
              <a:rPr lang="en-US" sz="2400" b="1" i="0">
                <a:solidFill>
                  <a:srgbClr val="152342"/>
                </a:solidFill>
                <a:latin typeface="Calibri Light"/>
              </a:rPr>
              <a:t>Cursor–Alation MCP Use Case: Personal Data Assessment </a:t>
            </a:r>
            <a:r>
              <a:rPr lang="en-US" sz="2400" b="1">
                <a:solidFill>
                  <a:srgbClr val="152342"/>
                </a:solidFill>
                <a:latin typeface="Calibri Light"/>
              </a:rPr>
              <a:t> (</a:t>
            </a:r>
            <a:r>
              <a:rPr lang="en-US" sz="2400" b="1" i="0">
                <a:solidFill>
                  <a:srgbClr val="152342"/>
                </a:solidFill>
                <a:latin typeface="Calibri Light"/>
              </a:rPr>
              <a:t>STAQ)</a:t>
            </a:r>
          </a:p>
        </p:txBody>
      </p:sp>
      <p:sp>
        <p:nvSpPr>
          <p:cNvPr id="43" name="Rectangle 42">
            <a:extLst>
              <a:ext uri="{FF2B5EF4-FFF2-40B4-BE49-F238E27FC236}">
                <a16:creationId xmlns:a16="http://schemas.microsoft.com/office/drawing/2014/main" id="{FD240996-FAC3-3B6F-209E-6ED582F7DA9B}"/>
              </a:ext>
            </a:extLst>
          </p:cNvPr>
          <p:cNvSpPr/>
          <p:nvPr/>
        </p:nvSpPr>
        <p:spPr>
          <a:xfrm>
            <a:off x="0" y="6400800"/>
            <a:ext cx="12191695"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a:extLst>
              <a:ext uri="{FF2B5EF4-FFF2-40B4-BE49-F238E27FC236}">
                <a16:creationId xmlns:a16="http://schemas.microsoft.com/office/drawing/2014/main" id="{9FC8BF93-FCB1-8822-2AF2-E3F20EEA91B7}"/>
              </a:ext>
            </a:extLst>
          </p:cNvPr>
          <p:cNvSpPr txBox="1"/>
          <p:nvPr/>
        </p:nvSpPr>
        <p:spPr>
          <a:xfrm>
            <a:off x="457200" y="6473952"/>
            <a:ext cx="11277295" cy="310896"/>
          </a:xfrm>
          <a:prstGeom prst="rect">
            <a:avLst/>
          </a:prstGeom>
          <a:noFill/>
        </p:spPr>
        <p:txBody>
          <a:bodyPr wrap="square" lIns="36576" tIns="18288" rIns="36576" bIns="18288" anchor="ctr">
            <a:spAutoFit/>
          </a:bodyPr>
          <a:lstStyle/>
          <a:p>
            <a:pPr algn="l">
              <a:lnSpc>
                <a:spcPct val="118000"/>
              </a:lnSpc>
              <a:spcBef>
                <a:spcPts val="0"/>
              </a:spcBef>
              <a:spcAft>
                <a:spcPts val="0"/>
              </a:spcAft>
            </a:pPr>
            <a:r>
              <a:rPr sz="1150" b="0" i="0">
                <a:solidFill>
                  <a:srgbClr val="64748B"/>
                </a:solidFill>
                <a:latin typeface="Calibri"/>
              </a:rPr>
              <a:t>DEET Data Governance  |  May 2026  |  Alation Data Catalog Overview</a:t>
            </a:r>
          </a:p>
        </p:txBody>
      </p:sp>
      <p:sp>
        <p:nvSpPr>
          <p:cNvPr id="9" name="TextBox 8"/>
          <p:cNvSpPr txBox="1"/>
          <p:nvPr/>
        </p:nvSpPr>
        <p:spPr>
          <a:xfrm>
            <a:off x="411480" y="1243584"/>
            <a:ext cx="11365992" cy="274320"/>
          </a:xfrm>
          <a:prstGeom prst="rect">
            <a:avLst/>
          </a:prstGeom>
          <a:noFill/>
        </p:spPr>
        <p:txBody>
          <a:bodyPr wrap="square" lIns="36576" tIns="18288" rIns="36576" bIns="18288" anchor="t">
            <a:spAutoFit/>
          </a:bodyPr>
          <a:lstStyle/>
          <a:p>
            <a:pPr algn="l">
              <a:lnSpc>
                <a:spcPct val="125000"/>
              </a:lnSpc>
              <a:spcBef>
                <a:spcPts val="0"/>
              </a:spcBef>
              <a:spcAft>
                <a:spcPts val="0"/>
              </a:spcAft>
            </a:pPr>
            <a:r>
              <a:rPr sz="1100" b="0" i="0">
                <a:solidFill>
                  <a:srgbClr val="475569"/>
                </a:solidFill>
                <a:latin typeface="Calibri"/>
              </a:rPr>
              <a:t>How A</a:t>
            </a:r>
            <a:r>
              <a:rPr lang="en-US" sz="1100" b="0" i="0">
                <a:solidFill>
                  <a:srgbClr val="475569"/>
                </a:solidFill>
                <a:latin typeface="Calibri"/>
              </a:rPr>
              <a:t>I-</a:t>
            </a:r>
            <a:r>
              <a:rPr sz="1100" b="0" i="0">
                <a:solidFill>
                  <a:srgbClr val="475569"/>
                </a:solidFill>
                <a:latin typeface="Calibri"/>
              </a:rPr>
              <a:t>assisted catalog analysis turned a multi-day Legal compliance request into a same-session deliverable — with business validation and remediation built in.</a:t>
            </a:r>
          </a:p>
        </p:txBody>
      </p:sp>
      <p:sp>
        <p:nvSpPr>
          <p:cNvPr id="10" name="TextBox 9"/>
          <p:cNvSpPr txBox="1"/>
          <p:nvPr/>
        </p:nvSpPr>
        <p:spPr>
          <a:xfrm>
            <a:off x="411480" y="1554480"/>
            <a:ext cx="11365992" cy="219456"/>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950" b="1" i="0">
                <a:solidFill>
                  <a:srgbClr val="152342"/>
                </a:solidFill>
                <a:latin typeface="Calibri"/>
              </a:rPr>
              <a:t>BUSINESS IMPACT</a:t>
            </a:r>
          </a:p>
        </p:txBody>
      </p:sp>
      <p:sp>
        <p:nvSpPr>
          <p:cNvPr id="11" name="Rounded Rectangle 10"/>
          <p:cNvSpPr/>
          <p:nvPr/>
        </p:nvSpPr>
        <p:spPr>
          <a:xfrm>
            <a:off x="411480" y="1810512"/>
            <a:ext cx="2734056" cy="84124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11480" y="1810512"/>
            <a:ext cx="91440" cy="84124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 y="1943303"/>
            <a:ext cx="2331720" cy="411075"/>
          </a:xfrm>
          <a:prstGeom prst="rect">
            <a:avLst/>
          </a:prstGeom>
          <a:noFill/>
        </p:spPr>
        <p:txBody>
          <a:bodyPr wrap="square" lIns="36576" tIns="18288" rIns="36576" bIns="18288" anchor="ctr">
            <a:spAutoFit/>
          </a:bodyPr>
          <a:lstStyle/>
          <a:p>
            <a:pPr>
              <a:lnSpc>
                <a:spcPct val="118000"/>
              </a:lnSpc>
              <a:spcBef>
                <a:spcPts val="0"/>
              </a:spcBef>
              <a:spcAft>
                <a:spcPts val="0"/>
              </a:spcAft>
            </a:pPr>
            <a:r>
              <a:rPr sz="2200" b="1" i="0">
                <a:solidFill>
                  <a:srgbClr val="152342"/>
                </a:solidFill>
                <a:latin typeface="Calibri Light"/>
              </a:rPr>
              <a:t>~4 </a:t>
            </a:r>
            <a:r>
              <a:rPr sz="2200" b="1" i="0" err="1">
                <a:solidFill>
                  <a:srgbClr val="152342"/>
                </a:solidFill>
                <a:latin typeface="Calibri Light"/>
              </a:rPr>
              <a:t>hrs</a:t>
            </a:r>
            <a:endParaRPr sz="2200" b="1" i="0">
              <a:solidFill>
                <a:srgbClr val="152342"/>
              </a:solidFill>
              <a:latin typeface="Calibri Light"/>
            </a:endParaRPr>
          </a:p>
        </p:txBody>
      </p:sp>
      <p:sp>
        <p:nvSpPr>
          <p:cNvPr id="14" name="TextBox 13"/>
          <p:cNvSpPr txBox="1"/>
          <p:nvPr/>
        </p:nvSpPr>
        <p:spPr>
          <a:xfrm>
            <a:off x="649224" y="2359152"/>
            <a:ext cx="2331720" cy="194284"/>
          </a:xfrm>
          <a:prstGeom prst="rect">
            <a:avLst/>
          </a:prstGeom>
          <a:noFill/>
        </p:spPr>
        <p:txBody>
          <a:bodyPr wrap="square" lIns="36576" tIns="18288" rIns="36576" bIns="18288" anchor="t">
            <a:spAutoFit/>
          </a:bodyPr>
          <a:lstStyle/>
          <a:p>
            <a:pPr>
              <a:lnSpc>
                <a:spcPct val="118000"/>
              </a:lnSpc>
              <a:spcBef>
                <a:spcPts val="0"/>
              </a:spcBef>
              <a:spcAft>
                <a:spcPts val="0"/>
              </a:spcAft>
            </a:pPr>
            <a:r>
              <a:rPr sz="925" b="0" i="0">
                <a:solidFill>
                  <a:srgbClr val="475569"/>
                </a:solidFill>
                <a:latin typeface="Calibri"/>
              </a:rPr>
              <a:t>Estimated manual effort</a:t>
            </a:r>
          </a:p>
        </p:txBody>
      </p:sp>
      <p:sp>
        <p:nvSpPr>
          <p:cNvPr id="15" name="Rounded Rectangle 14"/>
          <p:cNvSpPr/>
          <p:nvPr/>
        </p:nvSpPr>
        <p:spPr>
          <a:xfrm>
            <a:off x="3291840" y="1810512"/>
            <a:ext cx="2734056" cy="84124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291840" y="1810512"/>
            <a:ext cx="91440" cy="8412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529584" y="1943303"/>
            <a:ext cx="2331720" cy="411075"/>
          </a:xfrm>
          <a:prstGeom prst="rect">
            <a:avLst/>
          </a:prstGeom>
          <a:noFill/>
        </p:spPr>
        <p:txBody>
          <a:bodyPr wrap="square" lIns="36576" tIns="18288" rIns="36576" bIns="18288" anchor="ctr">
            <a:spAutoFit/>
          </a:bodyPr>
          <a:lstStyle/>
          <a:p>
            <a:pPr>
              <a:lnSpc>
                <a:spcPct val="118000"/>
              </a:lnSpc>
              <a:spcBef>
                <a:spcPts val="0"/>
              </a:spcBef>
              <a:spcAft>
                <a:spcPts val="0"/>
              </a:spcAft>
            </a:pPr>
            <a:r>
              <a:rPr sz="2200" b="1" i="0">
                <a:solidFill>
                  <a:srgbClr val="152342"/>
                </a:solidFill>
                <a:latin typeface="Calibri Light"/>
              </a:rPr>
              <a:t>&lt; 30 min</a:t>
            </a:r>
          </a:p>
        </p:txBody>
      </p:sp>
      <p:sp>
        <p:nvSpPr>
          <p:cNvPr id="18" name="TextBox 17"/>
          <p:cNvSpPr txBox="1"/>
          <p:nvPr/>
        </p:nvSpPr>
        <p:spPr>
          <a:xfrm>
            <a:off x="3529584" y="2359152"/>
            <a:ext cx="2331720" cy="194284"/>
          </a:xfrm>
          <a:prstGeom prst="rect">
            <a:avLst/>
          </a:prstGeom>
          <a:noFill/>
        </p:spPr>
        <p:txBody>
          <a:bodyPr wrap="square" lIns="36576" tIns="18288" rIns="36576" bIns="18288" anchor="t">
            <a:spAutoFit/>
          </a:bodyPr>
          <a:lstStyle/>
          <a:p>
            <a:pPr>
              <a:lnSpc>
                <a:spcPct val="118000"/>
              </a:lnSpc>
              <a:spcBef>
                <a:spcPts val="0"/>
              </a:spcBef>
              <a:spcAft>
                <a:spcPts val="0"/>
              </a:spcAft>
            </a:pPr>
            <a:r>
              <a:rPr sz="925" b="0" i="0">
                <a:solidFill>
                  <a:srgbClr val="475569"/>
                </a:solidFill>
                <a:latin typeface="Calibri"/>
              </a:rPr>
              <a:t>Completed with AI</a:t>
            </a:r>
          </a:p>
        </p:txBody>
      </p:sp>
      <p:sp>
        <p:nvSpPr>
          <p:cNvPr id="19" name="Rounded Rectangle 18"/>
          <p:cNvSpPr/>
          <p:nvPr/>
        </p:nvSpPr>
        <p:spPr>
          <a:xfrm>
            <a:off x="6172200" y="1810512"/>
            <a:ext cx="2734056" cy="84124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72200" y="1810512"/>
            <a:ext cx="91440" cy="84124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9944" y="1943303"/>
            <a:ext cx="2331720" cy="411075"/>
          </a:xfrm>
          <a:prstGeom prst="rect">
            <a:avLst/>
          </a:prstGeom>
          <a:noFill/>
        </p:spPr>
        <p:txBody>
          <a:bodyPr wrap="square" lIns="36576" tIns="18288" rIns="36576" bIns="18288" anchor="ctr">
            <a:spAutoFit/>
          </a:bodyPr>
          <a:lstStyle/>
          <a:p>
            <a:pPr>
              <a:lnSpc>
                <a:spcPct val="118000"/>
              </a:lnSpc>
              <a:spcBef>
                <a:spcPts val="0"/>
              </a:spcBef>
              <a:spcAft>
                <a:spcPts val="0"/>
              </a:spcAft>
            </a:pPr>
            <a:r>
              <a:rPr sz="2200" b="1" i="0">
                <a:solidFill>
                  <a:srgbClr val="152342"/>
                </a:solidFill>
                <a:latin typeface="Calibri Light"/>
              </a:rPr>
              <a:t>1,100+</a:t>
            </a:r>
          </a:p>
        </p:txBody>
      </p:sp>
      <p:sp>
        <p:nvSpPr>
          <p:cNvPr id="22" name="TextBox 21"/>
          <p:cNvSpPr txBox="1"/>
          <p:nvPr/>
        </p:nvSpPr>
        <p:spPr>
          <a:xfrm>
            <a:off x="6409944" y="2359152"/>
            <a:ext cx="2331720" cy="194284"/>
          </a:xfrm>
          <a:prstGeom prst="rect">
            <a:avLst/>
          </a:prstGeom>
          <a:noFill/>
        </p:spPr>
        <p:txBody>
          <a:bodyPr wrap="square" lIns="36576" tIns="18288" rIns="36576" bIns="18288" anchor="t">
            <a:spAutoFit/>
          </a:bodyPr>
          <a:lstStyle/>
          <a:p>
            <a:pPr>
              <a:lnSpc>
                <a:spcPct val="118000"/>
              </a:lnSpc>
              <a:spcBef>
                <a:spcPts val="0"/>
              </a:spcBef>
              <a:spcAft>
                <a:spcPts val="0"/>
              </a:spcAft>
            </a:pPr>
            <a:r>
              <a:rPr sz="925" b="0" i="0">
                <a:solidFill>
                  <a:srgbClr val="475569"/>
                </a:solidFill>
                <a:latin typeface="Calibri"/>
              </a:rPr>
              <a:t>Columns audited</a:t>
            </a:r>
          </a:p>
        </p:txBody>
      </p:sp>
      <p:sp>
        <p:nvSpPr>
          <p:cNvPr id="23" name="Rounded Rectangle 22"/>
          <p:cNvSpPr/>
          <p:nvPr/>
        </p:nvSpPr>
        <p:spPr>
          <a:xfrm>
            <a:off x="9043416" y="1810512"/>
            <a:ext cx="2734056" cy="84124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043416" y="1810512"/>
            <a:ext cx="91440" cy="84124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281160" y="1943303"/>
            <a:ext cx="2331720" cy="411075"/>
          </a:xfrm>
          <a:prstGeom prst="rect">
            <a:avLst/>
          </a:prstGeom>
          <a:noFill/>
        </p:spPr>
        <p:txBody>
          <a:bodyPr wrap="square" lIns="36576" tIns="18288" rIns="36576" bIns="18288" anchor="ctr">
            <a:spAutoFit/>
          </a:bodyPr>
          <a:lstStyle/>
          <a:p>
            <a:pPr>
              <a:lnSpc>
                <a:spcPct val="118000"/>
              </a:lnSpc>
              <a:spcBef>
                <a:spcPts val="0"/>
              </a:spcBef>
              <a:spcAft>
                <a:spcPts val="0"/>
              </a:spcAft>
            </a:pPr>
            <a:r>
              <a:rPr sz="2200" b="1" i="0">
                <a:solidFill>
                  <a:srgbClr val="152342"/>
                </a:solidFill>
                <a:latin typeface="Calibri Light"/>
              </a:rPr>
              <a:t>3</a:t>
            </a:r>
          </a:p>
        </p:txBody>
      </p:sp>
      <p:sp>
        <p:nvSpPr>
          <p:cNvPr id="26" name="TextBox 25"/>
          <p:cNvSpPr txBox="1"/>
          <p:nvPr/>
        </p:nvSpPr>
        <p:spPr>
          <a:xfrm>
            <a:off x="9281160" y="2359152"/>
            <a:ext cx="2331720" cy="194284"/>
          </a:xfrm>
          <a:prstGeom prst="rect">
            <a:avLst/>
          </a:prstGeom>
          <a:noFill/>
        </p:spPr>
        <p:txBody>
          <a:bodyPr wrap="square" lIns="36576" tIns="18288" rIns="36576" bIns="18288" anchor="t">
            <a:spAutoFit/>
          </a:bodyPr>
          <a:lstStyle/>
          <a:p>
            <a:pPr>
              <a:lnSpc>
                <a:spcPct val="118000"/>
              </a:lnSpc>
              <a:spcBef>
                <a:spcPts val="0"/>
              </a:spcBef>
              <a:spcAft>
                <a:spcPts val="0"/>
              </a:spcAft>
            </a:pPr>
            <a:r>
              <a:rPr sz="925" b="0" i="0">
                <a:solidFill>
                  <a:srgbClr val="475569"/>
                </a:solidFill>
                <a:latin typeface="Calibri"/>
              </a:rPr>
              <a:t>Data-quality issues found</a:t>
            </a:r>
          </a:p>
        </p:txBody>
      </p:sp>
      <p:sp>
        <p:nvSpPr>
          <p:cNvPr id="27" name="TextBox 26"/>
          <p:cNvSpPr txBox="1"/>
          <p:nvPr/>
        </p:nvSpPr>
        <p:spPr>
          <a:xfrm>
            <a:off x="411480" y="2779776"/>
            <a:ext cx="5559552" cy="219456"/>
          </a:xfrm>
          <a:prstGeom prst="rect">
            <a:avLst/>
          </a:prstGeom>
          <a:noFill/>
        </p:spPr>
        <p:txBody>
          <a:bodyPr wrap="square" lIns="36576" tIns="18288" rIns="36576" bIns="18288" anchor="t">
            <a:spAutoFit/>
          </a:bodyPr>
          <a:lstStyle/>
          <a:p>
            <a:pPr>
              <a:lnSpc>
                <a:spcPct val="118000"/>
              </a:lnSpc>
              <a:spcBef>
                <a:spcPts val="0"/>
              </a:spcBef>
              <a:spcAft>
                <a:spcPts val="0"/>
              </a:spcAft>
              <a:defRPr sz="1100" b="1">
                <a:solidFill>
                  <a:srgbClr val="152342"/>
                </a:solidFill>
                <a:latin typeface="Calibri"/>
              </a:defRPr>
            </a:pPr>
            <a:r>
              <a:rPr sz="1100" b="1">
                <a:solidFill>
                  <a:srgbClr val="152342"/>
                </a:solidFill>
                <a:latin typeface="Calibri"/>
              </a:rPr>
              <a:t>THE CHALLENGE</a:t>
            </a:r>
          </a:p>
        </p:txBody>
      </p:sp>
      <p:sp>
        <p:nvSpPr>
          <p:cNvPr id="28" name="Rounded Rectangle 27"/>
          <p:cNvSpPr/>
          <p:nvPr/>
        </p:nvSpPr>
        <p:spPr>
          <a:xfrm>
            <a:off x="411480" y="3035808"/>
            <a:ext cx="5559552" cy="138988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11480" y="3035808"/>
            <a:ext cx="91440" cy="138988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9224" y="3163824"/>
            <a:ext cx="5157216" cy="408445"/>
          </a:xfrm>
          <a:prstGeom prst="rect">
            <a:avLst/>
          </a:prstGeom>
          <a:noFill/>
        </p:spPr>
        <p:txBody>
          <a:bodyPr wrap="square" lIns="36576" tIns="18288" rIns="36576" bIns="18288" anchor="t">
            <a:spAutoFit/>
          </a:bodyPr>
          <a:lstStyle/>
          <a:p>
            <a:pPr algn="l">
              <a:lnSpc>
                <a:spcPct val="122000"/>
              </a:lnSpc>
              <a:spcBef>
                <a:spcPts val="0"/>
              </a:spcBef>
              <a:spcAft>
                <a:spcPts val="0"/>
              </a:spcAft>
            </a:pPr>
            <a:r>
              <a:rPr sz="1025" b="0" i="0">
                <a:latin typeface="Calibri"/>
              </a:rPr>
              <a:t>Legal requested an assessment of personal data within the STAQ ad data source — 6 schemas, 70+ tables, 1,100+ columns spanning multiple 3P vendor integrations.</a:t>
            </a:r>
          </a:p>
        </p:txBody>
      </p:sp>
      <p:sp>
        <p:nvSpPr>
          <p:cNvPr id="31" name="TextBox 30"/>
          <p:cNvSpPr txBox="1"/>
          <p:nvPr/>
        </p:nvSpPr>
        <p:spPr>
          <a:xfrm>
            <a:off x="649224" y="3749039"/>
            <a:ext cx="5157216" cy="658368"/>
          </a:xfrm>
          <a:prstGeom prst="rect">
            <a:avLst/>
          </a:prstGeom>
          <a:noFill/>
        </p:spPr>
        <p:txBody>
          <a:bodyPr wrap="square" lIns="36576" tIns="18288" rIns="36576" bIns="18288" anchor="t">
            <a:spAutoFit/>
          </a:bodyPr>
          <a:lstStyle/>
          <a:p>
            <a:pPr algn="l">
              <a:lnSpc>
                <a:spcPct val="122000"/>
              </a:lnSpc>
              <a:spcBef>
                <a:spcPts val="0"/>
              </a:spcBef>
              <a:spcAft>
                <a:spcPts val="0"/>
              </a:spcAft>
            </a:pPr>
            <a:r>
              <a:rPr sz="1025" b="0" i="0">
                <a:solidFill>
                  <a:srgbClr val="334155"/>
                </a:solidFill>
                <a:latin typeface="Calibri"/>
              </a:rPr>
              <a:t>Traditionally, a steward inspects Alation, cross-references Confluence, and meets with the business — typically multiple days and meetings.</a:t>
            </a:r>
          </a:p>
        </p:txBody>
      </p:sp>
      <p:sp>
        <p:nvSpPr>
          <p:cNvPr id="32" name="TextBox 31"/>
          <p:cNvSpPr txBox="1"/>
          <p:nvPr/>
        </p:nvSpPr>
        <p:spPr>
          <a:xfrm>
            <a:off x="6227064" y="2779776"/>
            <a:ext cx="5559552" cy="219456"/>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950" b="1" i="0">
                <a:solidFill>
                  <a:srgbClr val="152342"/>
                </a:solidFill>
                <a:latin typeface="Calibri"/>
              </a:rPr>
              <a:t>AI-ASSISTED WORKFLOW</a:t>
            </a:r>
          </a:p>
        </p:txBody>
      </p:sp>
      <p:sp>
        <p:nvSpPr>
          <p:cNvPr id="33" name="Rounded Rectangle 32"/>
          <p:cNvSpPr/>
          <p:nvPr/>
        </p:nvSpPr>
        <p:spPr>
          <a:xfrm>
            <a:off x="6227064" y="3035808"/>
            <a:ext cx="5559552" cy="138988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34" name="Oval 33"/>
          <p:cNvSpPr/>
          <p:nvPr/>
        </p:nvSpPr>
        <p:spPr>
          <a:xfrm>
            <a:off x="6391656" y="3145536"/>
            <a:ext cx="256032" cy="256032"/>
          </a:xfrm>
          <a:prstGeom prst="ellipse">
            <a:avLst/>
          </a:prstGeom>
          <a:solidFill>
            <a:srgbClr val="152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35" name="TextBox 34"/>
          <p:cNvSpPr txBox="1"/>
          <p:nvPr/>
        </p:nvSpPr>
        <p:spPr>
          <a:xfrm>
            <a:off x="6391656" y="3145536"/>
            <a:ext cx="256032" cy="256032"/>
          </a:xfrm>
          <a:prstGeom prst="rect">
            <a:avLst/>
          </a:prstGeom>
          <a:noFill/>
        </p:spPr>
        <p:txBody>
          <a:bodyPr wrap="square" lIns="36576" tIns="18288" rIns="36576" bIns="18288" anchor="ctr">
            <a:spAutoFit/>
          </a:bodyPr>
          <a:lstStyle/>
          <a:p>
            <a:pPr algn="ctr">
              <a:lnSpc>
                <a:spcPct val="118000"/>
              </a:lnSpc>
              <a:spcBef>
                <a:spcPts val="0"/>
              </a:spcBef>
              <a:spcAft>
                <a:spcPts val="0"/>
              </a:spcAft>
            </a:pPr>
            <a:r>
              <a:rPr sz="1000" b="1" i="0">
                <a:solidFill>
                  <a:srgbClr val="FFFFFF"/>
                </a:solidFill>
                <a:latin typeface="Calibri"/>
              </a:rPr>
              <a:t>1</a:t>
            </a:r>
          </a:p>
        </p:txBody>
      </p:sp>
      <p:sp>
        <p:nvSpPr>
          <p:cNvPr id="36" name="TextBox 35"/>
          <p:cNvSpPr txBox="1"/>
          <p:nvPr/>
        </p:nvSpPr>
        <p:spPr>
          <a:xfrm>
            <a:off x="6739128" y="3127248"/>
            <a:ext cx="4828032" cy="201168"/>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1000" b="1" i="0">
                <a:solidFill>
                  <a:srgbClr val="152342"/>
                </a:solidFill>
                <a:latin typeface="Calibri"/>
              </a:rPr>
              <a:t>Automated Catalog Scan</a:t>
            </a:r>
          </a:p>
        </p:txBody>
      </p:sp>
      <p:sp>
        <p:nvSpPr>
          <p:cNvPr id="37" name="TextBox 36"/>
          <p:cNvSpPr txBox="1"/>
          <p:nvPr/>
        </p:nvSpPr>
        <p:spPr>
          <a:xfrm>
            <a:off x="6739128" y="3310128"/>
            <a:ext cx="4828032" cy="201168"/>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1000" b="0" i="0">
                <a:solidFill>
                  <a:srgbClr val="334155"/>
                </a:solidFill>
                <a:latin typeface="Calibri"/>
              </a:rPr>
              <a:t>Queried all schemas, tables, columns via Alation MCP. Checked every column for PII tags.</a:t>
            </a:r>
          </a:p>
        </p:txBody>
      </p:sp>
      <p:sp>
        <p:nvSpPr>
          <p:cNvPr id="38" name="Oval 37"/>
          <p:cNvSpPr/>
          <p:nvPr/>
        </p:nvSpPr>
        <p:spPr>
          <a:xfrm>
            <a:off x="6391656" y="3456432"/>
            <a:ext cx="256032" cy="256032"/>
          </a:xfrm>
          <a:prstGeom prst="ellipse">
            <a:avLst/>
          </a:prstGeom>
          <a:solidFill>
            <a:srgbClr val="152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39" name="TextBox 38"/>
          <p:cNvSpPr txBox="1"/>
          <p:nvPr/>
        </p:nvSpPr>
        <p:spPr>
          <a:xfrm>
            <a:off x="6391656" y="3456432"/>
            <a:ext cx="256032" cy="256032"/>
          </a:xfrm>
          <a:prstGeom prst="rect">
            <a:avLst/>
          </a:prstGeom>
          <a:noFill/>
        </p:spPr>
        <p:txBody>
          <a:bodyPr wrap="square" lIns="36576" tIns="18288" rIns="36576" bIns="18288" anchor="ctr">
            <a:spAutoFit/>
          </a:bodyPr>
          <a:lstStyle/>
          <a:p>
            <a:pPr algn="ctr">
              <a:lnSpc>
                <a:spcPct val="118000"/>
              </a:lnSpc>
              <a:spcBef>
                <a:spcPts val="0"/>
              </a:spcBef>
              <a:spcAft>
                <a:spcPts val="0"/>
              </a:spcAft>
            </a:pPr>
            <a:r>
              <a:rPr sz="1000" b="1" i="0">
                <a:solidFill>
                  <a:srgbClr val="FFFFFF"/>
                </a:solidFill>
                <a:latin typeface="Calibri"/>
              </a:rPr>
              <a:t>2</a:t>
            </a:r>
          </a:p>
        </p:txBody>
      </p:sp>
      <p:sp>
        <p:nvSpPr>
          <p:cNvPr id="40" name="TextBox 39"/>
          <p:cNvSpPr txBox="1"/>
          <p:nvPr/>
        </p:nvSpPr>
        <p:spPr>
          <a:xfrm>
            <a:off x="6739128" y="3438144"/>
            <a:ext cx="4828032" cy="201168"/>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1000" b="1" i="0">
                <a:solidFill>
                  <a:srgbClr val="152342"/>
                </a:solidFill>
                <a:latin typeface="Calibri"/>
              </a:rPr>
              <a:t>Confluence Cross-Reference</a:t>
            </a:r>
          </a:p>
        </p:txBody>
      </p:sp>
      <p:sp>
        <p:nvSpPr>
          <p:cNvPr id="41" name="TextBox 40"/>
          <p:cNvSpPr txBox="1"/>
          <p:nvPr/>
        </p:nvSpPr>
        <p:spPr>
          <a:xfrm>
            <a:off x="6739128" y="3621024"/>
            <a:ext cx="4828032" cy="201168"/>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1000" b="0" i="0">
                <a:solidFill>
                  <a:srgbClr val="334155"/>
                </a:solidFill>
                <a:latin typeface="Calibri"/>
              </a:rPr>
              <a:t>Retrieved DEEPT | STAQ docs and 25 child pages to validate against business context.</a:t>
            </a:r>
          </a:p>
        </p:txBody>
      </p:sp>
      <p:sp>
        <p:nvSpPr>
          <p:cNvPr id="42" name="Oval 41"/>
          <p:cNvSpPr/>
          <p:nvPr/>
        </p:nvSpPr>
        <p:spPr>
          <a:xfrm>
            <a:off x="6391656" y="3767328"/>
            <a:ext cx="256032" cy="256032"/>
          </a:xfrm>
          <a:prstGeom prst="ellipse">
            <a:avLst/>
          </a:prstGeom>
          <a:solidFill>
            <a:srgbClr val="152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4" name="TextBox 3"/>
          <p:cNvSpPr txBox="1"/>
          <p:nvPr/>
        </p:nvSpPr>
        <p:spPr>
          <a:xfrm>
            <a:off x="6391656" y="3767328"/>
            <a:ext cx="256032" cy="256032"/>
          </a:xfrm>
          <a:prstGeom prst="rect">
            <a:avLst/>
          </a:prstGeom>
          <a:noFill/>
        </p:spPr>
        <p:txBody>
          <a:bodyPr wrap="square" lIns="36576" tIns="18288" rIns="36576" bIns="18288" anchor="ctr">
            <a:spAutoFit/>
          </a:bodyPr>
          <a:lstStyle/>
          <a:p>
            <a:pPr algn="ctr">
              <a:lnSpc>
                <a:spcPct val="118000"/>
              </a:lnSpc>
              <a:spcBef>
                <a:spcPts val="0"/>
              </a:spcBef>
              <a:spcAft>
                <a:spcPts val="0"/>
              </a:spcAft>
            </a:pPr>
            <a:r>
              <a:rPr sz="1000" b="1" i="0">
                <a:solidFill>
                  <a:srgbClr val="FFFFFF"/>
                </a:solidFill>
                <a:latin typeface="Calibri"/>
              </a:rPr>
              <a:t>3</a:t>
            </a:r>
          </a:p>
        </p:txBody>
      </p:sp>
      <p:sp>
        <p:nvSpPr>
          <p:cNvPr id="6" name="TextBox 5"/>
          <p:cNvSpPr txBox="1"/>
          <p:nvPr/>
        </p:nvSpPr>
        <p:spPr>
          <a:xfrm>
            <a:off x="6739128" y="3749039"/>
            <a:ext cx="4828032" cy="201168"/>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1000" b="1" i="0">
                <a:solidFill>
                  <a:srgbClr val="152342"/>
                </a:solidFill>
                <a:latin typeface="Calibri"/>
              </a:rPr>
              <a:t>Business Validation</a:t>
            </a:r>
          </a:p>
        </p:txBody>
      </p:sp>
      <p:sp>
        <p:nvSpPr>
          <p:cNvPr id="45" name="TextBox 44"/>
          <p:cNvSpPr txBox="1"/>
          <p:nvPr/>
        </p:nvSpPr>
        <p:spPr>
          <a:xfrm>
            <a:off x="6739128" y="3931920"/>
            <a:ext cx="4828032" cy="201168"/>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1000" b="0" i="0">
                <a:solidFill>
                  <a:srgbClr val="334155"/>
                </a:solidFill>
                <a:latin typeface="Calibri"/>
              </a:rPr>
              <a:t>Compared vendor list with SME — 2 removals and 4 additions identified.</a:t>
            </a:r>
          </a:p>
        </p:txBody>
      </p:sp>
      <p:sp>
        <p:nvSpPr>
          <p:cNvPr id="46" name="Oval 45"/>
          <p:cNvSpPr/>
          <p:nvPr/>
        </p:nvSpPr>
        <p:spPr>
          <a:xfrm>
            <a:off x="6391656" y="4078224"/>
            <a:ext cx="256032" cy="256032"/>
          </a:xfrm>
          <a:prstGeom prst="ellipse">
            <a:avLst/>
          </a:prstGeom>
          <a:solidFill>
            <a:srgbClr val="152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47" name="TextBox 46"/>
          <p:cNvSpPr txBox="1"/>
          <p:nvPr/>
        </p:nvSpPr>
        <p:spPr>
          <a:xfrm>
            <a:off x="6391656" y="4078224"/>
            <a:ext cx="256032" cy="256032"/>
          </a:xfrm>
          <a:prstGeom prst="rect">
            <a:avLst/>
          </a:prstGeom>
          <a:noFill/>
        </p:spPr>
        <p:txBody>
          <a:bodyPr wrap="square" lIns="36576" tIns="18288" rIns="36576" bIns="18288" anchor="ctr">
            <a:spAutoFit/>
          </a:bodyPr>
          <a:lstStyle/>
          <a:p>
            <a:pPr algn="ctr">
              <a:lnSpc>
                <a:spcPct val="118000"/>
              </a:lnSpc>
              <a:spcBef>
                <a:spcPts val="0"/>
              </a:spcBef>
              <a:spcAft>
                <a:spcPts val="0"/>
              </a:spcAft>
            </a:pPr>
            <a:r>
              <a:rPr sz="1000" b="1" i="0">
                <a:solidFill>
                  <a:srgbClr val="FFFFFF"/>
                </a:solidFill>
                <a:latin typeface="Calibri"/>
              </a:rPr>
              <a:t>4</a:t>
            </a:r>
          </a:p>
        </p:txBody>
      </p:sp>
      <p:sp>
        <p:nvSpPr>
          <p:cNvPr id="48" name="TextBox 47"/>
          <p:cNvSpPr txBox="1"/>
          <p:nvPr/>
        </p:nvSpPr>
        <p:spPr>
          <a:xfrm>
            <a:off x="6739128" y="4059936"/>
            <a:ext cx="4828032" cy="201168"/>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1000" b="1" i="0">
                <a:solidFill>
                  <a:srgbClr val="152342"/>
                </a:solidFill>
                <a:latin typeface="Calibri"/>
              </a:rPr>
              <a:t>Remediation Plan</a:t>
            </a:r>
          </a:p>
        </p:txBody>
      </p:sp>
      <p:sp>
        <p:nvSpPr>
          <p:cNvPr id="49" name="TextBox 48"/>
          <p:cNvSpPr txBox="1"/>
          <p:nvPr/>
        </p:nvSpPr>
        <p:spPr>
          <a:xfrm>
            <a:off x="6739128" y="4242816"/>
            <a:ext cx="4828032" cy="201168"/>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1000" b="0" i="0">
                <a:solidFill>
                  <a:srgbClr val="334155"/>
                </a:solidFill>
                <a:latin typeface="Calibri"/>
              </a:rPr>
              <a:t>Drafted executable Alation API change plan with open questions for approval.</a:t>
            </a:r>
          </a:p>
        </p:txBody>
      </p:sp>
      <p:sp>
        <p:nvSpPr>
          <p:cNvPr id="50" name="TextBox 49"/>
          <p:cNvSpPr txBox="1"/>
          <p:nvPr/>
        </p:nvSpPr>
        <p:spPr>
          <a:xfrm>
            <a:off x="411480" y="4517136"/>
            <a:ext cx="11365992" cy="219456"/>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1100" b="1" i="0">
                <a:solidFill>
                  <a:srgbClr val="152342"/>
                </a:solidFill>
                <a:latin typeface="Calibri"/>
              </a:rPr>
              <a:t>KEY FINDINGS</a:t>
            </a:r>
          </a:p>
        </p:txBody>
      </p:sp>
      <p:sp>
        <p:nvSpPr>
          <p:cNvPr id="51" name="Rounded Rectangle 50"/>
          <p:cNvSpPr/>
          <p:nvPr/>
        </p:nvSpPr>
        <p:spPr>
          <a:xfrm>
            <a:off x="411480" y="4773168"/>
            <a:ext cx="5559552" cy="713232"/>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411480" y="4773168"/>
            <a:ext cx="91440" cy="7132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49224" y="4846320"/>
            <a:ext cx="5157216" cy="256032"/>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1050" b="1" i="0">
                <a:solidFill>
                  <a:srgbClr val="152342"/>
                </a:solidFill>
                <a:latin typeface="Calibri"/>
              </a:rPr>
              <a:t>No personal data elements found</a:t>
            </a:r>
          </a:p>
        </p:txBody>
      </p:sp>
      <p:sp>
        <p:nvSpPr>
          <p:cNvPr id="54" name="TextBox 53"/>
          <p:cNvSpPr txBox="1"/>
          <p:nvPr/>
        </p:nvSpPr>
        <p:spPr>
          <a:xfrm>
            <a:off x="649224" y="5074920"/>
            <a:ext cx="5157216" cy="310896"/>
          </a:xfrm>
          <a:prstGeom prst="rect">
            <a:avLst/>
          </a:prstGeom>
          <a:noFill/>
        </p:spPr>
        <p:txBody>
          <a:bodyPr wrap="square" lIns="36576" tIns="18288" rIns="36576" bIns="18288" anchor="t">
            <a:spAutoFit/>
          </a:bodyPr>
          <a:lstStyle/>
          <a:p>
            <a:pPr algn="l">
              <a:lnSpc>
                <a:spcPct val="120000"/>
              </a:lnSpc>
              <a:spcBef>
                <a:spcPts val="0"/>
              </a:spcBef>
              <a:spcAft>
                <a:spcPts val="0"/>
              </a:spcAft>
            </a:pPr>
            <a:r>
              <a:rPr sz="1050" b="0" i="0">
                <a:solidFill>
                  <a:srgbClr val="334155"/>
                </a:solidFill>
                <a:latin typeface="Calibri"/>
              </a:rPr>
              <a:t>Zero columns tagged PII across 1,100+ columns. STAQ holds aggregate 3P ad campaign metrics — not consumer personal data.</a:t>
            </a:r>
          </a:p>
        </p:txBody>
      </p:sp>
      <p:sp>
        <p:nvSpPr>
          <p:cNvPr id="55" name="Rounded Rectangle 54"/>
          <p:cNvSpPr/>
          <p:nvPr/>
        </p:nvSpPr>
        <p:spPr>
          <a:xfrm>
            <a:off x="6227064" y="4773168"/>
            <a:ext cx="5559552" cy="713232"/>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6227064" y="4773168"/>
            <a:ext cx="91440" cy="71323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464808" y="4846320"/>
            <a:ext cx="5157216" cy="256032"/>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1050" b="1" i="0">
                <a:solidFill>
                  <a:srgbClr val="152342"/>
                </a:solidFill>
                <a:latin typeface="Calibri"/>
              </a:rPr>
              <a:t>Data quality variances identified</a:t>
            </a:r>
          </a:p>
        </p:txBody>
      </p:sp>
      <p:sp>
        <p:nvSpPr>
          <p:cNvPr id="58" name="TextBox 57"/>
          <p:cNvSpPr txBox="1"/>
          <p:nvPr/>
        </p:nvSpPr>
        <p:spPr>
          <a:xfrm>
            <a:off x="6464808" y="5074920"/>
            <a:ext cx="5157216" cy="310896"/>
          </a:xfrm>
          <a:prstGeom prst="rect">
            <a:avLst/>
          </a:prstGeom>
          <a:noFill/>
        </p:spPr>
        <p:txBody>
          <a:bodyPr wrap="square" lIns="36576" tIns="18288" rIns="36576" bIns="18288" anchor="t">
            <a:spAutoFit/>
          </a:bodyPr>
          <a:lstStyle/>
          <a:p>
            <a:pPr algn="l">
              <a:lnSpc>
                <a:spcPct val="120000"/>
              </a:lnSpc>
              <a:spcBef>
                <a:spcPts val="0"/>
              </a:spcBef>
              <a:spcAft>
                <a:spcPts val="0"/>
              </a:spcAft>
            </a:pPr>
            <a:r>
              <a:rPr sz="1050" b="0" i="0">
                <a:solidFill>
                  <a:srgbClr val="334155"/>
                </a:solidFill>
                <a:latin typeface="Calibri"/>
              </a:rPr>
              <a:t>Vendor list out of date — 2 inactive (MOAT, Adform), 4 missing (DSPs, SSPs, Taboola, Connatix). Remediation drafted.</a:t>
            </a:r>
          </a:p>
        </p:txBody>
      </p:sp>
      <p:sp>
        <p:nvSpPr>
          <p:cNvPr id="59" name="TextBox 58"/>
          <p:cNvSpPr txBox="1"/>
          <p:nvPr/>
        </p:nvSpPr>
        <p:spPr>
          <a:xfrm>
            <a:off x="411480" y="5577840"/>
            <a:ext cx="11365992" cy="201168"/>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1100" b="1" i="0">
                <a:solidFill>
                  <a:srgbClr val="152342"/>
                </a:solidFill>
                <a:latin typeface="Calibri"/>
              </a:rPr>
              <a:t>REUSABLE TEMPLATE — DATA COMPLIANCE ASSESSMENT</a:t>
            </a:r>
          </a:p>
        </p:txBody>
      </p:sp>
      <p:sp>
        <p:nvSpPr>
          <p:cNvPr id="60" name="Rounded Rectangle 59"/>
          <p:cNvSpPr/>
          <p:nvPr/>
        </p:nvSpPr>
        <p:spPr>
          <a:xfrm>
            <a:off x="411480" y="5815584"/>
            <a:ext cx="2734056" cy="56692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411480" y="5815584"/>
            <a:ext cx="2734056" cy="2560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39496" y="5843016"/>
            <a:ext cx="731520" cy="201168"/>
          </a:xfrm>
          <a:prstGeom prst="rect">
            <a:avLst/>
          </a:prstGeom>
          <a:noFill/>
        </p:spPr>
        <p:txBody>
          <a:bodyPr wrap="square" lIns="36576" tIns="18288" rIns="36576" bIns="18288" anchor="ctr">
            <a:spAutoFit/>
          </a:bodyPr>
          <a:lstStyle/>
          <a:p>
            <a:pPr algn="ctr">
              <a:lnSpc>
                <a:spcPct val="118000"/>
              </a:lnSpc>
              <a:spcBef>
                <a:spcPts val="0"/>
              </a:spcBef>
              <a:spcAft>
                <a:spcPts val="0"/>
              </a:spcAft>
            </a:pPr>
            <a:r>
              <a:rPr sz="1000" b="1" i="0">
                <a:solidFill>
                  <a:srgbClr val="FFFFFF"/>
                </a:solidFill>
                <a:latin typeface="Calibri"/>
              </a:rPr>
              <a:t>Step 1</a:t>
            </a:r>
          </a:p>
        </p:txBody>
      </p:sp>
      <p:sp>
        <p:nvSpPr>
          <p:cNvPr id="63" name="TextBox 62"/>
          <p:cNvSpPr txBox="1"/>
          <p:nvPr/>
        </p:nvSpPr>
        <p:spPr>
          <a:xfrm>
            <a:off x="1362456" y="5843016"/>
            <a:ext cx="1655064" cy="201168"/>
          </a:xfrm>
          <a:prstGeom prst="rect">
            <a:avLst/>
          </a:prstGeom>
          <a:noFill/>
        </p:spPr>
        <p:txBody>
          <a:bodyPr wrap="square" lIns="36576" tIns="18288" rIns="36576" bIns="18288" anchor="ctr">
            <a:spAutoFit/>
          </a:bodyPr>
          <a:lstStyle/>
          <a:p>
            <a:pPr algn="ctr">
              <a:lnSpc>
                <a:spcPct val="118000"/>
              </a:lnSpc>
              <a:spcBef>
                <a:spcPts val="0"/>
              </a:spcBef>
              <a:spcAft>
                <a:spcPts val="0"/>
              </a:spcAft>
            </a:pPr>
            <a:r>
              <a:rPr sz="1000" b="1" i="0">
                <a:solidFill>
                  <a:srgbClr val="FFFFFF"/>
                </a:solidFill>
                <a:latin typeface="Calibri"/>
              </a:rPr>
              <a:t>Scan</a:t>
            </a:r>
          </a:p>
        </p:txBody>
      </p:sp>
      <p:sp>
        <p:nvSpPr>
          <p:cNvPr id="64" name="TextBox 63"/>
          <p:cNvSpPr txBox="1"/>
          <p:nvPr/>
        </p:nvSpPr>
        <p:spPr>
          <a:xfrm>
            <a:off x="539496" y="6108192"/>
            <a:ext cx="2478024" cy="335861"/>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850" b="0" i="0">
                <a:solidFill>
                  <a:srgbClr val="334155"/>
                </a:solidFill>
                <a:latin typeface="Calibri"/>
              </a:rPr>
              <a:t>Query Alation MCP for all columns. Check PII / sensitivity custom fields.</a:t>
            </a:r>
          </a:p>
        </p:txBody>
      </p:sp>
      <p:sp>
        <p:nvSpPr>
          <p:cNvPr id="65" name="Rounded Rectangle 64"/>
          <p:cNvSpPr/>
          <p:nvPr/>
        </p:nvSpPr>
        <p:spPr>
          <a:xfrm>
            <a:off x="3291840" y="5815584"/>
            <a:ext cx="2734056" cy="56692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3291840" y="5815584"/>
            <a:ext cx="2734056" cy="2560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3419856" y="5843016"/>
            <a:ext cx="731520" cy="201168"/>
          </a:xfrm>
          <a:prstGeom prst="rect">
            <a:avLst/>
          </a:prstGeom>
          <a:noFill/>
        </p:spPr>
        <p:txBody>
          <a:bodyPr wrap="square" lIns="36576" tIns="18288" rIns="36576" bIns="18288" anchor="ctr">
            <a:spAutoFit/>
          </a:bodyPr>
          <a:lstStyle/>
          <a:p>
            <a:pPr algn="ctr">
              <a:lnSpc>
                <a:spcPct val="118000"/>
              </a:lnSpc>
              <a:spcBef>
                <a:spcPts val="0"/>
              </a:spcBef>
              <a:spcAft>
                <a:spcPts val="0"/>
              </a:spcAft>
            </a:pPr>
            <a:r>
              <a:rPr sz="1000" b="1" i="0">
                <a:solidFill>
                  <a:srgbClr val="FFFFFF"/>
                </a:solidFill>
                <a:latin typeface="Calibri"/>
              </a:rPr>
              <a:t>Step 2</a:t>
            </a:r>
          </a:p>
        </p:txBody>
      </p:sp>
      <p:sp>
        <p:nvSpPr>
          <p:cNvPr id="68" name="TextBox 67"/>
          <p:cNvSpPr txBox="1"/>
          <p:nvPr/>
        </p:nvSpPr>
        <p:spPr>
          <a:xfrm>
            <a:off x="4242816" y="5843016"/>
            <a:ext cx="1655064" cy="201168"/>
          </a:xfrm>
          <a:prstGeom prst="rect">
            <a:avLst/>
          </a:prstGeom>
          <a:noFill/>
        </p:spPr>
        <p:txBody>
          <a:bodyPr wrap="square" lIns="36576" tIns="18288" rIns="36576" bIns="18288" anchor="ctr">
            <a:spAutoFit/>
          </a:bodyPr>
          <a:lstStyle/>
          <a:p>
            <a:pPr algn="ctr">
              <a:lnSpc>
                <a:spcPct val="118000"/>
              </a:lnSpc>
              <a:spcBef>
                <a:spcPts val="0"/>
              </a:spcBef>
              <a:spcAft>
                <a:spcPts val="0"/>
              </a:spcAft>
            </a:pPr>
            <a:r>
              <a:rPr sz="1000" b="1" i="0">
                <a:solidFill>
                  <a:srgbClr val="FFFFFF"/>
                </a:solidFill>
                <a:latin typeface="Calibri"/>
              </a:rPr>
              <a:t>Validate</a:t>
            </a:r>
          </a:p>
        </p:txBody>
      </p:sp>
      <p:sp>
        <p:nvSpPr>
          <p:cNvPr id="69" name="TextBox 68"/>
          <p:cNvSpPr txBox="1"/>
          <p:nvPr/>
        </p:nvSpPr>
        <p:spPr>
          <a:xfrm>
            <a:off x="3419856" y="6108192"/>
            <a:ext cx="2478024" cy="335861"/>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850" b="0" i="0">
                <a:solidFill>
                  <a:srgbClr val="334155"/>
                </a:solidFill>
                <a:latin typeface="Calibri"/>
              </a:rPr>
              <a:t>Cross-reference Confluence to confirm whether flagged columns represent real PII.</a:t>
            </a:r>
          </a:p>
        </p:txBody>
      </p:sp>
      <p:sp>
        <p:nvSpPr>
          <p:cNvPr id="70" name="Rounded Rectangle 69"/>
          <p:cNvSpPr/>
          <p:nvPr/>
        </p:nvSpPr>
        <p:spPr>
          <a:xfrm>
            <a:off x="6172200" y="5815584"/>
            <a:ext cx="2734056" cy="56692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6172200" y="5815584"/>
            <a:ext cx="2734056" cy="25603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300216" y="5843016"/>
            <a:ext cx="731520" cy="201168"/>
          </a:xfrm>
          <a:prstGeom prst="rect">
            <a:avLst/>
          </a:prstGeom>
          <a:noFill/>
        </p:spPr>
        <p:txBody>
          <a:bodyPr wrap="square" lIns="36576" tIns="18288" rIns="36576" bIns="18288" anchor="ctr">
            <a:spAutoFit/>
          </a:bodyPr>
          <a:lstStyle/>
          <a:p>
            <a:pPr algn="ctr">
              <a:lnSpc>
                <a:spcPct val="118000"/>
              </a:lnSpc>
              <a:spcBef>
                <a:spcPts val="0"/>
              </a:spcBef>
              <a:spcAft>
                <a:spcPts val="0"/>
              </a:spcAft>
            </a:pPr>
            <a:r>
              <a:rPr sz="1000" b="1" i="0">
                <a:solidFill>
                  <a:srgbClr val="FFFFFF"/>
                </a:solidFill>
                <a:latin typeface="Calibri"/>
              </a:rPr>
              <a:t>Step 3</a:t>
            </a:r>
          </a:p>
        </p:txBody>
      </p:sp>
      <p:sp>
        <p:nvSpPr>
          <p:cNvPr id="73" name="TextBox 72"/>
          <p:cNvSpPr txBox="1"/>
          <p:nvPr/>
        </p:nvSpPr>
        <p:spPr>
          <a:xfrm>
            <a:off x="7123176" y="5843016"/>
            <a:ext cx="1655064" cy="201168"/>
          </a:xfrm>
          <a:prstGeom prst="rect">
            <a:avLst/>
          </a:prstGeom>
          <a:noFill/>
        </p:spPr>
        <p:txBody>
          <a:bodyPr wrap="square" lIns="36576" tIns="18288" rIns="36576" bIns="18288" anchor="ctr">
            <a:spAutoFit/>
          </a:bodyPr>
          <a:lstStyle/>
          <a:p>
            <a:pPr algn="ctr">
              <a:lnSpc>
                <a:spcPct val="118000"/>
              </a:lnSpc>
              <a:spcBef>
                <a:spcPts val="0"/>
              </a:spcBef>
              <a:spcAft>
                <a:spcPts val="0"/>
              </a:spcAft>
            </a:pPr>
            <a:r>
              <a:rPr sz="1000" b="1" i="0">
                <a:solidFill>
                  <a:srgbClr val="FFFFFF"/>
                </a:solidFill>
                <a:latin typeface="Calibri"/>
              </a:rPr>
              <a:t>Verify</a:t>
            </a:r>
          </a:p>
        </p:txBody>
      </p:sp>
      <p:sp>
        <p:nvSpPr>
          <p:cNvPr id="74" name="TextBox 73"/>
          <p:cNvSpPr txBox="1"/>
          <p:nvPr/>
        </p:nvSpPr>
        <p:spPr>
          <a:xfrm>
            <a:off x="6300216" y="6108192"/>
            <a:ext cx="2478024" cy="335861"/>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850" b="0" i="0">
                <a:solidFill>
                  <a:srgbClr val="334155"/>
                </a:solidFill>
                <a:latin typeface="Calibri"/>
              </a:rPr>
              <a:t>Engage business SME to validate findings and identify quality gaps.</a:t>
            </a:r>
          </a:p>
        </p:txBody>
      </p:sp>
      <p:sp>
        <p:nvSpPr>
          <p:cNvPr id="75" name="Rounded Rectangle 74"/>
          <p:cNvSpPr/>
          <p:nvPr/>
        </p:nvSpPr>
        <p:spPr>
          <a:xfrm>
            <a:off x="9043416" y="5815584"/>
            <a:ext cx="2734056" cy="56692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9043416" y="5815584"/>
            <a:ext cx="2734056" cy="25603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9180576" y="5843016"/>
            <a:ext cx="731520" cy="201168"/>
          </a:xfrm>
          <a:prstGeom prst="rect">
            <a:avLst/>
          </a:prstGeom>
          <a:noFill/>
        </p:spPr>
        <p:txBody>
          <a:bodyPr wrap="square" lIns="36576" tIns="18288" rIns="36576" bIns="18288" anchor="ctr">
            <a:spAutoFit/>
          </a:bodyPr>
          <a:lstStyle/>
          <a:p>
            <a:pPr algn="ctr">
              <a:lnSpc>
                <a:spcPct val="118000"/>
              </a:lnSpc>
              <a:spcBef>
                <a:spcPts val="0"/>
              </a:spcBef>
              <a:spcAft>
                <a:spcPts val="0"/>
              </a:spcAft>
            </a:pPr>
            <a:r>
              <a:rPr sz="1000" b="1" i="0">
                <a:solidFill>
                  <a:srgbClr val="FFFFFF"/>
                </a:solidFill>
                <a:latin typeface="Calibri"/>
              </a:rPr>
              <a:t>Step 4</a:t>
            </a:r>
          </a:p>
        </p:txBody>
      </p:sp>
      <p:sp>
        <p:nvSpPr>
          <p:cNvPr id="78" name="TextBox 77"/>
          <p:cNvSpPr txBox="1"/>
          <p:nvPr/>
        </p:nvSpPr>
        <p:spPr>
          <a:xfrm>
            <a:off x="10003536" y="5843016"/>
            <a:ext cx="1655064" cy="201168"/>
          </a:xfrm>
          <a:prstGeom prst="rect">
            <a:avLst/>
          </a:prstGeom>
          <a:noFill/>
        </p:spPr>
        <p:txBody>
          <a:bodyPr wrap="square" lIns="36576" tIns="18288" rIns="36576" bIns="18288" anchor="ctr">
            <a:spAutoFit/>
          </a:bodyPr>
          <a:lstStyle/>
          <a:p>
            <a:pPr algn="ctr">
              <a:lnSpc>
                <a:spcPct val="118000"/>
              </a:lnSpc>
              <a:spcBef>
                <a:spcPts val="0"/>
              </a:spcBef>
              <a:spcAft>
                <a:spcPts val="0"/>
              </a:spcAft>
            </a:pPr>
            <a:r>
              <a:rPr sz="1000" b="1" i="0">
                <a:solidFill>
                  <a:srgbClr val="FFFFFF"/>
                </a:solidFill>
                <a:latin typeface="Calibri"/>
              </a:rPr>
              <a:t>Remediate</a:t>
            </a:r>
          </a:p>
        </p:txBody>
      </p:sp>
      <p:sp>
        <p:nvSpPr>
          <p:cNvPr id="79" name="TextBox 78"/>
          <p:cNvSpPr txBox="1"/>
          <p:nvPr/>
        </p:nvSpPr>
        <p:spPr>
          <a:xfrm>
            <a:off x="9180576" y="6108192"/>
            <a:ext cx="2478024" cy="335861"/>
          </a:xfrm>
          <a:prstGeom prst="rect">
            <a:avLst/>
          </a:prstGeom>
          <a:noFill/>
        </p:spPr>
        <p:txBody>
          <a:bodyPr wrap="square" lIns="36576" tIns="18288" rIns="36576" bIns="18288" anchor="t">
            <a:spAutoFit/>
          </a:bodyPr>
          <a:lstStyle/>
          <a:p>
            <a:pPr algn="l">
              <a:lnSpc>
                <a:spcPct val="118000"/>
              </a:lnSpc>
              <a:spcBef>
                <a:spcPts val="0"/>
              </a:spcBef>
              <a:spcAft>
                <a:spcPts val="0"/>
              </a:spcAft>
            </a:pPr>
            <a:r>
              <a:rPr sz="850" b="0" i="0">
                <a:solidFill>
                  <a:srgbClr val="334155"/>
                </a:solidFill>
                <a:latin typeface="Calibri"/>
              </a:rPr>
              <a:t>Draft + execute Alation updates; create Jira ticket for tracking.</a:t>
            </a:r>
          </a:p>
        </p:txBody>
      </p:sp>
      <p:sp>
        <p:nvSpPr>
          <p:cNvPr id="7" name="TextBox 6">
            <a:extLst>
              <a:ext uri="{FF2B5EF4-FFF2-40B4-BE49-F238E27FC236}">
                <a16:creationId xmlns:a16="http://schemas.microsoft.com/office/drawing/2014/main" id="{32779F74-1CF9-21A8-0C7D-5E865EE144DD}"/>
              </a:ext>
            </a:extLst>
          </p:cNvPr>
          <p:cNvSpPr txBox="1"/>
          <p:nvPr/>
        </p:nvSpPr>
        <p:spPr>
          <a:xfrm>
            <a:off x="9546336" y="510831"/>
            <a:ext cx="2715768" cy="365760"/>
          </a:xfrm>
          <a:prstGeom prst="rect">
            <a:avLst/>
          </a:prstGeom>
          <a:solidFill>
            <a:schemeClr val="accent2">
              <a:lumMod val="20000"/>
              <a:lumOff val="80000"/>
            </a:schemeClr>
          </a:solidFill>
        </p:spPr>
        <p:txBody>
          <a:bodyPr wrap="square" rtlCol="0">
            <a:spAutoFit/>
          </a:bodyPr>
          <a:lstStyle/>
          <a:p>
            <a:pPr algn="ctr"/>
            <a:r>
              <a:rPr lang="en-US" sz="1000" b="1"/>
              <a:t>Deep Dive from AI-Enabled Use Cases with Alation and Cursor MCP slide </a:t>
            </a:r>
          </a:p>
        </p:txBody>
      </p:sp>
      <p:sp>
        <p:nvSpPr>
          <p:cNvPr id="8" name="Oval 7">
            <a:extLst>
              <a:ext uri="{FF2B5EF4-FFF2-40B4-BE49-F238E27FC236}">
                <a16:creationId xmlns:a16="http://schemas.microsoft.com/office/drawing/2014/main" id="{CA9A6B67-5A62-3026-F9E9-12C885A91C05}"/>
              </a:ext>
            </a:extLst>
          </p:cNvPr>
          <p:cNvSpPr/>
          <p:nvPr/>
        </p:nvSpPr>
        <p:spPr>
          <a:xfrm>
            <a:off x="11768328" y="786347"/>
            <a:ext cx="329184" cy="329184"/>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200" b="1">
                <a:solidFill>
                  <a:srgbClr val="FFFFFF"/>
                </a:solidFill>
                <a:latin typeface="Calibri"/>
              </a:defRPr>
            </a:pPr>
            <a:r>
              <a:rPr lang="en-US" sz="1400" b="1">
                <a:solidFill>
                  <a:srgbClr val="FFFFFF"/>
                </a:solidFill>
                <a:latin typeface="Calibri"/>
              </a:rPr>
              <a:t>4</a:t>
            </a:r>
            <a:endParaRPr sz="1400" b="1">
              <a:solidFill>
                <a:srgbClr val="FFFFFF"/>
              </a:solidFill>
              <a:latin typeface="Calibri"/>
            </a:endParaRPr>
          </a:p>
        </p:txBody>
      </p:sp>
    </p:spTree>
    <p:extLst>
      <p:ext uri="{BB962C8B-B14F-4D97-AF65-F5344CB8AC3E}">
        <p14:creationId xmlns:p14="http://schemas.microsoft.com/office/powerpoint/2010/main" val="30553197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C8DEC-413D-F4BB-2637-3F68A3E6AAE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B75BF00-4941-4FC8-C72A-0FF97F1836C4}"/>
              </a:ext>
            </a:extLst>
          </p:cNvPr>
          <p:cNvSpPr/>
          <p:nvPr/>
        </p:nvSpPr>
        <p:spPr>
          <a:xfrm>
            <a:off x="0" y="0"/>
            <a:ext cx="12191695" cy="502920"/>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F7D0B09-A5D7-9B6C-F9E7-DC9F58F65A2D}"/>
              </a:ext>
            </a:extLst>
          </p:cNvPr>
          <p:cNvSpPr txBox="1"/>
          <p:nvPr/>
        </p:nvSpPr>
        <p:spPr>
          <a:xfrm>
            <a:off x="457200" y="804672"/>
            <a:ext cx="11430000" cy="422873"/>
          </a:xfrm>
          <a:prstGeom prst="rect">
            <a:avLst/>
          </a:prstGeom>
          <a:noFill/>
        </p:spPr>
        <p:txBody>
          <a:bodyPr wrap="square" lIns="36576" tIns="18288" rIns="36576" bIns="18288" anchor="t">
            <a:spAutoFit/>
          </a:bodyPr>
          <a:lstStyle/>
          <a:p>
            <a:pPr algn="l">
              <a:lnSpc>
                <a:spcPct val="110000"/>
              </a:lnSpc>
              <a:spcBef>
                <a:spcPts val="0"/>
              </a:spcBef>
              <a:spcAft>
                <a:spcPts val="0"/>
              </a:spcAft>
            </a:pPr>
            <a:r>
              <a:rPr lang="en-US" sz="2400" b="1" i="0">
                <a:solidFill>
                  <a:srgbClr val="152342"/>
                </a:solidFill>
                <a:latin typeface="Calibri Light"/>
              </a:rPr>
              <a:t>Cursor–Alation MCP Use Case — Field-Class Definition Standardization</a:t>
            </a:r>
          </a:p>
        </p:txBody>
      </p:sp>
      <p:sp>
        <p:nvSpPr>
          <p:cNvPr id="43" name="Rectangle 42">
            <a:extLst>
              <a:ext uri="{FF2B5EF4-FFF2-40B4-BE49-F238E27FC236}">
                <a16:creationId xmlns:a16="http://schemas.microsoft.com/office/drawing/2014/main" id="{5F04F460-BB35-AD05-21F4-53931E239461}"/>
              </a:ext>
            </a:extLst>
          </p:cNvPr>
          <p:cNvSpPr/>
          <p:nvPr/>
        </p:nvSpPr>
        <p:spPr>
          <a:xfrm>
            <a:off x="0" y="6400800"/>
            <a:ext cx="12191695"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a:extLst>
              <a:ext uri="{FF2B5EF4-FFF2-40B4-BE49-F238E27FC236}">
                <a16:creationId xmlns:a16="http://schemas.microsoft.com/office/drawing/2014/main" id="{29455BA3-46A7-AE3A-4CA6-4464167B427D}"/>
              </a:ext>
            </a:extLst>
          </p:cNvPr>
          <p:cNvSpPr txBox="1"/>
          <p:nvPr/>
        </p:nvSpPr>
        <p:spPr>
          <a:xfrm>
            <a:off x="457200" y="6473952"/>
            <a:ext cx="11277295" cy="310896"/>
          </a:xfrm>
          <a:prstGeom prst="rect">
            <a:avLst/>
          </a:prstGeom>
          <a:noFill/>
        </p:spPr>
        <p:txBody>
          <a:bodyPr wrap="square" lIns="36576" tIns="18288" rIns="36576" bIns="18288" anchor="ctr">
            <a:spAutoFit/>
          </a:bodyPr>
          <a:lstStyle/>
          <a:p>
            <a:pPr algn="l">
              <a:lnSpc>
                <a:spcPct val="118000"/>
              </a:lnSpc>
              <a:spcBef>
                <a:spcPts val="0"/>
              </a:spcBef>
              <a:spcAft>
                <a:spcPts val="0"/>
              </a:spcAft>
            </a:pPr>
            <a:r>
              <a:rPr sz="1150" b="0" i="0">
                <a:solidFill>
                  <a:srgbClr val="64748B"/>
                </a:solidFill>
                <a:latin typeface="Calibri"/>
              </a:rPr>
              <a:t>DEET Data Governance  |  May 2026  |  Alation Data Catalog Overview</a:t>
            </a:r>
          </a:p>
        </p:txBody>
      </p:sp>
      <p:sp>
        <p:nvSpPr>
          <p:cNvPr id="7" name="TextBox 6"/>
          <p:cNvSpPr txBox="1"/>
          <p:nvPr/>
        </p:nvSpPr>
        <p:spPr>
          <a:xfrm>
            <a:off x="411480" y="1554480"/>
            <a:ext cx="11365992" cy="219456"/>
          </a:xfrm>
          <a:prstGeom prst="rect">
            <a:avLst/>
          </a:prstGeom>
          <a:noFill/>
        </p:spPr>
        <p:txBody>
          <a:bodyPr wrap="square" lIns="0" tIns="0" rIns="0" bIns="0" anchor="t">
            <a:spAutoFit/>
          </a:bodyPr>
          <a:lstStyle/>
          <a:p>
            <a:pPr algn="l">
              <a:defRPr sz="1100" b="1">
                <a:solidFill>
                  <a:srgbClr val="152342"/>
                </a:solidFill>
                <a:latin typeface="Calibri"/>
              </a:defRPr>
            </a:pPr>
            <a:r>
              <a:rPr sz="1100" b="1">
                <a:solidFill>
                  <a:srgbClr val="152342"/>
                </a:solidFill>
                <a:latin typeface="Calibri"/>
              </a:rPr>
              <a:t>BUSINESS IMPACT</a:t>
            </a:r>
          </a:p>
        </p:txBody>
      </p:sp>
      <p:sp>
        <p:nvSpPr>
          <p:cNvPr id="8" name="Rounded Rectangle 7"/>
          <p:cNvSpPr/>
          <p:nvPr/>
        </p:nvSpPr>
        <p:spPr>
          <a:xfrm>
            <a:off x="411480" y="1810512"/>
            <a:ext cx="2734056" cy="84124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11480" y="1810512"/>
            <a:ext cx="91440" cy="84124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 y="1956816"/>
            <a:ext cx="2331720" cy="338554"/>
          </a:xfrm>
          <a:prstGeom prst="rect">
            <a:avLst/>
          </a:prstGeom>
          <a:noFill/>
        </p:spPr>
        <p:txBody>
          <a:bodyPr wrap="square" lIns="0" tIns="0" rIns="0" bIns="0" anchor="t">
            <a:spAutoFit/>
          </a:bodyPr>
          <a:lstStyle/>
          <a:p>
            <a:pPr algn="l">
              <a:defRPr sz="2200" b="1">
                <a:solidFill>
                  <a:srgbClr val="152342"/>
                </a:solidFill>
                <a:latin typeface="Calibri Light"/>
              </a:defRPr>
            </a:pPr>
            <a:r>
              <a:rPr sz="2200" b="1">
                <a:solidFill>
                  <a:srgbClr val="152342"/>
                </a:solidFill>
                <a:latin typeface="Calibri Light"/>
              </a:rPr>
              <a:t>1000</a:t>
            </a:r>
            <a:r>
              <a:rPr lang="en-US" sz="2200" b="1">
                <a:solidFill>
                  <a:srgbClr val="152342"/>
                </a:solidFill>
                <a:latin typeface="Calibri Light"/>
              </a:rPr>
              <a:t>+</a:t>
            </a:r>
            <a:endParaRPr sz="2200" b="1">
              <a:solidFill>
                <a:srgbClr val="152342"/>
              </a:solidFill>
              <a:latin typeface="Calibri Light"/>
            </a:endParaRPr>
          </a:p>
        </p:txBody>
      </p:sp>
      <p:sp>
        <p:nvSpPr>
          <p:cNvPr id="11" name="TextBox 10"/>
          <p:cNvSpPr txBox="1"/>
          <p:nvPr/>
        </p:nvSpPr>
        <p:spPr>
          <a:xfrm>
            <a:off x="649224" y="2359152"/>
            <a:ext cx="2331720" cy="274320"/>
          </a:xfrm>
          <a:prstGeom prst="rect">
            <a:avLst/>
          </a:prstGeom>
          <a:noFill/>
        </p:spPr>
        <p:txBody>
          <a:bodyPr wrap="square" lIns="0" tIns="0" rIns="0" bIns="0" anchor="t">
            <a:spAutoFit/>
          </a:bodyPr>
          <a:lstStyle/>
          <a:p>
            <a:pPr algn="l">
              <a:defRPr sz="1000" b="0">
                <a:solidFill>
                  <a:srgbClr val="475569"/>
                </a:solidFill>
                <a:latin typeface="Calibri"/>
              </a:defRPr>
            </a:pPr>
            <a:r>
              <a:rPr sz="1000" b="0">
                <a:solidFill>
                  <a:srgbClr val="475569"/>
                </a:solidFill>
                <a:latin typeface="Calibri"/>
              </a:rPr>
              <a:t>Columns standardized</a:t>
            </a:r>
          </a:p>
        </p:txBody>
      </p:sp>
      <p:sp>
        <p:nvSpPr>
          <p:cNvPr id="12" name="Rounded Rectangle 11"/>
          <p:cNvSpPr/>
          <p:nvPr/>
        </p:nvSpPr>
        <p:spPr>
          <a:xfrm>
            <a:off x="3291840" y="1810512"/>
            <a:ext cx="2734056" cy="84124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291840" y="1810512"/>
            <a:ext cx="91440" cy="84124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29584" y="1956816"/>
            <a:ext cx="2331720" cy="384048"/>
          </a:xfrm>
          <a:prstGeom prst="rect">
            <a:avLst/>
          </a:prstGeom>
          <a:noFill/>
        </p:spPr>
        <p:txBody>
          <a:bodyPr wrap="square" lIns="0" tIns="0" rIns="0" bIns="0" anchor="t">
            <a:spAutoFit/>
          </a:bodyPr>
          <a:lstStyle/>
          <a:p>
            <a:pPr algn="l">
              <a:defRPr sz="2200" b="1">
                <a:solidFill>
                  <a:srgbClr val="152342"/>
                </a:solidFill>
                <a:latin typeface="Calibri Light"/>
              </a:defRPr>
            </a:pPr>
            <a:r>
              <a:rPr sz="2200" b="1">
                <a:solidFill>
                  <a:srgbClr val="152342"/>
                </a:solidFill>
                <a:latin typeface="Calibri Light"/>
              </a:rPr>
              <a:t>Source → BI</a:t>
            </a:r>
          </a:p>
        </p:txBody>
      </p:sp>
      <p:sp>
        <p:nvSpPr>
          <p:cNvPr id="15" name="TextBox 14"/>
          <p:cNvSpPr txBox="1"/>
          <p:nvPr/>
        </p:nvSpPr>
        <p:spPr>
          <a:xfrm>
            <a:off x="3529584" y="2359152"/>
            <a:ext cx="2331720" cy="153888"/>
          </a:xfrm>
          <a:prstGeom prst="rect">
            <a:avLst/>
          </a:prstGeom>
          <a:noFill/>
        </p:spPr>
        <p:txBody>
          <a:bodyPr wrap="square" lIns="0" tIns="0" rIns="0" bIns="0" anchor="t">
            <a:spAutoFit/>
          </a:bodyPr>
          <a:lstStyle/>
          <a:p>
            <a:pPr algn="l">
              <a:defRPr sz="1000" b="0">
                <a:solidFill>
                  <a:srgbClr val="475569"/>
                </a:solidFill>
                <a:latin typeface="Calibri"/>
              </a:defRPr>
            </a:pPr>
            <a:r>
              <a:rPr sz="1000" b="0">
                <a:solidFill>
                  <a:srgbClr val="475569"/>
                </a:solidFill>
                <a:latin typeface="Calibri"/>
              </a:rPr>
              <a:t>Inheritance </a:t>
            </a:r>
            <a:r>
              <a:rPr lang="en-US" sz="1000" b="0">
                <a:solidFill>
                  <a:srgbClr val="475569"/>
                </a:solidFill>
                <a:latin typeface="Calibri"/>
              </a:rPr>
              <a:t>path  (Definitions flow)</a:t>
            </a:r>
            <a:endParaRPr sz="1000" b="0">
              <a:solidFill>
                <a:srgbClr val="475569"/>
              </a:solidFill>
              <a:latin typeface="Calibri"/>
            </a:endParaRPr>
          </a:p>
        </p:txBody>
      </p:sp>
      <p:sp>
        <p:nvSpPr>
          <p:cNvPr id="16" name="Rounded Rectangle 15"/>
          <p:cNvSpPr/>
          <p:nvPr/>
        </p:nvSpPr>
        <p:spPr>
          <a:xfrm>
            <a:off x="6172200" y="1810512"/>
            <a:ext cx="2734056" cy="84124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172200" y="1810512"/>
            <a:ext cx="91440" cy="841248"/>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9944" y="1956816"/>
            <a:ext cx="2331720" cy="384048"/>
          </a:xfrm>
          <a:prstGeom prst="rect">
            <a:avLst/>
          </a:prstGeom>
          <a:noFill/>
        </p:spPr>
        <p:txBody>
          <a:bodyPr wrap="square" lIns="0" tIns="0" rIns="0" bIns="0" anchor="t">
            <a:spAutoFit/>
          </a:bodyPr>
          <a:lstStyle/>
          <a:p>
            <a:pPr algn="l">
              <a:defRPr sz="2200" b="1">
                <a:solidFill>
                  <a:srgbClr val="152342"/>
                </a:solidFill>
                <a:latin typeface="Calibri Light"/>
              </a:defRPr>
            </a:pPr>
            <a:r>
              <a:rPr sz="2200" b="1">
                <a:solidFill>
                  <a:srgbClr val="152342"/>
                </a:solidFill>
                <a:latin typeface="Calibri Light"/>
              </a:rPr>
              <a:t>Consistent</a:t>
            </a:r>
          </a:p>
        </p:txBody>
      </p:sp>
      <p:sp>
        <p:nvSpPr>
          <p:cNvPr id="19" name="TextBox 18"/>
          <p:cNvSpPr txBox="1"/>
          <p:nvPr/>
        </p:nvSpPr>
        <p:spPr>
          <a:xfrm>
            <a:off x="6409944" y="2359152"/>
            <a:ext cx="2331720" cy="274320"/>
          </a:xfrm>
          <a:prstGeom prst="rect">
            <a:avLst/>
          </a:prstGeom>
          <a:noFill/>
        </p:spPr>
        <p:txBody>
          <a:bodyPr wrap="square" lIns="0" tIns="0" rIns="0" bIns="0" anchor="t">
            <a:spAutoFit/>
          </a:bodyPr>
          <a:lstStyle/>
          <a:p>
            <a:pPr algn="l">
              <a:defRPr sz="1000" b="0">
                <a:solidFill>
                  <a:srgbClr val="475569"/>
                </a:solidFill>
                <a:latin typeface="Calibri"/>
              </a:defRPr>
            </a:pPr>
            <a:r>
              <a:rPr sz="1000" b="0">
                <a:solidFill>
                  <a:srgbClr val="475569"/>
                </a:solidFill>
                <a:latin typeface="Calibri"/>
              </a:rPr>
              <a:t>Definitions across domains</a:t>
            </a:r>
          </a:p>
        </p:txBody>
      </p:sp>
      <p:sp>
        <p:nvSpPr>
          <p:cNvPr id="20" name="Rounded Rectangle 19"/>
          <p:cNvSpPr/>
          <p:nvPr/>
        </p:nvSpPr>
        <p:spPr>
          <a:xfrm>
            <a:off x="9043416" y="1810512"/>
            <a:ext cx="2734056" cy="84124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043416" y="1810512"/>
            <a:ext cx="91440" cy="841248"/>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281160" y="1956816"/>
            <a:ext cx="2331720" cy="384048"/>
          </a:xfrm>
          <a:prstGeom prst="rect">
            <a:avLst/>
          </a:prstGeom>
          <a:noFill/>
        </p:spPr>
        <p:txBody>
          <a:bodyPr wrap="square" lIns="0" tIns="0" rIns="0" bIns="0" anchor="t">
            <a:spAutoFit/>
          </a:bodyPr>
          <a:lstStyle/>
          <a:p>
            <a:pPr algn="l">
              <a:defRPr sz="2200" b="1">
                <a:solidFill>
                  <a:srgbClr val="152342"/>
                </a:solidFill>
                <a:latin typeface="Calibri Light"/>
              </a:defRPr>
            </a:pPr>
            <a:r>
              <a:rPr sz="2200" b="1">
                <a:solidFill>
                  <a:srgbClr val="152342"/>
                </a:solidFill>
                <a:latin typeface="Calibri Light"/>
              </a:rPr>
              <a:t>Reusable</a:t>
            </a:r>
          </a:p>
        </p:txBody>
      </p:sp>
      <p:sp>
        <p:nvSpPr>
          <p:cNvPr id="23" name="TextBox 22"/>
          <p:cNvSpPr txBox="1"/>
          <p:nvPr/>
        </p:nvSpPr>
        <p:spPr>
          <a:xfrm>
            <a:off x="9281160" y="2359152"/>
            <a:ext cx="2331720" cy="274320"/>
          </a:xfrm>
          <a:prstGeom prst="rect">
            <a:avLst/>
          </a:prstGeom>
          <a:noFill/>
        </p:spPr>
        <p:txBody>
          <a:bodyPr wrap="square" lIns="0" tIns="0" rIns="0" bIns="0" anchor="t">
            <a:spAutoFit/>
          </a:bodyPr>
          <a:lstStyle/>
          <a:p>
            <a:pPr algn="l">
              <a:defRPr sz="1000" b="0">
                <a:solidFill>
                  <a:srgbClr val="475569"/>
                </a:solidFill>
                <a:latin typeface="Calibri"/>
              </a:defRPr>
            </a:pPr>
            <a:r>
              <a:rPr sz="1000" b="0">
                <a:solidFill>
                  <a:srgbClr val="475569"/>
                </a:solidFill>
                <a:latin typeface="Calibri"/>
              </a:rPr>
              <a:t>Across teams and tools</a:t>
            </a:r>
          </a:p>
        </p:txBody>
      </p:sp>
      <p:sp>
        <p:nvSpPr>
          <p:cNvPr id="24" name="TextBox 23"/>
          <p:cNvSpPr txBox="1"/>
          <p:nvPr/>
        </p:nvSpPr>
        <p:spPr>
          <a:xfrm>
            <a:off x="411480" y="2779776"/>
            <a:ext cx="5559552" cy="219456"/>
          </a:xfrm>
          <a:prstGeom prst="rect">
            <a:avLst/>
          </a:prstGeom>
          <a:noFill/>
        </p:spPr>
        <p:txBody>
          <a:bodyPr wrap="square" lIns="0" tIns="0" rIns="0" bIns="0" anchor="t">
            <a:spAutoFit/>
          </a:bodyPr>
          <a:lstStyle/>
          <a:p>
            <a:pPr algn="l">
              <a:defRPr sz="1100" b="1">
                <a:solidFill>
                  <a:srgbClr val="152342"/>
                </a:solidFill>
                <a:latin typeface="Calibri"/>
              </a:defRPr>
            </a:pPr>
            <a:r>
              <a:rPr sz="1100" b="1">
                <a:solidFill>
                  <a:srgbClr val="152342"/>
                </a:solidFill>
                <a:latin typeface="Calibri"/>
              </a:rPr>
              <a:t>THE CHALLENGE</a:t>
            </a:r>
          </a:p>
        </p:txBody>
      </p:sp>
      <p:sp>
        <p:nvSpPr>
          <p:cNvPr id="25" name="Rounded Rectangle 24"/>
          <p:cNvSpPr/>
          <p:nvPr/>
        </p:nvSpPr>
        <p:spPr>
          <a:xfrm>
            <a:off x="411480" y="3035808"/>
            <a:ext cx="5559552" cy="138988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411480" y="3035808"/>
            <a:ext cx="91440" cy="1389888"/>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9224" y="3163824"/>
            <a:ext cx="5157216" cy="916085"/>
          </a:xfrm>
          <a:prstGeom prst="rect">
            <a:avLst/>
          </a:prstGeom>
          <a:noFill/>
        </p:spPr>
        <p:txBody>
          <a:bodyPr wrap="square" tIns="0">
            <a:spAutoFit/>
          </a:bodyPr>
          <a:lstStyle/>
          <a:p>
            <a:pPr algn="l">
              <a:lnSpc>
                <a:spcPct val="125000"/>
              </a:lnSpc>
              <a:spcAft>
                <a:spcPts val="600"/>
              </a:spcAft>
              <a:defRPr sz="1050" b="0">
                <a:solidFill>
                  <a:srgbClr val="334155"/>
                </a:solidFill>
                <a:latin typeface="Calibri"/>
              </a:defRPr>
            </a:pPr>
            <a:r>
              <a:rPr sz="1050" b="0">
                <a:solidFill>
                  <a:srgbClr val="334155"/>
                </a:solidFill>
                <a:latin typeface="Calibri"/>
              </a:rPr>
              <a:t>The same column class (_id, _cd, _date, _timestamp) appears across tens of thousands of columns in Snowflake, </a:t>
            </a:r>
            <a:r>
              <a:rPr lang="en-US" sz="1050" b="0">
                <a:solidFill>
                  <a:srgbClr val="334155"/>
                </a:solidFill>
                <a:latin typeface="Calibri"/>
              </a:rPr>
              <a:t>Databricks, </a:t>
            </a:r>
            <a:r>
              <a:rPr sz="1050" b="0">
                <a:solidFill>
                  <a:srgbClr val="334155"/>
                </a:solidFill>
                <a:latin typeface="Calibri"/>
              </a:rPr>
              <a:t>Oracle, ODS, BI — defined inconsistently.</a:t>
            </a:r>
          </a:p>
          <a:p>
            <a:pPr algn="l">
              <a:lnSpc>
                <a:spcPct val="125000"/>
              </a:lnSpc>
              <a:spcAft>
                <a:spcPts val="600"/>
              </a:spcAft>
              <a:defRPr sz="1050" b="0">
                <a:solidFill>
                  <a:srgbClr val="334155"/>
                </a:solidFill>
                <a:latin typeface="Calibri"/>
              </a:defRPr>
            </a:pPr>
            <a:r>
              <a:rPr sz="1050" b="0">
                <a:solidFill>
                  <a:srgbClr val="334155"/>
                </a:solidFill>
                <a:latin typeface="Calibri"/>
              </a:rPr>
              <a:t>Manual curation cannot scale — the same column means different things in different systems, eroding trust and audit defensibility.</a:t>
            </a:r>
          </a:p>
        </p:txBody>
      </p:sp>
      <p:sp>
        <p:nvSpPr>
          <p:cNvPr id="28" name="TextBox 27"/>
          <p:cNvSpPr txBox="1"/>
          <p:nvPr/>
        </p:nvSpPr>
        <p:spPr>
          <a:xfrm>
            <a:off x="6227064" y="2779776"/>
            <a:ext cx="5559552" cy="219456"/>
          </a:xfrm>
          <a:prstGeom prst="rect">
            <a:avLst/>
          </a:prstGeom>
          <a:noFill/>
        </p:spPr>
        <p:txBody>
          <a:bodyPr wrap="square" lIns="0" tIns="0" rIns="0" bIns="0" anchor="t">
            <a:spAutoFit/>
          </a:bodyPr>
          <a:lstStyle/>
          <a:p>
            <a:pPr algn="l">
              <a:defRPr sz="1100" b="1">
                <a:solidFill>
                  <a:srgbClr val="152342"/>
                </a:solidFill>
                <a:latin typeface="Calibri"/>
              </a:defRPr>
            </a:pPr>
            <a:r>
              <a:rPr sz="1100" b="1">
                <a:solidFill>
                  <a:srgbClr val="152342"/>
                </a:solidFill>
                <a:latin typeface="Calibri"/>
              </a:rPr>
              <a:t>AI-ASSISTED WORKFLOW</a:t>
            </a:r>
          </a:p>
        </p:txBody>
      </p:sp>
      <p:sp>
        <p:nvSpPr>
          <p:cNvPr id="29" name="Rounded Rectangle 28"/>
          <p:cNvSpPr/>
          <p:nvPr/>
        </p:nvSpPr>
        <p:spPr>
          <a:xfrm>
            <a:off x="6227064" y="3035808"/>
            <a:ext cx="5559552" cy="138988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6391656" y="3145536"/>
            <a:ext cx="256032" cy="256032"/>
          </a:xfrm>
          <a:prstGeom prst="ellipse">
            <a:avLst/>
          </a:prstGeom>
          <a:solidFill>
            <a:srgbClr val="152342"/>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00" b="1">
                <a:solidFill>
                  <a:srgbClr val="FFFFFF"/>
                </a:solidFill>
                <a:latin typeface="Calibri"/>
              </a:defRPr>
            </a:pPr>
            <a:r>
              <a:rPr sz="1000" b="1">
                <a:solidFill>
                  <a:srgbClr val="FFFFFF"/>
                </a:solidFill>
                <a:latin typeface="Calibri"/>
              </a:rPr>
              <a:t>1</a:t>
            </a:r>
          </a:p>
        </p:txBody>
      </p:sp>
      <p:sp>
        <p:nvSpPr>
          <p:cNvPr id="31" name="TextBox 30"/>
          <p:cNvSpPr txBox="1"/>
          <p:nvPr/>
        </p:nvSpPr>
        <p:spPr>
          <a:xfrm>
            <a:off x="6793992" y="3127248"/>
            <a:ext cx="4828032" cy="201168"/>
          </a:xfrm>
          <a:prstGeom prst="rect">
            <a:avLst/>
          </a:prstGeom>
          <a:noFill/>
        </p:spPr>
        <p:txBody>
          <a:bodyPr wrap="square" lIns="0" tIns="0" rIns="0" bIns="0" anchor="t">
            <a:spAutoFit/>
          </a:bodyPr>
          <a:lstStyle/>
          <a:p>
            <a:pPr algn="l">
              <a:defRPr sz="1000" b="1">
                <a:solidFill>
                  <a:srgbClr val="152342"/>
                </a:solidFill>
                <a:latin typeface="Calibri"/>
              </a:defRPr>
            </a:pPr>
            <a:r>
              <a:rPr sz="1000" b="1">
                <a:solidFill>
                  <a:srgbClr val="152342"/>
                </a:solidFill>
                <a:latin typeface="Calibri"/>
              </a:rPr>
              <a:t>Field-Class Scan</a:t>
            </a:r>
          </a:p>
        </p:txBody>
      </p:sp>
      <p:sp>
        <p:nvSpPr>
          <p:cNvPr id="32" name="TextBox 31"/>
          <p:cNvSpPr txBox="1"/>
          <p:nvPr/>
        </p:nvSpPr>
        <p:spPr>
          <a:xfrm>
            <a:off x="6714744" y="3258786"/>
            <a:ext cx="4828032" cy="201168"/>
          </a:xfrm>
          <a:prstGeom prst="rect">
            <a:avLst/>
          </a:prstGeom>
          <a:noFill/>
        </p:spPr>
        <p:txBody>
          <a:bodyPr wrap="square" tIns="0">
            <a:spAutoFit/>
          </a:bodyPr>
          <a:lstStyle/>
          <a:p>
            <a:pPr algn="l">
              <a:lnSpc>
                <a:spcPct val="118000"/>
              </a:lnSpc>
              <a:defRPr sz="1000" b="0">
                <a:solidFill>
                  <a:srgbClr val="334155"/>
                </a:solidFill>
                <a:latin typeface="Calibri"/>
              </a:defRPr>
            </a:pPr>
            <a:r>
              <a:rPr sz="1000" b="0">
                <a:solidFill>
                  <a:srgbClr val="334155"/>
                </a:solidFill>
                <a:latin typeface="Calibri"/>
              </a:rPr>
              <a:t>MCP scans Alation for columns matching class suffixes (_id, _cd, _date, _timestamp).</a:t>
            </a:r>
          </a:p>
        </p:txBody>
      </p:sp>
      <p:sp>
        <p:nvSpPr>
          <p:cNvPr id="33" name="Oval 32"/>
          <p:cNvSpPr/>
          <p:nvPr/>
        </p:nvSpPr>
        <p:spPr>
          <a:xfrm>
            <a:off x="6391656" y="3456432"/>
            <a:ext cx="256032" cy="256032"/>
          </a:xfrm>
          <a:prstGeom prst="ellipse">
            <a:avLst/>
          </a:prstGeom>
          <a:solidFill>
            <a:srgbClr val="152342"/>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00" b="1">
                <a:solidFill>
                  <a:srgbClr val="FFFFFF"/>
                </a:solidFill>
                <a:latin typeface="Calibri"/>
              </a:defRPr>
            </a:pPr>
            <a:r>
              <a:rPr sz="1000" b="1">
                <a:solidFill>
                  <a:srgbClr val="FFFFFF"/>
                </a:solidFill>
                <a:latin typeface="Calibri"/>
              </a:rPr>
              <a:t>2</a:t>
            </a:r>
          </a:p>
        </p:txBody>
      </p:sp>
      <p:sp>
        <p:nvSpPr>
          <p:cNvPr id="34" name="TextBox 33"/>
          <p:cNvSpPr txBox="1"/>
          <p:nvPr/>
        </p:nvSpPr>
        <p:spPr>
          <a:xfrm>
            <a:off x="6793992" y="3438144"/>
            <a:ext cx="4828032" cy="201168"/>
          </a:xfrm>
          <a:prstGeom prst="rect">
            <a:avLst/>
          </a:prstGeom>
          <a:noFill/>
        </p:spPr>
        <p:txBody>
          <a:bodyPr wrap="square" lIns="0" tIns="0" rIns="0" bIns="0" anchor="t">
            <a:spAutoFit/>
          </a:bodyPr>
          <a:lstStyle/>
          <a:p>
            <a:pPr algn="l">
              <a:defRPr sz="1000" b="1">
                <a:solidFill>
                  <a:srgbClr val="152342"/>
                </a:solidFill>
                <a:latin typeface="Calibri"/>
              </a:defRPr>
            </a:pPr>
            <a:r>
              <a:rPr sz="1000" b="1">
                <a:solidFill>
                  <a:srgbClr val="152342"/>
                </a:solidFill>
                <a:latin typeface="Calibri"/>
              </a:rPr>
              <a:t>Candidate Definitions</a:t>
            </a:r>
          </a:p>
        </p:txBody>
      </p:sp>
      <p:sp>
        <p:nvSpPr>
          <p:cNvPr id="35" name="TextBox 34"/>
          <p:cNvSpPr txBox="1"/>
          <p:nvPr/>
        </p:nvSpPr>
        <p:spPr>
          <a:xfrm>
            <a:off x="6714744" y="3560064"/>
            <a:ext cx="4828032" cy="201168"/>
          </a:xfrm>
          <a:prstGeom prst="rect">
            <a:avLst/>
          </a:prstGeom>
          <a:noFill/>
        </p:spPr>
        <p:txBody>
          <a:bodyPr wrap="square" tIns="0">
            <a:spAutoFit/>
          </a:bodyPr>
          <a:lstStyle/>
          <a:p>
            <a:pPr algn="l">
              <a:lnSpc>
                <a:spcPct val="118000"/>
              </a:lnSpc>
              <a:defRPr sz="1000" b="0">
                <a:solidFill>
                  <a:srgbClr val="334155"/>
                </a:solidFill>
                <a:latin typeface="Calibri"/>
              </a:defRPr>
            </a:pPr>
            <a:r>
              <a:rPr sz="1000" b="0">
                <a:solidFill>
                  <a:srgbClr val="334155"/>
                </a:solidFill>
                <a:latin typeface="Calibri"/>
              </a:rPr>
              <a:t>AI proposes consistent definitions from naming patterns, profiling, and glossary.</a:t>
            </a:r>
          </a:p>
        </p:txBody>
      </p:sp>
      <p:sp>
        <p:nvSpPr>
          <p:cNvPr id="36" name="Oval 35"/>
          <p:cNvSpPr/>
          <p:nvPr/>
        </p:nvSpPr>
        <p:spPr>
          <a:xfrm>
            <a:off x="6391656" y="3767328"/>
            <a:ext cx="256032" cy="256032"/>
          </a:xfrm>
          <a:prstGeom prst="ellipse">
            <a:avLst/>
          </a:prstGeom>
          <a:solidFill>
            <a:srgbClr val="152342"/>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00" b="1">
                <a:solidFill>
                  <a:srgbClr val="FFFFFF"/>
                </a:solidFill>
                <a:latin typeface="Calibri"/>
              </a:defRPr>
            </a:pPr>
            <a:r>
              <a:rPr sz="1000" b="1">
                <a:solidFill>
                  <a:srgbClr val="FFFFFF"/>
                </a:solidFill>
                <a:latin typeface="Calibri"/>
              </a:rPr>
              <a:t>3</a:t>
            </a:r>
          </a:p>
        </p:txBody>
      </p:sp>
      <p:sp>
        <p:nvSpPr>
          <p:cNvPr id="37" name="TextBox 36"/>
          <p:cNvSpPr txBox="1"/>
          <p:nvPr/>
        </p:nvSpPr>
        <p:spPr>
          <a:xfrm>
            <a:off x="6793992" y="3749039"/>
            <a:ext cx="4828032" cy="201168"/>
          </a:xfrm>
          <a:prstGeom prst="rect">
            <a:avLst/>
          </a:prstGeom>
          <a:noFill/>
        </p:spPr>
        <p:txBody>
          <a:bodyPr wrap="square" lIns="0" tIns="0" rIns="0" bIns="0" anchor="t">
            <a:spAutoFit/>
          </a:bodyPr>
          <a:lstStyle/>
          <a:p>
            <a:pPr algn="l">
              <a:defRPr sz="1000" b="1">
                <a:solidFill>
                  <a:srgbClr val="152342"/>
                </a:solidFill>
                <a:latin typeface="Calibri"/>
              </a:defRPr>
            </a:pPr>
            <a:r>
              <a:rPr sz="1000" b="1">
                <a:solidFill>
                  <a:srgbClr val="152342"/>
                </a:solidFill>
                <a:latin typeface="Calibri"/>
              </a:rPr>
              <a:t>Lineage Inheritance</a:t>
            </a:r>
          </a:p>
        </p:txBody>
      </p:sp>
      <p:sp>
        <p:nvSpPr>
          <p:cNvPr id="38" name="TextBox 37"/>
          <p:cNvSpPr txBox="1"/>
          <p:nvPr/>
        </p:nvSpPr>
        <p:spPr>
          <a:xfrm>
            <a:off x="6714744" y="3881120"/>
            <a:ext cx="4828032" cy="201168"/>
          </a:xfrm>
          <a:prstGeom prst="rect">
            <a:avLst/>
          </a:prstGeom>
          <a:noFill/>
        </p:spPr>
        <p:txBody>
          <a:bodyPr wrap="square" tIns="0">
            <a:spAutoFit/>
          </a:bodyPr>
          <a:lstStyle/>
          <a:p>
            <a:pPr algn="l">
              <a:lnSpc>
                <a:spcPct val="118000"/>
              </a:lnSpc>
              <a:defRPr sz="1000" b="0">
                <a:solidFill>
                  <a:srgbClr val="334155"/>
                </a:solidFill>
                <a:latin typeface="Calibri"/>
              </a:defRPr>
            </a:pPr>
            <a:r>
              <a:rPr sz="1000" b="0">
                <a:solidFill>
                  <a:srgbClr val="334155"/>
                </a:solidFill>
                <a:latin typeface="Calibri"/>
              </a:rPr>
              <a:t>Propagate approved definitions through Alation lineage — source → ODS → BI.</a:t>
            </a:r>
          </a:p>
        </p:txBody>
      </p:sp>
      <p:sp>
        <p:nvSpPr>
          <p:cNvPr id="39" name="Oval 38"/>
          <p:cNvSpPr/>
          <p:nvPr/>
        </p:nvSpPr>
        <p:spPr>
          <a:xfrm>
            <a:off x="6391656" y="4078224"/>
            <a:ext cx="256032" cy="256032"/>
          </a:xfrm>
          <a:prstGeom prst="ellipse">
            <a:avLst/>
          </a:prstGeom>
          <a:solidFill>
            <a:srgbClr val="152342"/>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00" b="1">
                <a:solidFill>
                  <a:srgbClr val="FFFFFF"/>
                </a:solidFill>
                <a:latin typeface="Calibri"/>
              </a:defRPr>
            </a:pPr>
            <a:r>
              <a:rPr sz="1000" b="1">
                <a:solidFill>
                  <a:srgbClr val="FFFFFF"/>
                </a:solidFill>
                <a:latin typeface="Calibri"/>
              </a:rPr>
              <a:t>4</a:t>
            </a:r>
          </a:p>
        </p:txBody>
      </p:sp>
      <p:sp>
        <p:nvSpPr>
          <p:cNvPr id="40" name="TextBox 39"/>
          <p:cNvSpPr txBox="1"/>
          <p:nvPr/>
        </p:nvSpPr>
        <p:spPr>
          <a:xfrm>
            <a:off x="6793992" y="4059936"/>
            <a:ext cx="4828032" cy="201168"/>
          </a:xfrm>
          <a:prstGeom prst="rect">
            <a:avLst/>
          </a:prstGeom>
          <a:noFill/>
        </p:spPr>
        <p:txBody>
          <a:bodyPr wrap="square" lIns="0" tIns="0" rIns="0" bIns="0" anchor="t">
            <a:spAutoFit/>
          </a:bodyPr>
          <a:lstStyle/>
          <a:p>
            <a:pPr algn="l">
              <a:defRPr sz="1000" b="1">
                <a:solidFill>
                  <a:srgbClr val="152342"/>
                </a:solidFill>
                <a:latin typeface="Calibri"/>
              </a:defRPr>
            </a:pPr>
            <a:r>
              <a:rPr sz="1000" b="1">
                <a:solidFill>
                  <a:srgbClr val="152342"/>
                </a:solidFill>
                <a:latin typeface="Calibri"/>
              </a:rPr>
              <a:t>Steward Approval</a:t>
            </a:r>
          </a:p>
        </p:txBody>
      </p:sp>
      <p:sp>
        <p:nvSpPr>
          <p:cNvPr id="41" name="TextBox 40"/>
          <p:cNvSpPr txBox="1"/>
          <p:nvPr/>
        </p:nvSpPr>
        <p:spPr>
          <a:xfrm>
            <a:off x="6714744" y="4197096"/>
            <a:ext cx="4828032" cy="201168"/>
          </a:xfrm>
          <a:prstGeom prst="rect">
            <a:avLst/>
          </a:prstGeom>
          <a:noFill/>
        </p:spPr>
        <p:txBody>
          <a:bodyPr wrap="square" tIns="0">
            <a:spAutoFit/>
          </a:bodyPr>
          <a:lstStyle/>
          <a:p>
            <a:pPr algn="l">
              <a:lnSpc>
                <a:spcPct val="118000"/>
              </a:lnSpc>
              <a:defRPr sz="1000" b="0">
                <a:solidFill>
                  <a:srgbClr val="334155"/>
                </a:solidFill>
                <a:latin typeface="Calibri"/>
              </a:defRPr>
            </a:pPr>
            <a:r>
              <a:rPr sz="1000" b="0">
                <a:solidFill>
                  <a:srgbClr val="334155"/>
                </a:solidFill>
                <a:latin typeface="Calibri"/>
              </a:rPr>
              <a:t>Stewards review, edit, or override; approvals push back to Alation.</a:t>
            </a:r>
          </a:p>
        </p:txBody>
      </p:sp>
      <p:sp>
        <p:nvSpPr>
          <p:cNvPr id="42" name="TextBox 41"/>
          <p:cNvSpPr txBox="1"/>
          <p:nvPr/>
        </p:nvSpPr>
        <p:spPr>
          <a:xfrm>
            <a:off x="411480" y="4517136"/>
            <a:ext cx="11365992" cy="219456"/>
          </a:xfrm>
          <a:prstGeom prst="rect">
            <a:avLst/>
          </a:prstGeom>
          <a:noFill/>
        </p:spPr>
        <p:txBody>
          <a:bodyPr wrap="square" lIns="0" tIns="0" rIns="0" bIns="0" anchor="t">
            <a:spAutoFit/>
          </a:bodyPr>
          <a:lstStyle/>
          <a:p>
            <a:pPr algn="l">
              <a:defRPr sz="1100" b="1">
                <a:solidFill>
                  <a:srgbClr val="152342"/>
                </a:solidFill>
                <a:latin typeface="Calibri"/>
              </a:defRPr>
            </a:pPr>
            <a:r>
              <a:rPr sz="1100" b="1">
                <a:solidFill>
                  <a:srgbClr val="152342"/>
                </a:solidFill>
                <a:latin typeface="Calibri"/>
              </a:rPr>
              <a:t>KEY FINDINGS</a:t>
            </a:r>
          </a:p>
        </p:txBody>
      </p:sp>
      <p:sp>
        <p:nvSpPr>
          <p:cNvPr id="4" name="Rounded Rectangle 42"/>
          <p:cNvSpPr/>
          <p:nvPr/>
        </p:nvSpPr>
        <p:spPr>
          <a:xfrm>
            <a:off x="411480" y="4773168"/>
            <a:ext cx="5559552" cy="713232"/>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3"/>
          <p:cNvSpPr/>
          <p:nvPr/>
        </p:nvSpPr>
        <p:spPr>
          <a:xfrm>
            <a:off x="411480" y="4773168"/>
            <a:ext cx="91440" cy="71323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9224" y="4846320"/>
            <a:ext cx="5157216" cy="256032"/>
          </a:xfrm>
          <a:prstGeom prst="rect">
            <a:avLst/>
          </a:prstGeom>
          <a:noFill/>
        </p:spPr>
        <p:txBody>
          <a:bodyPr wrap="square" lIns="0" tIns="0" rIns="0" bIns="0" anchor="t">
            <a:spAutoFit/>
          </a:bodyPr>
          <a:lstStyle/>
          <a:p>
            <a:pPr algn="l">
              <a:defRPr sz="1100" b="1">
                <a:solidFill>
                  <a:srgbClr val="152342"/>
                </a:solidFill>
                <a:latin typeface="Calibri"/>
              </a:defRPr>
            </a:pPr>
            <a:r>
              <a:rPr sz="1100" b="1">
                <a:solidFill>
                  <a:srgbClr val="152342"/>
                </a:solidFill>
                <a:latin typeface="Calibri"/>
              </a:rPr>
              <a:t>Conflicting definitions resolved</a:t>
            </a:r>
          </a:p>
        </p:txBody>
      </p:sp>
      <p:sp>
        <p:nvSpPr>
          <p:cNvPr id="47" name="TextBox 46"/>
          <p:cNvSpPr txBox="1"/>
          <p:nvPr/>
        </p:nvSpPr>
        <p:spPr>
          <a:xfrm>
            <a:off x="649224" y="5079294"/>
            <a:ext cx="5157216" cy="310896"/>
          </a:xfrm>
          <a:prstGeom prst="rect">
            <a:avLst/>
          </a:prstGeom>
          <a:noFill/>
        </p:spPr>
        <p:txBody>
          <a:bodyPr wrap="square" tIns="0">
            <a:spAutoFit/>
          </a:bodyPr>
          <a:lstStyle/>
          <a:p>
            <a:pPr algn="l">
              <a:lnSpc>
                <a:spcPct val="122000"/>
              </a:lnSpc>
              <a:defRPr sz="1050" b="0">
                <a:solidFill>
                  <a:srgbClr val="334155"/>
                </a:solidFill>
                <a:latin typeface="Calibri"/>
              </a:defRPr>
            </a:pPr>
            <a:r>
              <a:rPr sz="1050" b="0">
                <a:solidFill>
                  <a:srgbClr val="334155"/>
                </a:solidFill>
                <a:latin typeface="Calibri"/>
              </a:rPr>
              <a:t>Where _date or _id means different things across domains, conflicts surface for steward alignment.</a:t>
            </a:r>
          </a:p>
        </p:txBody>
      </p:sp>
      <p:sp>
        <p:nvSpPr>
          <p:cNvPr id="48" name="Rounded Rectangle 46"/>
          <p:cNvSpPr/>
          <p:nvPr/>
        </p:nvSpPr>
        <p:spPr>
          <a:xfrm>
            <a:off x="6227064" y="4773168"/>
            <a:ext cx="5559552" cy="713232"/>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7"/>
          <p:cNvSpPr/>
          <p:nvPr/>
        </p:nvSpPr>
        <p:spPr>
          <a:xfrm>
            <a:off x="6227064" y="4773168"/>
            <a:ext cx="91440" cy="71323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464808" y="4846320"/>
            <a:ext cx="5157216" cy="256032"/>
          </a:xfrm>
          <a:prstGeom prst="rect">
            <a:avLst/>
          </a:prstGeom>
          <a:noFill/>
        </p:spPr>
        <p:txBody>
          <a:bodyPr wrap="square" lIns="0" tIns="0" rIns="0" bIns="0" anchor="t">
            <a:spAutoFit/>
          </a:bodyPr>
          <a:lstStyle/>
          <a:p>
            <a:pPr algn="l">
              <a:defRPr sz="1100" b="1">
                <a:solidFill>
                  <a:srgbClr val="152342"/>
                </a:solidFill>
                <a:latin typeface="Calibri"/>
              </a:defRPr>
            </a:pPr>
            <a:r>
              <a:rPr sz="1100" b="1">
                <a:solidFill>
                  <a:srgbClr val="152342"/>
                </a:solidFill>
                <a:latin typeface="Calibri"/>
              </a:rPr>
              <a:t>Curation scales without re-entry</a:t>
            </a:r>
          </a:p>
        </p:txBody>
      </p:sp>
      <p:sp>
        <p:nvSpPr>
          <p:cNvPr id="51" name="TextBox 50"/>
          <p:cNvSpPr txBox="1"/>
          <p:nvPr/>
        </p:nvSpPr>
        <p:spPr>
          <a:xfrm>
            <a:off x="6464808" y="5079294"/>
            <a:ext cx="5157216" cy="310896"/>
          </a:xfrm>
          <a:prstGeom prst="rect">
            <a:avLst/>
          </a:prstGeom>
          <a:noFill/>
        </p:spPr>
        <p:txBody>
          <a:bodyPr wrap="square" tIns="0">
            <a:spAutoFit/>
          </a:bodyPr>
          <a:lstStyle/>
          <a:p>
            <a:pPr algn="l">
              <a:lnSpc>
                <a:spcPct val="122000"/>
              </a:lnSpc>
              <a:defRPr sz="1050" b="0">
                <a:solidFill>
                  <a:srgbClr val="334155"/>
                </a:solidFill>
                <a:latin typeface="Calibri"/>
              </a:defRPr>
            </a:pPr>
            <a:r>
              <a:rPr sz="1050" b="0">
                <a:solidFill>
                  <a:srgbClr val="334155"/>
                </a:solidFill>
                <a:latin typeface="Calibri"/>
              </a:rPr>
              <a:t>Approved definitions flow downstream automatically — eliminating thousands of repeated manual entries.</a:t>
            </a:r>
          </a:p>
        </p:txBody>
      </p:sp>
      <p:sp>
        <p:nvSpPr>
          <p:cNvPr id="52" name="TextBox 51"/>
          <p:cNvSpPr txBox="1"/>
          <p:nvPr/>
        </p:nvSpPr>
        <p:spPr>
          <a:xfrm>
            <a:off x="411480" y="5577840"/>
            <a:ext cx="11365992" cy="201168"/>
          </a:xfrm>
          <a:prstGeom prst="rect">
            <a:avLst/>
          </a:prstGeom>
          <a:noFill/>
        </p:spPr>
        <p:txBody>
          <a:bodyPr wrap="square" lIns="0" tIns="0" rIns="0" bIns="0" anchor="t">
            <a:spAutoFit/>
          </a:bodyPr>
          <a:lstStyle/>
          <a:p>
            <a:pPr algn="l">
              <a:defRPr sz="1100" b="1">
                <a:solidFill>
                  <a:srgbClr val="152342"/>
                </a:solidFill>
                <a:latin typeface="Calibri"/>
              </a:defRPr>
            </a:pPr>
            <a:r>
              <a:rPr sz="1100" b="1">
                <a:solidFill>
                  <a:srgbClr val="152342"/>
                </a:solidFill>
                <a:latin typeface="Calibri"/>
              </a:rPr>
              <a:t>REUSABLE TEMPLATE — DEFINITION STANDARDIZATION</a:t>
            </a:r>
          </a:p>
        </p:txBody>
      </p:sp>
      <p:sp>
        <p:nvSpPr>
          <p:cNvPr id="53" name="Rounded Rectangle 51"/>
          <p:cNvSpPr/>
          <p:nvPr/>
        </p:nvSpPr>
        <p:spPr>
          <a:xfrm>
            <a:off x="411480" y="5815584"/>
            <a:ext cx="2734056" cy="56692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2"/>
          <p:cNvSpPr/>
          <p:nvPr/>
        </p:nvSpPr>
        <p:spPr>
          <a:xfrm>
            <a:off x="411480" y="5815584"/>
            <a:ext cx="2734056"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39496" y="5843016"/>
            <a:ext cx="731520" cy="201168"/>
          </a:xfrm>
          <a:prstGeom prst="rect">
            <a:avLst/>
          </a:prstGeom>
          <a:noFill/>
        </p:spPr>
        <p:txBody>
          <a:bodyPr wrap="square" lIns="0" tIns="0" rIns="0" bIns="0" anchor="t">
            <a:spAutoFit/>
          </a:bodyPr>
          <a:lstStyle/>
          <a:p>
            <a:pPr algn="l">
              <a:defRPr sz="1000" b="1">
                <a:solidFill>
                  <a:srgbClr val="FFFFFF"/>
                </a:solidFill>
                <a:latin typeface="Calibri"/>
              </a:defRPr>
            </a:pPr>
            <a:r>
              <a:rPr sz="1000" b="1">
                <a:solidFill>
                  <a:srgbClr val="FFFFFF"/>
                </a:solidFill>
                <a:latin typeface="Calibri"/>
              </a:rPr>
              <a:t>Step 1</a:t>
            </a:r>
          </a:p>
        </p:txBody>
      </p:sp>
      <p:sp>
        <p:nvSpPr>
          <p:cNvPr id="56" name="TextBox 55"/>
          <p:cNvSpPr txBox="1"/>
          <p:nvPr/>
        </p:nvSpPr>
        <p:spPr>
          <a:xfrm>
            <a:off x="1362456" y="5843016"/>
            <a:ext cx="1655064" cy="201168"/>
          </a:xfrm>
          <a:prstGeom prst="rect">
            <a:avLst/>
          </a:prstGeom>
          <a:noFill/>
        </p:spPr>
        <p:txBody>
          <a:bodyPr wrap="square" lIns="0" tIns="0" rIns="0" bIns="0" anchor="t">
            <a:spAutoFit/>
          </a:bodyPr>
          <a:lstStyle/>
          <a:p>
            <a:pPr algn="r">
              <a:defRPr sz="1000" b="1">
                <a:solidFill>
                  <a:srgbClr val="FFFFFF"/>
                </a:solidFill>
                <a:latin typeface="Calibri"/>
              </a:defRPr>
            </a:pPr>
            <a:r>
              <a:rPr sz="1000" b="1">
                <a:solidFill>
                  <a:srgbClr val="FFFFFF"/>
                </a:solidFill>
                <a:latin typeface="Calibri"/>
              </a:rPr>
              <a:t>Scan</a:t>
            </a:r>
          </a:p>
        </p:txBody>
      </p:sp>
      <p:sp>
        <p:nvSpPr>
          <p:cNvPr id="57" name="TextBox 56"/>
          <p:cNvSpPr txBox="1"/>
          <p:nvPr/>
        </p:nvSpPr>
        <p:spPr>
          <a:xfrm>
            <a:off x="539496" y="6108192"/>
            <a:ext cx="2478024" cy="349648"/>
          </a:xfrm>
          <a:prstGeom prst="rect">
            <a:avLst/>
          </a:prstGeom>
          <a:noFill/>
        </p:spPr>
        <p:txBody>
          <a:bodyPr wrap="square" tIns="0">
            <a:spAutoFit/>
          </a:bodyPr>
          <a:lstStyle/>
          <a:p>
            <a:pPr algn="l">
              <a:lnSpc>
                <a:spcPct val="120000"/>
              </a:lnSpc>
              <a:defRPr sz="1000" b="0">
                <a:solidFill>
                  <a:srgbClr val="334155"/>
                </a:solidFill>
                <a:latin typeface="Calibri"/>
              </a:defRPr>
            </a:pPr>
            <a:r>
              <a:rPr sz="850" b="0">
                <a:solidFill>
                  <a:srgbClr val="334155"/>
                </a:solidFill>
                <a:latin typeface="Calibri"/>
              </a:rPr>
              <a:t>Identify class patterns (_id, _cd, _date, _timestamp).</a:t>
            </a:r>
          </a:p>
        </p:txBody>
      </p:sp>
      <p:sp>
        <p:nvSpPr>
          <p:cNvPr id="58" name="Rounded Rectangle 56"/>
          <p:cNvSpPr/>
          <p:nvPr/>
        </p:nvSpPr>
        <p:spPr>
          <a:xfrm>
            <a:off x="3291840" y="5815584"/>
            <a:ext cx="2734056" cy="56692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7"/>
          <p:cNvSpPr/>
          <p:nvPr/>
        </p:nvSpPr>
        <p:spPr>
          <a:xfrm>
            <a:off x="3291840" y="5815584"/>
            <a:ext cx="2734056" cy="25603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3419856" y="5843016"/>
            <a:ext cx="731520" cy="201168"/>
          </a:xfrm>
          <a:prstGeom prst="rect">
            <a:avLst/>
          </a:prstGeom>
          <a:noFill/>
        </p:spPr>
        <p:txBody>
          <a:bodyPr wrap="square" lIns="0" tIns="0" rIns="0" bIns="0" anchor="t">
            <a:spAutoFit/>
          </a:bodyPr>
          <a:lstStyle/>
          <a:p>
            <a:pPr algn="l">
              <a:defRPr sz="1000" b="1">
                <a:solidFill>
                  <a:srgbClr val="FFFFFF"/>
                </a:solidFill>
                <a:latin typeface="Calibri"/>
              </a:defRPr>
            </a:pPr>
            <a:r>
              <a:rPr sz="1000" b="1">
                <a:solidFill>
                  <a:srgbClr val="FFFFFF"/>
                </a:solidFill>
                <a:latin typeface="Calibri"/>
              </a:rPr>
              <a:t>Step 2</a:t>
            </a:r>
          </a:p>
        </p:txBody>
      </p:sp>
      <p:sp>
        <p:nvSpPr>
          <p:cNvPr id="61" name="TextBox 60"/>
          <p:cNvSpPr txBox="1"/>
          <p:nvPr/>
        </p:nvSpPr>
        <p:spPr>
          <a:xfrm>
            <a:off x="4242816" y="5843016"/>
            <a:ext cx="1655064" cy="201168"/>
          </a:xfrm>
          <a:prstGeom prst="rect">
            <a:avLst/>
          </a:prstGeom>
          <a:noFill/>
        </p:spPr>
        <p:txBody>
          <a:bodyPr wrap="square" lIns="0" tIns="0" rIns="0" bIns="0" anchor="t">
            <a:spAutoFit/>
          </a:bodyPr>
          <a:lstStyle/>
          <a:p>
            <a:pPr algn="r">
              <a:defRPr sz="1000" b="1">
                <a:solidFill>
                  <a:srgbClr val="FFFFFF"/>
                </a:solidFill>
                <a:latin typeface="Calibri"/>
              </a:defRPr>
            </a:pPr>
            <a:r>
              <a:rPr sz="1000" b="1">
                <a:solidFill>
                  <a:srgbClr val="FFFFFF"/>
                </a:solidFill>
                <a:latin typeface="Calibri"/>
              </a:rPr>
              <a:t>Propose</a:t>
            </a:r>
          </a:p>
        </p:txBody>
      </p:sp>
      <p:sp>
        <p:nvSpPr>
          <p:cNvPr id="62" name="TextBox 61"/>
          <p:cNvSpPr txBox="1"/>
          <p:nvPr/>
        </p:nvSpPr>
        <p:spPr>
          <a:xfrm>
            <a:off x="3419856" y="6108192"/>
            <a:ext cx="2478024" cy="192681"/>
          </a:xfrm>
          <a:prstGeom prst="rect">
            <a:avLst/>
          </a:prstGeom>
          <a:noFill/>
        </p:spPr>
        <p:txBody>
          <a:bodyPr wrap="square" tIns="0">
            <a:spAutoFit/>
          </a:bodyPr>
          <a:lstStyle/>
          <a:p>
            <a:pPr algn="l">
              <a:lnSpc>
                <a:spcPct val="120000"/>
              </a:lnSpc>
              <a:defRPr sz="1000" b="0">
                <a:solidFill>
                  <a:srgbClr val="334155"/>
                </a:solidFill>
                <a:latin typeface="Calibri"/>
              </a:defRPr>
            </a:pPr>
            <a:r>
              <a:rPr sz="850" b="0">
                <a:solidFill>
                  <a:srgbClr val="334155"/>
                </a:solidFill>
                <a:latin typeface="Calibri"/>
              </a:rPr>
              <a:t>AI drafts consistent candidate definitions per class.</a:t>
            </a:r>
          </a:p>
        </p:txBody>
      </p:sp>
      <p:sp>
        <p:nvSpPr>
          <p:cNvPr id="63" name="Rounded Rectangle 61"/>
          <p:cNvSpPr/>
          <p:nvPr/>
        </p:nvSpPr>
        <p:spPr>
          <a:xfrm>
            <a:off x="6172200" y="5815584"/>
            <a:ext cx="2734056" cy="56692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ounded Rectangle 62"/>
          <p:cNvSpPr/>
          <p:nvPr/>
        </p:nvSpPr>
        <p:spPr>
          <a:xfrm>
            <a:off x="6172200" y="5815584"/>
            <a:ext cx="2734056" cy="25603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6300216" y="5843016"/>
            <a:ext cx="731520" cy="201168"/>
          </a:xfrm>
          <a:prstGeom prst="rect">
            <a:avLst/>
          </a:prstGeom>
          <a:noFill/>
        </p:spPr>
        <p:txBody>
          <a:bodyPr wrap="square" lIns="0" tIns="0" rIns="0" bIns="0" anchor="t">
            <a:spAutoFit/>
          </a:bodyPr>
          <a:lstStyle/>
          <a:p>
            <a:pPr algn="l">
              <a:defRPr sz="1000" b="1">
                <a:solidFill>
                  <a:srgbClr val="FFFFFF"/>
                </a:solidFill>
                <a:latin typeface="Calibri"/>
              </a:defRPr>
            </a:pPr>
            <a:r>
              <a:rPr sz="1000" b="1">
                <a:solidFill>
                  <a:srgbClr val="FFFFFF"/>
                </a:solidFill>
                <a:latin typeface="Calibri"/>
              </a:rPr>
              <a:t>Step 3</a:t>
            </a:r>
          </a:p>
        </p:txBody>
      </p:sp>
      <p:sp>
        <p:nvSpPr>
          <p:cNvPr id="66" name="TextBox 65"/>
          <p:cNvSpPr txBox="1"/>
          <p:nvPr/>
        </p:nvSpPr>
        <p:spPr>
          <a:xfrm>
            <a:off x="7123176" y="5843016"/>
            <a:ext cx="1655064" cy="201168"/>
          </a:xfrm>
          <a:prstGeom prst="rect">
            <a:avLst/>
          </a:prstGeom>
          <a:noFill/>
        </p:spPr>
        <p:txBody>
          <a:bodyPr wrap="square" lIns="0" tIns="0" rIns="0" bIns="0" anchor="t">
            <a:spAutoFit/>
          </a:bodyPr>
          <a:lstStyle/>
          <a:p>
            <a:pPr algn="r">
              <a:defRPr sz="1000" b="1">
                <a:solidFill>
                  <a:srgbClr val="FFFFFF"/>
                </a:solidFill>
                <a:latin typeface="Calibri"/>
              </a:defRPr>
            </a:pPr>
            <a:r>
              <a:rPr sz="1000" b="1">
                <a:solidFill>
                  <a:srgbClr val="FFFFFF"/>
                </a:solidFill>
                <a:latin typeface="Calibri"/>
              </a:rPr>
              <a:t>Inherit</a:t>
            </a:r>
          </a:p>
        </p:txBody>
      </p:sp>
      <p:sp>
        <p:nvSpPr>
          <p:cNvPr id="67" name="TextBox 66"/>
          <p:cNvSpPr txBox="1"/>
          <p:nvPr/>
        </p:nvSpPr>
        <p:spPr>
          <a:xfrm>
            <a:off x="6300216" y="6108192"/>
            <a:ext cx="2478024" cy="192681"/>
          </a:xfrm>
          <a:prstGeom prst="rect">
            <a:avLst/>
          </a:prstGeom>
          <a:noFill/>
        </p:spPr>
        <p:txBody>
          <a:bodyPr wrap="square" tIns="0">
            <a:spAutoFit/>
          </a:bodyPr>
          <a:lstStyle/>
          <a:p>
            <a:pPr algn="l">
              <a:lnSpc>
                <a:spcPct val="120000"/>
              </a:lnSpc>
              <a:defRPr sz="1000" b="0">
                <a:solidFill>
                  <a:srgbClr val="334155"/>
                </a:solidFill>
                <a:latin typeface="Calibri"/>
              </a:defRPr>
            </a:pPr>
            <a:r>
              <a:rPr sz="850" b="0">
                <a:solidFill>
                  <a:srgbClr val="334155"/>
                </a:solidFill>
                <a:latin typeface="Calibri"/>
              </a:rPr>
              <a:t>Propagate definitions through lineage via Alation.</a:t>
            </a:r>
          </a:p>
        </p:txBody>
      </p:sp>
      <p:sp>
        <p:nvSpPr>
          <p:cNvPr id="68" name="Rounded Rectangle 66"/>
          <p:cNvSpPr/>
          <p:nvPr/>
        </p:nvSpPr>
        <p:spPr>
          <a:xfrm>
            <a:off x="9043416" y="5815584"/>
            <a:ext cx="2734056" cy="56692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ounded Rectangle 67"/>
          <p:cNvSpPr/>
          <p:nvPr/>
        </p:nvSpPr>
        <p:spPr>
          <a:xfrm>
            <a:off x="9043416" y="5815584"/>
            <a:ext cx="2734056" cy="256032"/>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9180576" y="5843016"/>
            <a:ext cx="731520" cy="201168"/>
          </a:xfrm>
          <a:prstGeom prst="rect">
            <a:avLst/>
          </a:prstGeom>
          <a:noFill/>
        </p:spPr>
        <p:txBody>
          <a:bodyPr wrap="square" lIns="0" tIns="0" rIns="0" bIns="0" anchor="t">
            <a:spAutoFit/>
          </a:bodyPr>
          <a:lstStyle/>
          <a:p>
            <a:pPr algn="l">
              <a:defRPr sz="1000" b="1">
                <a:solidFill>
                  <a:srgbClr val="FFFFFF"/>
                </a:solidFill>
                <a:latin typeface="Calibri"/>
              </a:defRPr>
            </a:pPr>
            <a:r>
              <a:rPr sz="1000" b="1">
                <a:solidFill>
                  <a:srgbClr val="FFFFFF"/>
                </a:solidFill>
                <a:latin typeface="Calibri"/>
              </a:rPr>
              <a:t>Step 4</a:t>
            </a:r>
          </a:p>
        </p:txBody>
      </p:sp>
      <p:sp>
        <p:nvSpPr>
          <p:cNvPr id="71" name="TextBox 70"/>
          <p:cNvSpPr txBox="1"/>
          <p:nvPr/>
        </p:nvSpPr>
        <p:spPr>
          <a:xfrm>
            <a:off x="10003536" y="5843016"/>
            <a:ext cx="1655064" cy="201168"/>
          </a:xfrm>
          <a:prstGeom prst="rect">
            <a:avLst/>
          </a:prstGeom>
          <a:noFill/>
        </p:spPr>
        <p:txBody>
          <a:bodyPr wrap="square" lIns="0" tIns="0" rIns="0" bIns="0" anchor="t">
            <a:spAutoFit/>
          </a:bodyPr>
          <a:lstStyle/>
          <a:p>
            <a:pPr algn="r">
              <a:defRPr sz="1000" b="1">
                <a:solidFill>
                  <a:srgbClr val="FFFFFF"/>
                </a:solidFill>
                <a:latin typeface="Calibri"/>
              </a:defRPr>
            </a:pPr>
            <a:r>
              <a:rPr sz="1000" b="1">
                <a:solidFill>
                  <a:srgbClr val="FFFFFF"/>
                </a:solidFill>
                <a:latin typeface="Calibri"/>
              </a:rPr>
              <a:t>Approve</a:t>
            </a:r>
          </a:p>
        </p:txBody>
      </p:sp>
      <p:sp>
        <p:nvSpPr>
          <p:cNvPr id="72" name="TextBox 71"/>
          <p:cNvSpPr txBox="1"/>
          <p:nvPr/>
        </p:nvSpPr>
        <p:spPr>
          <a:xfrm>
            <a:off x="9180576" y="6108192"/>
            <a:ext cx="2478024" cy="192681"/>
          </a:xfrm>
          <a:prstGeom prst="rect">
            <a:avLst/>
          </a:prstGeom>
          <a:noFill/>
        </p:spPr>
        <p:txBody>
          <a:bodyPr wrap="square" tIns="0">
            <a:spAutoFit/>
          </a:bodyPr>
          <a:lstStyle/>
          <a:p>
            <a:pPr algn="l">
              <a:lnSpc>
                <a:spcPct val="120000"/>
              </a:lnSpc>
              <a:defRPr sz="1000" b="0">
                <a:solidFill>
                  <a:srgbClr val="334155"/>
                </a:solidFill>
                <a:latin typeface="Calibri"/>
              </a:defRPr>
            </a:pPr>
            <a:r>
              <a:rPr sz="850" b="0">
                <a:solidFill>
                  <a:srgbClr val="334155"/>
                </a:solidFill>
                <a:latin typeface="Calibri"/>
              </a:rPr>
              <a:t>Steward review and apply; AI never finalizes alone.</a:t>
            </a:r>
          </a:p>
        </p:txBody>
      </p:sp>
      <p:sp>
        <p:nvSpPr>
          <p:cNvPr id="73" name="TextBox 72">
            <a:extLst>
              <a:ext uri="{FF2B5EF4-FFF2-40B4-BE49-F238E27FC236}">
                <a16:creationId xmlns:a16="http://schemas.microsoft.com/office/drawing/2014/main" id="{0A7460A7-48C4-E473-E212-317DEDDC6D62}"/>
              </a:ext>
            </a:extLst>
          </p:cNvPr>
          <p:cNvSpPr txBox="1"/>
          <p:nvPr/>
        </p:nvSpPr>
        <p:spPr>
          <a:xfrm>
            <a:off x="411480" y="1245870"/>
            <a:ext cx="11521440" cy="232884"/>
          </a:xfrm>
          <a:prstGeom prst="rect">
            <a:avLst/>
          </a:prstGeom>
          <a:noFill/>
        </p:spPr>
        <p:txBody>
          <a:bodyPr wrap="square" lIns="36576" tIns="18288" rIns="36576" bIns="18288" anchor="t">
            <a:spAutoFit/>
          </a:bodyPr>
          <a:lstStyle/>
          <a:p>
            <a:pPr>
              <a:lnSpc>
                <a:spcPct val="125000"/>
              </a:lnSpc>
            </a:pPr>
            <a:r>
              <a:rPr lang="en-US" sz="1100">
                <a:solidFill>
                  <a:srgbClr val="475569"/>
                </a:solidFill>
              </a:rPr>
              <a:t>Standardize what _id, _cd, _date, _timestamp mean across Ad Platforms — and inherit those definitions automatically from source to BI.</a:t>
            </a:r>
          </a:p>
        </p:txBody>
      </p:sp>
      <p:sp>
        <p:nvSpPr>
          <p:cNvPr id="74" name="TextBox 73">
            <a:extLst>
              <a:ext uri="{FF2B5EF4-FFF2-40B4-BE49-F238E27FC236}">
                <a16:creationId xmlns:a16="http://schemas.microsoft.com/office/drawing/2014/main" id="{B54D57B4-671D-35E8-2472-7A2EDA255595}"/>
              </a:ext>
            </a:extLst>
          </p:cNvPr>
          <p:cNvSpPr txBox="1"/>
          <p:nvPr/>
        </p:nvSpPr>
        <p:spPr>
          <a:xfrm>
            <a:off x="9546336" y="510831"/>
            <a:ext cx="2715768" cy="365760"/>
          </a:xfrm>
          <a:prstGeom prst="rect">
            <a:avLst/>
          </a:prstGeom>
          <a:solidFill>
            <a:schemeClr val="accent2">
              <a:lumMod val="20000"/>
              <a:lumOff val="80000"/>
            </a:schemeClr>
          </a:solidFill>
        </p:spPr>
        <p:txBody>
          <a:bodyPr wrap="square" rtlCol="0">
            <a:spAutoFit/>
          </a:bodyPr>
          <a:lstStyle/>
          <a:p>
            <a:pPr algn="ctr"/>
            <a:r>
              <a:rPr lang="en-US" sz="1000" b="1"/>
              <a:t>Deep Dive from AI-Enabled Use Cases with Alation and Cursor MCP slide </a:t>
            </a:r>
          </a:p>
        </p:txBody>
      </p:sp>
      <p:sp>
        <p:nvSpPr>
          <p:cNvPr id="75" name="Oval 74">
            <a:extLst>
              <a:ext uri="{FF2B5EF4-FFF2-40B4-BE49-F238E27FC236}">
                <a16:creationId xmlns:a16="http://schemas.microsoft.com/office/drawing/2014/main" id="{17F461CE-5293-208E-0A7E-7AB56CD3D4BA}"/>
              </a:ext>
            </a:extLst>
          </p:cNvPr>
          <p:cNvSpPr/>
          <p:nvPr/>
        </p:nvSpPr>
        <p:spPr>
          <a:xfrm>
            <a:off x="11768328" y="786347"/>
            <a:ext cx="329184" cy="329184"/>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200" b="1">
                <a:solidFill>
                  <a:srgbClr val="FFFFFF"/>
                </a:solidFill>
                <a:latin typeface="Calibri"/>
              </a:defRPr>
            </a:pPr>
            <a:r>
              <a:rPr lang="en-US" sz="1400" b="1">
                <a:solidFill>
                  <a:srgbClr val="FFFFFF"/>
                </a:solidFill>
                <a:latin typeface="Calibri"/>
              </a:rPr>
              <a:t>5</a:t>
            </a:r>
            <a:endParaRPr sz="1400" b="1">
              <a:solidFill>
                <a:srgbClr val="FFFFFF"/>
              </a:solidFill>
              <a:latin typeface="Calibri"/>
            </a:endParaRPr>
          </a:p>
        </p:txBody>
      </p:sp>
    </p:spTree>
    <p:extLst>
      <p:ext uri="{BB962C8B-B14F-4D97-AF65-F5344CB8AC3E}">
        <p14:creationId xmlns:p14="http://schemas.microsoft.com/office/powerpoint/2010/main" val="11883649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3CED9-222A-F457-ECA5-45455A107FE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60EDC15-FF9C-EE19-A35B-1F27D8AD4821}"/>
              </a:ext>
            </a:extLst>
          </p:cNvPr>
          <p:cNvSpPr/>
          <p:nvPr/>
        </p:nvSpPr>
        <p:spPr>
          <a:xfrm>
            <a:off x="0" y="0"/>
            <a:ext cx="12191695" cy="502920"/>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E22CD24-7E47-4690-DC73-2C9663EEF346}"/>
              </a:ext>
            </a:extLst>
          </p:cNvPr>
          <p:cNvSpPr txBox="1"/>
          <p:nvPr/>
        </p:nvSpPr>
        <p:spPr>
          <a:xfrm>
            <a:off x="457200" y="804672"/>
            <a:ext cx="11430000" cy="422873"/>
          </a:xfrm>
          <a:prstGeom prst="rect">
            <a:avLst/>
          </a:prstGeom>
          <a:noFill/>
        </p:spPr>
        <p:txBody>
          <a:bodyPr wrap="square" lIns="36576" tIns="18288" rIns="36576" bIns="18288" anchor="t">
            <a:spAutoFit/>
          </a:bodyPr>
          <a:lstStyle/>
          <a:p>
            <a:pPr algn="l">
              <a:lnSpc>
                <a:spcPct val="110000"/>
              </a:lnSpc>
              <a:spcBef>
                <a:spcPts val="0"/>
              </a:spcBef>
              <a:spcAft>
                <a:spcPts val="0"/>
              </a:spcAft>
            </a:pPr>
            <a:r>
              <a:rPr lang="en-US" sz="2400" b="1" i="0">
                <a:solidFill>
                  <a:srgbClr val="152342"/>
                </a:solidFill>
                <a:latin typeface="Calibri Light"/>
              </a:rPr>
              <a:t>Cursor–Alation MCP Use Case — Metadata Enrichment &amp; Documentation</a:t>
            </a:r>
          </a:p>
        </p:txBody>
      </p:sp>
      <p:sp>
        <p:nvSpPr>
          <p:cNvPr id="43" name="Rectangle 42">
            <a:extLst>
              <a:ext uri="{FF2B5EF4-FFF2-40B4-BE49-F238E27FC236}">
                <a16:creationId xmlns:a16="http://schemas.microsoft.com/office/drawing/2014/main" id="{0AAAC26C-75E1-79A5-A1E4-EC4E26962382}"/>
              </a:ext>
            </a:extLst>
          </p:cNvPr>
          <p:cNvSpPr/>
          <p:nvPr/>
        </p:nvSpPr>
        <p:spPr>
          <a:xfrm>
            <a:off x="0" y="6400800"/>
            <a:ext cx="12191695"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a:extLst>
              <a:ext uri="{FF2B5EF4-FFF2-40B4-BE49-F238E27FC236}">
                <a16:creationId xmlns:a16="http://schemas.microsoft.com/office/drawing/2014/main" id="{971496C8-A207-FBD2-56C7-68A4E14F9D27}"/>
              </a:ext>
            </a:extLst>
          </p:cNvPr>
          <p:cNvSpPr txBox="1"/>
          <p:nvPr/>
        </p:nvSpPr>
        <p:spPr>
          <a:xfrm>
            <a:off x="457200" y="6473952"/>
            <a:ext cx="11277295" cy="310896"/>
          </a:xfrm>
          <a:prstGeom prst="rect">
            <a:avLst/>
          </a:prstGeom>
          <a:noFill/>
        </p:spPr>
        <p:txBody>
          <a:bodyPr wrap="square" lIns="36576" tIns="18288" rIns="36576" bIns="18288" anchor="ctr">
            <a:spAutoFit/>
          </a:bodyPr>
          <a:lstStyle/>
          <a:p>
            <a:pPr algn="l">
              <a:lnSpc>
                <a:spcPct val="118000"/>
              </a:lnSpc>
              <a:spcBef>
                <a:spcPts val="0"/>
              </a:spcBef>
              <a:spcAft>
                <a:spcPts val="0"/>
              </a:spcAft>
            </a:pPr>
            <a:r>
              <a:rPr sz="1150" b="0" i="0">
                <a:solidFill>
                  <a:srgbClr val="64748B"/>
                </a:solidFill>
                <a:latin typeface="Calibri"/>
              </a:rPr>
              <a:t>DEET Data Governance  |  May 2026  |  Alation Data Catalog Overview</a:t>
            </a:r>
          </a:p>
        </p:txBody>
      </p:sp>
      <p:sp>
        <p:nvSpPr>
          <p:cNvPr id="7" name="TextBox 6"/>
          <p:cNvSpPr txBox="1"/>
          <p:nvPr/>
        </p:nvSpPr>
        <p:spPr>
          <a:xfrm>
            <a:off x="411480" y="1554480"/>
            <a:ext cx="11365992" cy="219456"/>
          </a:xfrm>
          <a:prstGeom prst="rect">
            <a:avLst/>
          </a:prstGeom>
          <a:noFill/>
        </p:spPr>
        <p:txBody>
          <a:bodyPr wrap="square" lIns="0" tIns="0" rIns="0" bIns="0" anchor="t">
            <a:spAutoFit/>
          </a:bodyPr>
          <a:lstStyle/>
          <a:p>
            <a:pPr algn="l">
              <a:defRPr sz="1100" b="1">
                <a:solidFill>
                  <a:srgbClr val="152342"/>
                </a:solidFill>
                <a:latin typeface="Calibri"/>
              </a:defRPr>
            </a:pPr>
            <a:r>
              <a:rPr sz="1100" b="1">
                <a:solidFill>
                  <a:srgbClr val="152342"/>
                </a:solidFill>
                <a:latin typeface="Calibri"/>
              </a:rPr>
              <a:t>BUSINESS IMPACT</a:t>
            </a:r>
          </a:p>
        </p:txBody>
      </p:sp>
      <p:sp>
        <p:nvSpPr>
          <p:cNvPr id="8" name="Rounded Rectangle 7"/>
          <p:cNvSpPr/>
          <p:nvPr/>
        </p:nvSpPr>
        <p:spPr>
          <a:xfrm>
            <a:off x="411480" y="1810512"/>
            <a:ext cx="2734056" cy="84124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11480" y="1810512"/>
            <a:ext cx="91440" cy="84124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 y="1956816"/>
            <a:ext cx="2331720" cy="338554"/>
          </a:xfrm>
          <a:prstGeom prst="rect">
            <a:avLst/>
          </a:prstGeom>
          <a:noFill/>
        </p:spPr>
        <p:txBody>
          <a:bodyPr wrap="square" lIns="0" tIns="0" rIns="0" bIns="0" anchor="t">
            <a:spAutoFit/>
          </a:bodyPr>
          <a:lstStyle/>
          <a:p>
            <a:pPr algn="l">
              <a:defRPr sz="2200" b="1">
                <a:solidFill>
                  <a:srgbClr val="152342"/>
                </a:solidFill>
                <a:latin typeface="Calibri Light"/>
              </a:defRPr>
            </a:pPr>
            <a:r>
              <a:rPr sz="2200" b="1">
                <a:solidFill>
                  <a:srgbClr val="152342"/>
                </a:solidFill>
                <a:latin typeface="Calibri Light"/>
              </a:rPr>
              <a:t>1000</a:t>
            </a:r>
            <a:r>
              <a:rPr lang="en-US" sz="2200" b="1">
                <a:solidFill>
                  <a:srgbClr val="152342"/>
                </a:solidFill>
                <a:latin typeface="Calibri Light"/>
              </a:rPr>
              <a:t>+</a:t>
            </a:r>
            <a:endParaRPr sz="2200" b="1">
              <a:solidFill>
                <a:srgbClr val="152342"/>
              </a:solidFill>
              <a:latin typeface="Calibri Light"/>
            </a:endParaRPr>
          </a:p>
        </p:txBody>
      </p:sp>
      <p:sp>
        <p:nvSpPr>
          <p:cNvPr id="11" name="TextBox 10"/>
          <p:cNvSpPr txBox="1"/>
          <p:nvPr/>
        </p:nvSpPr>
        <p:spPr>
          <a:xfrm>
            <a:off x="649224" y="2359152"/>
            <a:ext cx="2331720" cy="274320"/>
          </a:xfrm>
          <a:prstGeom prst="rect">
            <a:avLst/>
          </a:prstGeom>
          <a:noFill/>
        </p:spPr>
        <p:txBody>
          <a:bodyPr wrap="square" lIns="0" tIns="0" rIns="0" bIns="0" anchor="t">
            <a:spAutoFit/>
          </a:bodyPr>
          <a:lstStyle/>
          <a:p>
            <a:pPr algn="l">
              <a:defRPr sz="1000" b="0">
                <a:solidFill>
                  <a:srgbClr val="475569"/>
                </a:solidFill>
                <a:latin typeface="Calibri"/>
              </a:defRPr>
            </a:pPr>
            <a:r>
              <a:rPr sz="1000" b="0">
                <a:solidFill>
                  <a:srgbClr val="475569"/>
                </a:solidFill>
                <a:latin typeface="Calibri"/>
              </a:rPr>
              <a:t>Assets enriched</a:t>
            </a:r>
          </a:p>
        </p:txBody>
      </p:sp>
      <p:sp>
        <p:nvSpPr>
          <p:cNvPr id="12" name="Rounded Rectangle 11"/>
          <p:cNvSpPr/>
          <p:nvPr/>
        </p:nvSpPr>
        <p:spPr>
          <a:xfrm>
            <a:off x="3291840" y="1810512"/>
            <a:ext cx="2734056" cy="84124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291840" y="1810512"/>
            <a:ext cx="91440" cy="84124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29584" y="1956816"/>
            <a:ext cx="2331720" cy="384048"/>
          </a:xfrm>
          <a:prstGeom prst="rect">
            <a:avLst/>
          </a:prstGeom>
          <a:noFill/>
        </p:spPr>
        <p:txBody>
          <a:bodyPr wrap="square" lIns="0" tIns="0" rIns="0" bIns="0" anchor="t">
            <a:spAutoFit/>
          </a:bodyPr>
          <a:lstStyle/>
          <a:p>
            <a:pPr algn="l">
              <a:defRPr sz="2200" b="1">
                <a:solidFill>
                  <a:srgbClr val="152342"/>
                </a:solidFill>
                <a:latin typeface="Calibri Light"/>
              </a:defRPr>
            </a:pPr>
            <a:r>
              <a:rPr sz="2200" b="1">
                <a:solidFill>
                  <a:srgbClr val="152342"/>
                </a:solidFill>
                <a:latin typeface="Calibri Light"/>
              </a:rPr>
              <a:t>Days → Mins</a:t>
            </a:r>
          </a:p>
        </p:txBody>
      </p:sp>
      <p:sp>
        <p:nvSpPr>
          <p:cNvPr id="15" name="TextBox 14"/>
          <p:cNvSpPr txBox="1"/>
          <p:nvPr/>
        </p:nvSpPr>
        <p:spPr>
          <a:xfrm>
            <a:off x="3529584" y="2359152"/>
            <a:ext cx="2331720" cy="274320"/>
          </a:xfrm>
          <a:prstGeom prst="rect">
            <a:avLst/>
          </a:prstGeom>
          <a:noFill/>
        </p:spPr>
        <p:txBody>
          <a:bodyPr wrap="square" lIns="0" tIns="0" rIns="0" bIns="0" anchor="t">
            <a:spAutoFit/>
          </a:bodyPr>
          <a:lstStyle/>
          <a:p>
            <a:pPr algn="l">
              <a:defRPr sz="1000" b="0">
                <a:solidFill>
                  <a:srgbClr val="475569"/>
                </a:solidFill>
                <a:latin typeface="Calibri"/>
              </a:defRPr>
            </a:pPr>
            <a:r>
              <a:rPr sz="1000" b="0">
                <a:solidFill>
                  <a:srgbClr val="475569"/>
                </a:solidFill>
                <a:latin typeface="Calibri"/>
              </a:rPr>
              <a:t>Per asset effort</a:t>
            </a:r>
          </a:p>
        </p:txBody>
      </p:sp>
      <p:sp>
        <p:nvSpPr>
          <p:cNvPr id="16" name="Rounded Rectangle 15"/>
          <p:cNvSpPr/>
          <p:nvPr/>
        </p:nvSpPr>
        <p:spPr>
          <a:xfrm>
            <a:off x="6172200" y="1810512"/>
            <a:ext cx="2734056" cy="84124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172200" y="1810512"/>
            <a:ext cx="91440" cy="841248"/>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9944" y="1956816"/>
            <a:ext cx="2331720" cy="384048"/>
          </a:xfrm>
          <a:prstGeom prst="rect">
            <a:avLst/>
          </a:prstGeom>
          <a:noFill/>
        </p:spPr>
        <p:txBody>
          <a:bodyPr wrap="square" lIns="0" tIns="0" rIns="0" bIns="0" anchor="t">
            <a:spAutoFit/>
          </a:bodyPr>
          <a:lstStyle/>
          <a:p>
            <a:pPr algn="l">
              <a:defRPr sz="2200" b="1">
                <a:solidFill>
                  <a:srgbClr val="152342"/>
                </a:solidFill>
                <a:latin typeface="Calibri Light"/>
              </a:defRPr>
            </a:pPr>
            <a:r>
              <a:rPr sz="2200" b="1">
                <a:solidFill>
                  <a:srgbClr val="152342"/>
                </a:solidFill>
                <a:latin typeface="Calibri Light"/>
              </a:rPr>
              <a:t>AI-Assisted</a:t>
            </a:r>
          </a:p>
        </p:txBody>
      </p:sp>
      <p:sp>
        <p:nvSpPr>
          <p:cNvPr id="19" name="TextBox 18"/>
          <p:cNvSpPr txBox="1"/>
          <p:nvPr/>
        </p:nvSpPr>
        <p:spPr>
          <a:xfrm>
            <a:off x="6409944" y="2359152"/>
            <a:ext cx="2331720" cy="274320"/>
          </a:xfrm>
          <a:prstGeom prst="rect">
            <a:avLst/>
          </a:prstGeom>
          <a:noFill/>
        </p:spPr>
        <p:txBody>
          <a:bodyPr wrap="square" lIns="0" tIns="0" rIns="0" bIns="0" anchor="t">
            <a:spAutoFit/>
          </a:bodyPr>
          <a:lstStyle/>
          <a:p>
            <a:pPr algn="l">
              <a:defRPr sz="1000" b="0">
                <a:solidFill>
                  <a:srgbClr val="475569"/>
                </a:solidFill>
                <a:latin typeface="Calibri"/>
              </a:defRPr>
            </a:pPr>
            <a:r>
              <a:rPr sz="1000" b="0">
                <a:solidFill>
                  <a:srgbClr val="475569"/>
                </a:solidFill>
                <a:latin typeface="Calibri"/>
              </a:rPr>
              <a:t>Human-approved</a:t>
            </a:r>
          </a:p>
        </p:txBody>
      </p:sp>
      <p:sp>
        <p:nvSpPr>
          <p:cNvPr id="20" name="Rounded Rectangle 19"/>
          <p:cNvSpPr/>
          <p:nvPr/>
        </p:nvSpPr>
        <p:spPr>
          <a:xfrm>
            <a:off x="9043416" y="1810512"/>
            <a:ext cx="2734056" cy="84124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043416" y="1810512"/>
            <a:ext cx="91440" cy="841248"/>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281160" y="1956816"/>
            <a:ext cx="2331720" cy="384048"/>
          </a:xfrm>
          <a:prstGeom prst="rect">
            <a:avLst/>
          </a:prstGeom>
          <a:noFill/>
        </p:spPr>
        <p:txBody>
          <a:bodyPr wrap="square" lIns="0" tIns="0" rIns="0" bIns="0" anchor="t">
            <a:spAutoFit/>
          </a:bodyPr>
          <a:lstStyle/>
          <a:p>
            <a:pPr algn="l">
              <a:defRPr sz="2200" b="1">
                <a:solidFill>
                  <a:srgbClr val="152342"/>
                </a:solidFill>
                <a:latin typeface="Calibri Light"/>
              </a:defRPr>
            </a:pPr>
            <a:r>
              <a:rPr sz="2200" b="1">
                <a:solidFill>
                  <a:srgbClr val="152342"/>
                </a:solidFill>
                <a:latin typeface="Calibri Light"/>
              </a:rPr>
              <a:t>Scalable</a:t>
            </a:r>
          </a:p>
        </p:txBody>
      </p:sp>
      <p:sp>
        <p:nvSpPr>
          <p:cNvPr id="23" name="TextBox 22"/>
          <p:cNvSpPr txBox="1"/>
          <p:nvPr/>
        </p:nvSpPr>
        <p:spPr>
          <a:xfrm>
            <a:off x="9281160" y="2359152"/>
            <a:ext cx="2331720" cy="274320"/>
          </a:xfrm>
          <a:prstGeom prst="rect">
            <a:avLst/>
          </a:prstGeom>
          <a:noFill/>
        </p:spPr>
        <p:txBody>
          <a:bodyPr wrap="square" lIns="0" tIns="0" rIns="0" bIns="0" anchor="t">
            <a:spAutoFit/>
          </a:bodyPr>
          <a:lstStyle/>
          <a:p>
            <a:pPr algn="l">
              <a:defRPr sz="1000" b="0">
                <a:solidFill>
                  <a:srgbClr val="475569"/>
                </a:solidFill>
                <a:latin typeface="Calibri"/>
              </a:defRPr>
            </a:pPr>
            <a:r>
              <a:rPr sz="1000" b="0">
                <a:solidFill>
                  <a:srgbClr val="475569"/>
                </a:solidFill>
                <a:latin typeface="Calibri"/>
              </a:rPr>
              <a:t>Across all Ad domains</a:t>
            </a:r>
          </a:p>
        </p:txBody>
      </p:sp>
      <p:sp>
        <p:nvSpPr>
          <p:cNvPr id="24" name="TextBox 23"/>
          <p:cNvSpPr txBox="1"/>
          <p:nvPr/>
        </p:nvSpPr>
        <p:spPr>
          <a:xfrm>
            <a:off x="411480" y="2779776"/>
            <a:ext cx="5559552" cy="219456"/>
          </a:xfrm>
          <a:prstGeom prst="rect">
            <a:avLst/>
          </a:prstGeom>
          <a:noFill/>
        </p:spPr>
        <p:txBody>
          <a:bodyPr wrap="square" lIns="0" tIns="0" rIns="0" bIns="0" anchor="t">
            <a:spAutoFit/>
          </a:bodyPr>
          <a:lstStyle/>
          <a:p>
            <a:pPr algn="l">
              <a:defRPr sz="1100" b="1">
                <a:solidFill>
                  <a:srgbClr val="152342"/>
                </a:solidFill>
                <a:latin typeface="Calibri"/>
              </a:defRPr>
            </a:pPr>
            <a:r>
              <a:rPr sz="1100" b="1">
                <a:solidFill>
                  <a:srgbClr val="152342"/>
                </a:solidFill>
                <a:latin typeface="Calibri"/>
              </a:rPr>
              <a:t>THE CHALLENGE</a:t>
            </a:r>
          </a:p>
        </p:txBody>
      </p:sp>
      <p:sp>
        <p:nvSpPr>
          <p:cNvPr id="25" name="Rounded Rectangle 24"/>
          <p:cNvSpPr/>
          <p:nvPr/>
        </p:nvSpPr>
        <p:spPr>
          <a:xfrm>
            <a:off x="411480" y="3035808"/>
            <a:ext cx="5559552" cy="138988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411480" y="3035808"/>
            <a:ext cx="91440" cy="1389888"/>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9224" y="3163824"/>
            <a:ext cx="5157216" cy="1188720"/>
          </a:xfrm>
          <a:prstGeom prst="rect">
            <a:avLst/>
          </a:prstGeom>
          <a:noFill/>
        </p:spPr>
        <p:txBody>
          <a:bodyPr wrap="square" tIns="0">
            <a:spAutoFit/>
          </a:bodyPr>
          <a:lstStyle/>
          <a:p>
            <a:pPr algn="l">
              <a:lnSpc>
                <a:spcPct val="125000"/>
              </a:lnSpc>
              <a:spcAft>
                <a:spcPts val="600"/>
              </a:spcAft>
              <a:defRPr sz="1050" b="0">
                <a:solidFill>
                  <a:srgbClr val="334155"/>
                </a:solidFill>
                <a:latin typeface="Calibri"/>
              </a:defRPr>
            </a:pPr>
            <a:r>
              <a:rPr sz="1050" b="0">
                <a:solidFill>
                  <a:srgbClr val="334155"/>
                </a:solidFill>
                <a:latin typeface="Calibri"/>
              </a:rPr>
              <a:t>Thousands of tables and columns are catalogued but lack descriptions, stewards, or glossary links — limiting search, AI quality, and audit readiness.</a:t>
            </a:r>
          </a:p>
          <a:p>
            <a:pPr algn="l">
              <a:lnSpc>
                <a:spcPct val="125000"/>
              </a:lnSpc>
              <a:spcAft>
                <a:spcPts val="600"/>
              </a:spcAft>
              <a:defRPr sz="1050" b="0">
                <a:solidFill>
                  <a:srgbClr val="334155"/>
                </a:solidFill>
                <a:latin typeface="Calibri"/>
              </a:defRPr>
            </a:pPr>
            <a:r>
              <a:rPr sz="1050" b="0">
                <a:solidFill>
                  <a:srgbClr val="334155"/>
                </a:solidFill>
                <a:latin typeface="Calibri"/>
              </a:rPr>
              <a:t>Stewards cannot manually enrich at scale — curation backlogs grow and high-impact assets remain under-documented.</a:t>
            </a:r>
          </a:p>
        </p:txBody>
      </p:sp>
      <p:sp>
        <p:nvSpPr>
          <p:cNvPr id="28" name="TextBox 27"/>
          <p:cNvSpPr txBox="1"/>
          <p:nvPr/>
        </p:nvSpPr>
        <p:spPr>
          <a:xfrm>
            <a:off x="6227064" y="2779776"/>
            <a:ext cx="5559552" cy="219456"/>
          </a:xfrm>
          <a:prstGeom prst="rect">
            <a:avLst/>
          </a:prstGeom>
          <a:noFill/>
        </p:spPr>
        <p:txBody>
          <a:bodyPr wrap="square" lIns="0" tIns="0" rIns="0" bIns="0" anchor="t">
            <a:spAutoFit/>
          </a:bodyPr>
          <a:lstStyle/>
          <a:p>
            <a:pPr algn="l">
              <a:defRPr sz="1100" b="1">
                <a:solidFill>
                  <a:srgbClr val="152342"/>
                </a:solidFill>
                <a:latin typeface="Calibri"/>
              </a:defRPr>
            </a:pPr>
            <a:r>
              <a:rPr sz="1100" b="1">
                <a:solidFill>
                  <a:srgbClr val="152342"/>
                </a:solidFill>
                <a:latin typeface="Calibri"/>
              </a:rPr>
              <a:t>AI-ASSISTED WORKFLOW</a:t>
            </a:r>
          </a:p>
        </p:txBody>
      </p:sp>
      <p:sp>
        <p:nvSpPr>
          <p:cNvPr id="29" name="Rounded Rectangle 28"/>
          <p:cNvSpPr/>
          <p:nvPr/>
        </p:nvSpPr>
        <p:spPr>
          <a:xfrm>
            <a:off x="6227064" y="3035808"/>
            <a:ext cx="5559552" cy="138988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6391656" y="3145536"/>
            <a:ext cx="256032" cy="256032"/>
          </a:xfrm>
          <a:prstGeom prst="ellipse">
            <a:avLst/>
          </a:prstGeom>
          <a:solidFill>
            <a:srgbClr val="152342"/>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00" b="1">
                <a:solidFill>
                  <a:srgbClr val="FFFFFF"/>
                </a:solidFill>
                <a:latin typeface="Calibri"/>
              </a:defRPr>
            </a:pPr>
            <a:r>
              <a:rPr sz="1000" b="1">
                <a:solidFill>
                  <a:srgbClr val="FFFFFF"/>
                </a:solidFill>
                <a:latin typeface="Calibri"/>
              </a:rPr>
              <a:t>1</a:t>
            </a:r>
          </a:p>
        </p:txBody>
      </p:sp>
      <p:sp>
        <p:nvSpPr>
          <p:cNvPr id="31" name="TextBox 30"/>
          <p:cNvSpPr txBox="1"/>
          <p:nvPr/>
        </p:nvSpPr>
        <p:spPr>
          <a:xfrm>
            <a:off x="6793992" y="3127248"/>
            <a:ext cx="4828032" cy="201168"/>
          </a:xfrm>
          <a:prstGeom prst="rect">
            <a:avLst/>
          </a:prstGeom>
          <a:noFill/>
        </p:spPr>
        <p:txBody>
          <a:bodyPr wrap="square" lIns="0" tIns="0" rIns="0" bIns="0" anchor="t">
            <a:spAutoFit/>
          </a:bodyPr>
          <a:lstStyle/>
          <a:p>
            <a:pPr algn="l">
              <a:defRPr sz="1000" b="1">
                <a:solidFill>
                  <a:srgbClr val="152342"/>
                </a:solidFill>
                <a:latin typeface="Calibri"/>
              </a:defRPr>
            </a:pPr>
            <a:r>
              <a:rPr sz="1000" b="1">
                <a:solidFill>
                  <a:srgbClr val="152342"/>
                </a:solidFill>
                <a:latin typeface="Calibri"/>
              </a:rPr>
              <a:t>Coverage Gap Scan</a:t>
            </a:r>
          </a:p>
        </p:txBody>
      </p:sp>
      <p:sp>
        <p:nvSpPr>
          <p:cNvPr id="32" name="TextBox 31"/>
          <p:cNvSpPr txBox="1"/>
          <p:nvPr/>
        </p:nvSpPr>
        <p:spPr>
          <a:xfrm>
            <a:off x="6714744" y="3270503"/>
            <a:ext cx="4828032" cy="201168"/>
          </a:xfrm>
          <a:prstGeom prst="rect">
            <a:avLst/>
          </a:prstGeom>
          <a:noFill/>
        </p:spPr>
        <p:txBody>
          <a:bodyPr wrap="square" tIns="0">
            <a:spAutoFit/>
          </a:bodyPr>
          <a:lstStyle/>
          <a:p>
            <a:pPr algn="l">
              <a:lnSpc>
                <a:spcPct val="118000"/>
              </a:lnSpc>
              <a:defRPr sz="1000" b="0">
                <a:solidFill>
                  <a:srgbClr val="334155"/>
                </a:solidFill>
                <a:latin typeface="Calibri"/>
              </a:defRPr>
            </a:pPr>
            <a:r>
              <a:rPr sz="1000" b="0">
                <a:solidFill>
                  <a:srgbClr val="334155"/>
                </a:solidFill>
                <a:latin typeface="Calibri"/>
              </a:rPr>
              <a:t>MCP identifies undocumented or partial assets in priority Ad domains.</a:t>
            </a:r>
          </a:p>
        </p:txBody>
      </p:sp>
      <p:sp>
        <p:nvSpPr>
          <p:cNvPr id="33" name="Oval 32"/>
          <p:cNvSpPr/>
          <p:nvPr/>
        </p:nvSpPr>
        <p:spPr>
          <a:xfrm>
            <a:off x="6391656" y="3456432"/>
            <a:ext cx="256032" cy="256032"/>
          </a:xfrm>
          <a:prstGeom prst="ellipse">
            <a:avLst/>
          </a:prstGeom>
          <a:solidFill>
            <a:srgbClr val="152342"/>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00" b="1">
                <a:solidFill>
                  <a:srgbClr val="FFFFFF"/>
                </a:solidFill>
                <a:latin typeface="Calibri"/>
              </a:defRPr>
            </a:pPr>
            <a:r>
              <a:rPr sz="1000" b="1">
                <a:solidFill>
                  <a:srgbClr val="FFFFFF"/>
                </a:solidFill>
                <a:latin typeface="Calibri"/>
              </a:rPr>
              <a:t>2</a:t>
            </a:r>
          </a:p>
        </p:txBody>
      </p:sp>
      <p:sp>
        <p:nvSpPr>
          <p:cNvPr id="34" name="TextBox 33"/>
          <p:cNvSpPr txBox="1"/>
          <p:nvPr/>
        </p:nvSpPr>
        <p:spPr>
          <a:xfrm>
            <a:off x="6793992" y="3438144"/>
            <a:ext cx="4828032" cy="201168"/>
          </a:xfrm>
          <a:prstGeom prst="rect">
            <a:avLst/>
          </a:prstGeom>
          <a:noFill/>
        </p:spPr>
        <p:txBody>
          <a:bodyPr wrap="square" lIns="0" tIns="0" rIns="0" bIns="0" anchor="t">
            <a:spAutoFit/>
          </a:bodyPr>
          <a:lstStyle/>
          <a:p>
            <a:pPr algn="l">
              <a:defRPr sz="1000" b="1">
                <a:solidFill>
                  <a:srgbClr val="152342"/>
                </a:solidFill>
                <a:latin typeface="Calibri"/>
              </a:defRPr>
            </a:pPr>
            <a:r>
              <a:rPr sz="1000" b="1">
                <a:solidFill>
                  <a:srgbClr val="152342"/>
                </a:solidFill>
                <a:latin typeface="Calibri"/>
              </a:rPr>
              <a:t>AI Draft Enrichment</a:t>
            </a:r>
          </a:p>
        </p:txBody>
      </p:sp>
      <p:sp>
        <p:nvSpPr>
          <p:cNvPr id="35" name="TextBox 34"/>
          <p:cNvSpPr txBox="1"/>
          <p:nvPr/>
        </p:nvSpPr>
        <p:spPr>
          <a:xfrm>
            <a:off x="6714744" y="3565144"/>
            <a:ext cx="4828032" cy="201168"/>
          </a:xfrm>
          <a:prstGeom prst="rect">
            <a:avLst/>
          </a:prstGeom>
          <a:noFill/>
        </p:spPr>
        <p:txBody>
          <a:bodyPr wrap="square" tIns="0">
            <a:spAutoFit/>
          </a:bodyPr>
          <a:lstStyle/>
          <a:p>
            <a:pPr algn="l">
              <a:lnSpc>
                <a:spcPct val="118000"/>
              </a:lnSpc>
              <a:defRPr sz="1000" b="0">
                <a:solidFill>
                  <a:srgbClr val="334155"/>
                </a:solidFill>
                <a:latin typeface="Calibri"/>
              </a:defRPr>
            </a:pPr>
            <a:r>
              <a:rPr sz="1000" b="0">
                <a:solidFill>
                  <a:srgbClr val="334155"/>
                </a:solidFill>
                <a:latin typeface="Calibri"/>
              </a:rPr>
              <a:t>Generate descriptions, glossary mappings, and steward suggestions from patterns.</a:t>
            </a:r>
          </a:p>
        </p:txBody>
      </p:sp>
      <p:sp>
        <p:nvSpPr>
          <p:cNvPr id="36" name="Oval 35"/>
          <p:cNvSpPr/>
          <p:nvPr/>
        </p:nvSpPr>
        <p:spPr>
          <a:xfrm>
            <a:off x="6391656" y="3767328"/>
            <a:ext cx="256032" cy="256032"/>
          </a:xfrm>
          <a:prstGeom prst="ellipse">
            <a:avLst/>
          </a:prstGeom>
          <a:solidFill>
            <a:srgbClr val="152342"/>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00" b="1">
                <a:solidFill>
                  <a:srgbClr val="FFFFFF"/>
                </a:solidFill>
                <a:latin typeface="Calibri"/>
              </a:defRPr>
            </a:pPr>
            <a:r>
              <a:rPr sz="1000" b="1">
                <a:solidFill>
                  <a:srgbClr val="FFFFFF"/>
                </a:solidFill>
                <a:latin typeface="Calibri"/>
              </a:rPr>
              <a:t>3</a:t>
            </a:r>
          </a:p>
        </p:txBody>
      </p:sp>
      <p:sp>
        <p:nvSpPr>
          <p:cNvPr id="37" name="TextBox 36"/>
          <p:cNvSpPr txBox="1"/>
          <p:nvPr/>
        </p:nvSpPr>
        <p:spPr>
          <a:xfrm>
            <a:off x="6793992" y="3749039"/>
            <a:ext cx="4828032" cy="201168"/>
          </a:xfrm>
          <a:prstGeom prst="rect">
            <a:avLst/>
          </a:prstGeom>
          <a:noFill/>
        </p:spPr>
        <p:txBody>
          <a:bodyPr wrap="square" lIns="0" tIns="0" rIns="0" bIns="0" anchor="t">
            <a:spAutoFit/>
          </a:bodyPr>
          <a:lstStyle/>
          <a:p>
            <a:pPr algn="l">
              <a:defRPr sz="1000" b="1">
                <a:solidFill>
                  <a:srgbClr val="152342"/>
                </a:solidFill>
                <a:latin typeface="Calibri"/>
              </a:defRPr>
            </a:pPr>
            <a:r>
              <a:rPr sz="1000" b="1">
                <a:solidFill>
                  <a:srgbClr val="152342"/>
                </a:solidFill>
                <a:latin typeface="Calibri"/>
              </a:rPr>
              <a:t>Steward Review</a:t>
            </a:r>
          </a:p>
        </p:txBody>
      </p:sp>
      <p:sp>
        <p:nvSpPr>
          <p:cNvPr id="38" name="TextBox 37"/>
          <p:cNvSpPr txBox="1"/>
          <p:nvPr/>
        </p:nvSpPr>
        <p:spPr>
          <a:xfrm>
            <a:off x="6714744" y="3876040"/>
            <a:ext cx="4828032" cy="201168"/>
          </a:xfrm>
          <a:prstGeom prst="rect">
            <a:avLst/>
          </a:prstGeom>
          <a:noFill/>
        </p:spPr>
        <p:txBody>
          <a:bodyPr wrap="square" tIns="0">
            <a:spAutoFit/>
          </a:bodyPr>
          <a:lstStyle/>
          <a:p>
            <a:pPr algn="l">
              <a:lnSpc>
                <a:spcPct val="118000"/>
              </a:lnSpc>
              <a:defRPr sz="1000" b="0">
                <a:solidFill>
                  <a:srgbClr val="334155"/>
                </a:solidFill>
                <a:latin typeface="Calibri"/>
              </a:defRPr>
            </a:pPr>
            <a:r>
              <a:rPr sz="1000" b="0">
                <a:solidFill>
                  <a:srgbClr val="334155"/>
                </a:solidFill>
                <a:latin typeface="Calibri"/>
              </a:rPr>
              <a:t>Stewards approve, edit, or reject AI proposals in a managed queue.</a:t>
            </a:r>
          </a:p>
        </p:txBody>
      </p:sp>
      <p:sp>
        <p:nvSpPr>
          <p:cNvPr id="39" name="Oval 38"/>
          <p:cNvSpPr/>
          <p:nvPr/>
        </p:nvSpPr>
        <p:spPr>
          <a:xfrm>
            <a:off x="6391656" y="4078224"/>
            <a:ext cx="256032" cy="256032"/>
          </a:xfrm>
          <a:prstGeom prst="ellipse">
            <a:avLst/>
          </a:prstGeom>
          <a:solidFill>
            <a:srgbClr val="152342"/>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00" b="1">
                <a:solidFill>
                  <a:srgbClr val="FFFFFF"/>
                </a:solidFill>
                <a:latin typeface="Calibri"/>
              </a:defRPr>
            </a:pPr>
            <a:r>
              <a:rPr sz="1000" b="1">
                <a:solidFill>
                  <a:srgbClr val="FFFFFF"/>
                </a:solidFill>
                <a:latin typeface="Calibri"/>
              </a:rPr>
              <a:t>4</a:t>
            </a:r>
          </a:p>
        </p:txBody>
      </p:sp>
      <p:sp>
        <p:nvSpPr>
          <p:cNvPr id="40" name="TextBox 39"/>
          <p:cNvSpPr txBox="1"/>
          <p:nvPr/>
        </p:nvSpPr>
        <p:spPr>
          <a:xfrm>
            <a:off x="6793992" y="4059936"/>
            <a:ext cx="4828032" cy="201168"/>
          </a:xfrm>
          <a:prstGeom prst="rect">
            <a:avLst/>
          </a:prstGeom>
          <a:noFill/>
        </p:spPr>
        <p:txBody>
          <a:bodyPr wrap="square" lIns="0" tIns="0" rIns="0" bIns="0" anchor="t">
            <a:spAutoFit/>
          </a:bodyPr>
          <a:lstStyle/>
          <a:p>
            <a:pPr algn="l">
              <a:defRPr sz="1000" b="1">
                <a:solidFill>
                  <a:srgbClr val="152342"/>
                </a:solidFill>
                <a:latin typeface="Calibri"/>
              </a:defRPr>
            </a:pPr>
            <a:r>
              <a:rPr sz="1000" b="1">
                <a:solidFill>
                  <a:srgbClr val="152342"/>
                </a:solidFill>
                <a:latin typeface="Calibri"/>
              </a:rPr>
              <a:t>Push to Alation</a:t>
            </a:r>
          </a:p>
        </p:txBody>
      </p:sp>
      <p:sp>
        <p:nvSpPr>
          <p:cNvPr id="41" name="TextBox 40"/>
          <p:cNvSpPr txBox="1"/>
          <p:nvPr/>
        </p:nvSpPr>
        <p:spPr>
          <a:xfrm>
            <a:off x="6714744" y="4186936"/>
            <a:ext cx="4828032" cy="201168"/>
          </a:xfrm>
          <a:prstGeom prst="rect">
            <a:avLst/>
          </a:prstGeom>
          <a:noFill/>
        </p:spPr>
        <p:txBody>
          <a:bodyPr wrap="square" tIns="0">
            <a:spAutoFit/>
          </a:bodyPr>
          <a:lstStyle/>
          <a:p>
            <a:pPr algn="l">
              <a:lnSpc>
                <a:spcPct val="118000"/>
              </a:lnSpc>
              <a:defRPr sz="1000" b="0">
                <a:solidFill>
                  <a:srgbClr val="334155"/>
                </a:solidFill>
                <a:latin typeface="Calibri"/>
              </a:defRPr>
            </a:pPr>
            <a:r>
              <a:rPr sz="1000" b="0">
                <a:solidFill>
                  <a:srgbClr val="334155"/>
                </a:solidFill>
                <a:latin typeface="Calibri"/>
              </a:rPr>
              <a:t>Approved enrichments write back to Alation via API — versioned and auditable.</a:t>
            </a:r>
          </a:p>
        </p:txBody>
      </p:sp>
      <p:sp>
        <p:nvSpPr>
          <p:cNvPr id="42" name="TextBox 41"/>
          <p:cNvSpPr txBox="1"/>
          <p:nvPr/>
        </p:nvSpPr>
        <p:spPr>
          <a:xfrm>
            <a:off x="411480" y="4517136"/>
            <a:ext cx="11365992" cy="219456"/>
          </a:xfrm>
          <a:prstGeom prst="rect">
            <a:avLst/>
          </a:prstGeom>
          <a:noFill/>
        </p:spPr>
        <p:txBody>
          <a:bodyPr wrap="square" lIns="0" tIns="0" rIns="0" bIns="0" anchor="t">
            <a:spAutoFit/>
          </a:bodyPr>
          <a:lstStyle/>
          <a:p>
            <a:pPr algn="l">
              <a:defRPr sz="1100" b="1">
                <a:solidFill>
                  <a:srgbClr val="152342"/>
                </a:solidFill>
                <a:latin typeface="Calibri"/>
              </a:defRPr>
            </a:pPr>
            <a:r>
              <a:rPr sz="1100" b="1">
                <a:solidFill>
                  <a:srgbClr val="152342"/>
                </a:solidFill>
                <a:latin typeface="Calibri"/>
              </a:rPr>
              <a:t>KEY FINDINGS</a:t>
            </a:r>
          </a:p>
        </p:txBody>
      </p:sp>
      <p:sp>
        <p:nvSpPr>
          <p:cNvPr id="45" name="Rounded Rectangle 42"/>
          <p:cNvSpPr/>
          <p:nvPr/>
        </p:nvSpPr>
        <p:spPr>
          <a:xfrm>
            <a:off x="411480" y="4773168"/>
            <a:ext cx="5559552" cy="713232"/>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3"/>
          <p:cNvSpPr/>
          <p:nvPr/>
        </p:nvSpPr>
        <p:spPr>
          <a:xfrm>
            <a:off x="411480" y="4773168"/>
            <a:ext cx="91440" cy="71323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49224" y="4846320"/>
            <a:ext cx="5157216" cy="256032"/>
          </a:xfrm>
          <a:prstGeom prst="rect">
            <a:avLst/>
          </a:prstGeom>
          <a:noFill/>
        </p:spPr>
        <p:txBody>
          <a:bodyPr wrap="square" lIns="0" tIns="0" rIns="0" bIns="0" anchor="t">
            <a:spAutoFit/>
          </a:bodyPr>
          <a:lstStyle/>
          <a:p>
            <a:pPr algn="l">
              <a:defRPr sz="1100" b="1">
                <a:solidFill>
                  <a:srgbClr val="152342"/>
                </a:solidFill>
                <a:latin typeface="Calibri"/>
              </a:defRPr>
            </a:pPr>
            <a:r>
              <a:rPr sz="1100" b="1">
                <a:solidFill>
                  <a:srgbClr val="152342"/>
                </a:solidFill>
                <a:latin typeface="Calibri"/>
              </a:rPr>
              <a:t>Coverage moves from sporadic to consistent</a:t>
            </a:r>
          </a:p>
        </p:txBody>
      </p:sp>
      <p:sp>
        <p:nvSpPr>
          <p:cNvPr id="48" name="TextBox 47"/>
          <p:cNvSpPr txBox="1"/>
          <p:nvPr/>
        </p:nvSpPr>
        <p:spPr>
          <a:xfrm>
            <a:off x="649224" y="5079294"/>
            <a:ext cx="5157216" cy="310896"/>
          </a:xfrm>
          <a:prstGeom prst="rect">
            <a:avLst/>
          </a:prstGeom>
          <a:noFill/>
        </p:spPr>
        <p:txBody>
          <a:bodyPr wrap="square" tIns="0">
            <a:spAutoFit/>
          </a:bodyPr>
          <a:lstStyle/>
          <a:p>
            <a:pPr algn="l">
              <a:lnSpc>
                <a:spcPct val="122000"/>
              </a:lnSpc>
              <a:defRPr sz="1050" b="0">
                <a:solidFill>
                  <a:srgbClr val="334155"/>
                </a:solidFill>
                <a:latin typeface="Calibri"/>
              </a:defRPr>
            </a:pPr>
            <a:r>
              <a:rPr sz="1050" b="0">
                <a:solidFill>
                  <a:srgbClr val="334155"/>
                </a:solidFill>
                <a:latin typeface="Calibri"/>
              </a:rPr>
              <a:t>Priority domains reach near-full documentation — improving search, AI quality, and audit defensibility.</a:t>
            </a:r>
          </a:p>
        </p:txBody>
      </p:sp>
      <p:sp>
        <p:nvSpPr>
          <p:cNvPr id="49" name="Rounded Rectangle 46"/>
          <p:cNvSpPr/>
          <p:nvPr/>
        </p:nvSpPr>
        <p:spPr>
          <a:xfrm>
            <a:off x="6227064" y="4773168"/>
            <a:ext cx="5559552" cy="713232"/>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47"/>
          <p:cNvSpPr/>
          <p:nvPr/>
        </p:nvSpPr>
        <p:spPr>
          <a:xfrm>
            <a:off x="6227064" y="4773168"/>
            <a:ext cx="91440" cy="71323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464808" y="4846320"/>
            <a:ext cx="5157216" cy="256032"/>
          </a:xfrm>
          <a:prstGeom prst="rect">
            <a:avLst/>
          </a:prstGeom>
          <a:noFill/>
        </p:spPr>
        <p:txBody>
          <a:bodyPr wrap="square" lIns="0" tIns="0" rIns="0" bIns="0" anchor="t">
            <a:spAutoFit/>
          </a:bodyPr>
          <a:lstStyle/>
          <a:p>
            <a:pPr algn="l">
              <a:defRPr sz="1100" b="1">
                <a:solidFill>
                  <a:srgbClr val="152342"/>
                </a:solidFill>
                <a:latin typeface="Calibri"/>
              </a:defRPr>
            </a:pPr>
            <a:r>
              <a:rPr sz="1100" b="1">
                <a:solidFill>
                  <a:srgbClr val="152342"/>
                </a:solidFill>
                <a:latin typeface="Calibri"/>
              </a:rPr>
              <a:t>Humans stay in control</a:t>
            </a:r>
          </a:p>
        </p:txBody>
      </p:sp>
      <p:sp>
        <p:nvSpPr>
          <p:cNvPr id="52" name="TextBox 51"/>
          <p:cNvSpPr txBox="1"/>
          <p:nvPr/>
        </p:nvSpPr>
        <p:spPr>
          <a:xfrm>
            <a:off x="6464808" y="5079294"/>
            <a:ext cx="5157216" cy="310896"/>
          </a:xfrm>
          <a:prstGeom prst="rect">
            <a:avLst/>
          </a:prstGeom>
          <a:noFill/>
        </p:spPr>
        <p:txBody>
          <a:bodyPr wrap="square" tIns="0">
            <a:spAutoFit/>
          </a:bodyPr>
          <a:lstStyle/>
          <a:p>
            <a:pPr algn="l">
              <a:lnSpc>
                <a:spcPct val="122000"/>
              </a:lnSpc>
              <a:defRPr sz="1050" b="0">
                <a:solidFill>
                  <a:srgbClr val="334155"/>
                </a:solidFill>
                <a:latin typeface="Calibri"/>
              </a:defRPr>
            </a:pPr>
            <a:r>
              <a:rPr sz="1050" b="0">
                <a:solidFill>
                  <a:srgbClr val="334155"/>
                </a:solidFill>
                <a:latin typeface="Calibri"/>
              </a:rPr>
              <a:t>AI proposes; stewards decide. Every enrichment is reviewed and traceable, with rollback if needed.</a:t>
            </a:r>
          </a:p>
        </p:txBody>
      </p:sp>
      <p:sp>
        <p:nvSpPr>
          <p:cNvPr id="53" name="TextBox 52"/>
          <p:cNvSpPr txBox="1"/>
          <p:nvPr/>
        </p:nvSpPr>
        <p:spPr>
          <a:xfrm>
            <a:off x="411480" y="5577840"/>
            <a:ext cx="11365992" cy="201168"/>
          </a:xfrm>
          <a:prstGeom prst="rect">
            <a:avLst/>
          </a:prstGeom>
          <a:noFill/>
        </p:spPr>
        <p:txBody>
          <a:bodyPr wrap="square" lIns="0" tIns="0" rIns="0" bIns="0" anchor="t">
            <a:spAutoFit/>
          </a:bodyPr>
          <a:lstStyle/>
          <a:p>
            <a:pPr algn="l">
              <a:defRPr sz="1100" b="1">
                <a:solidFill>
                  <a:srgbClr val="152342"/>
                </a:solidFill>
                <a:latin typeface="Calibri"/>
              </a:defRPr>
            </a:pPr>
            <a:r>
              <a:rPr sz="1100" b="1">
                <a:solidFill>
                  <a:srgbClr val="152342"/>
                </a:solidFill>
                <a:latin typeface="Calibri"/>
              </a:rPr>
              <a:t>REUSABLE TEMPLATE — METADATA ENRICHMENT</a:t>
            </a:r>
          </a:p>
        </p:txBody>
      </p:sp>
      <p:sp>
        <p:nvSpPr>
          <p:cNvPr id="54" name="Rounded Rectangle 51"/>
          <p:cNvSpPr/>
          <p:nvPr/>
        </p:nvSpPr>
        <p:spPr>
          <a:xfrm>
            <a:off x="411480" y="5815584"/>
            <a:ext cx="2734056" cy="56692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55" name="Rounded Rectangle 52"/>
          <p:cNvSpPr/>
          <p:nvPr/>
        </p:nvSpPr>
        <p:spPr>
          <a:xfrm>
            <a:off x="411480" y="5815584"/>
            <a:ext cx="2734056"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539496" y="5843016"/>
            <a:ext cx="731520" cy="201168"/>
          </a:xfrm>
          <a:prstGeom prst="rect">
            <a:avLst/>
          </a:prstGeom>
          <a:noFill/>
        </p:spPr>
        <p:txBody>
          <a:bodyPr wrap="square" lIns="0" tIns="0" rIns="0" bIns="0" anchor="t">
            <a:spAutoFit/>
          </a:bodyPr>
          <a:lstStyle/>
          <a:p>
            <a:pPr algn="l">
              <a:defRPr sz="1000" b="1">
                <a:solidFill>
                  <a:srgbClr val="FFFFFF"/>
                </a:solidFill>
                <a:latin typeface="Calibri"/>
              </a:defRPr>
            </a:pPr>
            <a:r>
              <a:rPr sz="1000" b="1">
                <a:solidFill>
                  <a:srgbClr val="FFFFFF"/>
                </a:solidFill>
                <a:latin typeface="Calibri"/>
              </a:rPr>
              <a:t>Step 1</a:t>
            </a:r>
          </a:p>
        </p:txBody>
      </p:sp>
      <p:sp>
        <p:nvSpPr>
          <p:cNvPr id="57" name="TextBox 56"/>
          <p:cNvSpPr txBox="1"/>
          <p:nvPr/>
        </p:nvSpPr>
        <p:spPr>
          <a:xfrm>
            <a:off x="1362456" y="5843016"/>
            <a:ext cx="1655064" cy="201168"/>
          </a:xfrm>
          <a:prstGeom prst="rect">
            <a:avLst/>
          </a:prstGeom>
          <a:noFill/>
        </p:spPr>
        <p:txBody>
          <a:bodyPr wrap="square" lIns="0" tIns="0" rIns="0" bIns="0" anchor="t">
            <a:spAutoFit/>
          </a:bodyPr>
          <a:lstStyle/>
          <a:p>
            <a:pPr algn="r">
              <a:defRPr sz="1000" b="1">
                <a:solidFill>
                  <a:srgbClr val="FFFFFF"/>
                </a:solidFill>
                <a:latin typeface="Calibri"/>
              </a:defRPr>
            </a:pPr>
            <a:r>
              <a:rPr sz="1000" b="1">
                <a:solidFill>
                  <a:srgbClr val="FFFFFF"/>
                </a:solidFill>
                <a:latin typeface="Calibri"/>
              </a:rPr>
              <a:t>Scan</a:t>
            </a:r>
          </a:p>
        </p:txBody>
      </p:sp>
      <p:sp>
        <p:nvSpPr>
          <p:cNvPr id="58" name="TextBox 57"/>
          <p:cNvSpPr txBox="1"/>
          <p:nvPr/>
        </p:nvSpPr>
        <p:spPr>
          <a:xfrm>
            <a:off x="539496" y="6108192"/>
            <a:ext cx="2478024" cy="192681"/>
          </a:xfrm>
          <a:prstGeom prst="rect">
            <a:avLst/>
          </a:prstGeom>
          <a:noFill/>
        </p:spPr>
        <p:txBody>
          <a:bodyPr wrap="square" tIns="0">
            <a:spAutoFit/>
          </a:bodyPr>
          <a:lstStyle/>
          <a:p>
            <a:pPr algn="l">
              <a:lnSpc>
                <a:spcPct val="120000"/>
              </a:lnSpc>
              <a:defRPr sz="1000" b="0">
                <a:solidFill>
                  <a:srgbClr val="334155"/>
                </a:solidFill>
                <a:latin typeface="Calibri"/>
              </a:defRPr>
            </a:pPr>
            <a:r>
              <a:rPr sz="850" b="0">
                <a:solidFill>
                  <a:srgbClr val="334155"/>
                </a:solidFill>
                <a:latin typeface="Calibri"/>
              </a:rPr>
              <a:t>Identify undocumented assets in priority domains.</a:t>
            </a:r>
          </a:p>
        </p:txBody>
      </p:sp>
      <p:sp>
        <p:nvSpPr>
          <p:cNvPr id="59" name="Rounded Rectangle 56"/>
          <p:cNvSpPr/>
          <p:nvPr/>
        </p:nvSpPr>
        <p:spPr>
          <a:xfrm>
            <a:off x="3291840" y="5815584"/>
            <a:ext cx="2734056" cy="56692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57"/>
          <p:cNvSpPr/>
          <p:nvPr/>
        </p:nvSpPr>
        <p:spPr>
          <a:xfrm>
            <a:off x="3291840" y="5815584"/>
            <a:ext cx="2734056" cy="25603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419856" y="5843016"/>
            <a:ext cx="731520" cy="201168"/>
          </a:xfrm>
          <a:prstGeom prst="rect">
            <a:avLst/>
          </a:prstGeom>
          <a:noFill/>
        </p:spPr>
        <p:txBody>
          <a:bodyPr wrap="square" lIns="0" tIns="0" rIns="0" bIns="0" anchor="t">
            <a:spAutoFit/>
          </a:bodyPr>
          <a:lstStyle/>
          <a:p>
            <a:pPr algn="l">
              <a:defRPr sz="1000" b="1">
                <a:solidFill>
                  <a:srgbClr val="FFFFFF"/>
                </a:solidFill>
                <a:latin typeface="Calibri"/>
              </a:defRPr>
            </a:pPr>
            <a:r>
              <a:rPr sz="1000" b="1">
                <a:solidFill>
                  <a:srgbClr val="FFFFFF"/>
                </a:solidFill>
                <a:latin typeface="Calibri"/>
              </a:rPr>
              <a:t>Step 2</a:t>
            </a:r>
          </a:p>
        </p:txBody>
      </p:sp>
      <p:sp>
        <p:nvSpPr>
          <p:cNvPr id="62" name="TextBox 61"/>
          <p:cNvSpPr txBox="1"/>
          <p:nvPr/>
        </p:nvSpPr>
        <p:spPr>
          <a:xfrm>
            <a:off x="4242816" y="5843016"/>
            <a:ext cx="1655064" cy="201168"/>
          </a:xfrm>
          <a:prstGeom prst="rect">
            <a:avLst/>
          </a:prstGeom>
          <a:noFill/>
        </p:spPr>
        <p:txBody>
          <a:bodyPr wrap="square" lIns="0" tIns="0" rIns="0" bIns="0" anchor="t">
            <a:spAutoFit/>
          </a:bodyPr>
          <a:lstStyle/>
          <a:p>
            <a:pPr algn="r">
              <a:defRPr sz="1000" b="1">
                <a:solidFill>
                  <a:srgbClr val="FFFFFF"/>
                </a:solidFill>
                <a:latin typeface="Calibri"/>
              </a:defRPr>
            </a:pPr>
            <a:r>
              <a:rPr sz="1000" b="1">
                <a:solidFill>
                  <a:srgbClr val="FFFFFF"/>
                </a:solidFill>
                <a:latin typeface="Calibri"/>
              </a:rPr>
              <a:t>Draft</a:t>
            </a:r>
          </a:p>
        </p:txBody>
      </p:sp>
      <p:sp>
        <p:nvSpPr>
          <p:cNvPr id="63" name="TextBox 62"/>
          <p:cNvSpPr txBox="1"/>
          <p:nvPr/>
        </p:nvSpPr>
        <p:spPr>
          <a:xfrm>
            <a:off x="3419856" y="6108192"/>
            <a:ext cx="2478024" cy="192681"/>
          </a:xfrm>
          <a:prstGeom prst="rect">
            <a:avLst/>
          </a:prstGeom>
          <a:noFill/>
        </p:spPr>
        <p:txBody>
          <a:bodyPr wrap="square" tIns="0">
            <a:spAutoFit/>
          </a:bodyPr>
          <a:lstStyle/>
          <a:p>
            <a:pPr algn="l">
              <a:lnSpc>
                <a:spcPct val="120000"/>
              </a:lnSpc>
              <a:defRPr sz="1000" b="0">
                <a:solidFill>
                  <a:srgbClr val="334155"/>
                </a:solidFill>
                <a:latin typeface="Calibri"/>
              </a:defRPr>
            </a:pPr>
            <a:r>
              <a:rPr sz="850" b="0">
                <a:solidFill>
                  <a:srgbClr val="334155"/>
                </a:solidFill>
                <a:latin typeface="Calibri"/>
              </a:rPr>
              <a:t>AI proposes descriptions, glossary links, stewards.</a:t>
            </a:r>
          </a:p>
        </p:txBody>
      </p:sp>
      <p:sp>
        <p:nvSpPr>
          <p:cNvPr id="64" name="Rounded Rectangle 61"/>
          <p:cNvSpPr/>
          <p:nvPr/>
        </p:nvSpPr>
        <p:spPr>
          <a:xfrm>
            <a:off x="6172200" y="5815584"/>
            <a:ext cx="2734056" cy="56692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ounded Rectangle 62"/>
          <p:cNvSpPr/>
          <p:nvPr/>
        </p:nvSpPr>
        <p:spPr>
          <a:xfrm>
            <a:off x="6172200" y="5815584"/>
            <a:ext cx="2734056" cy="25603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300216" y="5843016"/>
            <a:ext cx="731520" cy="201168"/>
          </a:xfrm>
          <a:prstGeom prst="rect">
            <a:avLst/>
          </a:prstGeom>
          <a:noFill/>
        </p:spPr>
        <p:txBody>
          <a:bodyPr wrap="square" lIns="0" tIns="0" rIns="0" bIns="0" anchor="t">
            <a:spAutoFit/>
          </a:bodyPr>
          <a:lstStyle/>
          <a:p>
            <a:pPr algn="l">
              <a:defRPr sz="1000" b="1">
                <a:solidFill>
                  <a:srgbClr val="FFFFFF"/>
                </a:solidFill>
                <a:latin typeface="Calibri"/>
              </a:defRPr>
            </a:pPr>
            <a:r>
              <a:rPr sz="1000" b="1">
                <a:solidFill>
                  <a:srgbClr val="FFFFFF"/>
                </a:solidFill>
                <a:latin typeface="Calibri"/>
              </a:rPr>
              <a:t>Step 3</a:t>
            </a:r>
          </a:p>
        </p:txBody>
      </p:sp>
      <p:sp>
        <p:nvSpPr>
          <p:cNvPr id="67" name="TextBox 66"/>
          <p:cNvSpPr txBox="1"/>
          <p:nvPr/>
        </p:nvSpPr>
        <p:spPr>
          <a:xfrm>
            <a:off x="7123176" y="5843016"/>
            <a:ext cx="1655064" cy="201168"/>
          </a:xfrm>
          <a:prstGeom prst="rect">
            <a:avLst/>
          </a:prstGeom>
          <a:noFill/>
        </p:spPr>
        <p:txBody>
          <a:bodyPr wrap="square" lIns="0" tIns="0" rIns="0" bIns="0" anchor="t">
            <a:spAutoFit/>
          </a:bodyPr>
          <a:lstStyle/>
          <a:p>
            <a:pPr algn="r">
              <a:defRPr sz="1000" b="1">
                <a:solidFill>
                  <a:srgbClr val="FFFFFF"/>
                </a:solidFill>
                <a:latin typeface="Calibri"/>
              </a:defRPr>
            </a:pPr>
            <a:r>
              <a:rPr sz="1000" b="1">
                <a:solidFill>
                  <a:srgbClr val="FFFFFF"/>
                </a:solidFill>
                <a:latin typeface="Calibri"/>
              </a:rPr>
              <a:t>Review</a:t>
            </a:r>
          </a:p>
        </p:txBody>
      </p:sp>
      <p:sp>
        <p:nvSpPr>
          <p:cNvPr id="68" name="TextBox 67"/>
          <p:cNvSpPr txBox="1"/>
          <p:nvPr/>
        </p:nvSpPr>
        <p:spPr>
          <a:xfrm>
            <a:off x="6300216" y="6108192"/>
            <a:ext cx="2478024" cy="192681"/>
          </a:xfrm>
          <a:prstGeom prst="rect">
            <a:avLst/>
          </a:prstGeom>
          <a:noFill/>
        </p:spPr>
        <p:txBody>
          <a:bodyPr wrap="square" tIns="0">
            <a:spAutoFit/>
          </a:bodyPr>
          <a:lstStyle/>
          <a:p>
            <a:pPr algn="l">
              <a:lnSpc>
                <a:spcPct val="120000"/>
              </a:lnSpc>
              <a:defRPr sz="1000" b="0">
                <a:solidFill>
                  <a:srgbClr val="334155"/>
                </a:solidFill>
                <a:latin typeface="Calibri"/>
              </a:defRPr>
            </a:pPr>
            <a:r>
              <a:rPr sz="850" b="0">
                <a:solidFill>
                  <a:srgbClr val="334155"/>
                </a:solidFill>
                <a:latin typeface="Calibri"/>
              </a:rPr>
              <a:t>Steward approval queue with edit and override.</a:t>
            </a:r>
          </a:p>
        </p:txBody>
      </p:sp>
      <p:sp>
        <p:nvSpPr>
          <p:cNvPr id="69" name="Rounded Rectangle 66"/>
          <p:cNvSpPr/>
          <p:nvPr/>
        </p:nvSpPr>
        <p:spPr>
          <a:xfrm>
            <a:off x="9043416" y="5815584"/>
            <a:ext cx="2734056" cy="566928"/>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ounded Rectangle 67"/>
          <p:cNvSpPr/>
          <p:nvPr/>
        </p:nvSpPr>
        <p:spPr>
          <a:xfrm>
            <a:off x="9043416" y="5815584"/>
            <a:ext cx="2734056" cy="256032"/>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9180576" y="5843016"/>
            <a:ext cx="731520" cy="201168"/>
          </a:xfrm>
          <a:prstGeom prst="rect">
            <a:avLst/>
          </a:prstGeom>
          <a:noFill/>
        </p:spPr>
        <p:txBody>
          <a:bodyPr wrap="square" lIns="0" tIns="0" rIns="0" bIns="0" anchor="t">
            <a:spAutoFit/>
          </a:bodyPr>
          <a:lstStyle/>
          <a:p>
            <a:pPr algn="l">
              <a:defRPr sz="1000" b="1">
                <a:solidFill>
                  <a:srgbClr val="FFFFFF"/>
                </a:solidFill>
                <a:latin typeface="Calibri"/>
              </a:defRPr>
            </a:pPr>
            <a:r>
              <a:rPr sz="1000" b="1">
                <a:solidFill>
                  <a:srgbClr val="FFFFFF"/>
                </a:solidFill>
                <a:latin typeface="Calibri"/>
              </a:rPr>
              <a:t>Step 4</a:t>
            </a:r>
          </a:p>
        </p:txBody>
      </p:sp>
      <p:sp>
        <p:nvSpPr>
          <p:cNvPr id="72" name="TextBox 71"/>
          <p:cNvSpPr txBox="1"/>
          <p:nvPr/>
        </p:nvSpPr>
        <p:spPr>
          <a:xfrm>
            <a:off x="10003536" y="5843016"/>
            <a:ext cx="1655064" cy="201168"/>
          </a:xfrm>
          <a:prstGeom prst="rect">
            <a:avLst/>
          </a:prstGeom>
          <a:noFill/>
        </p:spPr>
        <p:txBody>
          <a:bodyPr wrap="square" lIns="0" tIns="0" rIns="0" bIns="0" anchor="t">
            <a:spAutoFit/>
          </a:bodyPr>
          <a:lstStyle/>
          <a:p>
            <a:pPr algn="r">
              <a:defRPr sz="1000" b="1">
                <a:solidFill>
                  <a:srgbClr val="FFFFFF"/>
                </a:solidFill>
                <a:latin typeface="Calibri"/>
              </a:defRPr>
            </a:pPr>
            <a:r>
              <a:rPr sz="1000" b="1">
                <a:solidFill>
                  <a:srgbClr val="FFFFFF"/>
                </a:solidFill>
                <a:latin typeface="Calibri"/>
              </a:rPr>
              <a:t>Apply</a:t>
            </a:r>
          </a:p>
        </p:txBody>
      </p:sp>
      <p:sp>
        <p:nvSpPr>
          <p:cNvPr id="73" name="TextBox 72"/>
          <p:cNvSpPr txBox="1"/>
          <p:nvPr/>
        </p:nvSpPr>
        <p:spPr>
          <a:xfrm>
            <a:off x="9180576" y="6108192"/>
            <a:ext cx="2478024" cy="192681"/>
          </a:xfrm>
          <a:prstGeom prst="rect">
            <a:avLst/>
          </a:prstGeom>
          <a:noFill/>
        </p:spPr>
        <p:txBody>
          <a:bodyPr wrap="square" tIns="0">
            <a:spAutoFit/>
          </a:bodyPr>
          <a:lstStyle/>
          <a:p>
            <a:pPr algn="l">
              <a:lnSpc>
                <a:spcPct val="120000"/>
              </a:lnSpc>
              <a:defRPr sz="1000" b="0">
                <a:solidFill>
                  <a:srgbClr val="334155"/>
                </a:solidFill>
                <a:latin typeface="Calibri"/>
              </a:defRPr>
            </a:pPr>
            <a:r>
              <a:rPr sz="850" b="0">
                <a:solidFill>
                  <a:srgbClr val="334155"/>
                </a:solidFill>
                <a:latin typeface="Calibri"/>
              </a:rPr>
              <a:t>Push approved enrichments to Alation via API.</a:t>
            </a:r>
          </a:p>
        </p:txBody>
      </p:sp>
      <p:sp>
        <p:nvSpPr>
          <p:cNvPr id="74" name="TextBox 73">
            <a:extLst>
              <a:ext uri="{FF2B5EF4-FFF2-40B4-BE49-F238E27FC236}">
                <a16:creationId xmlns:a16="http://schemas.microsoft.com/office/drawing/2014/main" id="{FF2037BE-F4F3-2AC4-04E2-8BC7ADACAC48}"/>
              </a:ext>
            </a:extLst>
          </p:cNvPr>
          <p:cNvSpPr txBox="1"/>
          <p:nvPr/>
        </p:nvSpPr>
        <p:spPr>
          <a:xfrm>
            <a:off x="411480" y="1245870"/>
            <a:ext cx="11521440" cy="232884"/>
          </a:xfrm>
          <a:prstGeom prst="rect">
            <a:avLst/>
          </a:prstGeom>
          <a:noFill/>
        </p:spPr>
        <p:txBody>
          <a:bodyPr wrap="square" lIns="36576" tIns="18288" rIns="36576" bIns="18288" anchor="t">
            <a:spAutoFit/>
          </a:bodyPr>
          <a:lstStyle/>
          <a:p>
            <a:pPr>
              <a:lnSpc>
                <a:spcPct val="125000"/>
              </a:lnSpc>
            </a:pPr>
            <a:r>
              <a:rPr lang="en-US" sz="1100">
                <a:solidFill>
                  <a:srgbClr val="475569"/>
                </a:solidFill>
              </a:rPr>
              <a:t>AI-drafted descriptions, glossary mappings, and steward suggestions — Ad Platforms catalog coverage moves from sporadic to consistent.</a:t>
            </a:r>
          </a:p>
        </p:txBody>
      </p:sp>
      <p:sp>
        <p:nvSpPr>
          <p:cNvPr id="6" name="TextBox 5">
            <a:extLst>
              <a:ext uri="{FF2B5EF4-FFF2-40B4-BE49-F238E27FC236}">
                <a16:creationId xmlns:a16="http://schemas.microsoft.com/office/drawing/2014/main" id="{85B4A415-2F62-0C67-DE9D-B6CFCC3811DD}"/>
              </a:ext>
            </a:extLst>
          </p:cNvPr>
          <p:cNvSpPr txBox="1"/>
          <p:nvPr/>
        </p:nvSpPr>
        <p:spPr>
          <a:xfrm>
            <a:off x="9546336" y="510831"/>
            <a:ext cx="2715768" cy="365760"/>
          </a:xfrm>
          <a:prstGeom prst="rect">
            <a:avLst/>
          </a:prstGeom>
          <a:solidFill>
            <a:schemeClr val="accent2">
              <a:lumMod val="20000"/>
              <a:lumOff val="80000"/>
            </a:schemeClr>
          </a:solidFill>
        </p:spPr>
        <p:txBody>
          <a:bodyPr wrap="square" rtlCol="0">
            <a:spAutoFit/>
          </a:bodyPr>
          <a:lstStyle/>
          <a:p>
            <a:pPr algn="ctr"/>
            <a:r>
              <a:rPr lang="en-US" sz="1000" b="1"/>
              <a:t>Deep Dive from AI-Enabled Use Cases with Alation and Cursor MCP slide </a:t>
            </a:r>
          </a:p>
        </p:txBody>
      </p:sp>
      <p:sp>
        <p:nvSpPr>
          <p:cNvPr id="75" name="Oval 74">
            <a:extLst>
              <a:ext uri="{FF2B5EF4-FFF2-40B4-BE49-F238E27FC236}">
                <a16:creationId xmlns:a16="http://schemas.microsoft.com/office/drawing/2014/main" id="{7EA310D4-E6A8-7F69-FE94-E40EF9FE70DB}"/>
              </a:ext>
            </a:extLst>
          </p:cNvPr>
          <p:cNvSpPr/>
          <p:nvPr/>
        </p:nvSpPr>
        <p:spPr>
          <a:xfrm>
            <a:off x="11768328" y="786347"/>
            <a:ext cx="329184" cy="329184"/>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200" b="1">
                <a:solidFill>
                  <a:srgbClr val="FFFFFF"/>
                </a:solidFill>
                <a:latin typeface="Calibri"/>
              </a:defRPr>
            </a:pPr>
            <a:r>
              <a:rPr lang="en-US" sz="1400" b="1">
                <a:solidFill>
                  <a:srgbClr val="FFFFFF"/>
                </a:solidFill>
                <a:latin typeface="Calibri"/>
              </a:rPr>
              <a:t>6</a:t>
            </a:r>
            <a:endParaRPr sz="1400" b="1">
              <a:solidFill>
                <a:srgbClr val="FFFFFF"/>
              </a:solidFill>
              <a:latin typeface="Calibri"/>
            </a:endParaRPr>
          </a:p>
        </p:txBody>
      </p:sp>
    </p:spTree>
    <p:extLst>
      <p:ext uri="{BB962C8B-B14F-4D97-AF65-F5344CB8AC3E}">
        <p14:creationId xmlns:p14="http://schemas.microsoft.com/office/powerpoint/2010/main" val="36076713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BA4A1-4903-A869-2007-DD1D186D753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261A3F1-44E5-748C-9A82-1AD8B1F90CF1}"/>
              </a:ext>
            </a:extLst>
          </p:cNvPr>
          <p:cNvSpPr/>
          <p:nvPr/>
        </p:nvSpPr>
        <p:spPr>
          <a:xfrm>
            <a:off x="0" y="0"/>
            <a:ext cx="12191695" cy="502920"/>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13E5A408-D324-B514-44DA-C2BBBA7375C8}"/>
              </a:ext>
            </a:extLst>
          </p:cNvPr>
          <p:cNvSpPr txBox="1"/>
          <p:nvPr/>
        </p:nvSpPr>
        <p:spPr>
          <a:xfrm>
            <a:off x="457200" y="804672"/>
            <a:ext cx="11430000" cy="422873"/>
          </a:xfrm>
          <a:prstGeom prst="rect">
            <a:avLst/>
          </a:prstGeom>
          <a:noFill/>
        </p:spPr>
        <p:txBody>
          <a:bodyPr wrap="square" lIns="36576" tIns="18288" rIns="36576" bIns="18288" anchor="t">
            <a:spAutoFit/>
          </a:bodyPr>
          <a:lstStyle/>
          <a:p>
            <a:pPr algn="l">
              <a:lnSpc>
                <a:spcPct val="110000"/>
              </a:lnSpc>
              <a:spcBef>
                <a:spcPts val="0"/>
              </a:spcBef>
              <a:spcAft>
                <a:spcPts val="0"/>
              </a:spcAft>
            </a:pPr>
            <a:r>
              <a:rPr lang="en-US" sz="2400" b="1" i="0">
                <a:solidFill>
                  <a:srgbClr val="152342"/>
                </a:solidFill>
                <a:latin typeface="Calibri Light"/>
              </a:rPr>
              <a:t>Data Catalog Strategy: Buy vs Build</a:t>
            </a:r>
          </a:p>
        </p:txBody>
      </p:sp>
      <p:sp>
        <p:nvSpPr>
          <p:cNvPr id="43" name="Rectangle 42">
            <a:extLst>
              <a:ext uri="{FF2B5EF4-FFF2-40B4-BE49-F238E27FC236}">
                <a16:creationId xmlns:a16="http://schemas.microsoft.com/office/drawing/2014/main" id="{18924E62-CE70-36BA-BE18-F4381ADD0386}"/>
              </a:ext>
            </a:extLst>
          </p:cNvPr>
          <p:cNvSpPr/>
          <p:nvPr/>
        </p:nvSpPr>
        <p:spPr>
          <a:xfrm>
            <a:off x="0" y="6400800"/>
            <a:ext cx="12191695"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a:extLst>
              <a:ext uri="{FF2B5EF4-FFF2-40B4-BE49-F238E27FC236}">
                <a16:creationId xmlns:a16="http://schemas.microsoft.com/office/drawing/2014/main" id="{349CE108-EABB-88A7-030E-873870B964FF}"/>
              </a:ext>
            </a:extLst>
          </p:cNvPr>
          <p:cNvSpPr txBox="1"/>
          <p:nvPr/>
        </p:nvSpPr>
        <p:spPr>
          <a:xfrm>
            <a:off x="457200" y="6473952"/>
            <a:ext cx="11277295" cy="310896"/>
          </a:xfrm>
          <a:prstGeom prst="rect">
            <a:avLst/>
          </a:prstGeom>
          <a:noFill/>
        </p:spPr>
        <p:txBody>
          <a:bodyPr wrap="square" lIns="36576" tIns="18288" rIns="36576" bIns="18288" anchor="ctr">
            <a:spAutoFit/>
          </a:bodyPr>
          <a:lstStyle/>
          <a:p>
            <a:pPr algn="l">
              <a:lnSpc>
                <a:spcPct val="118000"/>
              </a:lnSpc>
              <a:spcBef>
                <a:spcPts val="0"/>
              </a:spcBef>
              <a:spcAft>
                <a:spcPts val="0"/>
              </a:spcAft>
            </a:pPr>
            <a:r>
              <a:rPr sz="1150" b="0" i="0">
                <a:solidFill>
                  <a:srgbClr val="64748B"/>
                </a:solidFill>
                <a:latin typeface="Calibri"/>
              </a:rPr>
              <a:t>DEET Data Governance  |  May 2026  |  Alation Data Catalog Overview</a:t>
            </a:r>
          </a:p>
        </p:txBody>
      </p:sp>
      <p:sp>
        <p:nvSpPr>
          <p:cNvPr id="117" name="TextBox 116">
            <a:extLst>
              <a:ext uri="{FF2B5EF4-FFF2-40B4-BE49-F238E27FC236}">
                <a16:creationId xmlns:a16="http://schemas.microsoft.com/office/drawing/2014/main" id="{C1B97470-ABBD-6EB6-031E-E9F3BD66CE3C}"/>
              </a:ext>
            </a:extLst>
          </p:cNvPr>
          <p:cNvSpPr txBox="1"/>
          <p:nvPr/>
        </p:nvSpPr>
        <p:spPr>
          <a:xfrm>
            <a:off x="603503" y="1430274"/>
            <a:ext cx="5081969" cy="548640"/>
          </a:xfrm>
          <a:prstGeom prst="rect">
            <a:avLst/>
          </a:prstGeom>
          <a:noFill/>
        </p:spPr>
        <p:txBody>
          <a:bodyPr wrap="none">
            <a:spAutoFit/>
          </a:bodyPr>
          <a:lstStyle/>
          <a:p>
            <a:pPr>
              <a:defRPr sz="1800" b="1">
                <a:solidFill>
                  <a:srgbClr val="152342"/>
                </a:solidFill>
                <a:latin typeface="Calibri Light"/>
              </a:defRPr>
            </a:pPr>
            <a:r>
              <a:rPr sz="1400" b="1">
                <a:solidFill>
                  <a:srgbClr val="152342"/>
                </a:solidFill>
                <a:latin typeface="Calibri Light"/>
              </a:rPr>
              <a:t>Buy (Alation)</a:t>
            </a:r>
            <a:r>
              <a:rPr lang="en-US" sz="1400" b="1">
                <a:solidFill>
                  <a:srgbClr val="152342"/>
                </a:solidFill>
                <a:latin typeface="Calibri Light"/>
              </a:rPr>
              <a:t> - </a:t>
            </a:r>
            <a:r>
              <a:rPr lang="en-US" sz="1400">
                <a:solidFill>
                  <a:srgbClr val="475569"/>
                </a:solidFill>
                <a:latin typeface="Calibri"/>
              </a:rPr>
              <a:t>Continue with the established catalog platform and </a:t>
            </a:r>
          </a:p>
          <a:p>
            <a:pPr>
              <a:defRPr sz="1800" b="1">
                <a:solidFill>
                  <a:srgbClr val="152342"/>
                </a:solidFill>
                <a:latin typeface="Calibri Light"/>
              </a:defRPr>
            </a:pPr>
            <a:r>
              <a:rPr lang="en-US" sz="1400">
                <a:solidFill>
                  <a:srgbClr val="475569"/>
                </a:solidFill>
                <a:latin typeface="Calibri"/>
              </a:rPr>
              <a:t>expand on it.</a:t>
            </a:r>
          </a:p>
        </p:txBody>
      </p:sp>
      <p:sp>
        <p:nvSpPr>
          <p:cNvPr id="123" name="TextBox 122">
            <a:extLst>
              <a:ext uri="{FF2B5EF4-FFF2-40B4-BE49-F238E27FC236}">
                <a16:creationId xmlns:a16="http://schemas.microsoft.com/office/drawing/2014/main" id="{B3DE617D-B7FF-A0D0-047E-5D861D307299}"/>
              </a:ext>
            </a:extLst>
          </p:cNvPr>
          <p:cNvSpPr txBox="1"/>
          <p:nvPr/>
        </p:nvSpPr>
        <p:spPr>
          <a:xfrm>
            <a:off x="749808" y="2422913"/>
            <a:ext cx="2577084" cy="3446713"/>
          </a:xfrm>
          <a:prstGeom prst="rect">
            <a:avLst/>
          </a:prstGeom>
          <a:noFill/>
        </p:spPr>
        <p:txBody>
          <a:bodyPr wrap="square" anchor="t">
            <a:spAutoFit/>
          </a:bodyPr>
          <a:lstStyle/>
          <a:p>
            <a:pPr marL="171450" indent="-171450" algn="l">
              <a:lnSpc>
                <a:spcPct val="116000"/>
              </a:lnSpc>
              <a:spcAft>
                <a:spcPts val="300"/>
              </a:spcAft>
              <a:buFont typeface="Wingdings" panose="05000000000000000000" pitchFamily="2" charset="2"/>
              <a:buChar char="§"/>
              <a:defRPr sz="1000" b="0">
                <a:solidFill>
                  <a:srgbClr val="334155"/>
                </a:solidFill>
                <a:latin typeface="Calibri"/>
              </a:defRPr>
            </a:pPr>
            <a:r>
              <a:rPr sz="1200" b="0">
                <a:latin typeface="Calibri"/>
              </a:rPr>
              <a:t>Mature, enterprise-proven catalog with active vendor roadmap.</a:t>
            </a:r>
            <a:endParaRPr lang="en-US" sz="1200">
              <a:latin typeface="Calibri"/>
            </a:endParaRPr>
          </a:p>
          <a:p>
            <a:pPr marL="171450" indent="-171450" algn="l">
              <a:lnSpc>
                <a:spcPct val="116000"/>
              </a:lnSpc>
              <a:spcAft>
                <a:spcPts val="300"/>
              </a:spcAft>
              <a:buFont typeface="Wingdings" panose="05000000000000000000" pitchFamily="2" charset="2"/>
              <a:buChar char="§"/>
              <a:defRPr sz="1000" b="0">
                <a:solidFill>
                  <a:srgbClr val="334155"/>
                </a:solidFill>
                <a:latin typeface="Calibri"/>
              </a:defRPr>
            </a:pPr>
            <a:r>
              <a:rPr lang="en-US" sz="1200" b="0">
                <a:latin typeface="Calibri"/>
              </a:rPr>
              <a:t>Faster time to value; existing footprint across Snowflake, Databricks, Oracle, BI, and Ads sources.</a:t>
            </a:r>
          </a:p>
          <a:p>
            <a:pPr marL="171450" indent="-171450" algn="l">
              <a:lnSpc>
                <a:spcPct val="116000"/>
              </a:lnSpc>
              <a:spcAft>
                <a:spcPts val="300"/>
              </a:spcAft>
              <a:buFont typeface="Wingdings" panose="05000000000000000000" pitchFamily="2" charset="2"/>
              <a:buChar char="§"/>
              <a:defRPr sz="1000" b="0">
                <a:solidFill>
                  <a:srgbClr val="334155"/>
                </a:solidFill>
                <a:latin typeface="Calibri"/>
              </a:defRPr>
            </a:pPr>
            <a:r>
              <a:rPr lang="en-US" sz="1200" b="0">
                <a:latin typeface="Calibri"/>
              </a:rPr>
              <a:t>Built-in lineage, glossary, stewardship workflows, search, and API/MCP surfaces.</a:t>
            </a:r>
          </a:p>
          <a:p>
            <a:pPr marL="171450" indent="-171450" algn="l">
              <a:lnSpc>
                <a:spcPct val="116000"/>
              </a:lnSpc>
              <a:spcAft>
                <a:spcPts val="300"/>
              </a:spcAft>
              <a:buFont typeface="Wingdings" panose="05000000000000000000" pitchFamily="2" charset="2"/>
              <a:buChar char="§"/>
              <a:defRPr sz="1000" b="0">
                <a:solidFill>
                  <a:srgbClr val="334155"/>
                </a:solidFill>
                <a:latin typeface="Calibri"/>
              </a:defRPr>
            </a:pPr>
            <a:r>
              <a:rPr lang="en-US" sz="1200" b="0">
                <a:latin typeface="Calibri"/>
              </a:rPr>
              <a:t>Vendor SLAs, security certifications, support, and continued product investment.</a:t>
            </a:r>
          </a:p>
          <a:p>
            <a:pPr marL="171450" indent="-171450" algn="l">
              <a:lnSpc>
                <a:spcPct val="116000"/>
              </a:lnSpc>
              <a:spcAft>
                <a:spcPts val="300"/>
              </a:spcAft>
              <a:buFont typeface="Wingdings" panose="05000000000000000000" pitchFamily="2" charset="2"/>
              <a:buChar char="§"/>
              <a:defRPr sz="1000" b="0">
                <a:solidFill>
                  <a:srgbClr val="334155"/>
                </a:solidFill>
                <a:latin typeface="Calibri"/>
              </a:defRPr>
            </a:pPr>
            <a:r>
              <a:rPr lang="en-US" sz="1200" b="0">
                <a:latin typeface="Calibri"/>
              </a:rPr>
              <a:t>Broad connector library, training, and reference patterns from peer companies.</a:t>
            </a:r>
          </a:p>
        </p:txBody>
      </p:sp>
      <p:sp>
        <p:nvSpPr>
          <p:cNvPr id="124" name="TextBox 123">
            <a:extLst>
              <a:ext uri="{FF2B5EF4-FFF2-40B4-BE49-F238E27FC236}">
                <a16:creationId xmlns:a16="http://schemas.microsoft.com/office/drawing/2014/main" id="{8D8C33E2-CFD0-D6C4-78FF-6D84BA1FAAB1}"/>
              </a:ext>
            </a:extLst>
          </p:cNvPr>
          <p:cNvSpPr txBox="1"/>
          <p:nvPr/>
        </p:nvSpPr>
        <p:spPr>
          <a:xfrm>
            <a:off x="3436620" y="2422913"/>
            <a:ext cx="2577084" cy="3232488"/>
          </a:xfrm>
          <a:prstGeom prst="rect">
            <a:avLst/>
          </a:prstGeom>
          <a:noFill/>
        </p:spPr>
        <p:txBody>
          <a:bodyPr wrap="square" anchor="t">
            <a:spAutoFit/>
          </a:bodyPr>
          <a:lstStyle/>
          <a:p>
            <a:pPr marL="171450" indent="-171450" algn="l">
              <a:lnSpc>
                <a:spcPct val="116000"/>
              </a:lnSpc>
              <a:spcAft>
                <a:spcPts val="300"/>
              </a:spcAft>
              <a:buFont typeface="Wingdings" panose="05000000000000000000" pitchFamily="2" charset="2"/>
              <a:buChar char="§"/>
              <a:defRPr sz="1000" b="0">
                <a:solidFill>
                  <a:srgbClr val="334155"/>
                </a:solidFill>
                <a:latin typeface="Calibri"/>
              </a:defRPr>
            </a:pPr>
            <a:r>
              <a:rPr sz="1200" b="0">
                <a:solidFill>
                  <a:srgbClr val="334155"/>
                </a:solidFill>
                <a:latin typeface="Calibri"/>
              </a:rPr>
              <a:t>Recurring license / subscription cost scales with users, sources, and editions.</a:t>
            </a:r>
            <a:endParaRPr lang="en-US" sz="1200" b="0">
              <a:solidFill>
                <a:srgbClr val="334155"/>
              </a:solidFill>
              <a:latin typeface="Calibri"/>
            </a:endParaRPr>
          </a:p>
          <a:p>
            <a:pPr marL="171450" indent="-171450" algn="l">
              <a:lnSpc>
                <a:spcPct val="116000"/>
              </a:lnSpc>
              <a:spcAft>
                <a:spcPts val="300"/>
              </a:spcAft>
              <a:buFont typeface="Wingdings" panose="05000000000000000000" pitchFamily="2" charset="2"/>
              <a:buChar char="§"/>
              <a:defRPr sz="1000" b="0">
                <a:solidFill>
                  <a:srgbClr val="334155"/>
                </a:solidFill>
                <a:latin typeface="Calibri"/>
              </a:defRPr>
            </a:pPr>
            <a:r>
              <a:rPr sz="1200" b="0">
                <a:solidFill>
                  <a:srgbClr val="334155"/>
                </a:solidFill>
                <a:latin typeface="Calibri"/>
              </a:rPr>
              <a:t>Roadmap pace and priorities controlled by vendor; limited override on gaps.</a:t>
            </a:r>
            <a:endParaRPr lang="en-US" sz="1200" b="0">
              <a:solidFill>
                <a:srgbClr val="334155"/>
              </a:solidFill>
              <a:latin typeface="Calibri"/>
            </a:endParaRPr>
          </a:p>
          <a:p>
            <a:pPr marL="171450" indent="-171450" algn="l">
              <a:lnSpc>
                <a:spcPct val="116000"/>
              </a:lnSpc>
              <a:spcAft>
                <a:spcPts val="300"/>
              </a:spcAft>
              <a:buFont typeface="Wingdings" panose="05000000000000000000" pitchFamily="2" charset="2"/>
              <a:buChar char="§"/>
              <a:defRPr sz="1000" b="0">
                <a:solidFill>
                  <a:srgbClr val="334155"/>
                </a:solidFill>
                <a:latin typeface="Calibri"/>
              </a:defRPr>
            </a:pPr>
            <a:r>
              <a:rPr sz="1200" b="0">
                <a:solidFill>
                  <a:srgbClr val="334155"/>
                </a:solidFill>
                <a:latin typeface="Calibri"/>
              </a:rPr>
              <a:t>Customization bounded by product extensibility model and supported APIs.</a:t>
            </a:r>
            <a:endParaRPr lang="en-US" sz="1200" b="0">
              <a:solidFill>
                <a:srgbClr val="334155"/>
              </a:solidFill>
              <a:latin typeface="Calibri"/>
            </a:endParaRPr>
          </a:p>
          <a:p>
            <a:pPr marL="171450" indent="-171450" algn="l">
              <a:lnSpc>
                <a:spcPct val="116000"/>
              </a:lnSpc>
              <a:spcAft>
                <a:spcPts val="300"/>
              </a:spcAft>
              <a:buFont typeface="Wingdings" panose="05000000000000000000" pitchFamily="2" charset="2"/>
              <a:buChar char="§"/>
              <a:defRPr sz="1000" b="0">
                <a:solidFill>
                  <a:srgbClr val="334155"/>
                </a:solidFill>
                <a:latin typeface="Calibri"/>
              </a:defRPr>
            </a:pPr>
            <a:r>
              <a:rPr sz="1200" b="0">
                <a:solidFill>
                  <a:srgbClr val="334155"/>
                </a:solidFill>
                <a:latin typeface="Calibri"/>
              </a:rPr>
              <a:t>Vendor lock-in; migration / exit cost grows as adoption deepens.</a:t>
            </a:r>
            <a:endParaRPr lang="en-US" sz="1200" b="0">
              <a:solidFill>
                <a:srgbClr val="334155"/>
              </a:solidFill>
              <a:latin typeface="Calibri"/>
            </a:endParaRPr>
          </a:p>
          <a:p>
            <a:pPr marL="171450" indent="-171450" algn="l">
              <a:lnSpc>
                <a:spcPct val="116000"/>
              </a:lnSpc>
              <a:spcAft>
                <a:spcPts val="300"/>
              </a:spcAft>
              <a:buFont typeface="Wingdings" panose="05000000000000000000" pitchFamily="2" charset="2"/>
              <a:buChar char="§"/>
              <a:defRPr sz="1000" b="0">
                <a:solidFill>
                  <a:srgbClr val="334155"/>
                </a:solidFill>
                <a:latin typeface="Calibri"/>
              </a:defRPr>
            </a:pPr>
            <a:r>
              <a:rPr sz="1200" b="0">
                <a:solidFill>
                  <a:srgbClr val="334155"/>
                </a:solidFill>
                <a:latin typeface="Calibri"/>
              </a:rPr>
              <a:t>Feature gaps possible for niche Ads / Disney-specific workflows and policies.</a:t>
            </a:r>
          </a:p>
        </p:txBody>
      </p:sp>
      <p:sp>
        <p:nvSpPr>
          <p:cNvPr id="126" name="TextBox 125">
            <a:extLst>
              <a:ext uri="{FF2B5EF4-FFF2-40B4-BE49-F238E27FC236}">
                <a16:creationId xmlns:a16="http://schemas.microsoft.com/office/drawing/2014/main" id="{9E6402C9-465D-A7F6-E4A4-DAF7C0A92B46}"/>
              </a:ext>
            </a:extLst>
          </p:cNvPr>
          <p:cNvSpPr txBox="1"/>
          <p:nvPr/>
        </p:nvSpPr>
        <p:spPr>
          <a:xfrm>
            <a:off x="6324600" y="1439799"/>
            <a:ext cx="5424498" cy="738664"/>
          </a:xfrm>
          <a:prstGeom prst="rect">
            <a:avLst/>
          </a:prstGeom>
          <a:noFill/>
        </p:spPr>
        <p:txBody>
          <a:bodyPr wrap="none">
            <a:spAutoFit/>
          </a:bodyPr>
          <a:lstStyle/>
          <a:p>
            <a:pPr>
              <a:defRPr sz="1800" b="1">
                <a:solidFill>
                  <a:srgbClr val="152342"/>
                </a:solidFill>
                <a:latin typeface="Calibri Light"/>
              </a:defRPr>
            </a:pPr>
            <a:r>
              <a:rPr sz="1400" b="1">
                <a:solidFill>
                  <a:srgbClr val="152342"/>
                </a:solidFill>
                <a:latin typeface="Calibri Light"/>
              </a:rPr>
              <a:t>Build (Internal)</a:t>
            </a:r>
            <a:r>
              <a:rPr lang="en-US" sz="1400" b="1">
                <a:solidFill>
                  <a:srgbClr val="152342"/>
                </a:solidFill>
                <a:latin typeface="Calibri Light"/>
              </a:rPr>
              <a:t> - </a:t>
            </a:r>
            <a:r>
              <a:rPr lang="en-US" sz="1400">
                <a:solidFill>
                  <a:srgbClr val="475569"/>
                </a:solidFill>
                <a:latin typeface="Calibri"/>
              </a:rPr>
              <a:t>Invest in internally-developed catalog and governance </a:t>
            </a:r>
          </a:p>
          <a:p>
            <a:pPr>
              <a:defRPr sz="1800" b="1">
                <a:solidFill>
                  <a:srgbClr val="152342"/>
                </a:solidFill>
                <a:latin typeface="Calibri Light"/>
              </a:defRPr>
            </a:pPr>
            <a:r>
              <a:rPr lang="en-US" sz="1400">
                <a:solidFill>
                  <a:srgbClr val="475569"/>
                </a:solidFill>
                <a:latin typeface="Calibri"/>
              </a:rPr>
              <a:t>capabilities.</a:t>
            </a:r>
          </a:p>
          <a:p>
            <a:pPr>
              <a:defRPr sz="1800" b="1">
                <a:solidFill>
                  <a:srgbClr val="152342"/>
                </a:solidFill>
                <a:latin typeface="Calibri Light"/>
              </a:defRPr>
            </a:pPr>
            <a:endParaRPr sz="1400" b="1">
              <a:solidFill>
                <a:srgbClr val="152342"/>
              </a:solidFill>
              <a:latin typeface="Calibri Light"/>
            </a:endParaRPr>
          </a:p>
        </p:txBody>
      </p:sp>
      <p:sp>
        <p:nvSpPr>
          <p:cNvPr id="132" name="TextBox 131">
            <a:extLst>
              <a:ext uri="{FF2B5EF4-FFF2-40B4-BE49-F238E27FC236}">
                <a16:creationId xmlns:a16="http://schemas.microsoft.com/office/drawing/2014/main" id="{34237FC6-4A39-0056-5ED6-F941AFBA4829}"/>
              </a:ext>
            </a:extLst>
          </p:cNvPr>
          <p:cNvSpPr txBox="1"/>
          <p:nvPr/>
        </p:nvSpPr>
        <p:spPr>
          <a:xfrm>
            <a:off x="6324600" y="2422913"/>
            <a:ext cx="2577084" cy="3446713"/>
          </a:xfrm>
          <a:prstGeom prst="rect">
            <a:avLst/>
          </a:prstGeom>
          <a:noFill/>
        </p:spPr>
        <p:txBody>
          <a:bodyPr wrap="square" anchor="t">
            <a:spAutoFit/>
          </a:bodyPr>
          <a:lstStyle/>
          <a:p>
            <a:pPr marL="171450" indent="-171450">
              <a:lnSpc>
                <a:spcPct val="116000"/>
              </a:lnSpc>
              <a:spcAft>
                <a:spcPts val="300"/>
              </a:spcAft>
              <a:buFont typeface="Wingdings" panose="05000000000000000000" pitchFamily="2" charset="2"/>
              <a:buChar char="§"/>
              <a:defRPr sz="1000" b="0">
                <a:solidFill>
                  <a:srgbClr val="334155"/>
                </a:solidFill>
                <a:latin typeface="Calibri"/>
              </a:defRPr>
            </a:pPr>
            <a:r>
              <a:rPr sz="1200">
                <a:solidFill>
                  <a:srgbClr val="334155"/>
                </a:solidFill>
                <a:latin typeface="Calibri"/>
              </a:rPr>
              <a:t>Full customization for Ads / Disney terminology, controls, and policy nuances.</a:t>
            </a:r>
          </a:p>
          <a:p>
            <a:pPr marL="171450" indent="-171450">
              <a:lnSpc>
                <a:spcPct val="116000"/>
              </a:lnSpc>
              <a:spcAft>
                <a:spcPts val="300"/>
              </a:spcAft>
              <a:buFont typeface="Wingdings" panose="05000000000000000000" pitchFamily="2" charset="2"/>
              <a:buChar char="§"/>
              <a:defRPr sz="1000" b="0">
                <a:solidFill>
                  <a:srgbClr val="334155"/>
                </a:solidFill>
                <a:latin typeface="Calibri"/>
              </a:defRPr>
            </a:pPr>
            <a:r>
              <a:rPr sz="1200">
                <a:solidFill>
                  <a:srgbClr val="334155"/>
                </a:solidFill>
                <a:latin typeface="Calibri"/>
              </a:rPr>
              <a:t>Direct control over roadmap, integrations, data contracts, and SLAs.</a:t>
            </a:r>
          </a:p>
          <a:p>
            <a:pPr marL="171450" indent="-171450">
              <a:lnSpc>
                <a:spcPct val="116000"/>
              </a:lnSpc>
              <a:spcAft>
                <a:spcPts val="300"/>
              </a:spcAft>
              <a:buFont typeface="Wingdings" panose="05000000000000000000" pitchFamily="2" charset="2"/>
              <a:buChar char="§"/>
              <a:defRPr sz="1000" b="0">
                <a:solidFill>
                  <a:srgbClr val="334155"/>
                </a:solidFill>
                <a:latin typeface="Calibri"/>
              </a:defRPr>
            </a:pPr>
            <a:r>
              <a:rPr sz="1200">
                <a:solidFill>
                  <a:srgbClr val="334155"/>
                </a:solidFill>
                <a:latin typeface="Calibri"/>
              </a:rPr>
              <a:t>Tighter coupling with internal tooling (Cursor, Confluence, MCP, internal LLMs).</a:t>
            </a:r>
          </a:p>
          <a:p>
            <a:pPr marL="171450" indent="-171450">
              <a:lnSpc>
                <a:spcPct val="116000"/>
              </a:lnSpc>
              <a:spcAft>
                <a:spcPts val="300"/>
              </a:spcAft>
              <a:buFont typeface="Wingdings" panose="05000000000000000000" pitchFamily="2" charset="2"/>
              <a:buChar char="§"/>
              <a:defRPr sz="1000" b="0">
                <a:solidFill>
                  <a:srgbClr val="334155"/>
                </a:solidFill>
                <a:latin typeface="Calibri"/>
              </a:defRPr>
            </a:pPr>
            <a:r>
              <a:rPr sz="1200">
                <a:solidFill>
                  <a:srgbClr val="334155"/>
                </a:solidFill>
                <a:latin typeface="Calibri"/>
              </a:rPr>
              <a:t>Lower per-user marginal cost at scale once core capabilities are mature.</a:t>
            </a:r>
          </a:p>
          <a:p>
            <a:pPr marL="171450" indent="-171450">
              <a:lnSpc>
                <a:spcPct val="116000"/>
              </a:lnSpc>
              <a:spcAft>
                <a:spcPts val="300"/>
              </a:spcAft>
              <a:buFont typeface="Wingdings" panose="05000000000000000000" pitchFamily="2" charset="2"/>
              <a:buChar char="§"/>
              <a:defRPr sz="1000" b="0">
                <a:solidFill>
                  <a:srgbClr val="334155"/>
                </a:solidFill>
                <a:latin typeface="Calibri"/>
              </a:defRPr>
            </a:pPr>
            <a:r>
              <a:rPr sz="1200">
                <a:solidFill>
                  <a:srgbClr val="334155"/>
                </a:solidFill>
                <a:latin typeface="Calibri"/>
              </a:rPr>
              <a:t>Differentiation potential where vendor patterns do not fit the operating model.</a:t>
            </a:r>
          </a:p>
        </p:txBody>
      </p:sp>
      <p:sp>
        <p:nvSpPr>
          <p:cNvPr id="133" name="TextBox 132">
            <a:extLst>
              <a:ext uri="{FF2B5EF4-FFF2-40B4-BE49-F238E27FC236}">
                <a16:creationId xmlns:a16="http://schemas.microsoft.com/office/drawing/2014/main" id="{DFF0CEAE-16ED-23DB-1801-F3CCF69075C6}"/>
              </a:ext>
            </a:extLst>
          </p:cNvPr>
          <p:cNvSpPr txBox="1"/>
          <p:nvPr/>
        </p:nvSpPr>
        <p:spPr>
          <a:xfrm>
            <a:off x="9011412" y="2422913"/>
            <a:ext cx="2577084" cy="3232488"/>
          </a:xfrm>
          <a:prstGeom prst="rect">
            <a:avLst/>
          </a:prstGeom>
          <a:noFill/>
        </p:spPr>
        <p:txBody>
          <a:bodyPr wrap="square" anchor="t">
            <a:spAutoFit/>
          </a:bodyPr>
          <a:lstStyle/>
          <a:p>
            <a:pPr marL="171450" indent="-171450" algn="l">
              <a:lnSpc>
                <a:spcPct val="116000"/>
              </a:lnSpc>
              <a:spcAft>
                <a:spcPts val="300"/>
              </a:spcAft>
              <a:buFont typeface="Wingdings" panose="05000000000000000000" pitchFamily="2" charset="2"/>
              <a:buChar char="§"/>
              <a:defRPr sz="1000" b="0">
                <a:solidFill>
                  <a:srgbClr val="334155"/>
                </a:solidFill>
                <a:latin typeface="Calibri"/>
              </a:defRPr>
            </a:pPr>
            <a:r>
              <a:rPr sz="1200" b="0">
                <a:solidFill>
                  <a:srgbClr val="334155"/>
                </a:solidFill>
                <a:latin typeface="Calibri"/>
              </a:rPr>
              <a:t>Significant engineering investment to reach catalog/lineage/search parity.</a:t>
            </a:r>
            <a:endParaRPr lang="en-US" sz="1200" b="0">
              <a:solidFill>
                <a:srgbClr val="334155"/>
              </a:solidFill>
              <a:latin typeface="Calibri"/>
            </a:endParaRPr>
          </a:p>
          <a:p>
            <a:pPr marL="171450" indent="-171450" algn="l">
              <a:lnSpc>
                <a:spcPct val="116000"/>
              </a:lnSpc>
              <a:spcAft>
                <a:spcPts val="300"/>
              </a:spcAft>
              <a:buFont typeface="Wingdings" panose="05000000000000000000" pitchFamily="2" charset="2"/>
              <a:buChar char="§"/>
              <a:defRPr sz="1000" b="0">
                <a:solidFill>
                  <a:srgbClr val="334155"/>
                </a:solidFill>
                <a:latin typeface="Calibri"/>
              </a:defRPr>
            </a:pPr>
            <a:r>
              <a:rPr sz="1200" b="0">
                <a:solidFill>
                  <a:srgbClr val="334155"/>
                </a:solidFill>
                <a:latin typeface="Calibri"/>
              </a:rPr>
              <a:t>Longer time to value; multi-year delivery and execution risk.</a:t>
            </a:r>
            <a:endParaRPr lang="en-US" sz="1200" b="0">
              <a:solidFill>
                <a:srgbClr val="334155"/>
              </a:solidFill>
              <a:latin typeface="Calibri"/>
            </a:endParaRPr>
          </a:p>
          <a:p>
            <a:pPr marL="171450" indent="-171450" algn="l">
              <a:lnSpc>
                <a:spcPct val="116000"/>
              </a:lnSpc>
              <a:spcAft>
                <a:spcPts val="300"/>
              </a:spcAft>
              <a:buFont typeface="Wingdings" panose="05000000000000000000" pitchFamily="2" charset="2"/>
              <a:buChar char="§"/>
              <a:defRPr sz="1000" b="0">
                <a:solidFill>
                  <a:srgbClr val="334155"/>
                </a:solidFill>
                <a:latin typeface="Calibri"/>
              </a:defRPr>
            </a:pPr>
            <a:r>
              <a:rPr sz="1200" b="0">
                <a:solidFill>
                  <a:srgbClr val="334155"/>
                </a:solidFill>
                <a:latin typeface="Calibri"/>
              </a:rPr>
              <a:t>Ongoing platform, SRE, security, and compliance burden falls internally.</a:t>
            </a:r>
            <a:endParaRPr lang="en-US" sz="1200" b="0">
              <a:solidFill>
                <a:srgbClr val="334155"/>
              </a:solidFill>
              <a:latin typeface="Calibri"/>
            </a:endParaRPr>
          </a:p>
          <a:p>
            <a:pPr marL="171450" indent="-171450" algn="l">
              <a:lnSpc>
                <a:spcPct val="116000"/>
              </a:lnSpc>
              <a:spcAft>
                <a:spcPts val="300"/>
              </a:spcAft>
              <a:buFont typeface="Wingdings" panose="05000000000000000000" pitchFamily="2" charset="2"/>
              <a:buChar char="§"/>
              <a:defRPr sz="1000" b="0">
                <a:solidFill>
                  <a:srgbClr val="334155"/>
                </a:solidFill>
                <a:latin typeface="Calibri"/>
              </a:defRPr>
            </a:pPr>
            <a:r>
              <a:rPr sz="1200" b="0">
                <a:solidFill>
                  <a:srgbClr val="334155"/>
                </a:solidFill>
                <a:latin typeface="Calibri"/>
              </a:rPr>
              <a:t>Talent and retention dependency for specialized metadata / governance skills.</a:t>
            </a:r>
            <a:endParaRPr lang="en-US" sz="1200" b="0">
              <a:solidFill>
                <a:srgbClr val="334155"/>
              </a:solidFill>
              <a:latin typeface="Calibri"/>
            </a:endParaRPr>
          </a:p>
          <a:p>
            <a:pPr marL="171450" indent="-171450" algn="l">
              <a:lnSpc>
                <a:spcPct val="116000"/>
              </a:lnSpc>
              <a:spcAft>
                <a:spcPts val="300"/>
              </a:spcAft>
              <a:buFont typeface="Wingdings" panose="05000000000000000000" pitchFamily="2" charset="2"/>
              <a:buChar char="§"/>
              <a:defRPr sz="1000" b="0">
                <a:solidFill>
                  <a:srgbClr val="334155"/>
                </a:solidFill>
                <a:latin typeface="Calibri"/>
              </a:defRPr>
            </a:pPr>
            <a:r>
              <a:rPr sz="1200" b="0">
                <a:solidFill>
                  <a:srgbClr val="334155"/>
                </a:solidFill>
                <a:latin typeface="Calibri"/>
              </a:rPr>
              <a:t>No vendor-backed certifications, support contracts, or external community.</a:t>
            </a:r>
          </a:p>
        </p:txBody>
      </p:sp>
      <p:sp>
        <p:nvSpPr>
          <p:cNvPr id="136" name="Oval 135">
            <a:extLst>
              <a:ext uri="{FF2B5EF4-FFF2-40B4-BE49-F238E27FC236}">
                <a16:creationId xmlns:a16="http://schemas.microsoft.com/office/drawing/2014/main" id="{7C847461-E326-F3BF-1F56-20343BBA6380}"/>
              </a:ext>
            </a:extLst>
          </p:cNvPr>
          <p:cNvSpPr/>
          <p:nvPr/>
        </p:nvSpPr>
        <p:spPr>
          <a:xfrm>
            <a:off x="2217928" y="4340733"/>
            <a:ext cx="128016" cy="128016"/>
          </a:xfrm>
          <a:prstGeom prst="ellipse">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38" name="Oval 137">
            <a:extLst>
              <a:ext uri="{FF2B5EF4-FFF2-40B4-BE49-F238E27FC236}">
                <a16:creationId xmlns:a16="http://schemas.microsoft.com/office/drawing/2014/main" id="{45125572-3199-FC7B-2C87-74EC9DF676CC}"/>
              </a:ext>
            </a:extLst>
          </p:cNvPr>
          <p:cNvSpPr/>
          <p:nvPr/>
        </p:nvSpPr>
        <p:spPr>
          <a:xfrm>
            <a:off x="9846056" y="4340733"/>
            <a:ext cx="128016" cy="128016"/>
          </a:xfrm>
          <a:prstGeom prst="ellipse">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grpSp>
        <p:nvGrpSpPr>
          <p:cNvPr id="171" name="Group 170">
            <a:extLst>
              <a:ext uri="{FF2B5EF4-FFF2-40B4-BE49-F238E27FC236}">
                <a16:creationId xmlns:a16="http://schemas.microsoft.com/office/drawing/2014/main" id="{6C84633C-B4DE-9020-2662-FEA4FA178458}"/>
              </a:ext>
            </a:extLst>
          </p:cNvPr>
          <p:cNvGrpSpPr/>
          <p:nvPr/>
        </p:nvGrpSpPr>
        <p:grpSpPr>
          <a:xfrm>
            <a:off x="6324600" y="2084130"/>
            <a:ext cx="712270" cy="307777"/>
            <a:chOff x="6324600" y="1688914"/>
            <a:chExt cx="712270" cy="307777"/>
          </a:xfrm>
        </p:grpSpPr>
        <p:sp>
          <p:nvSpPr>
            <p:cNvPr id="160" name="Oval 159">
              <a:extLst>
                <a:ext uri="{FF2B5EF4-FFF2-40B4-BE49-F238E27FC236}">
                  <a16:creationId xmlns:a16="http://schemas.microsoft.com/office/drawing/2014/main" id="{32C4ABAA-6BA6-EDB1-2A48-A6501566BCC3}"/>
                </a:ext>
              </a:extLst>
            </p:cNvPr>
            <p:cNvSpPr/>
            <p:nvPr/>
          </p:nvSpPr>
          <p:spPr>
            <a:xfrm>
              <a:off x="6324600" y="1725490"/>
              <a:ext cx="128016" cy="128016"/>
            </a:xfrm>
            <a:prstGeom prst="ellipse">
              <a:avLst/>
            </a:prstGeom>
            <a:solidFill>
              <a:srgbClr val="156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61" name="TextBox 160">
              <a:extLst>
                <a:ext uri="{FF2B5EF4-FFF2-40B4-BE49-F238E27FC236}">
                  <a16:creationId xmlns:a16="http://schemas.microsoft.com/office/drawing/2014/main" id="{299FA3A3-32BF-F309-1E2C-CFE66EF09387}"/>
                </a:ext>
              </a:extLst>
            </p:cNvPr>
            <p:cNvSpPr txBox="1"/>
            <p:nvPr/>
          </p:nvSpPr>
          <p:spPr>
            <a:xfrm>
              <a:off x="6525768" y="1688914"/>
              <a:ext cx="511102" cy="307777"/>
            </a:xfrm>
            <a:prstGeom prst="rect">
              <a:avLst/>
            </a:prstGeom>
            <a:noFill/>
          </p:spPr>
          <p:txBody>
            <a:bodyPr wrap="none">
              <a:spAutoFit/>
            </a:bodyPr>
            <a:lstStyle/>
            <a:p>
              <a:pPr algn="l">
                <a:defRPr sz="1100" b="1">
                  <a:solidFill>
                    <a:srgbClr val="156F4A"/>
                  </a:solidFill>
                  <a:latin typeface="Calibri"/>
                </a:defRPr>
              </a:pPr>
              <a:r>
                <a:rPr sz="1400" b="1">
                  <a:solidFill>
                    <a:srgbClr val="156F4A"/>
                  </a:solidFill>
                  <a:latin typeface="Calibri"/>
                </a:rPr>
                <a:t>Pros</a:t>
              </a:r>
            </a:p>
          </p:txBody>
        </p:sp>
      </p:grpSp>
      <p:grpSp>
        <p:nvGrpSpPr>
          <p:cNvPr id="172" name="Group 171">
            <a:extLst>
              <a:ext uri="{FF2B5EF4-FFF2-40B4-BE49-F238E27FC236}">
                <a16:creationId xmlns:a16="http://schemas.microsoft.com/office/drawing/2014/main" id="{19267D66-75AF-C63F-FF10-7DAEE59E5271}"/>
              </a:ext>
            </a:extLst>
          </p:cNvPr>
          <p:cNvGrpSpPr/>
          <p:nvPr/>
        </p:nvGrpSpPr>
        <p:grpSpPr>
          <a:xfrm>
            <a:off x="9011412" y="2084130"/>
            <a:ext cx="744907" cy="307777"/>
            <a:chOff x="9011412" y="1688914"/>
            <a:chExt cx="744907" cy="307777"/>
          </a:xfrm>
        </p:grpSpPr>
        <p:sp>
          <p:nvSpPr>
            <p:cNvPr id="162" name="Oval 161">
              <a:extLst>
                <a:ext uri="{FF2B5EF4-FFF2-40B4-BE49-F238E27FC236}">
                  <a16:creationId xmlns:a16="http://schemas.microsoft.com/office/drawing/2014/main" id="{4336C3C4-8117-7518-B7C3-539367C1C925}"/>
                </a:ext>
              </a:extLst>
            </p:cNvPr>
            <p:cNvSpPr/>
            <p:nvPr/>
          </p:nvSpPr>
          <p:spPr>
            <a:xfrm>
              <a:off x="9011412" y="1725490"/>
              <a:ext cx="128016" cy="128016"/>
            </a:xfrm>
            <a:prstGeom prst="ellipse">
              <a:avLst/>
            </a:prstGeom>
            <a:solidFill>
              <a:srgbClr val="9B2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63" name="TextBox 162">
              <a:extLst>
                <a:ext uri="{FF2B5EF4-FFF2-40B4-BE49-F238E27FC236}">
                  <a16:creationId xmlns:a16="http://schemas.microsoft.com/office/drawing/2014/main" id="{189BCA39-4883-F986-4A78-04DF9A288717}"/>
                </a:ext>
              </a:extLst>
            </p:cNvPr>
            <p:cNvSpPr txBox="1"/>
            <p:nvPr/>
          </p:nvSpPr>
          <p:spPr>
            <a:xfrm>
              <a:off x="9212580" y="1688914"/>
              <a:ext cx="543739" cy="307777"/>
            </a:xfrm>
            <a:prstGeom prst="rect">
              <a:avLst/>
            </a:prstGeom>
            <a:noFill/>
          </p:spPr>
          <p:txBody>
            <a:bodyPr wrap="none">
              <a:spAutoFit/>
            </a:bodyPr>
            <a:lstStyle/>
            <a:p>
              <a:pPr algn="l">
                <a:defRPr sz="1100" b="1">
                  <a:solidFill>
                    <a:srgbClr val="9B2C2C"/>
                  </a:solidFill>
                  <a:latin typeface="Calibri"/>
                </a:defRPr>
              </a:pPr>
              <a:r>
                <a:rPr sz="1400" b="1">
                  <a:solidFill>
                    <a:srgbClr val="9B2C2C"/>
                  </a:solidFill>
                  <a:latin typeface="Calibri"/>
                </a:rPr>
                <a:t>Cons</a:t>
              </a:r>
            </a:p>
          </p:txBody>
        </p:sp>
      </p:grpSp>
      <p:grpSp>
        <p:nvGrpSpPr>
          <p:cNvPr id="169" name="Group 168">
            <a:extLst>
              <a:ext uri="{FF2B5EF4-FFF2-40B4-BE49-F238E27FC236}">
                <a16:creationId xmlns:a16="http://schemas.microsoft.com/office/drawing/2014/main" id="{866D0415-C77B-D673-4567-59C9ED2569C5}"/>
              </a:ext>
            </a:extLst>
          </p:cNvPr>
          <p:cNvGrpSpPr/>
          <p:nvPr/>
        </p:nvGrpSpPr>
        <p:grpSpPr>
          <a:xfrm>
            <a:off x="749808" y="2084130"/>
            <a:ext cx="712270" cy="307777"/>
            <a:chOff x="908946" y="1698296"/>
            <a:chExt cx="712270" cy="307777"/>
          </a:xfrm>
        </p:grpSpPr>
        <p:sp>
          <p:nvSpPr>
            <p:cNvPr id="165" name="Oval 164">
              <a:extLst>
                <a:ext uri="{FF2B5EF4-FFF2-40B4-BE49-F238E27FC236}">
                  <a16:creationId xmlns:a16="http://schemas.microsoft.com/office/drawing/2014/main" id="{8C0453D1-AF44-DF5F-20D6-5D87E1334CA3}"/>
                </a:ext>
              </a:extLst>
            </p:cNvPr>
            <p:cNvSpPr/>
            <p:nvPr/>
          </p:nvSpPr>
          <p:spPr>
            <a:xfrm>
              <a:off x="908946" y="1734872"/>
              <a:ext cx="128016" cy="128016"/>
            </a:xfrm>
            <a:prstGeom prst="ellipse">
              <a:avLst/>
            </a:prstGeom>
            <a:solidFill>
              <a:srgbClr val="156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66" name="TextBox 165">
              <a:extLst>
                <a:ext uri="{FF2B5EF4-FFF2-40B4-BE49-F238E27FC236}">
                  <a16:creationId xmlns:a16="http://schemas.microsoft.com/office/drawing/2014/main" id="{A2AF9105-7CA4-CC70-B934-38F4178CAFDA}"/>
                </a:ext>
              </a:extLst>
            </p:cNvPr>
            <p:cNvSpPr txBox="1"/>
            <p:nvPr/>
          </p:nvSpPr>
          <p:spPr>
            <a:xfrm>
              <a:off x="1110114" y="1698296"/>
              <a:ext cx="511102" cy="307777"/>
            </a:xfrm>
            <a:prstGeom prst="rect">
              <a:avLst/>
            </a:prstGeom>
            <a:noFill/>
          </p:spPr>
          <p:txBody>
            <a:bodyPr wrap="none">
              <a:spAutoFit/>
            </a:bodyPr>
            <a:lstStyle/>
            <a:p>
              <a:pPr algn="l">
                <a:defRPr sz="1100" b="1">
                  <a:solidFill>
                    <a:srgbClr val="156F4A"/>
                  </a:solidFill>
                  <a:latin typeface="Calibri"/>
                </a:defRPr>
              </a:pPr>
              <a:r>
                <a:rPr sz="1400" b="1">
                  <a:solidFill>
                    <a:srgbClr val="156F4A"/>
                  </a:solidFill>
                  <a:latin typeface="Calibri"/>
                </a:rPr>
                <a:t>Pros</a:t>
              </a:r>
            </a:p>
          </p:txBody>
        </p:sp>
      </p:grpSp>
      <p:grpSp>
        <p:nvGrpSpPr>
          <p:cNvPr id="170" name="Group 169">
            <a:extLst>
              <a:ext uri="{FF2B5EF4-FFF2-40B4-BE49-F238E27FC236}">
                <a16:creationId xmlns:a16="http://schemas.microsoft.com/office/drawing/2014/main" id="{F9D47664-C963-774B-BB56-141BF1C02C89}"/>
              </a:ext>
            </a:extLst>
          </p:cNvPr>
          <p:cNvGrpSpPr/>
          <p:nvPr/>
        </p:nvGrpSpPr>
        <p:grpSpPr>
          <a:xfrm>
            <a:off x="3436620" y="2084130"/>
            <a:ext cx="744907" cy="307777"/>
            <a:chOff x="3595758" y="1698296"/>
            <a:chExt cx="744907" cy="307777"/>
          </a:xfrm>
        </p:grpSpPr>
        <p:sp>
          <p:nvSpPr>
            <p:cNvPr id="167" name="Oval 166">
              <a:extLst>
                <a:ext uri="{FF2B5EF4-FFF2-40B4-BE49-F238E27FC236}">
                  <a16:creationId xmlns:a16="http://schemas.microsoft.com/office/drawing/2014/main" id="{DEE8C2E1-D3E8-2D1F-6F6F-08DEF1DB8F5D}"/>
                </a:ext>
              </a:extLst>
            </p:cNvPr>
            <p:cNvSpPr/>
            <p:nvPr/>
          </p:nvSpPr>
          <p:spPr>
            <a:xfrm>
              <a:off x="3595758" y="1734872"/>
              <a:ext cx="128016" cy="128016"/>
            </a:xfrm>
            <a:prstGeom prst="ellipse">
              <a:avLst/>
            </a:prstGeom>
            <a:solidFill>
              <a:srgbClr val="9B2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68" name="TextBox 167">
              <a:extLst>
                <a:ext uri="{FF2B5EF4-FFF2-40B4-BE49-F238E27FC236}">
                  <a16:creationId xmlns:a16="http://schemas.microsoft.com/office/drawing/2014/main" id="{FC5ACF8B-B19A-34B7-FD74-2959662B2DC4}"/>
                </a:ext>
              </a:extLst>
            </p:cNvPr>
            <p:cNvSpPr txBox="1"/>
            <p:nvPr/>
          </p:nvSpPr>
          <p:spPr>
            <a:xfrm>
              <a:off x="3796926" y="1698296"/>
              <a:ext cx="543739" cy="307777"/>
            </a:xfrm>
            <a:prstGeom prst="rect">
              <a:avLst/>
            </a:prstGeom>
            <a:noFill/>
          </p:spPr>
          <p:txBody>
            <a:bodyPr wrap="none">
              <a:spAutoFit/>
            </a:bodyPr>
            <a:lstStyle/>
            <a:p>
              <a:pPr algn="l">
                <a:defRPr sz="1100" b="1">
                  <a:solidFill>
                    <a:srgbClr val="9B2C2C"/>
                  </a:solidFill>
                  <a:latin typeface="Calibri"/>
                </a:defRPr>
              </a:pPr>
              <a:r>
                <a:rPr sz="1400" b="1">
                  <a:solidFill>
                    <a:srgbClr val="9B2C2C"/>
                  </a:solidFill>
                  <a:latin typeface="Calibri"/>
                </a:rPr>
                <a:t>Cons</a:t>
              </a:r>
            </a:p>
          </p:txBody>
        </p:sp>
      </p:grpSp>
      <p:cxnSp>
        <p:nvCxnSpPr>
          <p:cNvPr id="178" name="Straight Connector 177">
            <a:extLst>
              <a:ext uri="{FF2B5EF4-FFF2-40B4-BE49-F238E27FC236}">
                <a16:creationId xmlns:a16="http://schemas.microsoft.com/office/drawing/2014/main" id="{ADC960F1-457E-B5D0-3E4E-7EBECB31C52E}"/>
              </a:ext>
            </a:extLst>
          </p:cNvPr>
          <p:cNvCxnSpPr/>
          <p:nvPr/>
        </p:nvCxnSpPr>
        <p:spPr>
          <a:xfrm>
            <a:off x="6061865" y="1510265"/>
            <a:ext cx="0" cy="4297680"/>
          </a:xfrm>
          <a:prstGeom prst="line">
            <a:avLst/>
          </a:prstGeom>
          <a:ln w="19050">
            <a:solidFill>
              <a:schemeClr val="bg1">
                <a:lumMod val="75000"/>
              </a:schemeClr>
            </a:solidFill>
            <a:prstDash val="dash"/>
          </a:ln>
        </p:spPr>
        <p:style>
          <a:lnRef idx="1">
            <a:schemeClr val="accent6"/>
          </a:lnRef>
          <a:fillRef idx="0">
            <a:schemeClr val="accent6"/>
          </a:fillRef>
          <a:effectRef idx="0">
            <a:schemeClr val="accent6"/>
          </a:effectRef>
          <a:fontRef idx="minor">
            <a:schemeClr val="tx1"/>
          </a:fontRef>
        </p:style>
      </p:cxnSp>
      <p:sp>
        <p:nvSpPr>
          <p:cNvPr id="4" name="TextBox 3">
            <a:extLst>
              <a:ext uri="{FF2B5EF4-FFF2-40B4-BE49-F238E27FC236}">
                <a16:creationId xmlns:a16="http://schemas.microsoft.com/office/drawing/2014/main" id="{0BAF4447-FDE0-ED6E-E526-366E75EFB2C2}"/>
              </a:ext>
            </a:extLst>
          </p:cNvPr>
          <p:cNvSpPr txBox="1"/>
          <p:nvPr/>
        </p:nvSpPr>
        <p:spPr>
          <a:xfrm>
            <a:off x="9546336" y="510831"/>
            <a:ext cx="2715768" cy="400110"/>
          </a:xfrm>
          <a:prstGeom prst="rect">
            <a:avLst/>
          </a:prstGeom>
          <a:solidFill>
            <a:schemeClr val="accent2">
              <a:lumMod val="20000"/>
              <a:lumOff val="80000"/>
            </a:schemeClr>
          </a:solidFill>
        </p:spPr>
        <p:txBody>
          <a:bodyPr wrap="square" rtlCol="0">
            <a:spAutoFit/>
          </a:bodyPr>
          <a:lstStyle/>
          <a:p>
            <a:pPr algn="ctr"/>
            <a:r>
              <a:rPr lang="en-US" sz="1000" b="1"/>
              <a:t>Deep Dive from Scaling Data Governance: Foundation to Enterprise (FY26–FY28)</a:t>
            </a:r>
          </a:p>
        </p:txBody>
      </p:sp>
    </p:spTree>
    <p:extLst>
      <p:ext uri="{BB962C8B-B14F-4D97-AF65-F5344CB8AC3E}">
        <p14:creationId xmlns:p14="http://schemas.microsoft.com/office/powerpoint/2010/main" val="14817172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00DC8-33B0-C144-6C8B-1609134CB30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95E4FC0-A909-918B-B1EC-98BF3ADB1235}"/>
              </a:ext>
            </a:extLst>
          </p:cNvPr>
          <p:cNvSpPr/>
          <p:nvPr/>
        </p:nvSpPr>
        <p:spPr>
          <a:xfrm>
            <a:off x="0" y="0"/>
            <a:ext cx="12191695" cy="502920"/>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30DF84A-C232-D73E-2E25-25D87EF987B2}"/>
              </a:ext>
            </a:extLst>
          </p:cNvPr>
          <p:cNvSpPr txBox="1"/>
          <p:nvPr/>
        </p:nvSpPr>
        <p:spPr>
          <a:xfrm>
            <a:off x="457200" y="804672"/>
            <a:ext cx="11430000" cy="422873"/>
          </a:xfrm>
          <a:prstGeom prst="rect">
            <a:avLst/>
          </a:prstGeom>
          <a:noFill/>
        </p:spPr>
        <p:txBody>
          <a:bodyPr wrap="square" lIns="36576" tIns="18288" rIns="36576" bIns="18288" anchor="t">
            <a:spAutoFit/>
          </a:bodyPr>
          <a:lstStyle/>
          <a:p>
            <a:pPr algn="l">
              <a:lnSpc>
                <a:spcPct val="110000"/>
              </a:lnSpc>
              <a:spcBef>
                <a:spcPts val="0"/>
              </a:spcBef>
              <a:spcAft>
                <a:spcPts val="0"/>
              </a:spcAft>
            </a:pPr>
            <a:r>
              <a:rPr lang="en-US" sz="2400" b="1" i="0">
                <a:solidFill>
                  <a:srgbClr val="152342"/>
                </a:solidFill>
                <a:latin typeface="Calibri Light"/>
              </a:rPr>
              <a:t>Cursor–Alation MCP Use Case – Alation Metrics Dashboard</a:t>
            </a:r>
            <a:endParaRPr sz="2400" b="1" i="0">
              <a:solidFill>
                <a:srgbClr val="152342"/>
              </a:solidFill>
              <a:latin typeface="Calibri Light"/>
            </a:endParaRPr>
          </a:p>
        </p:txBody>
      </p:sp>
      <p:sp>
        <p:nvSpPr>
          <p:cNvPr id="34" name="Rectangle 33">
            <a:extLst>
              <a:ext uri="{FF2B5EF4-FFF2-40B4-BE49-F238E27FC236}">
                <a16:creationId xmlns:a16="http://schemas.microsoft.com/office/drawing/2014/main" id="{DFB93C57-D4E3-78F5-2C3E-785B0471ECF0}"/>
              </a:ext>
            </a:extLst>
          </p:cNvPr>
          <p:cNvSpPr/>
          <p:nvPr/>
        </p:nvSpPr>
        <p:spPr>
          <a:xfrm>
            <a:off x="0" y="6400800"/>
            <a:ext cx="12191695"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a:extLst>
              <a:ext uri="{FF2B5EF4-FFF2-40B4-BE49-F238E27FC236}">
                <a16:creationId xmlns:a16="http://schemas.microsoft.com/office/drawing/2014/main" id="{80259A4D-D9D2-252A-09AC-FA4D15BD48B8}"/>
              </a:ext>
            </a:extLst>
          </p:cNvPr>
          <p:cNvSpPr txBox="1"/>
          <p:nvPr/>
        </p:nvSpPr>
        <p:spPr>
          <a:xfrm>
            <a:off x="457200" y="6473952"/>
            <a:ext cx="11277295" cy="310896"/>
          </a:xfrm>
          <a:prstGeom prst="rect">
            <a:avLst/>
          </a:prstGeom>
          <a:noFill/>
        </p:spPr>
        <p:txBody>
          <a:bodyPr wrap="square" lIns="36576" tIns="18288" rIns="36576" bIns="18288" anchor="ctr">
            <a:spAutoFit/>
          </a:bodyPr>
          <a:lstStyle/>
          <a:p>
            <a:pPr algn="l">
              <a:lnSpc>
                <a:spcPct val="118000"/>
              </a:lnSpc>
              <a:spcBef>
                <a:spcPts val="0"/>
              </a:spcBef>
              <a:spcAft>
                <a:spcPts val="0"/>
              </a:spcAft>
            </a:pPr>
            <a:r>
              <a:rPr sz="1150" b="0" i="0">
                <a:solidFill>
                  <a:srgbClr val="64748B"/>
                </a:solidFill>
                <a:latin typeface="Calibri"/>
              </a:rPr>
              <a:t>DEET Data Governance  |  May 2026  |  Alation Data Catalog Overview</a:t>
            </a:r>
          </a:p>
        </p:txBody>
      </p:sp>
      <p:pic>
        <p:nvPicPr>
          <p:cNvPr id="33" name="Picture 32">
            <a:extLst>
              <a:ext uri="{FF2B5EF4-FFF2-40B4-BE49-F238E27FC236}">
                <a16:creationId xmlns:a16="http://schemas.microsoft.com/office/drawing/2014/main" id="{AE175F4A-1E65-AEE0-301E-F19F09E7DB69}"/>
              </a:ext>
            </a:extLst>
          </p:cNvPr>
          <p:cNvPicPr>
            <a:picLocks noChangeAspect="1"/>
          </p:cNvPicPr>
          <p:nvPr/>
        </p:nvPicPr>
        <p:blipFill>
          <a:blip r:embed="rId2"/>
          <a:stretch>
            <a:fillRect/>
          </a:stretch>
        </p:blipFill>
        <p:spPr>
          <a:xfrm>
            <a:off x="2444587" y="1639934"/>
            <a:ext cx="5861214" cy="3967861"/>
          </a:xfrm>
          <a:prstGeom prst="rect">
            <a:avLst/>
          </a:prstGeom>
        </p:spPr>
      </p:pic>
      <p:sp>
        <p:nvSpPr>
          <p:cNvPr id="4" name="Rectangle 3">
            <a:extLst>
              <a:ext uri="{FF2B5EF4-FFF2-40B4-BE49-F238E27FC236}">
                <a16:creationId xmlns:a16="http://schemas.microsoft.com/office/drawing/2014/main" id="{BCF41ADC-4F90-BE5F-B27F-1DD2A20DC470}"/>
              </a:ext>
            </a:extLst>
          </p:cNvPr>
          <p:cNvSpPr/>
          <p:nvPr/>
        </p:nvSpPr>
        <p:spPr>
          <a:xfrm>
            <a:off x="12191695" y="1885950"/>
            <a:ext cx="2186940" cy="2000250"/>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a:solidFill>
                  <a:schemeClr val="tx1"/>
                </a:solidFill>
              </a:rPr>
              <a:t>Confirm if this should be kept? John Fong Dashboard</a:t>
            </a:r>
          </a:p>
        </p:txBody>
      </p:sp>
    </p:spTree>
    <p:extLst>
      <p:ext uri="{BB962C8B-B14F-4D97-AF65-F5344CB8AC3E}">
        <p14:creationId xmlns:p14="http://schemas.microsoft.com/office/powerpoint/2010/main" val="36590502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A4F856850F6A843AF0F16BBFE19DB32" ma:contentTypeVersion="3" ma:contentTypeDescription="Create a new document." ma:contentTypeScope="" ma:versionID="e0ac05a8eda076f795f2d92f55cc1200">
  <xsd:schema xmlns:xsd="http://www.w3.org/2001/XMLSchema" xmlns:xs="http://www.w3.org/2001/XMLSchema" xmlns:p="http://schemas.microsoft.com/office/2006/metadata/properties" xmlns:ns2="3ca77e74-c691-41bf-a657-2854de531fa0" targetNamespace="http://schemas.microsoft.com/office/2006/metadata/properties" ma:root="true" ma:fieldsID="49e797650b4ef6f9d02a6f06596e6bd1" ns2:_="">
    <xsd:import namespace="3ca77e74-c691-41bf-a657-2854de531fa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ca77e74-c691-41bf-a657-2854de531fa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3D9DFD2-EB20-4911-94EE-229B9DD3DBD5}">
  <ds:schemaRefs>
    <ds:schemaRef ds:uri="3ca77e74-c691-41bf-a657-2854de531fa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3C92F7E-A76F-4791-B4E7-9132230C2610}">
  <ds:schemaRefs>
    <ds:schemaRef ds:uri="3ca77e74-c691-41bf-a657-2854de531fa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ADF908E-D038-4FE4-9D7E-1B2904E82F9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18</Slides>
  <Notes>1</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Kushawaha, Vinod</dc:creator>
  <cp:keywords/>
  <dc:description>generated using python-pptx</dc:description>
  <cp:revision>2</cp:revision>
  <dcterms:created xsi:type="dcterms:W3CDTF">2013-01-27T09:14:16Z</dcterms:created>
  <dcterms:modified xsi:type="dcterms:W3CDTF">2026-05-27T19:02:02Z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62e0584-010f-4004-8a6a-d5c118c8b4bd_Enabled">
    <vt:lpwstr>true</vt:lpwstr>
  </property>
  <property fmtid="{D5CDD505-2E9C-101B-9397-08002B2CF9AE}" pid="3" name="MSIP_Label_c62e0584-010f-4004-8a6a-d5c118c8b4bd_SetDate">
    <vt:lpwstr>2026-05-08T00:20:12Z</vt:lpwstr>
  </property>
  <property fmtid="{D5CDD505-2E9C-101B-9397-08002B2CF9AE}" pid="4" name="MSIP_Label_c62e0584-010f-4004-8a6a-d5c118c8b4bd_Method">
    <vt:lpwstr>Standard</vt:lpwstr>
  </property>
  <property fmtid="{D5CDD505-2E9C-101B-9397-08002B2CF9AE}" pid="5" name="MSIP_Label_c62e0584-010f-4004-8a6a-d5c118c8b4bd_Name">
    <vt:lpwstr>Internal</vt:lpwstr>
  </property>
  <property fmtid="{D5CDD505-2E9C-101B-9397-08002B2CF9AE}" pid="6" name="MSIP_Label_c62e0584-010f-4004-8a6a-d5c118c8b4bd_SiteId">
    <vt:lpwstr>56b731a8-a2ac-4c32-bf6b-616810e913c6</vt:lpwstr>
  </property>
  <property fmtid="{D5CDD505-2E9C-101B-9397-08002B2CF9AE}" pid="7" name="MSIP_Label_c62e0584-010f-4004-8a6a-d5c118c8b4bd_ActionId">
    <vt:lpwstr>55a3d93b-387a-4d11-8f9a-7f2c2dc1d1cf</vt:lpwstr>
  </property>
  <property fmtid="{D5CDD505-2E9C-101B-9397-08002B2CF9AE}" pid="8" name="MSIP_Label_c62e0584-010f-4004-8a6a-d5c118c8b4bd_ContentBits">
    <vt:lpwstr>0</vt:lpwstr>
  </property>
  <property fmtid="{D5CDD505-2E9C-101B-9397-08002B2CF9AE}" pid="9" name="MSIP_Label_c62e0584-010f-4004-8a6a-d5c118c8b4bd_Tag">
    <vt:lpwstr>10, 3, 0, 1</vt:lpwstr>
  </property>
  <property fmtid="{D5CDD505-2E9C-101B-9397-08002B2CF9AE}" pid="10" name="ContentTypeId">
    <vt:lpwstr>0x010100DA4F856850F6A843AF0F16BBFE19DB32</vt:lpwstr>
  </property>
</Properties>
</file>