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83" r:id="rId5"/>
    <p:sldId id="256" r:id="rId6"/>
    <p:sldId id="257" r:id="rId7"/>
    <p:sldId id="258" r:id="rId8"/>
    <p:sldId id="259" r:id="rId9"/>
    <p:sldId id="260" r:id="rId10"/>
    <p:sldId id="261" r:id="rId11"/>
    <p:sldId id="263" r:id="rId1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0E351CB-6266-4260-AFA3-2A1CB56EF93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D1B59E4-3D55-4BBD-91CA-A34BEA30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3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BEEB0114-4046-44D1-ACD0-95E46803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41e751daff_1_19:notes">
            <a:extLst>
              <a:ext uri="{FF2B5EF4-FFF2-40B4-BE49-F238E27FC236}">
                <a16:creationId xmlns:a16="http://schemas.microsoft.com/office/drawing/2014/main" id="{DD71DD61-C540-A0E0-DE36-65A7B5AE0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41e751daff_1_19:notes">
            <a:extLst>
              <a:ext uri="{FF2B5EF4-FFF2-40B4-BE49-F238E27FC236}">
                <a16:creationId xmlns:a16="http://schemas.microsoft.com/office/drawing/2014/main" id="{263F56C9-070C-9C4D-058A-4083589B9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081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3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chemeClr val="tx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</p:spTree>
    <p:extLst>
      <p:ext uri="{BB962C8B-B14F-4D97-AF65-F5344CB8AC3E}">
        <p14:creationId xmlns:p14="http://schemas.microsoft.com/office/powerpoint/2010/main" val="256024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7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1FC84697-FB36-BD58-43A8-07926954B4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309C7193-347F-6B86-67BB-C09B4C4577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4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g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luer Background Brighter_MAGIC 3.png" descr="Bluer Background Brighter_MAGIC 3.png">
            <a:extLst>
              <a:ext uri="{FF2B5EF4-FFF2-40B4-BE49-F238E27FC236}">
                <a16:creationId xmlns:a16="http://schemas.microsoft.com/office/drawing/2014/main" id="{F691F5EE-D07A-9DAE-ED5D-D579AB2AD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5893012"/>
            <a:ext cx="10985500" cy="52081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700" b="0" i="0" cap="all">
                <a:solidFill>
                  <a:srgbClr val="FFFFFF"/>
                </a:solidFill>
                <a:latin typeface="InspireTWDC" pitchFamily="2" charset="77"/>
              </a:defRPr>
            </a:lvl1pPr>
          </a:lstStyle>
          <a:p>
            <a:r>
              <a:rPr lang="en-US"/>
              <a:t>Date</a:t>
            </a:r>
            <a:endParaRPr/>
          </a:p>
        </p:txBody>
      </p:sp>
      <p:sp>
        <p:nvSpPr>
          <p:cNvPr id="36" name="With Subheader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250" y="4182083"/>
            <a:ext cx="10985500" cy="52081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000" b="0" i="0" cap="all" spc="300">
                <a:solidFill>
                  <a:srgbClr val="FFFFFF"/>
                </a:solidFill>
                <a:latin typeface="InspireTWDC" pitchFamily="2" charset="77"/>
              </a:defRPr>
            </a:lvl1pPr>
          </a:lstStyle>
          <a:p>
            <a:r>
              <a:rPr lang="en-US"/>
              <a:t>With </a:t>
            </a:r>
            <a:r>
              <a:rPr lang="en-US" err="1"/>
              <a:t>Subheader</a:t>
            </a:r>
            <a:endParaRPr/>
          </a:p>
        </p:txBody>
      </p:sp>
      <p:sp>
        <p:nvSpPr>
          <p:cNvPr id="38" name="CONFIDENTIAL"/>
          <p:cNvSpPr txBox="1"/>
          <p:nvPr/>
        </p:nvSpPr>
        <p:spPr>
          <a:xfrm>
            <a:off x="4770760" y="6573062"/>
            <a:ext cx="2650480" cy="342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1600" spc="48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800" b="0" i="0" spc="300">
                <a:latin typeface="InspireTWDC" pitchFamily="2" charset="77"/>
              </a:rPr>
              <a:t>CONFIDENTIAL</a:t>
            </a:r>
          </a:p>
        </p:txBody>
      </p:sp>
      <p:pic>
        <p:nvPicPr>
          <p:cNvPr id="4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374" y="1391274"/>
            <a:ext cx="3743254" cy="566687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InspireTWDC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64DB422-8C8B-A846-980F-04D2487053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2457" y="2140744"/>
            <a:ext cx="11006138" cy="189626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000" b="0" i="0">
                <a:solidFill>
                  <a:srgbClr val="FFFFFF"/>
                </a:solidFill>
                <a:latin typeface="InspireTWDC Medium" pitchFamily="2" charset="77"/>
              </a:defRPr>
            </a:lvl1pPr>
          </a:lstStyle>
          <a:p>
            <a:pPr lvl="0"/>
            <a:r>
              <a:rPr lang="en-US"/>
              <a:t>TWO-LINE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4" name="© Disney">
            <a:extLst>
              <a:ext uri="{FF2B5EF4-FFF2-40B4-BE49-F238E27FC236}">
                <a16:creationId xmlns:a16="http://schemas.microsoft.com/office/drawing/2014/main" id="{3D7B9CB3-9A9F-8F87-6049-9C2FBDF2BC41}"/>
              </a:ext>
            </a:extLst>
          </p:cNvPr>
          <p:cNvSpPr txBox="1"/>
          <p:nvPr userDrawn="1"/>
        </p:nvSpPr>
        <p:spPr>
          <a:xfrm>
            <a:off x="11408448" y="6572555"/>
            <a:ext cx="696911" cy="205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>
            <a:normAutofit lnSpcReduction="10000"/>
          </a:bodyPr>
          <a:lstStyle/>
          <a:p>
            <a:pPr algn="r" defTabSz="412750">
              <a:defRPr sz="1300" cap="all">
                <a:solidFill>
                  <a:srgbClr val="FFFFFF"/>
                </a:solidFill>
              </a:defRPr>
            </a:pPr>
            <a:r>
              <a:rPr lang="en-US" sz="800" b="0" i="0" spc="15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©D</a:t>
            </a:r>
            <a:r>
              <a:rPr sz="800" b="0" i="0" spc="15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isney</a:t>
            </a:r>
          </a:p>
        </p:txBody>
      </p:sp>
    </p:spTree>
    <p:extLst>
      <p:ext uri="{BB962C8B-B14F-4D97-AF65-F5344CB8AC3E}">
        <p14:creationId xmlns:p14="http://schemas.microsoft.com/office/powerpoint/2010/main" val="233955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Icons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uer Background Brighter_Blank.png" descr="Bluer Background Brighter_Blank.png">
            <a:extLst>
              <a:ext uri="{FF2B5EF4-FFF2-40B4-BE49-F238E27FC236}">
                <a16:creationId xmlns:a16="http://schemas.microsoft.com/office/drawing/2014/main" id="{F36811A7-2B4E-1BD7-A246-B7D80D9C80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99" y="3748511"/>
            <a:ext cx="744959" cy="746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484" y="824471"/>
            <a:ext cx="604115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777" y="3757959"/>
            <a:ext cx="689903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5162" y="3757959"/>
            <a:ext cx="689903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188" y="887413"/>
            <a:ext cx="639080" cy="6390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0047" y="922229"/>
            <a:ext cx="660064" cy="644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8997" y="911818"/>
            <a:ext cx="643935" cy="66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009" y="987044"/>
            <a:ext cx="597841" cy="515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6749" y="917028"/>
            <a:ext cx="654229" cy="655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081" y="2341775"/>
            <a:ext cx="610919" cy="630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0012" y="5084089"/>
            <a:ext cx="639484" cy="625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1752" y="2381126"/>
            <a:ext cx="624368" cy="595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7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48901" y="2363019"/>
            <a:ext cx="529099" cy="588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5160" y="2347340"/>
            <a:ext cx="534284" cy="6628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" name="Image" descr="Ima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3790" y="2414714"/>
            <a:ext cx="652228" cy="484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" name="Image" descr="Imag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6915" y="3836461"/>
            <a:ext cx="593071" cy="57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1" name="Image" descr="Imag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3535" y="2334442"/>
            <a:ext cx="652438" cy="547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72893" y="3804208"/>
            <a:ext cx="438818" cy="597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Image" descr="Imag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83396" y="3812443"/>
            <a:ext cx="580935" cy="5809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Image" descr="Imag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09105" y="3843888"/>
            <a:ext cx="581298" cy="518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5" name="Image" descr="Imag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79016" y="5129711"/>
            <a:ext cx="562195" cy="591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6" name="Image" descr="Imag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98960" y="5195662"/>
            <a:ext cx="585537" cy="4597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Image" descr="Imag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29550" y="5136366"/>
            <a:ext cx="444747" cy="578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Image" descr="Imag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42923" y="5129393"/>
            <a:ext cx="556084" cy="592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Image" descr="Image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34755" y="5112919"/>
            <a:ext cx="515093" cy="625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10" name="Image" descr="Image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57433" y="5118735"/>
            <a:ext cx="556084" cy="556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711" name="Image" descr="Image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22839" y="2385517"/>
            <a:ext cx="337779" cy="586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Image" descr="Image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80717" y="1016233"/>
            <a:ext cx="638073" cy="419652"/>
          </a:xfrm>
          <a:prstGeom prst="rect">
            <a:avLst/>
          </a:prstGeom>
          <a:ln w="12700">
            <a:miter lim="400000"/>
          </a:ln>
        </p:spPr>
      </p:pic>
      <p:sp>
        <p:nvSpPr>
          <p:cNvPr id="713" name="©DISNEY"/>
          <p:cNvSpPr txBox="1"/>
          <p:nvPr/>
        </p:nvSpPr>
        <p:spPr>
          <a:xfrm>
            <a:off x="4770760" y="6573062"/>
            <a:ext cx="2650480" cy="342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1600" spc="48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800" b="0" i="0" spc="30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©DISNEY</a:t>
            </a:r>
          </a:p>
        </p:txBody>
      </p:sp>
      <p:sp>
        <p:nvSpPr>
          <p:cNvPr id="714" name="Icons accessible in Master Slides"/>
          <p:cNvSpPr txBox="1"/>
          <p:nvPr/>
        </p:nvSpPr>
        <p:spPr>
          <a:xfrm>
            <a:off x="3793701" y="6136923"/>
            <a:ext cx="4604599" cy="595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2300" cap="all" spc="230">
                <a:solidFill>
                  <a:srgbClr val="FFFFFF"/>
                </a:solidFill>
              </a:defRPr>
            </a:lvl1pPr>
          </a:lstStyle>
          <a:p>
            <a:pPr algn="ctr"/>
            <a:r>
              <a:rPr sz="1150" b="0" i="0">
                <a:latin typeface="InspireTWDC" pitchFamily="2" charset="77"/>
              </a:rPr>
              <a:t>Icons accessible in Master Slides</a:t>
            </a:r>
          </a:p>
        </p:txBody>
      </p:sp>
      <p:sp>
        <p:nvSpPr>
          <p:cNvPr id="7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InspireTWDC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2043EEE-FD41-BCCB-3FE3-11DBE8E8BF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5452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43EEE-FD41-BCCB-3FE3-11DBE8E8BF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pPr algn="r" defTabSz="914400">
              <a:defRPr/>
            </a:pPr>
            <a:fld id="{86CB4B4D-7CA3-9044-876B-883B54F8677D}" type="slidenum">
              <a:rPr lang="en-US" sz="600" cap="none" spc="0" smtClean="0">
                <a:solidFill>
                  <a:srgbClr val="5E5E5E"/>
                </a:solidFill>
                <a:ea typeface="+mn-ea"/>
                <a:cs typeface="+mn-cs"/>
              </a:rPr>
              <a:pPr algn="r" defTabSz="914400">
                <a:defRPr/>
              </a:pPr>
              <a:t>‹#›</a:t>
            </a:fld>
            <a:endParaRPr lang="en-US" sz="600" cap="none" spc="0">
              <a:solidFill>
                <a:srgbClr val="5E5E5E"/>
              </a:solidFill>
              <a:ea typeface="+mn-ea"/>
              <a:cs typeface="+mn-cs"/>
            </a:endParaRP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2C1ECDF7-1B20-383E-A110-633CC8B77332}"/>
              </a:ext>
            </a:extLst>
          </p:cNvPr>
          <p:cNvSpPr/>
          <p:nvPr/>
        </p:nvSpPr>
        <p:spPr>
          <a:xfrm>
            <a:off x="569511" y="982538"/>
            <a:ext cx="635001" cy="5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1" y="21600"/>
                </a:moveTo>
                <a:lnTo>
                  <a:pt x="20279" y="21600"/>
                </a:lnTo>
                <a:cubicBezTo>
                  <a:pt x="20655" y="21600"/>
                  <a:pt x="20881" y="21600"/>
                  <a:pt x="21032" y="20949"/>
                </a:cubicBezTo>
                <a:cubicBezTo>
                  <a:pt x="21271" y="19857"/>
                  <a:pt x="21461" y="17494"/>
                  <a:pt x="21548" y="14494"/>
                </a:cubicBezTo>
                <a:cubicBezTo>
                  <a:pt x="21582" y="13310"/>
                  <a:pt x="21600" y="12060"/>
                  <a:pt x="21600" y="10800"/>
                </a:cubicBezTo>
                <a:cubicBezTo>
                  <a:pt x="21600" y="9540"/>
                  <a:pt x="21582" y="8290"/>
                  <a:pt x="21548" y="7106"/>
                </a:cubicBezTo>
                <a:cubicBezTo>
                  <a:pt x="21461" y="4106"/>
                  <a:pt x="21271" y="1743"/>
                  <a:pt x="21032" y="651"/>
                </a:cubicBezTo>
                <a:cubicBezTo>
                  <a:pt x="20881" y="0"/>
                  <a:pt x="20655" y="0"/>
                  <a:pt x="20279" y="0"/>
                </a:cubicBezTo>
                <a:lnTo>
                  <a:pt x="1321" y="0"/>
                </a:lnTo>
                <a:cubicBezTo>
                  <a:pt x="945" y="0"/>
                  <a:pt x="719" y="0"/>
                  <a:pt x="568" y="651"/>
                </a:cubicBezTo>
                <a:cubicBezTo>
                  <a:pt x="329" y="1743"/>
                  <a:pt x="139" y="4106"/>
                  <a:pt x="52" y="7106"/>
                </a:cubicBezTo>
                <a:cubicBezTo>
                  <a:pt x="18" y="8290"/>
                  <a:pt x="0" y="9540"/>
                  <a:pt x="0" y="10800"/>
                </a:cubicBezTo>
                <a:cubicBezTo>
                  <a:pt x="0" y="12060"/>
                  <a:pt x="18" y="13310"/>
                  <a:pt x="52" y="14494"/>
                </a:cubicBezTo>
                <a:cubicBezTo>
                  <a:pt x="139" y="17494"/>
                  <a:pt x="329" y="19857"/>
                  <a:pt x="568" y="20949"/>
                </a:cubicBezTo>
                <a:cubicBezTo>
                  <a:pt x="719" y="21600"/>
                  <a:pt x="945" y="21600"/>
                  <a:pt x="1321" y="21600"/>
                </a:cubicBezTo>
                <a:close/>
              </a:path>
            </a:pathLst>
          </a:custGeom>
          <a:solidFill>
            <a:srgbClr val="006191"/>
          </a:solidFill>
          <a:ln w="12700">
            <a:miter lim="400000"/>
          </a:ln>
        </p:spPr>
        <p:txBody>
          <a:bodyPr lIns="60959" tIns="60959" rIns="60959" bIns="60959" anchor="ctr"/>
          <a:lstStyle/>
          <a:p>
            <a:pPr defTabSz="609600">
              <a:spcBef>
                <a:spcPts val="0"/>
              </a:spcBef>
              <a:defRPr sz="4800">
                <a:solidFill>
                  <a:srgbClr val="36363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Montserrat" pitchFamily="2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132AB-BF93-298E-18D4-D38C52E47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Click to Add Headline">
            <a:extLst>
              <a:ext uri="{FF2B5EF4-FFF2-40B4-BE49-F238E27FC236}">
                <a16:creationId xmlns:a16="http://schemas.microsoft.com/office/drawing/2014/main" id="{EDF50BAF-9DCC-5318-2526-38992D51060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9970" y="205563"/>
            <a:ext cx="11046661" cy="69612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600" b="0" i="0" u="none" strike="noStrike" cap="none" spc="-26" baseline="0" dirty="0">
                <a:solidFill>
                  <a:schemeClr val="tx1"/>
                </a:solidFill>
                <a:uFillTx/>
                <a:latin typeface="+mj-lt"/>
                <a:ea typeface="+mn-ea"/>
                <a:cs typeface="+mn-cs"/>
                <a:sym typeface="Montserrat SemiBold"/>
              </a:defRPr>
            </a:lvl1pPr>
          </a:lstStyle>
          <a:p>
            <a:r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2005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9" name="Google Shape;12;p2"/>
          <p:cNvSpPr txBox="1">
            <a:spLocks noGrp="1"/>
          </p:cNvSpPr>
          <p:nvPr>
            <p:ph type="sldNum" idx="4"/>
          </p:nvPr>
        </p:nvSpPr>
        <p:spPr>
          <a:xfrm>
            <a:off x="41452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2" name="Google Shape;9;p1">
            <a:extLst>
              <a:ext uri="{FF2B5EF4-FFF2-40B4-BE49-F238E27FC236}">
                <a16:creationId xmlns:a16="http://schemas.microsoft.com/office/drawing/2014/main" id="{AB4AB366-3A05-6F41-D900-9D142A25321F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84953" y="6424087"/>
            <a:ext cx="1517892" cy="2297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0FFF7-B0F4-EEA6-9C29-7939285D7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528" y="1566407"/>
            <a:ext cx="10939272" cy="461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306083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42900" algn="l" rtl="0">
        <a:lnSpc>
          <a:spcPct val="150000"/>
        </a:lnSpc>
        <a:spcBef>
          <a:spcPts val="600"/>
        </a:spcBef>
        <a:spcAft>
          <a:spcPts val="0"/>
        </a:spcAft>
        <a:buClr>
          <a:srgbClr val="000000"/>
        </a:buClr>
        <a:buSzPct val="120000"/>
        <a:buFont typeface="Arial" panose="020B0604020202020204" pitchFamily="34" charset="0"/>
        <a:buChar char="•"/>
        <a:defRPr sz="2000" b="0" i="0" u="none" strike="noStrike" cap="none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L="342900" marR="0" lvl="1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342900" marR="0" lvl="2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855663" marR="0" lvl="3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InspireTWDC Light" panose="00000000000000020000" pitchFamily="50" charset="0"/>
        <a:buChar char="‑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D73110F7-3F15-8A0C-CEE7-689F58CC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>
            <a:extLst>
              <a:ext uri="{FF2B5EF4-FFF2-40B4-BE49-F238E27FC236}">
                <a16:creationId xmlns:a16="http://schemas.microsoft.com/office/drawing/2014/main" id="{FF9085B5-001D-2E1D-56E1-FF03A3F085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Prioritized Foundational Build Use Cases</a:t>
            </a:r>
            <a:endParaRPr/>
          </a:p>
        </p:txBody>
      </p:sp>
      <p:sp>
        <p:nvSpPr>
          <p:cNvPr id="439" name="Google Shape;439;p48">
            <a:extLst>
              <a:ext uri="{FF2B5EF4-FFF2-40B4-BE49-F238E27FC236}">
                <a16:creationId xmlns:a16="http://schemas.microsoft.com/office/drawing/2014/main" id="{FD13FD3B-C62B-CD22-7D87-3BBC120B7B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73871" y="6271500"/>
            <a:ext cx="5488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fld id="{00000000-1234-1234-1234-123412341234}" type="slidenum">
              <a:rPr lang="en"/>
              <a:pPr>
                <a:buClr>
                  <a:srgbClr val="000000"/>
                </a:buClr>
                <a:buSzPts val="800"/>
              </a:pPr>
              <a:t>1</a:t>
            </a:fld>
            <a:endParaRPr/>
          </a:p>
        </p:txBody>
      </p:sp>
      <p:sp>
        <p:nvSpPr>
          <p:cNvPr id="44" name="Google Shape;440;p48">
            <a:extLst>
              <a:ext uri="{FF2B5EF4-FFF2-40B4-BE49-F238E27FC236}">
                <a16:creationId xmlns:a16="http://schemas.microsoft.com/office/drawing/2014/main" id="{352E0289-E69F-0705-2A89-BB9EF0DE94F9}"/>
              </a:ext>
            </a:extLst>
          </p:cNvPr>
          <p:cNvSpPr/>
          <p:nvPr/>
        </p:nvSpPr>
        <p:spPr>
          <a:xfrm>
            <a:off x="7086766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 b="1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Workstream: </a:t>
            </a:r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Profile / Household Unification </a:t>
            </a:r>
            <a:r>
              <a:rPr lang="en" sz="1133" i="1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(Enterprise ID)</a:t>
            </a:r>
            <a:endParaRPr sz="1133" i="1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45" name="Google Shape;445;p48">
            <a:extLst>
              <a:ext uri="{FF2B5EF4-FFF2-40B4-BE49-F238E27FC236}">
                <a16:creationId xmlns:a16="http://schemas.microsoft.com/office/drawing/2014/main" id="{BAAB7F5C-218C-B952-45A7-9558CB102107}"/>
              </a:ext>
            </a:extLst>
          </p:cNvPr>
          <p:cNvSpPr txBox="1"/>
          <p:nvPr/>
        </p:nvSpPr>
        <p:spPr>
          <a:xfrm>
            <a:off x="7086766" y="1630865"/>
            <a:ext cx="1523868" cy="293095"/>
          </a:xfrm>
          <a:prstGeom prst="rect">
            <a:avLst/>
          </a:prstGeom>
          <a:solidFill>
            <a:srgbClr val="4F81BD">
              <a:alpha val="25098"/>
            </a:srgbClr>
          </a:solidFill>
          <a:ln>
            <a:solidFill>
              <a:srgbClr val="4F81BD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2100"/>
              <a:buFont typeface="Arial" panose="020B0604020202020204" pitchFamily="34" charset="0"/>
              <a:buNone/>
              <a:defRPr sz="1500" b="1" kern="120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600"/>
            </a:pPr>
            <a:r>
              <a:rPr lang="en" sz="1400" i="1">
                <a:solidFill>
                  <a:schemeClr val="dk1"/>
                </a:solidFill>
                <a:latin typeface="Proxima Nova"/>
                <a:sym typeface="Proxima Nova"/>
              </a:rPr>
              <a:t>CORP BRAND</a:t>
            </a:r>
            <a:endParaRPr sz="1400" i="1">
              <a:solidFill>
                <a:schemeClr val="dk1"/>
              </a:solidFill>
              <a:latin typeface="Proxima Nova"/>
              <a:sym typeface="Proxima Nova"/>
            </a:endParaRPr>
          </a:p>
        </p:txBody>
      </p:sp>
      <p:sp>
        <p:nvSpPr>
          <p:cNvPr id="46" name="Google Shape;440;p48">
            <a:extLst>
              <a:ext uri="{FF2B5EF4-FFF2-40B4-BE49-F238E27FC236}">
                <a16:creationId xmlns:a16="http://schemas.microsoft.com/office/drawing/2014/main" id="{0193B0B1-716E-2961-DBF8-4A44165E479C}"/>
              </a:ext>
            </a:extLst>
          </p:cNvPr>
          <p:cNvSpPr/>
          <p:nvPr/>
        </p:nvSpPr>
        <p:spPr>
          <a:xfrm>
            <a:off x="7086766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Identity reconciliation across TWDC, regardless of source (known &amp; anonymous), at the Profile and HH level. </a:t>
            </a:r>
          </a:p>
          <a:p>
            <a:pPr algn="ctr"/>
            <a:endParaRPr lang="en-US" sz="1133">
              <a:solidFill>
                <a:schemeClr val="dk1"/>
              </a:solidFill>
              <a:latin typeface="Arial"/>
              <a:cs typeface="Arial"/>
            </a:endParaRPr>
          </a:p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Unified view of enterprise relationships to drive more effective cross/up sell.</a:t>
            </a:r>
            <a:endParaRPr sz="1133">
              <a:solidFill>
                <a:schemeClr val="dk1"/>
              </a:solidFill>
              <a:latin typeface="Arial"/>
              <a:cs typeface="Arial"/>
              <a:sym typeface="Proxima Nova"/>
            </a:endParaRPr>
          </a:p>
        </p:txBody>
      </p:sp>
      <p:sp>
        <p:nvSpPr>
          <p:cNvPr id="47" name="Google Shape;440;p48">
            <a:extLst>
              <a:ext uri="{FF2B5EF4-FFF2-40B4-BE49-F238E27FC236}">
                <a16:creationId xmlns:a16="http://schemas.microsoft.com/office/drawing/2014/main" id="{17A1ECE7-9C98-A9D4-F6C0-87C50A91A7DB}"/>
              </a:ext>
            </a:extLst>
          </p:cNvPr>
          <p:cNvSpPr/>
          <p:nvPr/>
        </p:nvSpPr>
        <p:spPr>
          <a:xfrm>
            <a:off x="8731657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#5 Disney ‘Fan’ Model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48" name="Google Shape;445;p48">
            <a:extLst>
              <a:ext uri="{FF2B5EF4-FFF2-40B4-BE49-F238E27FC236}">
                <a16:creationId xmlns:a16="http://schemas.microsoft.com/office/drawing/2014/main" id="{0068331F-B600-344B-786C-A4B8EAB971F0}"/>
              </a:ext>
            </a:extLst>
          </p:cNvPr>
          <p:cNvSpPr txBox="1"/>
          <p:nvPr/>
        </p:nvSpPr>
        <p:spPr>
          <a:xfrm>
            <a:off x="8731657" y="1630865"/>
            <a:ext cx="1523868" cy="293095"/>
          </a:xfrm>
          <a:prstGeom prst="rect">
            <a:avLst/>
          </a:prstGeom>
          <a:solidFill>
            <a:srgbClr val="4F81BD">
              <a:alpha val="25098"/>
            </a:srgbClr>
          </a:solidFill>
          <a:ln>
            <a:solidFill>
              <a:srgbClr val="4F81BD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1600"/>
              <a:buFont typeface="Arial" panose="020B0604020202020204" pitchFamily="34" charset="0"/>
              <a:buNone/>
              <a:defRPr sz="1200" b="1" i="1" kern="1200">
                <a:solidFill>
                  <a:schemeClr val="dk1"/>
                </a:solidFill>
                <a:latin typeface="Proxima Nova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400">
                <a:sym typeface="Proxima Nova"/>
              </a:rPr>
              <a:t>CORP BRAND</a:t>
            </a:r>
            <a:endParaRPr sz="1400">
              <a:sym typeface="Proxima Nova"/>
            </a:endParaRPr>
          </a:p>
        </p:txBody>
      </p:sp>
      <p:sp>
        <p:nvSpPr>
          <p:cNvPr id="49" name="Google Shape;440;p48">
            <a:extLst>
              <a:ext uri="{FF2B5EF4-FFF2-40B4-BE49-F238E27FC236}">
                <a16:creationId xmlns:a16="http://schemas.microsoft.com/office/drawing/2014/main" id="{4CCA3AEB-B56F-43A0-CFC0-45B1F8E4259F}"/>
              </a:ext>
            </a:extLst>
          </p:cNvPr>
          <p:cNvSpPr/>
          <p:nvPr/>
        </p:nvSpPr>
        <p:spPr>
          <a:xfrm>
            <a:off x="8731657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Develop Fandom model that incorporates multiple lines of business. </a:t>
            </a:r>
          </a:p>
          <a:p>
            <a:pPr algn="ctr"/>
            <a:endParaRPr lang="en-US" sz="1133">
              <a:solidFill>
                <a:schemeClr val="dk1"/>
              </a:solidFill>
              <a:latin typeface="Arial"/>
              <a:cs typeface="Arial"/>
            </a:endParaRPr>
          </a:p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Identify profiles by the number of touchpoints they interact with across TWDC and track migration/spend over time.</a:t>
            </a:r>
            <a:endParaRPr sz="1133">
              <a:solidFill>
                <a:schemeClr val="dk1"/>
              </a:solidFill>
              <a:latin typeface="Arial"/>
              <a:cs typeface="Arial"/>
              <a:sym typeface="Proxima Nova"/>
            </a:endParaRPr>
          </a:p>
        </p:txBody>
      </p:sp>
      <p:sp>
        <p:nvSpPr>
          <p:cNvPr id="50" name="Google Shape;440;p48">
            <a:extLst>
              <a:ext uri="{FF2B5EF4-FFF2-40B4-BE49-F238E27FC236}">
                <a16:creationId xmlns:a16="http://schemas.microsoft.com/office/drawing/2014/main" id="{478F75CD-C44D-8828-9E32-8534C8B8D4B1}"/>
              </a:ext>
            </a:extLst>
          </p:cNvPr>
          <p:cNvSpPr/>
          <p:nvPr/>
        </p:nvSpPr>
        <p:spPr>
          <a:xfrm>
            <a:off x="10376547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#6 Next Best Action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51" name="Google Shape;445;p48">
            <a:extLst>
              <a:ext uri="{FF2B5EF4-FFF2-40B4-BE49-F238E27FC236}">
                <a16:creationId xmlns:a16="http://schemas.microsoft.com/office/drawing/2014/main" id="{2A7C4A46-B334-7D64-EED4-7A93AC97A210}"/>
              </a:ext>
            </a:extLst>
          </p:cNvPr>
          <p:cNvSpPr txBox="1"/>
          <p:nvPr/>
        </p:nvSpPr>
        <p:spPr>
          <a:xfrm>
            <a:off x="10376547" y="1630865"/>
            <a:ext cx="1523868" cy="293095"/>
          </a:xfrm>
          <a:prstGeom prst="rect">
            <a:avLst/>
          </a:prstGeom>
          <a:solidFill>
            <a:srgbClr val="4F81BD">
              <a:alpha val="25098"/>
            </a:srgbClr>
          </a:solidFill>
          <a:ln>
            <a:solidFill>
              <a:srgbClr val="4F81BD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1600"/>
              <a:buFont typeface="Arial" panose="020B0604020202020204" pitchFamily="34" charset="0"/>
              <a:buNone/>
              <a:defRPr sz="1200" b="1" i="1" kern="1200">
                <a:solidFill>
                  <a:schemeClr val="dk1"/>
                </a:solidFill>
                <a:latin typeface="Proxima Nova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400">
                <a:sym typeface="Proxima Nova"/>
              </a:rPr>
              <a:t>CORP BRAND</a:t>
            </a:r>
            <a:endParaRPr sz="1400">
              <a:sym typeface="Proxima Nova"/>
            </a:endParaRPr>
          </a:p>
        </p:txBody>
      </p:sp>
      <p:sp>
        <p:nvSpPr>
          <p:cNvPr id="52" name="Google Shape;440;p48">
            <a:extLst>
              <a:ext uri="{FF2B5EF4-FFF2-40B4-BE49-F238E27FC236}">
                <a16:creationId xmlns:a16="http://schemas.microsoft.com/office/drawing/2014/main" id="{15FA75E7-D88D-7C46-96C2-E54F3E2BB652}"/>
              </a:ext>
            </a:extLst>
          </p:cNvPr>
          <p:cNvSpPr/>
          <p:nvPr/>
        </p:nvSpPr>
        <p:spPr>
          <a:xfrm>
            <a:off x="10376547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00">
                <a:solidFill>
                  <a:schemeClr val="dk1"/>
                </a:solidFill>
                <a:latin typeface="Arial"/>
                <a:cs typeface="Arial"/>
              </a:rPr>
              <a:t>Identify 'Next Best Action' pathways based on where enter the TWDC ecosystem and ongoing activities. </a:t>
            </a:r>
          </a:p>
          <a:p>
            <a:pPr algn="ctr"/>
            <a:endParaRPr lang="en-US" sz="1133">
              <a:solidFill>
                <a:schemeClr val="dk1"/>
              </a:solidFill>
              <a:latin typeface="Arial"/>
              <a:cs typeface="Arial"/>
            </a:endParaRPr>
          </a:p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Help businesses understand where to prioritize marketing efforts for the best return.</a:t>
            </a:r>
            <a:endParaRPr sz="1133">
              <a:solidFill>
                <a:schemeClr val="dk1"/>
              </a:solidFill>
              <a:latin typeface="Arial"/>
              <a:cs typeface="Arial"/>
              <a:sym typeface="Proxima Nova"/>
            </a:endParaRPr>
          </a:p>
        </p:txBody>
      </p:sp>
      <p:sp>
        <p:nvSpPr>
          <p:cNvPr id="57" name="Google Shape;440;p48">
            <a:extLst>
              <a:ext uri="{FF2B5EF4-FFF2-40B4-BE49-F238E27FC236}">
                <a16:creationId xmlns:a16="http://schemas.microsoft.com/office/drawing/2014/main" id="{18044D8C-CCF0-06E4-D48E-F0409A23E261}"/>
              </a:ext>
            </a:extLst>
          </p:cNvPr>
          <p:cNvSpPr/>
          <p:nvPr/>
        </p:nvSpPr>
        <p:spPr>
          <a:xfrm>
            <a:off x="7086766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Match rate &amp; % reduction of total </a:t>
            </a:r>
            <a:r>
              <a:rPr lang="en" sz="1133" err="1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uniques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58" name="Google Shape;440;p48">
            <a:extLst>
              <a:ext uri="{FF2B5EF4-FFF2-40B4-BE49-F238E27FC236}">
                <a16:creationId xmlns:a16="http://schemas.microsoft.com/office/drawing/2014/main" id="{8BCB8CF7-39AD-78EB-6465-790DA4CC0422}"/>
              </a:ext>
            </a:extLst>
          </p:cNvPr>
          <p:cNvSpPr/>
          <p:nvPr/>
        </p:nvSpPr>
        <p:spPr>
          <a:xfrm>
            <a:off x="8731657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Model efficacy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59" name="Google Shape;440;p48">
            <a:extLst>
              <a:ext uri="{FF2B5EF4-FFF2-40B4-BE49-F238E27FC236}">
                <a16:creationId xmlns:a16="http://schemas.microsoft.com/office/drawing/2014/main" id="{DD3763FA-DFCD-7015-4667-0AE6478F9F33}"/>
              </a:ext>
            </a:extLst>
          </p:cNvPr>
          <p:cNvSpPr/>
          <p:nvPr/>
        </p:nvSpPr>
        <p:spPr>
          <a:xfrm>
            <a:off x="10376547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Model efficacy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583C5D-B635-A466-4207-A0BA6D6AC341}"/>
              </a:ext>
            </a:extLst>
          </p:cNvPr>
          <p:cNvSpPr txBox="1"/>
          <p:nvPr/>
        </p:nvSpPr>
        <p:spPr>
          <a:xfrm rot="16200000">
            <a:off x="-192674" y="2256434"/>
            <a:ext cx="969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Use Case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CC2D7B-4D51-FBBD-777E-AE3E3E6DCFF6}"/>
              </a:ext>
            </a:extLst>
          </p:cNvPr>
          <p:cNvSpPr txBox="1"/>
          <p:nvPr/>
        </p:nvSpPr>
        <p:spPr>
          <a:xfrm rot="16200000">
            <a:off x="-927508" y="4022690"/>
            <a:ext cx="2438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What we are trying to achieve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B43E74-C740-9472-57D4-835F530EE8C8}"/>
              </a:ext>
            </a:extLst>
          </p:cNvPr>
          <p:cNvSpPr txBox="1"/>
          <p:nvPr/>
        </p:nvSpPr>
        <p:spPr>
          <a:xfrm rot="16200000">
            <a:off x="-192673" y="5810624"/>
            <a:ext cx="969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KPIs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0FCD9C-BAF2-6F05-667D-47E1936B8462}"/>
              </a:ext>
            </a:extLst>
          </p:cNvPr>
          <p:cNvSpPr txBox="1"/>
          <p:nvPr/>
        </p:nvSpPr>
        <p:spPr>
          <a:xfrm>
            <a:off x="3077588" y="1254165"/>
            <a:ext cx="1633105" cy="293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333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ACTIVATION</a:t>
            </a:r>
          </a:p>
        </p:txBody>
      </p: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EED092E4-B86F-6311-ABC1-0045603E28EA}"/>
              </a:ext>
            </a:extLst>
          </p:cNvPr>
          <p:cNvCxnSpPr>
            <a:cxnSpLocks/>
          </p:cNvCxnSpPr>
          <p:nvPr/>
        </p:nvCxnSpPr>
        <p:spPr>
          <a:xfrm flipH="1">
            <a:off x="576825" y="1401853"/>
            <a:ext cx="274035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41555970-A06B-B35F-97B1-AD4DC18FF82C}"/>
              </a:ext>
            </a:extLst>
          </p:cNvPr>
          <p:cNvCxnSpPr>
            <a:cxnSpLocks/>
          </p:cNvCxnSpPr>
          <p:nvPr/>
        </p:nvCxnSpPr>
        <p:spPr>
          <a:xfrm flipH="1">
            <a:off x="4496794" y="1401853"/>
            <a:ext cx="247660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BDC007-E0DB-84CF-AE7E-C82B8A9037DD}"/>
              </a:ext>
            </a:extLst>
          </p:cNvPr>
          <p:cNvSpPr txBox="1"/>
          <p:nvPr/>
        </p:nvSpPr>
        <p:spPr>
          <a:xfrm>
            <a:off x="6915852" y="1254165"/>
            <a:ext cx="5161320" cy="293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000" b="1" i="1">
                <a:solidFill>
                  <a:schemeClr val="bg2"/>
                </a:solidFill>
                <a:latin typeface="Proxima Nova"/>
              </a:defRPr>
            </a:lvl1pPr>
          </a:lstStyle>
          <a:p>
            <a:r>
              <a:rPr lang="en-US" sz="1333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INSIGHTS / ANALYTICS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A61BD5-FC2E-0054-F456-1E78C4D743C1}"/>
              </a:ext>
            </a:extLst>
          </p:cNvPr>
          <p:cNvCxnSpPr>
            <a:cxnSpLocks/>
          </p:cNvCxnSpPr>
          <p:nvPr/>
        </p:nvCxnSpPr>
        <p:spPr>
          <a:xfrm flipH="1">
            <a:off x="7086765" y="1401853"/>
            <a:ext cx="136055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95D61-FE38-2889-7A3C-A377A6BC227D}"/>
              </a:ext>
            </a:extLst>
          </p:cNvPr>
          <p:cNvCxnSpPr>
            <a:cxnSpLocks/>
          </p:cNvCxnSpPr>
          <p:nvPr/>
        </p:nvCxnSpPr>
        <p:spPr>
          <a:xfrm flipH="1">
            <a:off x="10512738" y="1400711"/>
            <a:ext cx="13876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440;p48">
            <a:extLst>
              <a:ext uri="{FF2B5EF4-FFF2-40B4-BE49-F238E27FC236}">
                <a16:creationId xmlns:a16="http://schemas.microsoft.com/office/drawing/2014/main" id="{707173D4-1EA8-D760-184B-C9656529B3D0}"/>
              </a:ext>
            </a:extLst>
          </p:cNvPr>
          <p:cNvSpPr/>
          <p:nvPr/>
        </p:nvSpPr>
        <p:spPr>
          <a:xfrm>
            <a:off x="568738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#1 Incremental Audiences</a:t>
            </a:r>
            <a:endParaRPr sz="1100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18" name="Google Shape;445;p48">
            <a:extLst>
              <a:ext uri="{FF2B5EF4-FFF2-40B4-BE49-F238E27FC236}">
                <a16:creationId xmlns:a16="http://schemas.microsoft.com/office/drawing/2014/main" id="{260DD2AD-3904-A161-8DEC-D119B82B8CDB}"/>
              </a:ext>
            </a:extLst>
          </p:cNvPr>
          <p:cNvSpPr txBox="1"/>
          <p:nvPr/>
        </p:nvSpPr>
        <p:spPr>
          <a:xfrm>
            <a:off x="568738" y="1630865"/>
            <a:ext cx="1523868" cy="293095"/>
          </a:xfrm>
          <a:prstGeom prst="rect">
            <a:avLst/>
          </a:prstGeom>
          <a:solidFill>
            <a:srgbClr val="C00000">
              <a:alpha val="25098"/>
            </a:srgbClr>
          </a:solidFill>
          <a:ln>
            <a:solidFill>
              <a:srgbClr val="C00000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1600"/>
              <a:buFont typeface="Arial" panose="020B0604020202020204" pitchFamily="34" charset="0"/>
              <a:buNone/>
              <a:defRPr sz="1200" b="1" i="1" kern="1200">
                <a:latin typeface="Proxima Nov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" sz="1400">
                <a:sym typeface="Proxima Nova"/>
              </a:rPr>
              <a:t>MULTIPLE</a:t>
            </a:r>
            <a:endParaRPr sz="1400">
              <a:sym typeface="Proxima Nova"/>
            </a:endParaRPr>
          </a:p>
        </p:txBody>
      </p:sp>
      <p:sp>
        <p:nvSpPr>
          <p:cNvPr id="19" name="Google Shape;440;p48">
            <a:extLst>
              <a:ext uri="{FF2B5EF4-FFF2-40B4-BE49-F238E27FC236}">
                <a16:creationId xmlns:a16="http://schemas.microsoft.com/office/drawing/2014/main" id="{5B38FDFC-18DB-2078-DED8-344B034FDE75}"/>
              </a:ext>
            </a:extLst>
          </p:cNvPr>
          <p:cNvSpPr/>
          <p:nvPr/>
        </p:nvSpPr>
        <p:spPr>
          <a:xfrm>
            <a:off x="568738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Across business segments</a:t>
            </a:r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, cross-sell or up-sell to net new customers by identifying opportunistic incremental audiences and promoting relevant experiences (e.g., sale of DX experiences to net new, relevant Streaming subs).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20" name="Google Shape;440;p48">
            <a:extLst>
              <a:ext uri="{FF2B5EF4-FFF2-40B4-BE49-F238E27FC236}">
                <a16:creationId xmlns:a16="http://schemas.microsoft.com/office/drawing/2014/main" id="{D4C04F1F-60E0-22E7-5F6C-5A014CE3EA4A}"/>
              </a:ext>
            </a:extLst>
          </p:cNvPr>
          <p:cNvSpPr/>
          <p:nvPr/>
        </p:nvSpPr>
        <p:spPr>
          <a:xfrm>
            <a:off x="568738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Incremental acquisition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2" name="Google Shape;440;p48">
            <a:extLst>
              <a:ext uri="{FF2B5EF4-FFF2-40B4-BE49-F238E27FC236}">
                <a16:creationId xmlns:a16="http://schemas.microsoft.com/office/drawing/2014/main" id="{732BD4CA-120C-F127-9D81-CDBB62C9E704}"/>
              </a:ext>
            </a:extLst>
          </p:cNvPr>
          <p:cNvSpPr/>
          <p:nvPr/>
        </p:nvSpPr>
        <p:spPr>
          <a:xfrm>
            <a:off x="2215522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#2 Re-engagement via Park &amp; Cruise Experiences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3" name="Google Shape;445;p48">
            <a:extLst>
              <a:ext uri="{FF2B5EF4-FFF2-40B4-BE49-F238E27FC236}">
                <a16:creationId xmlns:a16="http://schemas.microsoft.com/office/drawing/2014/main" id="{611CB96A-3447-CDE3-8F04-1E406FDB526E}"/>
              </a:ext>
            </a:extLst>
          </p:cNvPr>
          <p:cNvSpPr txBox="1"/>
          <p:nvPr/>
        </p:nvSpPr>
        <p:spPr>
          <a:xfrm>
            <a:off x="2215522" y="1630865"/>
            <a:ext cx="1523868" cy="293095"/>
          </a:xfrm>
          <a:prstGeom prst="rect">
            <a:avLst/>
          </a:prstGeom>
          <a:solidFill>
            <a:srgbClr val="0D8D7E">
              <a:alpha val="25098"/>
            </a:srgbClr>
          </a:solidFill>
          <a:ln>
            <a:solidFill>
              <a:srgbClr val="0D8D7E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2100"/>
              <a:buFont typeface="Arial" panose="020B0604020202020204" pitchFamily="34" charset="0"/>
              <a:buNone/>
              <a:defRPr sz="1500" b="1" kern="120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600"/>
            </a:pPr>
            <a:r>
              <a:rPr lang="en" sz="1400" i="1">
                <a:solidFill>
                  <a:schemeClr val="dk1"/>
                </a:solidFill>
                <a:latin typeface="Proxima Nova"/>
                <a:sym typeface="Proxima Nova"/>
              </a:rPr>
              <a:t>STREAMING</a:t>
            </a:r>
            <a:endParaRPr sz="1400" i="1">
              <a:solidFill>
                <a:schemeClr val="dk1"/>
              </a:solidFill>
              <a:latin typeface="Proxima Nova"/>
              <a:sym typeface="Proxima Nova"/>
            </a:endParaRPr>
          </a:p>
        </p:txBody>
      </p:sp>
      <p:sp>
        <p:nvSpPr>
          <p:cNvPr id="4" name="Google Shape;440;p48">
            <a:extLst>
              <a:ext uri="{FF2B5EF4-FFF2-40B4-BE49-F238E27FC236}">
                <a16:creationId xmlns:a16="http://schemas.microsoft.com/office/drawing/2014/main" id="{6D1E1CD4-F896-9F7B-3A66-487A9BDD20EF}"/>
              </a:ext>
            </a:extLst>
          </p:cNvPr>
          <p:cNvSpPr/>
          <p:nvPr/>
        </p:nvSpPr>
        <p:spPr>
          <a:xfrm>
            <a:off x="2215522" y="2845939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00">
                <a:solidFill>
                  <a:schemeClr val="dk1"/>
                </a:solidFill>
                <a:latin typeface="Arial"/>
                <a:cs typeface="Arial"/>
              </a:rPr>
              <a:t>Re-engage lapsed Disney+ subscribers by leveraging experiential data. </a:t>
            </a:r>
          </a:p>
          <a:p>
            <a:pPr algn="ctr"/>
            <a:endParaRPr lang="en-US" sz="1133">
              <a:solidFill>
                <a:schemeClr val="dk1"/>
              </a:solidFill>
              <a:latin typeface="Arial"/>
              <a:cs typeface="Arial"/>
            </a:endParaRPr>
          </a:p>
          <a:p>
            <a:pPr algn="ctr"/>
            <a:r>
              <a:rPr lang="en-US" sz="1100">
                <a:solidFill>
                  <a:schemeClr val="dk1"/>
                </a:solidFill>
                <a:latin typeface="Arial"/>
                <a:cs typeface="Arial"/>
              </a:rPr>
              <a:t>Trigger personalized content journeys based on guests’ parks visits or cruises (e.g., Star Wars content after a Galaxy’s Edge visit).</a:t>
            </a:r>
            <a:endParaRPr sz="1100">
              <a:solidFill>
                <a:schemeClr val="dk1"/>
              </a:solidFill>
              <a:latin typeface="Arial"/>
              <a:cs typeface="Arial"/>
              <a:sym typeface="Proxima Nova"/>
            </a:endParaRPr>
          </a:p>
        </p:txBody>
      </p:sp>
      <p:sp>
        <p:nvSpPr>
          <p:cNvPr id="5" name="Google Shape;440;p48">
            <a:extLst>
              <a:ext uri="{FF2B5EF4-FFF2-40B4-BE49-F238E27FC236}">
                <a16:creationId xmlns:a16="http://schemas.microsoft.com/office/drawing/2014/main" id="{3A59F396-3167-2DBD-D934-3D30D9B702B8}"/>
              </a:ext>
            </a:extLst>
          </p:cNvPr>
          <p:cNvSpPr/>
          <p:nvPr/>
        </p:nvSpPr>
        <p:spPr>
          <a:xfrm>
            <a:off x="3845035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#3 DX Activation Personalization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9" name="Google Shape;445;p48">
            <a:extLst>
              <a:ext uri="{FF2B5EF4-FFF2-40B4-BE49-F238E27FC236}">
                <a16:creationId xmlns:a16="http://schemas.microsoft.com/office/drawing/2014/main" id="{3243BFBE-D37C-FF8F-DDBC-2450567AF6BB}"/>
              </a:ext>
            </a:extLst>
          </p:cNvPr>
          <p:cNvSpPr txBox="1"/>
          <p:nvPr/>
        </p:nvSpPr>
        <p:spPr>
          <a:xfrm>
            <a:off x="3845035" y="1630865"/>
            <a:ext cx="1523868" cy="293095"/>
          </a:xfrm>
          <a:prstGeom prst="rect">
            <a:avLst/>
          </a:prstGeom>
          <a:solidFill>
            <a:srgbClr val="F79646">
              <a:alpha val="25098"/>
            </a:srgbClr>
          </a:solidFill>
          <a:ln>
            <a:solidFill>
              <a:srgbClr val="F79646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2100"/>
              <a:buFont typeface="Arial" panose="020B0604020202020204" pitchFamily="34" charset="0"/>
              <a:buNone/>
              <a:defRPr sz="1500" b="1" kern="120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600"/>
            </a:pPr>
            <a:r>
              <a:rPr lang="en" sz="1400" i="1">
                <a:solidFill>
                  <a:schemeClr val="dk1"/>
                </a:solidFill>
                <a:latin typeface="Proxima Nova"/>
                <a:sym typeface="Proxima Nova"/>
              </a:rPr>
              <a:t>EXPERIENCES</a:t>
            </a:r>
            <a:endParaRPr sz="1400" i="1">
              <a:solidFill>
                <a:schemeClr val="dk1"/>
              </a:solidFill>
              <a:latin typeface="Proxima Nova"/>
              <a:sym typeface="Proxima Nova"/>
            </a:endParaRPr>
          </a:p>
        </p:txBody>
      </p:sp>
      <p:sp>
        <p:nvSpPr>
          <p:cNvPr id="10" name="Google Shape;440;p48">
            <a:extLst>
              <a:ext uri="{FF2B5EF4-FFF2-40B4-BE49-F238E27FC236}">
                <a16:creationId xmlns:a16="http://schemas.microsoft.com/office/drawing/2014/main" id="{65FBB9F2-4041-F295-00F9-516429D7898B}"/>
              </a:ext>
            </a:extLst>
          </p:cNvPr>
          <p:cNvSpPr/>
          <p:nvPr/>
        </p:nvSpPr>
        <p:spPr>
          <a:xfrm>
            <a:off x="3845035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33">
                <a:solidFill>
                  <a:schemeClr val="dk1"/>
                </a:solidFill>
                <a:latin typeface="Arial"/>
                <a:cs typeface="Arial"/>
              </a:rPr>
              <a:t>Drive increased engagement and conversion of current/past guests by personalizing creative and messaging based on known Affinities (Franchise, Character, Sports, Content Genre)</a:t>
            </a:r>
            <a:endParaRPr sz="1133">
              <a:solidFill>
                <a:schemeClr val="dk1"/>
              </a:solidFill>
              <a:latin typeface="Arial"/>
              <a:cs typeface="Arial"/>
              <a:sym typeface="Proxima Nova"/>
            </a:endParaRPr>
          </a:p>
        </p:txBody>
      </p:sp>
      <p:sp>
        <p:nvSpPr>
          <p:cNvPr id="11" name="Google Shape;440;p48">
            <a:extLst>
              <a:ext uri="{FF2B5EF4-FFF2-40B4-BE49-F238E27FC236}">
                <a16:creationId xmlns:a16="http://schemas.microsoft.com/office/drawing/2014/main" id="{3EDBF25A-1062-F63F-0E45-96D3B6DF0612}"/>
              </a:ext>
            </a:extLst>
          </p:cNvPr>
          <p:cNvSpPr/>
          <p:nvPr/>
        </p:nvSpPr>
        <p:spPr>
          <a:xfrm>
            <a:off x="5466631" y="2029173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#4 Drive Efficiency of Enterprise Synergy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12" name="Google Shape;445;p48">
            <a:extLst>
              <a:ext uri="{FF2B5EF4-FFF2-40B4-BE49-F238E27FC236}">
                <a16:creationId xmlns:a16="http://schemas.microsoft.com/office/drawing/2014/main" id="{8E3885E7-27C2-0D0A-ACF6-8BFAAB8E262E}"/>
              </a:ext>
            </a:extLst>
          </p:cNvPr>
          <p:cNvSpPr txBox="1"/>
          <p:nvPr/>
        </p:nvSpPr>
        <p:spPr>
          <a:xfrm>
            <a:off x="5466631" y="1630865"/>
            <a:ext cx="1523868" cy="293095"/>
          </a:xfrm>
          <a:prstGeom prst="rect">
            <a:avLst/>
          </a:prstGeom>
          <a:solidFill>
            <a:srgbClr val="8064A2">
              <a:alpha val="25098"/>
            </a:srgbClr>
          </a:solidFill>
          <a:ln>
            <a:solidFill>
              <a:srgbClr val="8064A2"/>
            </a:solidFill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685783" eaLnBrk="1" latinLnBrk="0" hangingPunct="1">
              <a:lnSpc>
                <a:spcPct val="90000"/>
              </a:lnSpc>
              <a:buClr>
                <a:srgbClr val="363636"/>
              </a:buClr>
              <a:buSzPts val="2100"/>
              <a:buFont typeface="Arial" panose="020B0604020202020204" pitchFamily="34" charset="0"/>
              <a:buNone/>
              <a:defRPr sz="1500" b="1" kern="120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487668" indent="-243834" defTabSz="914377" eaLnBrk="1" latinLnBrk="0" hangingPunct="1">
              <a:spcBef>
                <a:spcPts val="800"/>
              </a:spcBef>
              <a:buClr>
                <a:schemeClr val="tx1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2pPr>
            <a:lvl3pPr marL="487668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Font typeface="Helvetica" pitchFamily="2" charset="0"/>
              <a:buChar char="−"/>
              <a:defRPr sz="1333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3pPr>
            <a:lvl4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4pPr>
            <a:lvl5pPr marL="731502" indent="-243834" defTabSz="914377" eaLnBrk="1" latinLnBrk="0" hangingPunct="1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067" kern="1200">
                <a:solidFill>
                  <a:schemeClr val="tx1"/>
                </a:solidFill>
                <a:latin typeface="Poppins" panose="02000000000000000000" pitchFamily="2" charset="77"/>
                <a:ea typeface="+mn-ea"/>
                <a:cs typeface="Poppins" panose="02000000000000000000" pitchFamily="2" charset="77"/>
              </a:defRPr>
            </a:lvl5pPr>
            <a:lvl6pPr marL="2514537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defTabSz="914377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600"/>
            </a:pPr>
            <a:r>
              <a:rPr lang="en" sz="1400" i="1">
                <a:solidFill>
                  <a:schemeClr val="dk1"/>
                </a:solidFill>
                <a:latin typeface="Proxima Nova"/>
                <a:sym typeface="Proxima Nova"/>
              </a:rPr>
              <a:t>STUDIO/AD</a:t>
            </a:r>
            <a:endParaRPr sz="1400" i="1">
              <a:solidFill>
                <a:schemeClr val="dk1"/>
              </a:solidFill>
              <a:latin typeface="Proxima Nova"/>
              <a:sym typeface="Proxima Nova"/>
            </a:endParaRPr>
          </a:p>
        </p:txBody>
      </p:sp>
      <p:sp>
        <p:nvSpPr>
          <p:cNvPr id="13" name="Google Shape;440;p48">
            <a:extLst>
              <a:ext uri="{FF2B5EF4-FFF2-40B4-BE49-F238E27FC236}">
                <a16:creationId xmlns:a16="http://schemas.microsoft.com/office/drawing/2014/main" id="{0E81CB11-4D8D-C75E-58E1-ED5EF9C1C5FB}"/>
              </a:ext>
            </a:extLst>
          </p:cNvPr>
          <p:cNvSpPr/>
          <p:nvPr/>
        </p:nvSpPr>
        <p:spPr>
          <a:xfrm>
            <a:off x="5466631" y="2855346"/>
            <a:ext cx="1523868" cy="2624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Identify who is being reached (and not reached) across enterprise Synergy campaigns, and overall effectiveness (conversion events).</a:t>
            </a:r>
          </a:p>
          <a:p>
            <a:pPr algn="ctr"/>
            <a:endParaRPr lang="en"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Deliver audiences for suppression on Paid marketing (to drive efficiency).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14" name="Google Shape;440;p48">
            <a:extLst>
              <a:ext uri="{FF2B5EF4-FFF2-40B4-BE49-F238E27FC236}">
                <a16:creationId xmlns:a16="http://schemas.microsoft.com/office/drawing/2014/main" id="{A6433925-EA33-963B-F3E5-2635FB20FFA5}"/>
              </a:ext>
            </a:extLst>
          </p:cNvPr>
          <p:cNvSpPr/>
          <p:nvPr/>
        </p:nvSpPr>
        <p:spPr>
          <a:xfrm>
            <a:off x="2215522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Engagement &amp; Retention </a:t>
            </a:r>
          </a:p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(reduce Churn)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15" name="Google Shape;440;p48">
            <a:extLst>
              <a:ext uri="{FF2B5EF4-FFF2-40B4-BE49-F238E27FC236}">
                <a16:creationId xmlns:a16="http://schemas.microsoft.com/office/drawing/2014/main" id="{A3987C49-2AC4-57A4-609B-591C01862E14}"/>
              </a:ext>
            </a:extLst>
          </p:cNvPr>
          <p:cNvSpPr/>
          <p:nvPr/>
        </p:nvSpPr>
        <p:spPr>
          <a:xfrm>
            <a:off x="3845035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Parks Engagement and/or Purchase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16" name="Google Shape;440;p48">
            <a:extLst>
              <a:ext uri="{FF2B5EF4-FFF2-40B4-BE49-F238E27FC236}">
                <a16:creationId xmlns:a16="http://schemas.microsoft.com/office/drawing/2014/main" id="{2A52A5EF-EC24-BFD8-962A-92C5D886C1C8}"/>
              </a:ext>
            </a:extLst>
          </p:cNvPr>
          <p:cNvSpPr/>
          <p:nvPr/>
        </p:nvSpPr>
        <p:spPr>
          <a:xfrm>
            <a:off x="5466631" y="5591035"/>
            <a:ext cx="1523868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33">
                <a:solidFill>
                  <a:schemeClr val="dk1"/>
                </a:solidFill>
                <a:latin typeface="Arial"/>
                <a:ea typeface="Proxima Nova"/>
                <a:cs typeface="Arial"/>
                <a:sym typeface="Proxima Nova"/>
              </a:rPr>
              <a:t>Marketing savings</a:t>
            </a:r>
            <a:endParaRPr sz="1133">
              <a:solidFill>
                <a:schemeClr val="dk1"/>
              </a:solidFill>
              <a:latin typeface="Arial"/>
              <a:ea typeface="Proxima Nova"/>
              <a:cs typeface="Arial"/>
              <a:sym typeface="Proxima Nov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6D24FC-A6AA-E6EA-8CA7-7A79FE8E16DB}"/>
              </a:ext>
            </a:extLst>
          </p:cNvPr>
          <p:cNvSpPr/>
          <p:nvPr/>
        </p:nvSpPr>
        <p:spPr>
          <a:xfrm>
            <a:off x="7087285" y="1630328"/>
            <a:ext cx="1524000" cy="4687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5EBFBE-2139-B28A-0B16-AAB3F848BB76}"/>
              </a:ext>
            </a:extLst>
          </p:cNvPr>
          <p:cNvSpPr txBox="1"/>
          <p:nvPr/>
        </p:nvSpPr>
        <p:spPr>
          <a:xfrm>
            <a:off x="7019626" y="6332838"/>
            <a:ext cx="17052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solidFill>
                  <a:srgbClr val="FF0000"/>
                </a:solidFill>
              </a:rPr>
              <a:t>*This one was shifted from a use case to a workstream</a:t>
            </a:r>
          </a:p>
        </p:txBody>
      </p:sp>
    </p:spTree>
    <p:extLst>
      <p:ext uri="{BB962C8B-B14F-4D97-AF65-F5344CB8AC3E}">
        <p14:creationId xmlns:p14="http://schemas.microsoft.com/office/powerpoint/2010/main" val="29487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947ED-0592-4B48-81ED-5D91BC2F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#1 - Incremental Audiences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9E484-B412-0EBE-85C6-30DE4CD05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839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Description: </a:t>
            </a:r>
            <a:r>
              <a:rPr lang="en-US"/>
              <a:t>Across business segments, cross-sell or up-sell to net new customers by identifying opportunistic incremental audiences and promoting relevant experiences (e.g., sale of DX experiences to net new, relevant Streaming subs).</a:t>
            </a:r>
          </a:p>
          <a:p>
            <a:r>
              <a:rPr lang="en-US" b="1"/>
              <a:t>Key Components:</a:t>
            </a:r>
          </a:p>
          <a:p>
            <a:pPr lvl="1"/>
            <a:r>
              <a:rPr lang="en-US"/>
              <a:t>Broad catalog of customer data attributes from across TWDC business segments shared to Atlas (Data Enrichment/Reconcile Data Gaps workstream) </a:t>
            </a:r>
          </a:p>
          <a:p>
            <a:pPr lvl="1"/>
            <a:r>
              <a:rPr lang="en-US"/>
              <a:t>Legal and Business approval for each attribute for specific use case (Data Governance/Pre-Approved Use Cases workstream)</a:t>
            </a:r>
          </a:p>
          <a:p>
            <a:pPr lvl="1"/>
            <a:r>
              <a:rPr lang="en-US"/>
              <a:t>Compass integration for specific use case (Technology Stack/Activation Infrastructure workstream)</a:t>
            </a:r>
          </a:p>
          <a:p>
            <a:r>
              <a:rPr lang="en-US" b="1"/>
              <a:t>Sequencing:</a:t>
            </a:r>
          </a:p>
          <a:p>
            <a:pPr lvl="1"/>
            <a:r>
              <a:rPr lang="en-US"/>
              <a:t>Phase 1</a:t>
            </a:r>
          </a:p>
          <a:p>
            <a:pPr lvl="1"/>
            <a:r>
              <a:rPr lang="en-US"/>
              <a:t>Complete as first foundational use case for Atlas</a:t>
            </a:r>
          </a:p>
          <a:p>
            <a:pPr lvl="1"/>
            <a:r>
              <a:rPr lang="en-US"/>
              <a:t>Catalog of customer data attributes can also feed into use cases #2 and #3</a:t>
            </a:r>
          </a:p>
        </p:txBody>
      </p:sp>
    </p:spTree>
    <p:extLst>
      <p:ext uri="{BB962C8B-B14F-4D97-AF65-F5344CB8AC3E}">
        <p14:creationId xmlns:p14="http://schemas.microsoft.com/office/powerpoint/2010/main" val="320296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2AF5-23D8-D2F9-6290-F3A90954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Use Case #2 - </a:t>
            </a:r>
            <a:r>
              <a:rPr lang="en">
                <a:sym typeface="Proxima Nova"/>
              </a:rPr>
              <a:t>Re-engagement via Park &amp; Cruise Experiences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E67DF-3F7A-024E-039A-E6B6760A5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1"/>
              <a:t>Description: </a:t>
            </a:r>
            <a:r>
              <a:rPr lang="en-US" b="0" i="0">
                <a:solidFill>
                  <a:srgbClr val="000000"/>
                </a:solidFill>
                <a:effectLst/>
              </a:rPr>
              <a:t>Re-engage dormant or low-engagement Disney+ subscribers by leveraging real-world experiential data. Trigger personalized Disney+ content journeys based on guests’ visits to Disney parks or cruises (e.g., Star Wars content after a Galaxy’s Edge visit).</a:t>
            </a:r>
          </a:p>
          <a:p>
            <a:pPr>
              <a:lnSpc>
                <a:spcPct val="110000"/>
              </a:lnSpc>
            </a:pPr>
            <a:r>
              <a:rPr lang="en-US" b="1">
                <a:solidFill>
                  <a:srgbClr val="000000"/>
                </a:solidFill>
              </a:rPr>
              <a:t>Key components:</a:t>
            </a:r>
          </a:p>
          <a:p>
            <a:pPr lvl="1">
              <a:lnSpc>
                <a:spcPct val="11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Broad catalog of customer data attributes from across TWDC business segments shared to Atlas (Data Enrichment/Reconcile Data Gaps workstream) </a:t>
            </a:r>
          </a:p>
          <a:p>
            <a:pPr lvl="1">
              <a:lnSpc>
                <a:spcPct val="11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Legal and Business approval for each attribute for specific use case (Data Governance/Pre-Approved Use Cases workstream)</a:t>
            </a:r>
          </a:p>
          <a:p>
            <a:pPr lvl="1">
              <a:lnSpc>
                <a:spcPct val="11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Compass integration for specific use case (Technology Stack/Activation Infrastructure workstream)</a:t>
            </a:r>
          </a:p>
          <a:p>
            <a:pPr>
              <a:lnSpc>
                <a:spcPct val="110000"/>
              </a:lnSpc>
            </a:pPr>
            <a:r>
              <a:rPr lang="en-US" b="1"/>
              <a:t>Sequencing:</a:t>
            </a:r>
          </a:p>
          <a:p>
            <a:pPr lvl="1">
              <a:lnSpc>
                <a:spcPct val="110000"/>
              </a:lnSpc>
            </a:pPr>
            <a:r>
              <a:rPr lang="en-US"/>
              <a:t>Phase 1</a:t>
            </a:r>
          </a:p>
          <a:p>
            <a:pPr lvl="1">
              <a:lnSpc>
                <a:spcPct val="110000"/>
              </a:lnSpc>
            </a:pPr>
            <a:r>
              <a:rPr lang="en-US"/>
              <a:t>Complete as second foundational use case for Atlas</a:t>
            </a:r>
          </a:p>
          <a:p>
            <a:pPr lvl="1">
              <a:lnSpc>
                <a:spcPct val="110000"/>
              </a:lnSpc>
            </a:pPr>
            <a:r>
              <a:rPr lang="en-US"/>
              <a:t>Expand upon attributes, approvals, and Compass features created for use case #1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2158F-1742-FBBD-EE64-33093F64F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A7F18-8F29-636E-EEE0-52E461B460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7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1B08-52B9-078F-B8E6-05250567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#3 - DX Activation Personalization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AE5B2-191F-23E0-94BF-41CD41E0B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Description: </a:t>
            </a:r>
            <a:r>
              <a:rPr lang="en-US"/>
              <a:t>Drive increased engagement and conversion of DPEP current/past guests by personalizing creative and messaging based on known Affinities (Franchise, Character, Sports, content genre).This will be performed primarily through use of XLOB data.</a:t>
            </a:r>
          </a:p>
          <a:p>
            <a:r>
              <a:rPr lang="en-US" b="1"/>
              <a:t>Key Components: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Broad catalog of customer data attributes from across TWDC business segments shared to Atlas (Data Enrichment/Reconcile Data Gaps workstream) 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Legal and Business approval for each attribute for specific use case (Data Governance/Pre-Approved Use Cases workstream)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Compass integration</a:t>
            </a:r>
          </a:p>
          <a:p>
            <a:r>
              <a:rPr lang="en-US" b="1"/>
              <a:t>Sequencing:</a:t>
            </a:r>
          </a:p>
          <a:p>
            <a:pPr lvl="1"/>
            <a:r>
              <a:rPr lang="en-US"/>
              <a:t>Phase 1</a:t>
            </a:r>
          </a:p>
          <a:p>
            <a:pPr lvl="1"/>
            <a:r>
              <a:rPr lang="en-US"/>
              <a:t>Complete in parallel with Use Case #2</a:t>
            </a:r>
          </a:p>
          <a:p>
            <a:pPr lvl="1"/>
            <a:r>
              <a:rPr lang="en-US"/>
              <a:t>Expand upon attributes and approvals for use case #1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07C16-6BF6-8DD7-BD95-F10625BF7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6F963-6445-FCB9-AFD2-32FAC26DAB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2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02C4-14FC-B4E7-CE32-5C2D34BF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#4 - Drive Efficiency of Enterprise Synergy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4B6C4-E621-5CCD-67AF-7279AA777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800" cy="49732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/>
              <a:t>Description: </a:t>
            </a:r>
            <a:r>
              <a:rPr lang="en-US"/>
              <a:t>Identify who is being reached (and not reached) across enterprise Synergy campaigns, and overall effectiveness (delivery, open, click, conversion). Deliver audiences for suppression on Paid marketing (to drive efficiency).</a:t>
            </a:r>
          </a:p>
          <a:p>
            <a:r>
              <a:rPr lang="en-US" b="1"/>
              <a:t>Key Components: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Inventory of synergy touchpoints (Technology Stack/Inventory of Touchpoints deliverable)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Campaign activities </a:t>
            </a:r>
            <a:r>
              <a:rPr lang="en-US"/>
              <a:t>including delivery, opens, clicks, and conversions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to Atlas (Data Enrichment workstream)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Compass integration for specific use case (Technology Stack/Activation Infrastructure workstream)</a:t>
            </a:r>
          </a:p>
          <a:p>
            <a:r>
              <a:rPr lang="en-US" b="1">
                <a:solidFill>
                  <a:schemeClr val="tx1"/>
                </a:solidFill>
              </a:rPr>
              <a:t>Sequencing: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3F8B2-4F36-CB64-0B6A-60DDE5CAD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C716C-CC86-A50F-D0E6-2602367E8B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8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F74B-A59F-5246-7BFF-B197FFE0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#5 – Disney ‘Fan’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86FD-2B1B-D247-0B97-A6AD619D2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8965" indent="-456565">
              <a:lnSpc>
                <a:spcPct val="100000"/>
              </a:lnSpc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Description: 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Develop Fandom model that incorporates multiple lines of business. Identify profiles by the number of businesses they interact with across TWDC and track migration/spend over time.</a:t>
            </a:r>
          </a:p>
          <a:p>
            <a:pPr marL="608965" indent="-456565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Components:</a:t>
            </a:r>
          </a:p>
          <a:p>
            <a:pPr marL="1218565" lvl="1" indent="-422910"/>
            <a:r>
              <a:rPr lang="en-US" sz="1850"/>
              <a:t>Broad catalog of guest interactions with business units shared into Atlas (Data Enrichment workstream)</a:t>
            </a:r>
          </a:p>
          <a:p>
            <a:pPr marL="1218565" lvl="1" indent="-422910"/>
            <a:r>
              <a:rPr lang="en-US" sz="1850">
                <a:solidFill>
                  <a:schemeClr val="tx1"/>
                </a:solidFill>
              </a:rPr>
              <a:t>Broad catalog of purchase data shared into Atlas (Data Enrichment workstream)</a:t>
            </a:r>
          </a:p>
          <a:p>
            <a:pPr marL="1218565" lvl="1" indent="-422910"/>
            <a:r>
              <a:rPr lang="en-US" sz="1850">
                <a:solidFill>
                  <a:schemeClr val="tx1"/>
                </a:solidFill>
              </a:rPr>
              <a:t>DDSI Data Models (Insights Processes workstream)</a:t>
            </a:r>
          </a:p>
          <a:p>
            <a:pPr marL="1218565" lvl="1" indent="-422910"/>
            <a:r>
              <a:rPr lang="en-US" sz="1850">
                <a:solidFill>
                  <a:schemeClr val="tx1"/>
                </a:solidFill>
              </a:rPr>
              <a:t>BI tool integration (Technology Stack/Analytics/Insights Infrastructure workstream)</a:t>
            </a:r>
          </a:p>
          <a:p>
            <a:pPr marL="608965" indent="-456565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Sequencing: </a:t>
            </a:r>
          </a:p>
          <a:p>
            <a:pPr marL="1218565" lvl="1" indent="-422910"/>
            <a:r>
              <a:rPr lang="en-US" sz="1850">
                <a:solidFill>
                  <a:schemeClr val="tx1"/>
                </a:solidFill>
              </a:rPr>
              <a:t>Phase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0EE97-768B-70DC-6209-9F9A66B09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8ABCC-9213-D33B-0A80-A1FA314964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5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17A8-DC6B-5B8A-A197-A739E0D1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#6 – Next Best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10E87-AEFB-D48F-C990-CD3F6E261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8965" indent="-456565">
              <a:lnSpc>
                <a:spcPct val="100000"/>
              </a:lnSpc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Description: 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Identify 'Next Best Action' pathways based on where a guest entered the TWDC ecosystem and ongoing activities. Help businesses understand where to prioritize marketing efforts for the best return.</a:t>
            </a:r>
          </a:p>
          <a:p>
            <a:pPr marL="608965" indent="-456565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Components:</a:t>
            </a:r>
          </a:p>
          <a:p>
            <a:pPr marL="1218565" lvl="1" indent="-422910"/>
            <a:r>
              <a:rPr lang="en-US" sz="1850"/>
              <a:t>Broad catalog of guest interactions with business units shared into Atlas (Data Enrichment workstream)</a:t>
            </a:r>
          </a:p>
          <a:p>
            <a:pPr marL="1218565" lvl="1" indent="-422910"/>
            <a:r>
              <a:rPr lang="en-US" sz="1850"/>
              <a:t>Broad catalog of purchase data shared into Atlas (Data Enrichment workstream)</a:t>
            </a:r>
          </a:p>
          <a:p>
            <a:pPr marL="1218565" lvl="1" indent="-422910"/>
            <a:r>
              <a:rPr lang="en-US" sz="1850"/>
              <a:t>DDSI Data Models (Insights Processes workstream)</a:t>
            </a:r>
          </a:p>
          <a:p>
            <a:pPr marL="1218565" lvl="1" indent="-422910"/>
            <a:r>
              <a:rPr lang="en-US" sz="1850"/>
              <a:t>Financial components of lifetime value (TBD)</a:t>
            </a:r>
          </a:p>
          <a:p>
            <a:pPr marL="1218565" lvl="1" indent="-422910"/>
            <a:r>
              <a:rPr lang="en-US" sz="1850"/>
              <a:t>BI tools integration (Technology Stack/Analytics/Insights Infrastructure workstream)</a:t>
            </a:r>
          </a:p>
          <a:p>
            <a:pPr marL="608965" indent="-456565"/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Sequencing: </a:t>
            </a:r>
          </a:p>
          <a:p>
            <a:pPr marL="1218565" lvl="1" indent="-422910"/>
            <a:r>
              <a:rPr lang="en-US" sz="1850">
                <a:solidFill>
                  <a:schemeClr val="tx1"/>
                </a:solidFill>
              </a:rPr>
              <a:t>Phase 2</a:t>
            </a:r>
          </a:p>
          <a:p>
            <a:pPr marL="151765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D3641-2059-ABE2-5712-73201CFAF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BAC2-12BE-8E16-D525-29FD6A7470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51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468D-AF2B-B577-A1CF-88A1A0C9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Workstream: Profile and HH Unification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C30E2-7D44-2B41-796A-A7DCBF19B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Description: </a:t>
            </a:r>
            <a:r>
              <a:rPr lang="en-US" b="0" i="0">
                <a:solidFill>
                  <a:srgbClr val="000000"/>
                </a:solidFill>
                <a:effectLst/>
              </a:rPr>
              <a:t>Identity reconciliation across TWDC, regardless of source (known &amp; anonymous), at the Profile and HH level. Unified view of enterprise relationships to drive more effective cross/up sell.</a:t>
            </a:r>
          </a:p>
          <a:p>
            <a:r>
              <a:rPr lang="en-US" b="1">
                <a:solidFill>
                  <a:srgbClr val="000000"/>
                </a:solidFill>
              </a:rPr>
              <a:t>Components:</a:t>
            </a:r>
          </a:p>
          <a:p>
            <a:pPr lvl="1"/>
            <a:r>
              <a:rPr lang="en-US"/>
              <a:t>Survey of all identity unification methods used across TWDC (Identity Resolution/TWDC methodology assessment deliverable)</a:t>
            </a:r>
          </a:p>
          <a:p>
            <a:pPr lvl="1"/>
            <a:r>
              <a:rPr lang="en-US"/>
              <a:t>Assessment of pros/cons/risks/benefits of each approach and selection of best solution (Identity Resolution/Alignment on go-forward methodology deliverable)</a:t>
            </a:r>
          </a:p>
          <a:p>
            <a:pPr lvl="1"/>
            <a:r>
              <a:rPr lang="en-US"/>
              <a:t>Build out identity resolution capability (Identity Resolution/Identity Resolution Capability/API deliverable)</a:t>
            </a:r>
          </a:p>
          <a:p>
            <a:r>
              <a:rPr lang="en-US" b="1"/>
              <a:t>Sequencing:</a:t>
            </a:r>
          </a:p>
          <a:p>
            <a:pPr lvl="1"/>
            <a:r>
              <a:rPr lang="en-US"/>
              <a:t>Begin building in Phase 1</a:t>
            </a:r>
          </a:p>
          <a:p>
            <a:pPr lvl="1"/>
            <a:r>
              <a:rPr lang="en-US"/>
              <a:t>Build out as a capability in parallel to the first three use cases</a:t>
            </a:r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CC770-CAAE-F9A1-2B59-D10DE38BD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  |   THE WALT DISNEY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8FDF-5F35-4B2A-95B1-43B2C4CDF2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-US" smtClean="0"/>
              <a:pPr algn="ct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190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mple Ligh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33f2cd-46f6-4562-bea3-123cdf674979">
      <Terms xmlns="http://schemas.microsoft.com/office/infopath/2007/PartnerControls"/>
    </lcf76f155ced4ddcb4097134ff3c332f>
    <TaxCatchAll xmlns="fb63fed2-d7c7-486e-9b43-c6c9cde3829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36091DF61405448C1109B4DECEF30E" ma:contentTypeVersion="12" ma:contentTypeDescription="Create a new document." ma:contentTypeScope="" ma:versionID="92f19de329725619c24fd23bb129c42b">
  <xsd:schema xmlns:xsd="http://www.w3.org/2001/XMLSchema" xmlns:xs="http://www.w3.org/2001/XMLSchema" xmlns:p="http://schemas.microsoft.com/office/2006/metadata/properties" xmlns:ns2="e833f2cd-46f6-4562-bea3-123cdf674979" xmlns:ns3="fb63fed2-d7c7-486e-9b43-c6c9cde38296" targetNamespace="http://schemas.microsoft.com/office/2006/metadata/properties" ma:root="true" ma:fieldsID="df7508057ebffa88b5e4695f034b582b" ns2:_="" ns3:_="">
    <xsd:import namespace="e833f2cd-46f6-4562-bea3-123cdf674979"/>
    <xsd:import namespace="fb63fed2-d7c7-486e-9b43-c6c9cde38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33f2cd-46f6-4562-bea3-123cdf674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25c46f5-07aa-4fd7-9d87-3e3f7311e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3fed2-d7c7-486e-9b43-c6c9cde3829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ea51c4-6366-4897-97ed-c1345d42d31a}" ma:internalName="TaxCatchAll" ma:showField="CatchAllData" ma:web="fb63fed2-d7c7-486e-9b43-c6c9cde38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17113D-F64A-4846-8A6C-5A6CD4DA5F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D2FC22-87F8-4781-B978-C2BF9477B513}">
  <ds:schemaRefs>
    <ds:schemaRef ds:uri="e833f2cd-46f6-4562-bea3-123cdf674979"/>
    <ds:schemaRef ds:uri="fb63fed2-d7c7-486e-9b43-c6c9cde3829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84EE660-B2FC-477A-9508-B951337F5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33f2cd-46f6-4562-bea3-123cdf674979"/>
    <ds:schemaRef ds:uri="fb63fed2-d7c7-486e-9b43-c6c9cde38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Prioritized Foundational Build Use Cases</vt:lpstr>
      <vt:lpstr>Use Case #1 - Incremental Audiences</vt:lpstr>
      <vt:lpstr>Use Case #2 - Re-engagement via Park &amp; Cruise Experiences</vt:lpstr>
      <vt:lpstr>Use Case #3 - DX Activation Personalization</vt:lpstr>
      <vt:lpstr>Use Case #4 - Drive Efficiency of Enterprise Synergy</vt:lpstr>
      <vt:lpstr>Use Case #5 – Disney ‘Fan’ Model</vt:lpstr>
      <vt:lpstr>Use Case #6 – Next Best Action</vt:lpstr>
      <vt:lpstr>Workstream: Profile and HH Unification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Curtis, Joanna</dc:creator>
  <cp:revision>10</cp:revision>
  <dcterms:created xsi:type="dcterms:W3CDTF">2025-09-15T18:16:31Z</dcterms:created>
  <dcterms:modified xsi:type="dcterms:W3CDTF">2026-02-05T21:32:24Z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2025-09-15T18:16:58Z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c3f173e1-3783-413d-8ac7-6be902927b0f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10, 3, 0, 1</vt:lpwstr>
  </property>
  <property fmtid="{D5CDD505-2E9C-101B-9397-08002B2CF9AE}" pid="10" name="ContentTypeId">
    <vt:lpwstr>0x0101001A36091DF61405448C1109B4DECEF30E</vt:lpwstr>
  </property>
  <property fmtid="{D5CDD505-2E9C-101B-9397-08002B2CF9AE}" pid="11" name="MediaServiceImageTags">
    <vt:lpwstr/>
  </property>
</Properties>
</file>