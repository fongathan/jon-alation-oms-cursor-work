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Metadata solution story — layout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Each following slide is one visual approach we discussed:</a:t>
            </a:r>
            <a:br/>
            <a:r>
              <a:t>• Option A — staged pipeline (sync → store → consume)</a:t>
            </a:r>
            <a:br/>
            <a:r>
              <a:t>• Option B — same pipeline + Policy and AI as explicit inputs</a:t>
            </a:r>
            <a:br/>
            <a:r>
              <a:t>• Option C — map the four capability bullets under the stages</a:t>
            </a:r>
            <a:br/>
            <a:r>
              <a:t>• Option D — MVP vs later on one view</a:t>
            </a:r>
            <a:br/>
            <a:br/>
            <a:r>
              <a:t>Edit copy freely; boxes are native PowerPoint shapes.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636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EDC"/>
                </a:solidFill>
              </a:defRPr>
            </a:pPr>
            <a:r>
              <a:t>Internal draft — layout options for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Option A — Staged pipeline (diagram matches depth of story)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BEDC"/>
                </a:solidFill>
              </a:defRPr>
            </a:pPr>
            <a:r>
              <a:t>Sources → ingestion &amp; sync → catalog in OMS → discovery in apps / search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91640"/>
            <a:ext cx="2148840" cy="1051560"/>
          </a:xfrm>
          <a:prstGeom prst="roundRect">
            <a:avLst/>
          </a:prstGeom>
          <a:solidFill>
            <a:srgbClr val="203062"/>
          </a:solidFill>
          <a:ln>
            <a:solidFill>
              <a:srgbClr val="5A6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Sources</a:t>
            </a:r>
            <a:br/>
            <a:r>
              <a:t>(Snowflake, Looker, …)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97480" y="20802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C46E"/>
                </a:solidFill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691640"/>
            <a:ext cx="2468880" cy="1051560"/>
          </a:xfrm>
          <a:prstGeom prst="roundRect">
            <a:avLst/>
          </a:prstGeom>
          <a:solidFill>
            <a:srgbClr val="203062"/>
          </a:solidFill>
          <a:ln>
            <a:solidFill>
              <a:srgbClr val="5A6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Ingestion &amp; sync</a:t>
            </a:r>
            <a:br/>
            <a:r>
              <a:t>(connectors, scans,</a:t>
            </a:r>
            <a:br/>
            <a:r>
              <a:t>DDL / API harvest)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20802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C46E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91640"/>
            <a:ext cx="2560320" cy="1051560"/>
          </a:xfrm>
          <a:prstGeom prst="roundRect">
            <a:avLst/>
          </a:prstGeom>
          <a:solidFill>
            <a:srgbClr val="203062"/>
          </a:solidFill>
          <a:ln>
            <a:solidFill>
              <a:srgbClr val="5A6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OMS / metadata store</a:t>
            </a:r>
            <a:br/>
            <a:r>
              <a:t>(APIs, lineage links,</a:t>
            </a:r>
            <a:br/>
            <a:r>
              <a:t>steward workflows)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20802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C46E"/>
                </a:solidFill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199" y="1691640"/>
            <a:ext cx="2331720" cy="1051560"/>
          </a:xfrm>
          <a:prstGeom prst="roundRect">
            <a:avLst/>
          </a:prstGeom>
          <a:solidFill>
            <a:srgbClr val="203062"/>
          </a:solidFill>
          <a:ln>
            <a:solidFill>
              <a:srgbClr val="5A6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Consumption</a:t>
            </a:r>
            <a:br/>
            <a:r>
              <a:t>(search, BI context,</a:t>
            </a:r>
            <a:br/>
            <a:r>
              <a:t>data products)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0632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BEDC"/>
                </a:solidFill>
              </a:defRPr>
            </a:pPr>
            <a:r>
              <a:t>Why: executives see where truth is captured vs where it is experienced — not a single vague “Metadata” bucket.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2636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EDC"/>
                </a:solidFill>
              </a:defRPr>
            </a:pPr>
            <a:r>
              <a:t>Option A — staged pipeline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Option B — Policy + AI as first-class inputs (not only in bullets)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BEDC"/>
                </a:solidFill>
              </a:defRPr>
            </a:pPr>
            <a:r>
              <a:t>Same flow as A, with governance and automation visible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600200"/>
            <a:ext cx="1417320" cy="2194560"/>
          </a:xfrm>
          <a:prstGeom prst="roundRect">
            <a:avLst/>
          </a:prstGeom>
          <a:solidFill>
            <a:srgbClr val="203062"/>
          </a:solidFill>
          <a:ln>
            <a:solidFill>
              <a:srgbClr val="5A6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Policy</a:t>
            </a:r>
            <a:br/>
            <a:r>
              <a:t>• classification rules</a:t>
            </a:r>
            <a:br/>
            <a:r>
              <a:t>• PII / retention</a:t>
            </a:r>
            <a:br/>
            <a:r>
              <a:t>• approval gates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87000" y="1600200"/>
            <a:ext cx="1417320" cy="2194560"/>
          </a:xfrm>
          <a:prstGeom prst="roundRect">
            <a:avLst/>
          </a:prstGeom>
          <a:solidFill>
            <a:srgbClr val="203062"/>
          </a:solidFill>
          <a:ln>
            <a:solidFill>
              <a:srgbClr val="5A6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AI assists</a:t>
            </a:r>
            <a:br/>
            <a:r>
              <a:t>• suggest tags</a:t>
            </a:r>
            <a:br/>
            <a:r>
              <a:t>• reconcile metric defs</a:t>
            </a:r>
            <a:br/>
            <a:r>
              <a:t>• rank / personalize search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48840" y="1874519"/>
            <a:ext cx="1874519" cy="960120"/>
          </a:xfrm>
          <a:prstGeom prst="roundRect">
            <a:avLst/>
          </a:prstGeom>
          <a:solidFill>
            <a:srgbClr val="203062"/>
          </a:solidFill>
          <a:ln>
            <a:solidFill>
              <a:srgbClr val="5A6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41648" y="2167127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C46E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874519"/>
            <a:ext cx="2103120" cy="960120"/>
          </a:xfrm>
          <a:prstGeom prst="roundRect">
            <a:avLst/>
          </a:prstGeom>
          <a:solidFill>
            <a:srgbClr val="203062"/>
          </a:solidFill>
          <a:ln>
            <a:solidFill>
              <a:srgbClr val="5A6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Ingestion</a:t>
            </a:r>
            <a:br/>
            <a:r>
              <a:t>&amp; sync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8816" y="2167127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C46E"/>
                </a:solidFill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94576" y="1874519"/>
            <a:ext cx="2194560" cy="960120"/>
          </a:xfrm>
          <a:prstGeom prst="roundRect">
            <a:avLst/>
          </a:prstGeom>
          <a:solidFill>
            <a:srgbClr val="203062"/>
          </a:solidFill>
          <a:ln>
            <a:solidFill>
              <a:srgbClr val="5A6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OMS /</a:t>
            </a:r>
            <a:br/>
            <a:r>
              <a:t>metadata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07424" y="2167127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C46E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73184" y="1874519"/>
            <a:ext cx="2011679" cy="960120"/>
          </a:xfrm>
          <a:prstGeom prst="roundRect">
            <a:avLst/>
          </a:prstGeom>
          <a:solidFill>
            <a:srgbClr val="203062"/>
          </a:solidFill>
          <a:ln>
            <a:solidFill>
              <a:srgbClr val="5A6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Search &amp;</a:t>
            </a:r>
            <a:br/>
            <a:r>
              <a:t>apps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10515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6C46E"/>
                </a:solidFill>
              </a:defRPr>
            </a:pPr>
            <a:r>
              <a:t>governs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6C46E"/>
                </a:solidFill>
              </a:defRPr>
            </a:pPr>
            <a:r>
              <a:t>audits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95560" y="10515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6C46E"/>
                </a:solidFill>
              </a:defRPr>
            </a:pPr>
            <a:r>
              <a:t>suggests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95560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6C46E"/>
                </a:solidFill>
              </a:defRPr>
            </a:pPr>
            <a:r>
              <a:t>reconciles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31546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EDC"/>
                </a:solidFill>
              </a:defRPr>
            </a:pPr>
            <a:r>
              <a:t>Tip in deck build: draw short elbow connectors from the side boxes to Ingestion, OMS, and Search so “governs / suggests” land on specific steps.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2636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EDC"/>
                </a:solidFill>
              </a:defRPr>
            </a:pPr>
            <a:r>
              <a:t>Option B — policy + AI rails (add connectors by hand for polish)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Option C — Tie the four capabilities to the diagram (one story)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97280"/>
            <a:ext cx="2606040" cy="868680"/>
          </a:xfrm>
          <a:prstGeom prst="roundRect">
            <a:avLst/>
          </a:prstGeom>
          <a:solidFill>
            <a:srgbClr val="203062"/>
          </a:solidFill>
          <a:ln>
            <a:solidFill>
              <a:srgbClr val="5A6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Sync from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39112"/>
            <a:ext cx="2606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4BEDC"/>
                </a:solidFill>
              </a:defRPr>
            </a:pPr>
            <a:r>
              <a:t>Descriptions</a:t>
            </a:r>
            <a:br/>
            <a:r>
              <a:t>(programmatic tie to</a:t>
            </a:r>
            <a:br/>
            <a:r>
              <a:t>source definitions)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097280"/>
            <a:ext cx="2606040" cy="868680"/>
          </a:xfrm>
          <a:prstGeom prst="roundRect">
            <a:avLst/>
          </a:prstGeom>
          <a:solidFill>
            <a:srgbClr val="203062"/>
          </a:solidFill>
          <a:ln>
            <a:solidFill>
              <a:srgbClr val="5A6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Scan &amp; harvest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37560" y="2039112"/>
            <a:ext cx="2606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4BEDC"/>
                </a:solidFill>
              </a:defRPr>
            </a:pPr>
            <a:r>
              <a:t>Classifications</a:t>
            </a:r>
            <a:br/>
            <a:r>
              <a:t>(scan sources; auto-tags</a:t>
            </a:r>
            <a:br/>
            <a:r>
              <a:t>+ steward review)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097280"/>
            <a:ext cx="2606040" cy="868680"/>
          </a:xfrm>
          <a:prstGeom prst="roundRect">
            <a:avLst/>
          </a:prstGeom>
          <a:solidFill>
            <a:srgbClr val="203062"/>
          </a:solidFill>
          <a:ln>
            <a:solidFill>
              <a:srgbClr val="5A6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Curate in OMS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2039112"/>
            <a:ext cx="2606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4BEDC"/>
                </a:solidFill>
              </a:defRPr>
            </a:pPr>
            <a:r>
              <a:t>Metrics</a:t>
            </a:r>
            <a:br/>
            <a:r>
              <a:t>(derive definitions;</a:t>
            </a:r>
            <a:br/>
            <a:r>
              <a:t>AI + policy reconcile</a:t>
            </a:r>
            <a:br/>
            <a:r>
              <a:t>conflicts)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6840" y="1097280"/>
            <a:ext cx="2606040" cy="868680"/>
          </a:xfrm>
          <a:prstGeom prst="roundRect">
            <a:avLst/>
          </a:prstGeom>
          <a:solidFill>
            <a:srgbClr val="203062"/>
          </a:solidFill>
          <a:ln>
            <a:solidFill>
              <a:srgbClr val="5A6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Discover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2039112"/>
            <a:ext cx="2606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4BEDC"/>
                </a:solidFill>
              </a:defRPr>
            </a:pPr>
            <a:r>
              <a:t>Search &amp; discovery</a:t>
            </a:r>
            <a:br/>
            <a:r>
              <a:t>(contextualize &amp; personalize</a:t>
            </a:r>
            <a:br/>
            <a:r>
              <a:t>with AI + policy)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94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BEDC"/>
                </a:solidFill>
              </a:defRPr>
            </a:pPr>
            <a:r>
              <a:t>Why: the bullets stop floating above a generic arrow — each capability has an obvious home in the flow.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2636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EDC"/>
                </a:solidFill>
              </a:defRPr>
            </a:pPr>
            <a:r>
              <a:t>Option C — capabilities mapped to stages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Option D — MVP vs iterative (exec-scannable)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97280"/>
            <a:ext cx="5394960" cy="2331720"/>
          </a:xfrm>
          <a:prstGeom prst="roundRect">
            <a:avLst/>
          </a:prstGeom>
          <a:solidFill>
            <a:srgbClr val="203062"/>
          </a:solidFill>
          <a:ln>
            <a:solidFill>
              <a:srgbClr val="5A6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MVP (example)</a:t>
            </a:r>
            <a:br/>
            <a:r>
              <a:t>• Snowflake + Looker → OMS</a:t>
            </a:r>
            <a:br/>
            <a:r>
              <a:t>• Descriptions from DDL / sync</a:t>
            </a:r>
            <a:br/>
            <a:r>
              <a:t>• Basic search &amp; browse</a:t>
            </a:r>
            <a:br/>
            <a:r>
              <a:t>• Steward edit + audit trail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72200" y="1097280"/>
            <a:ext cx="5440680" cy="2331720"/>
          </a:xfrm>
          <a:prstGeom prst="roundRect">
            <a:avLst/>
          </a:prstGeom>
          <a:solidFill>
            <a:srgbClr val="203062"/>
          </a:solidFill>
          <a:ln>
            <a:solidFill>
              <a:srgbClr val="5A6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Phase next</a:t>
            </a:r>
            <a:br/>
            <a:r>
              <a:t>• Automated classification scans</a:t>
            </a:r>
            <a:br/>
            <a:r>
              <a:t>• Metric reconciliation (AI + policy)</a:t>
            </a:r>
            <a:br/>
            <a:r>
              <a:t>• Personalized ranking in search</a:t>
            </a:r>
            <a:br/>
            <a:r>
              <a:t>• Deeper lineage / quality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C46E"/>
                </a:solidFill>
              </a:defRPr>
            </a:pPr>
            <a:r>
              <a:t>Optional: add one measurable outcome per column (e.g. % objects with sourced definitions).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160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BEDC"/>
                </a:solidFill>
              </a:defRPr>
            </a:pPr>
            <a:r>
              <a:t>Pair with a thin version of Option A or C above this split so “what we ship first” and “what grows in” share one slide.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2636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EDC"/>
                </a:solidFill>
              </a:defRPr>
            </a:pPr>
            <a:r>
              <a:t>Option D — MVP vs later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